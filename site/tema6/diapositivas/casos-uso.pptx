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03F9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ENTORNOS DE DESARROLLO  —  TEMA 6: DIAGRAMAS DE COMPORTAMIENTO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1109167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Diagrama de casos de uso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0" y="5120640"/>
            <a:ext cx="12188952" cy="914400"/>
          </a:xfrm>
          <a:prstGeom prst="rect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12064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Actores, escenarios y relaciones de comunicación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303F9F"/>
          </a:solidFill>
          <a:ln w="12700">
            <a:solidFill>
              <a:srgbClr val="303F9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¿Para qué sirve?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051560"/>
            <a:ext cx="11091672" cy="914400"/>
          </a:xfrm>
          <a:prstGeom prst="roundRect">
            <a:avLst/>
          </a:prstGeom>
          <a:solidFill>
            <a:srgbClr val="E0F2F1"/>
          </a:solidFill>
          <a:ln w="19050">
            <a:solidFill>
              <a:srgbClr val="0096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124712"/>
            <a:ext cx="10634472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 clave: es el CONTRATO VISUAL entre el cliente y el equipo de desarrollo — qué podrá hacer cada tipo de usuario con el sistema. Nada de cómo funciona por dentro.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1109167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Describe qué debe hacer el sistema desde el punto de vista de quien lo va a utilizar.</a:t>
            </a:r>
            <a:endParaRPr lang="en-US" sz="17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Se construye con el cliente en las primeras reuniones, para acordar el alcance antes de programar.</a:t>
            </a:r>
            <a:endParaRPr lang="en-US" sz="17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Su notación es deliberadamente simple —muñecos, elipses y líneas— para que la entienda alguien que no ha programado nunca.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914400"/>
          </a:xfrm>
          <a:prstGeom prst="roundRect">
            <a:avLst/>
          </a:prstGeom>
          <a:solidFill>
            <a:srgbClr val="E0F2F1"/>
          </a:solidFill>
          <a:ln w="19050">
            <a:solidFill>
              <a:srgbClr val="0096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4919472"/>
            <a:ext cx="10634472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Ejemplo: una máquina de café tiene tres actores (cliente, técnico de mantenimiento, proveedor) y casos de uso como "Seleccionar bebida", "Rellenar depósito" o "Cobrar".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Entornos de Desarrollo — Tema 6 · Diagrama de casos de uso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303F9F"/>
          </a:solidFill>
          <a:ln w="12700">
            <a:solidFill>
              <a:srgbClr val="303F9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Elementos: actor y caso de uso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051560"/>
            <a:ext cx="5394960" cy="411480"/>
          </a:xfrm>
          <a:prstGeom prst="rect">
            <a:avLst/>
          </a:prstGeom>
          <a:solidFill>
            <a:srgbClr val="3F51B5"/>
          </a:solidFill>
          <a:ln w="12700">
            <a:solidFill>
              <a:srgbClr val="3F51B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05156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3949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Persona o proceso externo que interactúa con el sistema.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Se identifica por el papel que desempeña, no por su nombre concreto ("Secretario", no "María").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Se dibuja como un muñeco de palo, siempre FUERA del sistema.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63640" y="1051560"/>
            <a:ext cx="5394960" cy="411480"/>
          </a:xfrm>
          <a:prstGeom prst="rect">
            <a:avLst/>
          </a:prstGeom>
          <a:solidFill>
            <a:srgbClr val="3F51B5"/>
          </a:solidFill>
          <a:ln w="12700">
            <a:solidFill>
              <a:srgbClr val="3F51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05156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 de uso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263640" y="1600200"/>
            <a:ext cx="53949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Una acción que el sistema ofrece: en el enunciado suelen ser verbos ("Iniciar sesión", "Realizar pedido").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Se representa con una elipse con el nombre dentro.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Cada camino concreto por el que puede transcurrir es un ESCENARIO: el principal (todo va bien) y los alternativos (PIN incorrecto, sin stock...).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4389120"/>
            <a:ext cx="11091672" cy="1005840"/>
          </a:xfrm>
          <a:prstGeom prst="roundRect">
            <a:avLst/>
          </a:prstGeom>
          <a:solidFill>
            <a:srgbClr val="E0F2F1"/>
          </a:solidFill>
          <a:ln w="19050">
            <a:solidFill>
              <a:srgbClr val="0096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462272"/>
            <a:ext cx="10634472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diagrama muestra el caso de uso como una sola elipse; los escenarios se detallan en la descripción narrativa que lo acompaña: quién lo inicia, flujo normal, alternativas y qué puede salir mal.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Entornos de Desarrollo — Tema 6 · Diagrama de casos de uso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303F9F"/>
          </a:solidFill>
          <a:ln w="12700">
            <a:solidFill>
              <a:srgbClr val="303F9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Elementos: relación de comunicación y sistema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051560"/>
            <a:ext cx="11091672" cy="411480"/>
          </a:xfrm>
          <a:prstGeom prst="rect">
            <a:avLst/>
          </a:prstGeom>
          <a:solidFill>
            <a:srgbClr val="3F51B5"/>
          </a:solidFill>
          <a:ln w="12700">
            <a:solidFill>
              <a:srgbClr val="3F51B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051560"/>
            <a:ext cx="108173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Relación de comunicación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1109167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La línea recta que une un actor con un caso de uso que puede iniciar. No lleva flecha.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Su nombre oficial es relación (o asociación) de comunicación: el actor "se comunica" con esa funcionalidad.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063240"/>
            <a:ext cx="11091672" cy="411480"/>
          </a:xfrm>
          <a:prstGeom prst="rect">
            <a:avLst/>
          </a:prstGeom>
          <a:solidFill>
            <a:srgbClr val="3F51B5"/>
          </a:solidFill>
          <a:ln w="12700">
            <a:solidFill>
              <a:srgbClr val="3F51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063240"/>
            <a:ext cx="108173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(frontera)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3611880"/>
            <a:ext cx="1109167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Un rectángulo que contiene TODOS los casos de uso: delimita qué forma parte del software.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Los actores quedan siempre fuera: interactúan con el sistema, pero no son parte de lo que se construye.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5074920"/>
            <a:ext cx="11091672" cy="77724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5148072"/>
            <a:ext cx="10634472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DIA: si añades el rectángulo del sistema después que los casos de uso, los tapará. Selecciónalo → menú Objeto → "Echar atrás".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Entornos de Desarrollo — Tema 6 · Diagrama de casos de uso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303F9F"/>
          </a:solidFill>
          <a:ln w="12700">
            <a:solidFill>
              <a:srgbClr val="303F9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la descripción al diagrama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91672" cy="914400"/>
        </p:xfrm>
        <a:graphic>
          <a:graphicData uri="http://schemas.openxmlformats.org/drawingml/2006/table">
            <a:tbl>
              <a:tblPr/>
              <a:tblGrid>
                <a:gridCol w="6433170"/>
                <a:gridCol w="4658502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 el texto busca...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51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convierte en...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51B5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Roles o perfiles que usan el sistema ("el secretario", "cualquier persona que...")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 ACTOR (por el papel, no por el nombre propio)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Verbos que el usuario consigue del sistema ("generar recibos", "consultar estado")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 CASO DE USO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"Para X primero hay que Y", "siempre requiere..."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 «include»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"Opcionalmente", "solo si...", "en algunos casos"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 «extend»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572000"/>
            <a:ext cx="11091672" cy="105156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" y="4645152"/>
            <a:ext cx="10634472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todo verbo es un caso de uso: "conectar con la base de datos" o "validar el token" son pasos internos que el usuario no ve. Si los pones, el diagrama deja de ser un contrato con el cliente y se convierte en diseño técnico.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Entornos de Desarrollo — Tema 6 · Diagrama de casos de uso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303F9F"/>
          </a:solidFill>
          <a:ln w="12700">
            <a:solidFill>
              <a:srgbClr val="303F9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Relaciones avanzadas: inclusión («include»)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1091672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Un caso de uso SIEMPRE necesita ejecutar otro.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Se usa cuando un comportamiento se repite en varios casos de uso y quieres evitar duplicarlo.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Se dibuja con línea discontinua y flecha apuntando al caso INCLUIDO, etiquetada «include».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463040" y="3383280"/>
            <a:ext cx="2468880" cy="777240"/>
          </a:xfrm>
          <a:prstGeom prst="ellipse">
            <a:avLst/>
          </a:prstGeom>
          <a:solidFill>
            <a:srgbClr val="E8EAF6"/>
          </a:solidFill>
          <a:ln w="19050">
            <a:solidFill>
              <a:srgbClr val="3F51B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63040" y="338328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Realizar pedido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863840" y="3383280"/>
            <a:ext cx="2468880" cy="777240"/>
          </a:xfrm>
          <a:prstGeom prst="ellipse">
            <a:avLst/>
          </a:prstGeom>
          <a:solidFill>
            <a:srgbClr val="E8EAF6"/>
          </a:solidFill>
          <a:ln w="19050">
            <a:solidFill>
              <a:srgbClr val="3F51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338328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Iniciar sesión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931920" y="3767328"/>
            <a:ext cx="3931920" cy="0"/>
          </a:xfrm>
          <a:prstGeom prst="line">
            <a:avLst/>
          </a:prstGeom>
          <a:noFill/>
          <a:ln w="19050">
            <a:solidFill>
              <a:srgbClr val="212121"/>
            </a:solidFill>
            <a:prstDash val="dash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4983480" y="34290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«include»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4846320"/>
            <a:ext cx="11091672" cy="914400"/>
          </a:xfrm>
          <a:prstGeom prst="roundRect">
            <a:avLst/>
          </a:prstGeom>
          <a:solidFill>
            <a:srgbClr val="E0F2F1"/>
          </a:solidFill>
          <a:ln w="19050">
            <a:solidFill>
              <a:srgbClr val="0096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4919472"/>
            <a:ext cx="10634472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Ejemplo: "Realizar pedido" y "Consultar historial" incluyen "Iniciar sesión", porque ambos requieren que el usuario esté autenticado — siempre, sin condición.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Entornos de Desarrollo — Tema 6 · Diagrama de casos de uso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303F9F"/>
          </a:solidFill>
          <a:ln w="12700">
            <a:solidFill>
              <a:srgbClr val="303F9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Relaciones avanzadas: extensión («extend»)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109167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Un caso de uso añade comportamiento OPCIONAL a otro cuando se cumple cierta condición. Es como un if en el flujo normal.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Se dibuja igual que include (línea discontinua), pero la flecha apunta al caso BASE (el que se amplía).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463040" y="3200400"/>
            <a:ext cx="2834640" cy="777240"/>
          </a:xfrm>
          <a:prstGeom prst="ellipse">
            <a:avLst/>
          </a:prstGeom>
          <a:solidFill>
            <a:srgbClr val="E8EAF6"/>
          </a:solidFill>
          <a:ln w="19050">
            <a:solidFill>
              <a:srgbClr val="3F51B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63040" y="3200400"/>
            <a:ext cx="2834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cupón descuento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863840" y="3200400"/>
            <a:ext cx="2468880" cy="777240"/>
          </a:xfrm>
          <a:prstGeom prst="ellipse">
            <a:avLst/>
          </a:prstGeom>
          <a:solidFill>
            <a:srgbClr val="E8EAF6"/>
          </a:solidFill>
          <a:ln w="19050">
            <a:solidFill>
              <a:srgbClr val="3F51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3200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Pagar pedido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3584448"/>
            <a:ext cx="3566160" cy="0"/>
          </a:xfrm>
          <a:prstGeom prst="line">
            <a:avLst/>
          </a:prstGeom>
          <a:noFill/>
          <a:ln w="19050">
            <a:solidFill>
              <a:srgbClr val="212121"/>
            </a:solidFill>
            <a:prstDash val="dash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166360" y="3246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«extend»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4663440"/>
            <a:ext cx="11091672" cy="914400"/>
          </a:xfrm>
          <a:prstGeom prst="roundRect">
            <a:avLst/>
          </a:prstGeom>
          <a:solidFill>
            <a:srgbClr val="E0F2F1"/>
          </a:solidFill>
          <a:ln w="19050">
            <a:solidFill>
              <a:srgbClr val="0096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4736592"/>
            <a:ext cx="10634472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Ejemplo: "Aplicar cupón de descuento" extiende "Pagar pedido" — solo se ejecuta si el usuario tiene un cupón válido. La flecha sale del opcional hacia el caso base.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Entornos de Desarrollo — Tema 6 · Diagrama de casos de uso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303F9F"/>
          </a:solidFill>
          <a:ln w="12700">
            <a:solidFill>
              <a:srgbClr val="303F9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regla de las flechas (cae en examen)</a:t>
            </a:r>
            <a:endParaRPr lang="en-US" sz="2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2218334"/>
                <a:gridCol w="4658502"/>
                <a:gridCol w="4214835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Relación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51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flecha apunta a...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51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Ejemplo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51B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«include»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caso INCLUIDO (el trozo reutilizado)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pedido ──▶ Iniciar sesión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«extend»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caso BASE (el que se amplía)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Aplicar cupón ──▶ Pagar pedido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657600"/>
            <a:ext cx="11091672" cy="914400"/>
          </a:xfrm>
          <a:prstGeom prst="roundRect">
            <a:avLst/>
          </a:prstGeom>
          <a:solidFill>
            <a:srgbClr val="E0F2F1"/>
          </a:solidFill>
          <a:ln w="19050">
            <a:solidFill>
              <a:srgbClr val="00968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" y="3730752"/>
            <a:ext cx="10634472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Truco: la flecha siempre sale del caso que "manda ejecutar" hacia el que completa la historia. En include manda el grande; en extend, el opcional se ofrece al grande.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4846320"/>
            <a:ext cx="11091672" cy="77724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919472"/>
            <a:ext cx="10634472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no lo confundas con la dirección de la dependencia en clases: aquí la etiqueta «include»/«extend» es la que da el significado.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Entornos de Desarrollo — Tema 6 · Diagrama de casos de uso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303F9F"/>
          </a:solidFill>
          <a:ln w="12700">
            <a:solidFill>
              <a:srgbClr val="303F9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Relaciones avanzadas: generalización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91672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Funciona igual que la herencia del tema 5: el hijo hereda el comportamiento del padre y puede añadir o modificar.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Entre CASOS DE USO: varios casos comparten un comportamiento base.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Entre ACTORES: un actor hereda los casos de uso de otro. Ejemplo: Administrador hereda todo lo que puede hacer Usuario y añade los suyos propios.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Se dibuja con la misma flecha de triángulo hueco de los diagramas de clases, apuntando al padre.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4663440"/>
            <a:ext cx="11091672" cy="914400"/>
          </a:xfrm>
          <a:prstGeom prst="roundRect">
            <a:avLst/>
          </a:prstGeom>
          <a:solidFill>
            <a:srgbClr val="E0F2F1"/>
          </a:solidFill>
          <a:ln w="19050">
            <a:solidFill>
              <a:srgbClr val="0096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4736592"/>
            <a:ext cx="10634472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Cuándo usarla entre actores: si te descubres repitiendo las mismas líneas de comunicación para dos actores, probablemente uno generaliza al otro.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Entornos de Desarrollo — Tema 6 · Diagrama de casos de uso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303F9F"/>
          </a:solidFill>
          <a:ln w="12700">
            <a:solidFill>
              <a:srgbClr val="303F9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Recomendaciones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1091672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Los casos de uso describen las interacciones más importantes con el sistema, no su funcionamiento interno.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Mantén el diagrama lo más simple posible: todo el mundo (incluidos clientes sin perfil técnico) debe entenderlo.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No abuses de «include» para descomponer cada caso en sub-casos: los requisitos cambian y cada descomposición de hoy puede quedar obsoleta mañana.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Acompaña siempre el diagrama con la descripción narrativa de cada caso de uso: quién lo inicia, escenario principal, escenarios alternativos.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4754880"/>
            <a:ext cx="11091672" cy="86868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4828032"/>
            <a:ext cx="10634472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frecuente: incluir pasos del flujo interno ("Conectar a la base de datos", "Validar token"). Esos detalles no los ve el usuario y no pertenecen aquí.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Entornos de Desarrollo — Tema 6 · Diagrama de casos de uso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303F9F"/>
          </a:solidFill>
          <a:ln w="12700">
            <a:solidFill>
              <a:srgbClr val="303F9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Resumen de relaciones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883835"/>
                <a:gridCol w="3771168"/>
                <a:gridCol w="4436669"/>
              </a:tblGrid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Relación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51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Cómo se dibuja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51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Cuándo usarla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51B5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Relación de comunicación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 continua sin flecha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Une un actor con un caso de uso que puede iniciar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«include»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Discontinua, flecha al caso incluido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caso incluido SIEMPRE se ejecuta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«extend»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Discontinua, flecha al caso base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caso extendido se ejecuta SOLO A VECES (condición)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Generalización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Flecha de triángulo hueco al padre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Varios casos (o actores) comparten comportamiento base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Entornos de Desarrollo — Tema 6 · Diagrama de casos de uso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Entornos de Desarrollo</dc:creator>
  <cp:lastModifiedBy>Entornos de Desarrollo</cp:lastModifiedBy>
  <cp:revision>1</cp:revision>
  <dcterms:created xsi:type="dcterms:W3CDTF">2026-07-03T20:12:34Z</dcterms:created>
  <dcterms:modified xsi:type="dcterms:W3CDTF">2026-07-03T20:12:34Z</dcterms:modified>
</cp:coreProperties>
</file>
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6: DIAGRAMAS DE COMPORTAMIENTO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casos de uso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Actores, escenarios y relaciones de comunicación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 sirve?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2471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clave: es el CONTRATO VISUAL entre el cliente y el equipo de desarrollo — qué podrá hacer cada tipo de usuario con el sistema. Nada de cómo funciona por dentro.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109167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Describe qué debe hacer el sistema desde el punto de vista de quien lo va a utilizar.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 construye con el cliente en las primeras reuniones, para acordar el alcance antes de programar.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 notación es deliberadamente simple —muñecos, elipses y líneas— para que la entienda alguien que no ha programado nunca.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846320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91947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una máquina de café tiene tres actores (cliente, técnico de mantenimiento, proveedor) y casos de uso como "Seleccionar bebida", "Rellenar depósito" o "Cobrar".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casos de uso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Elementos: actor y caso de uso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394960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3949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Persona o proceso externo que interactúa con el sistema.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 identifica por el papel que desempeña, no por su nombre concreto ("Secretario", no "María").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 dibuja como un muñeco de palo, siempre FUERA del sistema.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31720" y="3611880"/>
            <a:ext cx="1417320" cy="1115568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6/img/casos-actor-ico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3611880"/>
            <a:ext cx="1417320" cy="11155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47548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 de actor en la paleta UML de DIA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1051560"/>
            <a:ext cx="5394960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10515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uso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63640" y="1600200"/>
            <a:ext cx="53949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Una acción que el sistema ofrece: en el enunciado suelen ser verbos ("Iniciar sesión", "Realizar pedido").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 representa con una elipse con el nombre dentro.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Cada escenario es un camino: el principal (todo va bien) y los alternativos (PIN incorrecto, sin stock...).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595360" y="3611880"/>
            <a:ext cx="1417320" cy="1078992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14" name="Image 1" descr="C:/Users/Aitor/Documents/apuntes-profe/entornos-de-desarrollo/docs/tema6/img/casos-uso-icon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3611880"/>
            <a:ext cx="1417320" cy="10789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321040" y="4718304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 de caso de uso (elipse) en la paleta UML de DIA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casos de uso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Elementos: relación de comunicación y sistema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10817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de comunicación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La línea recta que une un actor con un caso de uso que puede iniciar. No lleva flecha.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 nombre oficial es relación (o asociación) de comunicación: el actor "se comunica" con esa funcionalidad.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1091672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88920"/>
            <a:ext cx="10817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(frontera)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 rectángulo que contiene TODOS los casos de uso: delimita qué forma parte del software.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Los actores quedan siempre fuera: interactúan con el sistema, pero no son parte de lo que se construye.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0" y="1600200"/>
            <a:ext cx="2926080" cy="2212848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11" name="Image 0" descr="C:/Users/Aitor/Documents/apuntes-profe/entornos-de-desarrollo/docs/tema6/img/casos-sistema-ejemp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00200"/>
            <a:ext cx="2926080" cy="22128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98080" y="3840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Límite de sistema en DIA con un actor y un caso de uso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4800600"/>
            <a:ext cx="11091672" cy="7315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4873752"/>
            <a:ext cx="106344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DIA: si añades el rectángulo del sistema después que los casos de uso, los tapará. Selecciónalo → menú Objeto → "Echar atrás".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casos de uso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completo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22960" y="1097280"/>
            <a:ext cx="5120640" cy="3154680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5" name="Image 0" descr="C:/Users/Aitor/Documents/apuntes-profe/entornos-de-desarrollo/docs/tema6/img/casos-restaurante-ejemp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5120640" cy="3154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2793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de uso de un restaurante. "Entregar comida" queda fuera: la realiza el restaurante, no el software.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040880" y="1097280"/>
            <a:ext cx="3154680" cy="3154680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1" descr="C:/Users/Aitor/Documents/apuntes-profe/entornos-de-desarrollo/docs/tema6/img/casos-generalizacion-a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097280"/>
            <a:ext cx="3154680" cy="3154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66560" y="427939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Generalización de actores: Administrador hereda los casos de Usuario y añade los suyos.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4892040"/>
            <a:ext cx="11091672" cy="1051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4965192"/>
            <a:ext cx="1063447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Fíjate en las dos ideas clave: lo que hace el propio restaurante queda FUERA del sistema, y un actor puede heredar de otro para no repetir relaciones.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casos de uso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descripción al diagrama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1672" cy="914400"/>
        </p:xfrm>
        <a:graphic>
          <a:graphicData uri="http://schemas.openxmlformats.org/drawingml/2006/table">
            <a:tbl>
              <a:tblPr/>
              <a:tblGrid>
                <a:gridCol w="6433170"/>
                <a:gridCol w="4658502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el texto busca...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 convierte en...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Roles o perfiles que usan el sistema ("el secretario", "cualquier persona que...")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ACTOR (por el papel, no por el nombre propio)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Verbos que el usuario consigue del sistema ("generar recibos", "consultar estado")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CASO DE USO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"Para X primero hay que Y", "siempre requiere..."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«include»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"Opcionalmente", "solo si...", "en algunos casos"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«extend»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83480"/>
            <a:ext cx="11091672" cy="10515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056632"/>
            <a:ext cx="1063447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 verbo es un caso de uso: "conectar con la base de datos" o "validar el token" son pasos internos que el usuario no ve. Si los pones, el diagrama deja de ser un contrato con el cliente y se convierte en diseño técnico.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casos de uso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Relaciones avanzadas: inclusión («include»)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 caso de uso SIEMPRE necesita ejecutar otro.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 usa cuando un comportamiento se repite en varios casos de uso y quieres evitar duplicarlo.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 dibuja con línea discontinua y flecha apuntando al caso INCLUIDO, etiquetada «include».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63040" y="3383280"/>
            <a:ext cx="2468880" cy="777240"/>
          </a:xfrm>
          <a:prstGeom prst="ellipse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33832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Realizar pedido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63840" y="3383280"/>
            <a:ext cx="2468880" cy="777240"/>
          </a:xfrm>
          <a:prstGeom prst="ellipse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33832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Iniciar sesión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31920" y="3767328"/>
            <a:ext cx="393192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dash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983480" y="3429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«include»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91947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"Realizar pedido" y "Consultar historial" incluyen "Iniciar sesión", porque ambos requieren que el usuario esté autenticado — siempre, sin condición.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casos de uso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configurar «include»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6309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Usa la herramienta UML - Dependency de la paleta: es la línea punteada con flecha.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Haz doble clic sobre la línea ya dibujada.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 el campo Estereotipo escribe include.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0"/>
            <a:ext cx="4023360" cy="2267712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6" name="Image 0" descr="C:/Users/Aitor/Documents/apuntes-profe/entornos-de-desarrollo/docs/tema6/img/casos-include-propieda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280160"/>
            <a:ext cx="4023360" cy="22677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0" y="357530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Propiedades de la relación «include» en DIA: estereotipo "include" y flecha activada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754880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82803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estereotipo es lo único que distingue «include» de «extend»: la línea y la flecha se dibujan exactamente igual.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casos de uso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Relaciones avanzadas: extensión («extend»)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Un caso de uso añade comportamiento OPCIONAL a otro cuando se cumple cierta condición. Es como un if en el flujo normal.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 dibuja igual que include (línea discontinua), pero la flecha apunta al caso BASE (el que se amplía).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194560" y="2606040"/>
            <a:ext cx="7772400" cy="2029968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6" name="Image 0" descr="C:/Users/Aitor/Documents/apuntes-profe/entornos-de-desarrollo/docs/tema6/img/casos-extend-ejemp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2606040"/>
            <a:ext cx="7772400" cy="2029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46634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«Extend»: "Validar cupón de descuento" solo se ejecuta cuando el usuario introduce un cupón.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5074920"/>
            <a:ext cx="11091672" cy="1051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5148072"/>
            <a:ext cx="1063447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"Aplicar cupón de descuento" extiende "Pagar pedido" — solo se ejecuta si el usuario tiene un cupón válido. La flecha sale del opcional hacia el caso base.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casos de uso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configurar «extend»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6309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Igual que con include: herramienta UML - Dependency de la paleta.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Doble clic sobre la línea → campo Estereotipo: extends.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406640" y="1280160"/>
            <a:ext cx="3840480" cy="2688336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6" name="Image 0" descr="C:/Users/Aitor/Documents/apuntes-profe/entornos-de-desarrollo/docs/tema6/img/casos-extend-propieda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280160"/>
            <a:ext cx="3840480" cy="2688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0" y="399592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Propiedades de la relación «extend» en DIA: estereotipo "extends"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754880"/>
            <a:ext cx="11091672" cy="9601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828032"/>
            <a:ext cx="1063447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de las flechas (cae en examen): «include» apunta al caso incluido; «extend» apunta al caso base. Se ve en la siguiente diapositiva.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casos de uso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de las flechas (cae en examen)</a:t>
            </a:r>
            <a:endParaRPr lang="en-US" sz="2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4658502"/>
                <a:gridCol w="4214835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flecha apunta a...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«include»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caso INCLUIDO (el trozo reutilizado)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pedido ──▶ Iniciar sesión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«extend»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caso BASE (el que se amplía)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Aplicar cupón ──▶ Pagar pedido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57600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73075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Truco: la flecha siempre sale del caso que "manda ejecutar" hacia el que completa la historia. En include manda el grande; en extend, el opcional se ofrece al grande.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846320"/>
            <a:ext cx="11091672" cy="7772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919472"/>
            <a:ext cx="10634472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no lo confundas con la dirección de la dependencia en clases: aquí la etiqueta «include»/«extend» es la que da el significado.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casos de uso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Relaciones avanzadas: generalización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Funciona igual que la herencia del tema 5: el hijo hereda el comportamiento del padre y puede añadir o modificar.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Entre CASOS DE USO: varios casos comparten un comportamiento base.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Entre ACTORES: un actor hereda los casos de uso de otro. Ejemplo: Administrador hereda todo lo que puede hacer Usuario y añade los suyos propios.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 dibuja con la misma flecha de triángulo hueco de los diagramas de clases, apuntando al padre.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052560" y="1234440"/>
            <a:ext cx="1417320" cy="2505456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6" name="Image 0" descr="C:/Users/Aitor/Documents/apuntes-profe/entornos-de-desarrollo/docs/tema6/img/dia-generalizacion-pal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1234440"/>
            <a:ext cx="1417320" cy="2505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78240" y="37673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 de generalización en la paleta UML de DIA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4663440"/>
            <a:ext cx="11091672" cy="9144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736592"/>
            <a:ext cx="10634472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usarla entre actores: si te descubres repitiendo las mismas líneas de comunicación para dos actores, probablemente uno generaliza al otro.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casos de uso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Los casos de uso describen las interacciones más importantes con el sistema, no su funcionamiento interno.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Mantén el diagrama lo más simple posible: todo el mundo (incluidos clientes sin perfil técnico) debe entenderlo.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abuses de «include» para descomponer cada caso en sub-casos: los requisitos cambian y cada descomposición de hoy puede quedar obsoleta mañana.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Acompaña siempre el diagrama con la descripción narrativa de cada caso de uso: quién lo inicia, escenario principal, escenarios alternativos.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11091672" cy="8686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828032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frecuente: incluir pasos del flujo interno ("Conectar a la base de datos", "Validar token"). Esos detalles no los ve el usuario y no pertenecen aquí.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casos de uso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relaciones</a:t>
            </a:r>
            <a:endParaRPr lang="en-US" sz="2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883835"/>
                <a:gridCol w="3771168"/>
                <a:gridCol w="4436669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dibuja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Cuándo usarla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Relación de comunicación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continua sin flecha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Une un actor con un caso de uso que puede iniciar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«include»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Discontinua, flecha al caso incluido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caso incluido SIEMPRE se ejecuta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«extend»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Discontinua, flecha al caso base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caso extendido se ejecuta SOLO A VECES (condición)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Generalización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Flecha de triángulo hueco al padre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Varios casos (o actores) comparten comportamiento base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 de casos de uso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Entornos de Desarrollo</cp:lastModifiedBy>
  <cp:revision>1</cp:revision>
  <dcterms:created xsi:type="dcterms:W3CDTF">2026-07-04T10:34:30Z</dcterms:created>
  <dcterms:modified xsi:type="dcterms:W3CDTF">2026-07-04T10:34:30Z</dcterms:modified>
</cp:coreProperties>
</file>
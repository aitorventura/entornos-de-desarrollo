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03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 —  TEMA 6: DIAGRAMAS DE COMPORTAMIENTO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interacción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y comunicación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Diagramas de interacción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Muestran cómo se comunican los objetos de un sistema al ejecutar una operación o proceso.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dos tipos principales, y los dos representan lo mismo desde ángulos diferentes:</a:t>
            </a:r>
            <a:endParaRPr lang="en-US" sz="1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914400"/>
        </p:xfrm>
        <a:graphic>
          <a:graphicData uri="http://schemas.openxmlformats.org/drawingml/2006/table">
            <a:tbl>
              <a:tblPr/>
              <a:tblGrid>
                <a:gridCol w="2662001"/>
                <a:gridCol w="8429671"/>
              </a:tblGrid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Diagrama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Énfasis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Secuencia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ORDEN CRONOLÓGICO de los mensajes: quién llama a quién y cuándo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Comunicación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 RELACIONES entre los objetos y el flujo de control: quién está conectado con quién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051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46227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lo que más importa es el orden exacto de los pasos → secuencia. Si lo que interesa es ver qué objetos están relacionados y cuánto tráfico hay entre ellos → comunicación. Al final veremos cómo pasar de uno a otro de forma mecánica.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secuencia: ¿para qué sirve?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eje vertical es el TIEMPO (de arriba abajo); el horizontal, los objetos que participan. Un inicio de sesión completo: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8720" y="1554480"/>
            <a:ext cx="1828800" cy="4572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212080" y="1554480"/>
            <a:ext cx="1828800" cy="4572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235440" y="1554480"/>
            <a:ext cx="1828800" cy="4572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03120" y="2011680"/>
            <a:ext cx="0" cy="3794760"/>
          </a:xfrm>
          <a:prstGeom prst="line">
            <a:avLst/>
          </a:prstGeom>
          <a:noFill/>
          <a:ln w="15240">
            <a:solidFill>
              <a:srgbClr val="75757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126480" y="2011680"/>
            <a:ext cx="0" cy="3794760"/>
          </a:xfrm>
          <a:prstGeom prst="line">
            <a:avLst/>
          </a:prstGeom>
          <a:noFill/>
          <a:ln w="15240">
            <a:solidFill>
              <a:srgbClr val="75757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0149840" y="2011680"/>
            <a:ext cx="0" cy="3794760"/>
          </a:xfrm>
          <a:prstGeom prst="line">
            <a:avLst/>
          </a:prstGeom>
          <a:noFill/>
          <a:ln w="15240">
            <a:solidFill>
              <a:srgbClr val="75757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062472" y="2331720"/>
            <a:ext cx="128016" cy="288036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85832" y="3063240"/>
            <a:ext cx="128016" cy="86868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2331720"/>
            <a:ext cx="3959352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528316" y="2011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iniciarSesion(usuario, clave)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0488" y="3063240"/>
            <a:ext cx="3895344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58368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 comprobarCredenciales(...)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flipH="1">
            <a:off x="6190488" y="3931920"/>
            <a:ext cx="3895344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dash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132320" y="3611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 correctas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H="1">
            <a:off x="2103120" y="5029200"/>
            <a:ext cx="3959352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dash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528316" y="4709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 mostrarPantallaPrincipal()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897880"/>
            <a:ext cx="11091672" cy="530352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971032"/>
            <a:ext cx="10634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web pregunta a la BD y ESPERA (su barra sigue abierta); la BD responde con flecha discontinua; solo entonces la web responde al usuario.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Secuencia: objetos, línea de vida y activación</a:t>
            </a:r>
            <a:endParaRPr lang="en-US" sz="2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996501"/>
                <a:gridCol w="5213086"/>
                <a:gridCol w="3882085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Cómo se dibuja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entidad que interactúa: instancias de clases, actores externos o el propio sistema.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Rectángulo en la parte superior, alineados en horizontal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de vida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existencia del objeto a lo largo del tiempo.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vertical DISCONTINUA que baja desde el objeto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objeto está ocupado procesando una acción en ese momento.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Barra rectangular estrecha sobre la línea de vida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8056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55371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Truco de lectura: mientras la barra de activación de un objeto esté abierta, ese objeto está trabajando (o esperando una respuesta que necesita para seguir).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objeto y activación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394960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51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Añadir un objeto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Usa el elemento UML - Object de la paleta UML: el rectángulo con el nombre subrayado.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331720" y="2606040"/>
            <a:ext cx="1554480" cy="1353312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8" name="Image 0" descr="C:/Users/Aitor/Documents/apuntes-profe/entornos-de-desarrollo/docs/tema6/img/secuencia-lifeline-pal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2606040"/>
            <a:ext cx="1554480" cy="13533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39867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 de línea de vida (objeto) en la paleta UML de DIA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63640" y="1051560"/>
            <a:ext cx="5394960" cy="411480"/>
          </a:xfrm>
          <a:prstGeom prst="rect">
            <a:avLst/>
          </a:prstGeom>
          <a:solidFill>
            <a:srgbClr val="3F51B5"/>
          </a:solidFill>
          <a:ln w="12700">
            <a:solidFill>
              <a:srgbClr val="3F51B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10515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Añadir activación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63640" y="1600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Usa el elemento de activación de la paleta UML: la barra rectangular.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412480" y="2606040"/>
            <a:ext cx="1737360" cy="1335024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14" name="Image 1" descr="C:/Users/Aitor/Documents/apuntes-profe/entornos-de-desarrollo/docs/tema6/img/secuencia-activacion-canv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606040"/>
            <a:ext cx="1737360" cy="1335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38160" y="39684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 de activación sobre la línea de vida en DIA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configurar la línea de vida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 barra de activación: doble clic sobre la línea de vida → "Dibujar foco de control" → No.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Puntos de conexión muy separados: clic derecho sobre la línea → "Reducir la distancia entre los puntos de conexión".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0" y="2926080"/>
            <a:ext cx="4206240" cy="2633472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6" name="Image 0" descr="C:/Users/Aitor/Documents/apuntes-profe/entornos-de-desarrollo/docs/tema6/img/dia-lifeline-foco-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926080"/>
            <a:ext cx="4206240" cy="2633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5869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Desactivar "Dibujar foco de control" en las propiedades de la línea de vida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3291840"/>
            <a:ext cx="5120640" cy="2212848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9" name="Image 1" descr="C:/Users/Aitor/Documents/apuntes-profe/entornos-de-desarrollo/docs/tema6/img/dia-lifeline-reducir-distanc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3291840"/>
            <a:ext cx="5120640" cy="22128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0" y="55321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 contextual para reducir la distancia entre puntos de conexión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Secuencia: tipos de mensaje</a:t>
            </a:r>
            <a:endParaRPr lang="en-US" sz="2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1774668"/>
                <a:gridCol w="709867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DIA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significa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Síncrono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que llama se detiene hasta recibir respuesta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Asíncrono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 que llama continúa sin esperar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Respuesta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Volver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Devuelve el resultado; línea discontinua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Instancia un objeto nuevo (equivale al constructor)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Destrucción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Destruir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 un objeto; ✕ al final de su línea de vida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Automensaje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Recursiva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Llamada a otro método del mismo objeto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11091672" cy="8229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9A82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523951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mensaje de creación siempre apunta a un OBJETO, nunca a una clase. Y el objeto creado aparece a la altura de su creación, no arriba con los que existen desde el principio.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tipos de mensaje (I)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Dibuja la flecha con la herramienta de mensajes de la paleta UML y haz doble clic sobre ella: en "Tipo de mensaje" eliges el que necesites.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566160" cy="2423160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6" name="Image 0" descr="C:/Users/Aitor/Documents/apuntes-profe/entornos-de-desarrollo/docs/tema6/img/secuencia-mensaje-llam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3566160" cy="2423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507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Herramienta de mensaje. El tipo por defecto es "Llamada" (síncrono)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17720" y="2057400"/>
            <a:ext cx="2423160" cy="2414016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9" name="Image 1" descr="C:/Users/Aitor/Documents/apuntes-profe/entornos-de-desarrollo/docs/tema6/img/secuencia-mensaje-sim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057400"/>
            <a:ext cx="2423160" cy="24140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43400" y="44988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"Simple": el emisor no espera respuesta (asíncrono)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360920" y="2057400"/>
            <a:ext cx="2404872" cy="2368296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12" name="Image 2" descr="C:/Users/Aitor/Documents/apuntes-profe/entornos-de-desarrollo/docs/tema6/img/secuencia-mensaje-vol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057400"/>
            <a:ext cx="2404872" cy="23682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4453128"/>
            <a:ext cx="295351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"Volver": discontinua con flecha, es la respuesta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tipos de mensaje (II)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Los mismos pasos sirven para creación y automensajes: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03120" y="2103120"/>
            <a:ext cx="3246120" cy="3182112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6" name="Image 0" descr="C:/Users/Aitor/Documents/apuntes-profe/entornos-de-desarrollo/docs/tema6/img/secuencia-mensaje-cr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2103120"/>
            <a:ext cx="3246120" cy="31821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5312664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"Crear": instancia un objeto nuevo junto al extremo receptor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103120"/>
            <a:ext cx="3611880" cy="3163824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9" name="Image 1" descr="C:/Users/Aitor/Documents/apuntes-profe/entornos-de-desarrollo/docs/tema6/img/secuencia-mensaje-recursiv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03120"/>
            <a:ext cx="3611880" cy="31638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0" y="529437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"Recursiva": la flecha sale y vuelve al mismo objeto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marca de destrucción (✕)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Doble clic sobre la línea de vida del objeto → "Dibujar marca de destrucción" → Sí.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El mensaje que lo destruye debe ser de tipo Destruir.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80160" y="2514600"/>
            <a:ext cx="4023360" cy="2487168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6" name="Image 0" descr="C:/Users/Aitor/Documents/apuntes-profe/entornos-de-desarrollo/docs/tema6/img/dia-lifeline-destruc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514600"/>
            <a:ext cx="4023360" cy="2487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5029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 "Dibujar marca de destrucción" en la línea de vida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514600"/>
            <a:ext cx="4023360" cy="2505456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9" name="Image 1" descr="C:/Users/Aitor/Documents/apuntes-profe/entornos-de-desarrollo/docs/tema6/img/dia-mensaje-destru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514600"/>
            <a:ext cx="4023360" cy="2505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60720" y="5047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"Destruir": la flecha apunta al objeto que desaparece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de tipos de mensaje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880360" y="1097280"/>
            <a:ext cx="6400800" cy="4700016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5" name="Image 0" descr="C:/Users/Aitor/Documents/apuntes-profe/entornos-de-desarrollo/docs/tema6/img/secuencia-tipos-res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097280"/>
            <a:ext cx="6400800" cy="47000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06040" y="5824728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Resumen: llamada síncrona, retorno, autollamada, creación y destrucción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leído paso a paso: llamada telefónica</a:t>
            </a:r>
            <a:endParaRPr lang="en-US" sz="2300" dirty="0"/>
          </a:p>
        </p:txBody>
      </p:sp>
      <p:pic>
        <p:nvPicPr>
          <p:cNvPr id="4" name="Image 0" descr="C:/Users/Aitor/Documents/apuntes-profe/entornos-de-desarrollo/docs/tema6/img/secuencia-llamada-compl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557784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09360" y="1097280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1. Marcar Número(): el vendedor llama a la centralita; su activación se abre.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2. Dar Tonos(): la empresa responde con los tonos de espera.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3. Sonar Timbre(): a la vez, hace sonar el teléfono del abonado.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4. Descolgar(): el abonado responde.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5. Llamada Aceptada(): la empresa avisa al vendedor de que hay línea.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6. Vender Producto(): el vendedor habla DIRECTAMENTE con el abonado.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7. Colgar(): el vendedor termina la llamada.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5120640"/>
            <a:ext cx="11091672" cy="8229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193792"/>
            <a:ext cx="10634472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interpretar, pregúntate en cada mensaje: ¿quién lo envía? ¿espera respuesta o continúa? ¿qué activaciones están abiertas?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lavadora (secuencia)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2743200" y="1097280"/>
            <a:ext cx="6675120" cy="4855464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5" name="Image 0" descr="C:/Users/Aitor/Documents/apuntes-profe/entornos-de-desarrollo/docs/tema6/img/secuencia-lavadora-compl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097280"/>
            <a:ext cx="6675120" cy="4855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68880" y="5980176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programador coordina la válvula de agua, el tambor y la bomba de desagüe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comunicación: ¿para qué sirve?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 la comunicación entre objetos poniendo el acento en las RELACIONES y el flujo de control, no en el tiempo.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versiones antiguas de UML se llamaba "diagrama de colaboración".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91672" cy="9601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633472"/>
            <a:ext cx="10634472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clave: secuencia y comunicación muestran LO MISMO (quién habla con quién). Cambia el enfoque — orden cronológico (secuencia) vs relaciones entre objetos (comunicación).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914400"/>
        </p:xfrm>
        <a:graphic>
          <a:graphicData uri="http://schemas.openxmlformats.org/drawingml/2006/table">
            <a:tbl>
              <a:tblPr/>
              <a:tblGrid>
                <a:gridCol w="3105668"/>
                <a:gridCol w="7986004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Elemento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1B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Nodo de comunicación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Cada objeto del sistema (mismo concepto que en secuencia)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recta entre dos objetos que se hablan. Es ÚNICO por pareja: cinco mensajes = un canal con cinco etiquetas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Mensaje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Flecha con etiqueta sobre el canal: número de orden + nombre de la operación + dirección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Comunicación: la numeración es el tiempo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09167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no hay eje vertical: el orden se expresa SOLO con la numeración. Dos convenciones: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Numeración plana: 1:, 2:, 3:... en el orden global. Suficiente en diagramas pequeños.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Numeración jerárquica: los mensajes que ocurren DENTRO de la operación desencadenada por otro llevan su número como prefijo (2 → 2.1, 2.2).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1554480" cy="5486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703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3703320"/>
            <a:ext cx="155448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3703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2697480"/>
            <a:ext cx="173736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4709160"/>
            <a:ext cx="173736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470916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94560" y="3977640"/>
            <a:ext cx="14630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148840" y="3639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finalizarCompra()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flipV="1">
            <a:off x="5212080" y="2971800"/>
            <a:ext cx="1463040" cy="100584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074920" y="315468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1.1: reservarProductos()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3977640"/>
            <a:ext cx="1463040" cy="100584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349240" y="4343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1.2: cobrar()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1672" cy="8686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513832"/>
            <a:ext cx="10634472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 y 1.2 cuelgan del 1 porque ambas llamadas ocurren dentro de finalizarCompra(): sin el mensaje 1 no existirían. Si el usuario pidiera después la factura, ese nuevo mensaje sería el 2:.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DIA — mensajes en comunicación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Usa la misma herramienta de mensajes que en secuencia (UML - Message).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Haz doble clic → elige "Llamada" u otro tipo según corresponda.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0" y="1188720"/>
            <a:ext cx="3657600" cy="3803904"/>
          </a:xfrm>
          <a:prstGeom prst="rect">
            <a:avLst/>
          </a:prstGeom>
          <a:ln w="12700">
            <a:solidFill>
              <a:srgbClr val="EEEEEE"/>
            </a:solidFill>
            <a:prstDash val="solid"/>
          </a:ln>
        </p:spPr>
      </p:sp>
      <p:pic>
        <p:nvPicPr>
          <p:cNvPr id="6" name="Image 0" descr="C:/Users/Aitor/Documents/apuntes-profe/entornos-de-desarrollo/docs/tema6/img/comunicacion-lavad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188720"/>
            <a:ext cx="3657600" cy="3803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0" y="50200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Objetos conectados con canal y mensaje tipo "Llamada"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secuencia a comunicación (y vuelta)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Coloca los objetos donde quieras (ya no importa el eje del tiempo) y une con una línea cada pareja que se envíe al menos un mensaje: esos son los canales.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Copia cada mensaje sobre su canal, como flecha con el nombre de la operación.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Numera los mensajes en el orden en que ocurrían en el de secuencia.</a:t>
            </a:r>
            <a:endParaRPr lang="en-US" sz="1500" dirty="0"/>
          </a:p>
        </p:txBody>
      </p:sp>
      <p:pic>
        <p:nvPicPr>
          <p:cNvPr id="5" name="Image 0" descr="C:/Users/Aitor/Documents/apuntes-profe/entornos-de-desarrollo/docs/tema6/img/comunicacion-lavado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051560"/>
            <a:ext cx="502920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572000"/>
            <a:ext cx="11091672" cy="11887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645152"/>
            <a:ext cx="10634472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paso inverso también funciona: la numeración te da el orden vertical. En la práctica, el de secuencia es más habitual; el de comunicación gana con muchos objetos, cuando lo que preocupa es la estructura de conexiones (p. ej., detectar que un objeto habla con demasiados).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mismo diagrama, dos vistas: secuencia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finalizarCompra() de antes, ahora completo: el tiempo avanza hacia abajo y se ve que Web espera la respuesta de Stock antes de hablar con Pago.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1783080"/>
            <a:ext cx="2103120" cy="4572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783080"/>
            <a:ext cx="2103120" cy="4572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0" y="1783080"/>
            <a:ext cx="2103120" cy="457200"/>
          </a:xfrm>
          <a:prstGeom prst="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0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/ Pago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57400" y="2240280"/>
            <a:ext cx="0" cy="3566160"/>
          </a:xfrm>
          <a:prstGeom prst="line">
            <a:avLst/>
          </a:prstGeom>
          <a:noFill/>
          <a:ln w="15240">
            <a:solidFill>
              <a:srgbClr val="757575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897880" y="2240280"/>
            <a:ext cx="0" cy="3566160"/>
          </a:xfrm>
          <a:prstGeom prst="line">
            <a:avLst/>
          </a:prstGeom>
          <a:noFill/>
          <a:ln w="15240">
            <a:solidFill>
              <a:srgbClr val="757575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9738360" y="2240280"/>
            <a:ext cx="0" cy="3566160"/>
          </a:xfrm>
          <a:prstGeom prst="line">
            <a:avLst/>
          </a:prstGeom>
          <a:noFill/>
          <a:ln w="15240">
            <a:solidFill>
              <a:srgbClr val="757575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833872" y="2468880"/>
            <a:ext cx="128016" cy="292608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74352" y="2880360"/>
            <a:ext cx="128016" cy="7772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74352" y="4160520"/>
            <a:ext cx="128016" cy="777240"/>
          </a:xfrm>
          <a:prstGeom prst="rect">
            <a:avLst/>
          </a:prstGeom>
          <a:solidFill>
            <a:srgbClr val="E0F2F1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2468880"/>
            <a:ext cx="3776472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46304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finalizarCompra()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61888" y="2880360"/>
            <a:ext cx="3712464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48640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1.1: reservarProductos()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H="1">
            <a:off x="5961888" y="3657600"/>
            <a:ext cx="3712464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dash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694944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61888" y="4160520"/>
            <a:ext cx="3712464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85216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1.2: cobrar()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>
            <a:off x="5961888" y="4937760"/>
            <a:ext cx="3712464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dash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949440" y="4617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303F9F"/>
          </a:solidFill>
          <a:ln w="12700">
            <a:solidFill>
              <a:srgbClr val="303F9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mismo diagrama, dos vistas: comunicación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554480" cy="5486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48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0" y="2148840"/>
            <a:ext cx="155448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1488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675120" y="1143000"/>
            <a:ext cx="173736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1430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75120" y="3154680"/>
            <a:ext cx="1737360" cy="54864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F51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1546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0" y="2423160"/>
            <a:ext cx="1463040" cy="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148840" y="2084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finalizarCompra()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5212080" y="1417320"/>
            <a:ext cx="1463040" cy="100584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074920" y="16002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1.1: reservarProductos()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2423160"/>
            <a:ext cx="1463040" cy="1005840"/>
          </a:xfrm>
          <a:prstGeom prst="line">
            <a:avLst/>
          </a:prstGeom>
          <a:noFill/>
          <a:ln w="19050">
            <a:solidFill>
              <a:srgbClr val="21212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349240" y="2788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1.2: cobrar()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091672" cy="594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050792"/>
            <a:ext cx="10634472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no hay eje temporal: se ven los objetos y sus canales; el orden queda solo en las etiquetas.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11091672" cy="1051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96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28032"/>
            <a:ext cx="10634472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diferencia, de un vistazo: en SECUENCIA ves el orden temporal y cuánto tiempo está activo cada objeto. En COMUNICACIÓN ves las relaciones (quién habla con quién) y el orden se lee en las etiquetas 1, 1.1, 1.2.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Entornos de Desarrollo — Tema 6 · Diagramas de interacción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Entornos de Desarrollo</dc:creator>
  <cp:lastModifiedBy>Entornos de Desarrollo</cp:lastModifiedBy>
  <cp:revision>1</cp:revision>
  <dcterms:created xsi:type="dcterms:W3CDTF">2026-07-04T10:34:30Z</dcterms:created>
  <dcterms:modified xsi:type="dcterms:W3CDTF">2026-07-04T10:34:30Z</dcterms:modified>
</cp:coreProperties>
</file>
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03F9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0BE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 —  TEMA 6: DIAGRAMAS DE COMPORTAMIENTO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11091672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Diagramas de interacción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0" y="5120640"/>
            <a:ext cx="12188952" cy="914400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51206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Secuencia y comunicación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Diagramas de interacción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Muestran cómo se comunican los objetos de un sistema al ejecutar una operación o proceso.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dos tipos principales, y los dos representan lo mismo desde ángulos diferentes:</a:t>
            </a:r>
            <a:endParaRPr lang="en-US" sz="17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11091672" cy="914400"/>
        </p:xfrm>
        <a:graphic>
          <a:graphicData uri="http://schemas.openxmlformats.org/drawingml/2006/table">
            <a:tbl>
              <a:tblPr/>
              <a:tblGrid>
                <a:gridCol w="2662001"/>
                <a:gridCol w="8429671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Énfasis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Secuencia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ORDEN CRONOLÓGICO de los mensajes: quién llama a quién y cuándo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Comunicación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Las RELACIONES entre los objetos y el flujo de control: quién está conectado con quién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389120"/>
            <a:ext cx="11091672" cy="105156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462272"/>
            <a:ext cx="10634472" cy="9052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lo que más importa es el orden exacto de los pasos → secuencia. Si lo que interesa es ver qué objetos están relacionados y cuánto tráfico hay entre ellos → comunicación. Al final veremos cómo pasar de uno a otro de forma mecánica.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Diagramas de interacción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secuencia: ¿para qué sirve?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914400"/>
            <a:ext cx="1109167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eje vertical es el TIEMPO (de arriba abajo); el horizontal, los objetos que participan. Un inicio de sesión completo: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188720" y="1554480"/>
            <a:ext cx="1828800" cy="457200"/>
          </a:xfrm>
          <a:prstGeom prst="rect">
            <a:avLst/>
          </a:prstGeom>
          <a:solidFill>
            <a:srgbClr val="E8EAF6"/>
          </a:solidFill>
          <a:ln w="19050">
            <a:solidFill>
              <a:srgbClr val="3F51B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12080" y="1554480"/>
            <a:ext cx="1828800" cy="457200"/>
          </a:xfrm>
          <a:prstGeom prst="rect">
            <a:avLst/>
          </a:prstGeom>
          <a:solidFill>
            <a:srgbClr val="E8EAF6"/>
          </a:solidFill>
          <a:ln w="19050">
            <a:solidFill>
              <a:srgbClr val="3F51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235440" y="1554480"/>
            <a:ext cx="1828800" cy="457200"/>
          </a:xfrm>
          <a:prstGeom prst="rect">
            <a:avLst/>
          </a:prstGeom>
          <a:solidFill>
            <a:srgbClr val="E8EAF6"/>
          </a:solidFill>
          <a:ln w="19050">
            <a:solidFill>
              <a:srgbClr val="3F51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35440" y="15544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103120" y="2011680"/>
            <a:ext cx="0" cy="3794760"/>
          </a:xfrm>
          <a:prstGeom prst="line">
            <a:avLst/>
          </a:prstGeom>
          <a:noFill/>
          <a:ln w="15240">
            <a:solidFill>
              <a:srgbClr val="757575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126480" y="2011680"/>
            <a:ext cx="0" cy="3794760"/>
          </a:xfrm>
          <a:prstGeom prst="line">
            <a:avLst/>
          </a:prstGeom>
          <a:noFill/>
          <a:ln w="15240">
            <a:solidFill>
              <a:srgbClr val="757575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10149840" y="2011680"/>
            <a:ext cx="0" cy="3794760"/>
          </a:xfrm>
          <a:prstGeom prst="line">
            <a:avLst/>
          </a:prstGeom>
          <a:noFill/>
          <a:ln w="15240">
            <a:solidFill>
              <a:srgbClr val="757575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6062472" y="2331720"/>
            <a:ext cx="128016" cy="2880360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85832" y="3063240"/>
            <a:ext cx="128016" cy="868680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103120" y="2331720"/>
            <a:ext cx="3959352" cy="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2528316" y="201168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1: iniciarSesion(usuario, clave)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0488" y="3063240"/>
            <a:ext cx="3895344" cy="0"/>
          </a:xfrm>
          <a:prstGeom prst="line">
            <a:avLst/>
          </a:prstGeom>
          <a:noFill/>
          <a:ln w="19050">
            <a:solidFill>
              <a:srgbClr val="212121"/>
            </a:solidFill>
            <a:prstDash val="solid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6583680" y="27432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2: comprobarCredenciales(...)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 flipH="1">
            <a:off x="6190488" y="3931920"/>
            <a:ext cx="3895344" cy="0"/>
          </a:xfrm>
          <a:prstGeom prst="line">
            <a:avLst/>
          </a:prstGeom>
          <a:noFill/>
          <a:ln w="19050">
            <a:solidFill>
              <a:srgbClr val="212121"/>
            </a:solidFill>
            <a:prstDash val="dash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7132320" y="361188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3: correctas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 flipH="1">
            <a:off x="2103120" y="5029200"/>
            <a:ext cx="3959352" cy="0"/>
          </a:xfrm>
          <a:prstGeom prst="line">
            <a:avLst/>
          </a:prstGeom>
          <a:noFill/>
          <a:ln w="19050">
            <a:solidFill>
              <a:srgbClr val="212121"/>
            </a:solidFill>
            <a:prstDash val="dash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528316" y="47091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4: mostrarPantallaPrincipal()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897880"/>
            <a:ext cx="11091672" cy="530352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971032"/>
            <a:ext cx="1063447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web pregunta a la BD y ESPERA (su barra sigue abierta); la BD responde con flecha discontinua; solo entonces la web responde al usuario.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Diagramas de interacción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Secuencia: objetos, línea de vida y activación</a:t>
            </a:r>
            <a:endParaRPr lang="en-US" sz="2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11091672" cy="914400"/>
        </p:xfrm>
        <a:graphic>
          <a:graphicData uri="http://schemas.openxmlformats.org/drawingml/2006/table">
            <a:tbl>
              <a:tblPr/>
              <a:tblGrid>
                <a:gridCol w="1996501"/>
                <a:gridCol w="5213086"/>
                <a:gridCol w="3882085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Cómo se dibuja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entidad que interactúa: instancias de clases, actores externos o el propio sistema.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Rectángulo en la parte superior, alineados en horizontal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de vida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existencia del objeto a lo largo del tiempo.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vertical DISCONTINUA que baja desde el objeto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objeto está ocupado procesando una acción en ese momento.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Barra rectangular estrecha sobre la línea de vida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80560"/>
            <a:ext cx="11091672" cy="86868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553712"/>
            <a:ext cx="10634472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Truco de lectura: mientras la barra de activación de un objeto esté abierta, ese objeto está trabajando (o esperando una respuesta que necesita para seguir).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Diagramas de interacción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Secuencia: tipos de mensaje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51560"/>
          <a:ext cx="11091672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1774668"/>
                <a:gridCol w="709867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 DIA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significa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Síncrono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Llamada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que llama se detiene hasta recibir respuesta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Asíncrono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que llama continúa sin esperar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Respuesta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Volver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Devuelve el resultado; línea discontinua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Creación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Instancia un objeto nuevo (equivale al constructor)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Destrucción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Destruir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Elimina un objeto; ✕ al final de su línea de vida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Automensaje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Recursiva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Llamada a otro método del mismo objeto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892040"/>
            <a:ext cx="11091672" cy="86868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77240" y="4965192"/>
            <a:ext cx="10634472" cy="7223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mensaje de creación siempre apunta a un OBJETO, nunca a una clase. Y el objeto creado aparece a la altura de su creación, no arriba con los que existen desde el principio.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Diagramas de interacción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Ejemplo leído paso a paso: llamada telefónica</a:t>
            </a:r>
            <a:endParaRPr lang="en-US" sz="2300" dirty="0"/>
          </a:p>
        </p:txBody>
      </p:sp>
      <p:pic>
        <p:nvPicPr>
          <p:cNvPr id="4" name="Image 0" descr="C:/Users/Aitor/Documents/apuntes-profe/entornos-de-desarrollo/docs/tema6/img/secuencia-llamada-comple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557784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309360" y="1097280"/>
            <a:ext cx="539496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1. Marcar Número(): el vendedor llama a la centralita; su activación se abre.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2. Dar Tonos(): la empresa responde con los tonos de espera.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3. Sonar Timbre(): a la vez, hace sonar el teléfono del abonado.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4. Descolgar(): el abonado responde.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5. Llamada Aceptada(): la empresa avisa al vendedor de que hay línea.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6. Vender Producto(): el vendedor habla DIRECTAMENTE con el abonado.</a:t>
            </a:r>
            <a:endParaRPr lang="en-US" sz="13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7. Colgar(): el vendedor termina la llamada.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5120640"/>
            <a:ext cx="11091672" cy="82296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5193792"/>
            <a:ext cx="10634472" cy="6766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interpretar, pregúntate en cada mensaje: ¿quién lo envía? ¿espera respuesta o continúa? ¿qué activaciones están abiertas?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Diagramas de interacción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Diagrama de comunicación: ¿para qué sirve?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1109167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Representa la comunicación entre objetos poniendo el acento en las RELACIONES y el flujo de control, no en el tiempo.</a:t>
            </a:r>
            <a:endParaRPr lang="en-US" sz="17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versiones antiguas de UML se llamaba "diagrama de colaboración".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11091672" cy="96012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633472"/>
            <a:ext cx="1063447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Idea clave: secuencia y comunicación muestran LO MISMO (quién habla con quién). Cambia el enfoque — orden cronológico (secuencia) vs relaciones entre objetos (comunicación).</a:t>
            </a:r>
            <a:endParaRPr lang="en-US" sz="1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914400"/>
        </p:xfrm>
        <a:graphic>
          <a:graphicData uri="http://schemas.openxmlformats.org/drawingml/2006/table">
            <a:tbl>
              <a:tblPr/>
              <a:tblGrid>
                <a:gridCol w="3105668"/>
                <a:gridCol w="7986004"/>
              </a:tblGrid>
              <a:tr h="685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Elemento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51B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Nodo de comunicación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Cada objeto del sistema (mismo concepto que en secuencia)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Canal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Línea recta entre dos objetos que se hablan. Es ÚNICO por pareja: cinco mensajes = un canal con cinco etiquetas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Mensaje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Flecha con etiqueta sobre el canal: número de orden + nombre de la operación + dirección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Diagramas de interacción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Comunicación: la numeración es el tiempo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1091672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Aquí no hay eje vertical: el orden se expresa SOLO con la numeración. Dos convenciones: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Numeración plana: 1:, 2:, 3:... en el orden global. Suficiente en diagramas pequeños.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Numeración jerárquica: los mensajes que ocurren DENTRO de la operación desencadenada por otro llevan su número como prefijo (2 → 2.1, 2.2).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200400"/>
            <a:ext cx="11091672" cy="1234440"/>
          </a:xfrm>
          <a:prstGeom prst="rect">
            <a:avLst/>
          </a:prstGeom>
          <a:solidFill>
            <a:srgbClr val="ECEFF1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3200400"/>
            <a:ext cx="64008" cy="1234440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3291840"/>
            <a:ext cx="1068019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Usuario ───── Web       1: finalizarCompra()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───── Stock         1.1: reservarProductos()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632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 ───── Pago          1.2: cobrar()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4754880"/>
            <a:ext cx="11091672" cy="96012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828032"/>
            <a:ext cx="10634472" cy="8138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 y 1.2 cuelgan del 1 porque ambas llamadas ocurren dentro de finalizarCompra(): sin el mensaje 1 no existirían. Si el usuario pidiera después la factura, ese nuevo mensaje sería el 2:.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Diagramas de interacción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303F9F"/>
          </a:solidFill>
          <a:ln w="12700">
            <a:solidFill>
              <a:srgbClr val="303F9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1145743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secuencia a comunicación (y vuelta)</a:t>
            </a:r>
            <a:endParaRPr lang="en-US" sz="23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7607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Coloca los objetos donde quieras (ya no importa el eje del tiempo) y une con una línea cada pareja que se envíe al menos un mensaje: esos son los canales.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Copia cada mensaje sobre su canal, como flecha con el nombre de la operación.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Numera los mensajes en el orden en que ocurrían en el de secuencia.</a:t>
            </a:r>
            <a:endParaRPr lang="en-US" sz="1500" dirty="0"/>
          </a:p>
        </p:txBody>
      </p:sp>
      <p:pic>
        <p:nvPicPr>
          <p:cNvPr id="5" name="Image 0" descr="C:/Users/Aitor/Documents/apuntes-profe/entornos-de-desarrollo/docs/tema6/img/comunicacion-lavado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051560"/>
            <a:ext cx="502920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4572000"/>
            <a:ext cx="11091672" cy="1188720"/>
          </a:xfrm>
          <a:prstGeom prst="roundRect">
            <a:avLst/>
          </a:prstGeom>
          <a:solidFill>
            <a:srgbClr val="E0F2F1"/>
          </a:solidFill>
          <a:ln w="19050">
            <a:solidFill>
              <a:srgbClr val="009688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645152"/>
            <a:ext cx="10634472" cy="10424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paso inverso también funciona: la numeración te da el orden vertical. En la práctica, el de secuencia es más habitual; el de comunicación gana con muchos objetos, cuando lo que preocupa es la estructura de conexiones (p. ej., detectar que un objeto habla con demasiados).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7575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Entornos de Desarrollo — Tema 6 · Diagramas de interacción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Entornos de Desarrollo</dc:creator>
  <cp:lastModifiedBy>Entornos de Desarrollo</cp:lastModifiedBy>
  <cp:revision>1</cp:revision>
  <dcterms:created xsi:type="dcterms:W3CDTF">2026-07-03T20:12:34Z</dcterms:created>
  <dcterms:modified xsi:type="dcterms:W3CDTF">2026-07-03T20:12:34Z</dcterms:modified>
</cp:coreProperties>
</file>
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03F9F"/>
        </a:solidFill>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indent="0" marL="0">
              <a:buNone/>
            </a:pPr>
            <a:r>
              <a:rPr lang="en-US" sz="1400" dirty="0">
                <a:solidFill>
                  <a:srgbClr val="B0BEC5"/>
                </a:solidFill>
                <a:latin typeface="Arial" pitchFamily="34" charset="0"/>
                <a:ea typeface="Arial" pitchFamily="34" charset="-122"/>
                <a:cs typeface="Arial" pitchFamily="34" charset="-120"/>
              </a:rPr>
              <a:t>ENTORNOS DE DESARROLLO  —  TEMA 6: DIAGRAMAS DE COMPORTAMIENTO</a:t>
            </a:r>
            <a:endParaRPr lang="en-US" sz="1400" dirty="0"/>
          </a:p>
        </p:txBody>
      </p:sp>
      <p:sp>
        <p:nvSpPr>
          <p:cNvPr id="3" name="Text 1"/>
          <p:cNvSpPr/>
          <p:nvPr/>
        </p:nvSpPr>
        <p:spPr>
          <a:xfrm>
            <a:off x="548640" y="1554480"/>
            <a:ext cx="11091672" cy="2377440"/>
          </a:xfrm>
          <a:prstGeom prst="rect">
            <a:avLst/>
          </a:prstGeom>
          <a:noFill/>
          <a:ln/>
        </p:spPr>
        <p:txBody>
          <a:bodyPr wrap="square" rtlCol="0" anchor="ctr"/>
          <a:lstStyle/>
          <a:p>
            <a:pPr algn="l" indent="0" marL="0">
              <a:buNone/>
            </a:pPr>
            <a:r>
              <a:rPr lang="en-US" sz="4000" b="1" dirty="0">
                <a:solidFill>
                  <a:srgbClr val="FFFFFF"/>
                </a:solidFill>
                <a:latin typeface="Arial" pitchFamily="34" charset="0"/>
                <a:ea typeface="Arial" pitchFamily="34" charset="-122"/>
                <a:cs typeface="Arial" pitchFamily="34" charset="-120"/>
              </a:rPr>
              <a:t>Tipos de diagramas de comportamiento</a:t>
            </a:r>
            <a:endParaRPr lang="en-US" sz="4000" dirty="0"/>
          </a:p>
        </p:txBody>
      </p:sp>
      <p:sp>
        <p:nvSpPr>
          <p:cNvPr id="4" name="Shape 2"/>
          <p:cNvSpPr/>
          <p:nvPr/>
        </p:nvSpPr>
        <p:spPr>
          <a:xfrm>
            <a:off x="0" y="5120640"/>
            <a:ext cx="12188952" cy="914400"/>
          </a:xfrm>
          <a:prstGeom prst="rect">
            <a:avLst/>
          </a:prstGeom>
          <a:solidFill>
            <a:srgbClr val="009688"/>
          </a:solidFill>
          <a:ln w="12700">
            <a:solidFill>
              <a:srgbClr val="009688"/>
            </a:solidFill>
            <a:prstDash val="solid"/>
          </a:ln>
        </p:spPr>
      </p:sp>
      <p:sp>
        <p:nvSpPr>
          <p:cNvPr id="5" name="Text 3"/>
          <p:cNvSpPr/>
          <p:nvPr/>
        </p:nvSpPr>
        <p:spPr>
          <a:xfrm>
            <a:off x="548640" y="5120640"/>
            <a:ext cx="11091672" cy="914400"/>
          </a:xfrm>
          <a:prstGeom prst="rect">
            <a:avLst/>
          </a:prstGeom>
          <a:noFill/>
          <a:ln/>
        </p:spPr>
        <p:txBody>
          <a:bodyPr wrap="square" rtlCol="0" anchor="ctr"/>
          <a:lstStyle/>
          <a:p>
            <a:pPr indent="0" marL="0">
              <a:buNone/>
            </a:pPr>
            <a:r>
              <a:rPr lang="en-US" sz="2000" i="1" dirty="0">
                <a:solidFill>
                  <a:srgbClr val="FFFFFF"/>
                </a:solidFill>
                <a:latin typeface="Arial" pitchFamily="34" charset="0"/>
                <a:ea typeface="Arial" pitchFamily="34" charset="-122"/>
                <a:cs typeface="Arial" pitchFamily="34" charset="-120"/>
              </a:rPr>
              <a:t>Tipos y campo de aplicación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¿Qué son los diagramas de comportamiento?</a:t>
            </a:r>
            <a:endParaRPr lang="en-US" sz="2300" dirty="0"/>
          </a:p>
        </p:txBody>
      </p:sp>
      <p:sp>
        <p:nvSpPr>
          <p:cNvPr id="4" name="Text 2"/>
          <p:cNvSpPr/>
          <p:nvPr/>
        </p:nvSpPr>
        <p:spPr>
          <a:xfrm>
            <a:off x="548640" y="1097280"/>
            <a:ext cx="11091672" cy="3108960"/>
          </a:xfrm>
          <a:prstGeom prst="rect">
            <a:avLst/>
          </a:prstGeom>
          <a:noFill/>
          <a:ln/>
        </p:spPr>
        <p:txBody>
          <a:bodyPr wrap="square" rtlCol="0" anchor="t"/>
          <a:lstStyle/>
          <a:p>
            <a:pPr indent="0" marL="0">
              <a:spcAft>
                <a:spcPts val="800"/>
              </a:spcAft>
              <a:buNone/>
            </a:pPr>
            <a:r>
              <a:rPr lang="en-US" sz="1700" b="1" dirty="0">
                <a:solidFill>
                  <a:srgbClr val="212121"/>
                </a:solidFill>
                <a:latin typeface="Arial" pitchFamily="34" charset="0"/>
                <a:ea typeface="Arial" pitchFamily="34" charset="-122"/>
                <a:cs typeface="Arial" pitchFamily="34" charset="-120"/>
              </a:rPr>
              <a:t>En UML los diagramas se dividen en dos grandes grupos:</a:t>
            </a:r>
            <a:endParaRPr lang="en-US" sz="1700" dirty="0"/>
          </a:p>
          <a:p>
            <a:pPr lvl="1" indent="0" marL="0">
              <a:spcAft>
                <a:spcPts val="800"/>
              </a:spcAft>
              <a:buNone/>
            </a:pPr>
            <a:r>
              <a:rPr lang="en-US" sz="1700" dirty="0">
                <a:solidFill>
                  <a:srgbClr val="212121"/>
                </a:solidFill>
                <a:latin typeface="Arial" pitchFamily="34" charset="0"/>
                <a:ea typeface="Arial" pitchFamily="34" charset="-122"/>
                <a:cs typeface="Arial" pitchFamily="34" charset="-120"/>
              </a:rPr>
              <a:t>•  Estructurales: muestran cómo está organizado el sistema (clases, objetos, componentes…). El diagrama de clases del tema 5 es uno de ellos.</a:t>
            </a:r>
            <a:endParaRPr lang="en-US" sz="1700" dirty="0"/>
          </a:p>
          <a:p>
            <a:pPr lvl="1" indent="0" marL="0">
              <a:spcAft>
                <a:spcPts val="800"/>
              </a:spcAft>
              <a:buNone/>
            </a:pPr>
            <a:r>
              <a:rPr lang="en-US" sz="1700" dirty="0">
                <a:solidFill>
                  <a:srgbClr val="212121"/>
                </a:solidFill>
                <a:latin typeface="Arial" pitchFamily="34" charset="0"/>
                <a:ea typeface="Arial" pitchFamily="34" charset="-122"/>
                <a:cs typeface="Arial" pitchFamily="34" charset="-120"/>
              </a:rPr>
              <a:t>•  De comportamiento: muestran qué hace el sistema y cómo lo hace. Describen flujos, interacciones y estados.</a:t>
            </a:r>
            <a:endParaRPr lang="en-US" sz="1700" dirty="0"/>
          </a:p>
          <a:p>
            <a:pPr indent="0" marL="0">
              <a:spcAft>
                <a:spcPts val="800"/>
              </a:spcAft>
              <a:buNone/>
            </a:pPr>
            <a:endParaRPr lang="en-US" sz="1700" dirty="0"/>
          </a:p>
          <a:p>
            <a:pPr indent="0" marL="0">
              <a:spcAft>
                <a:spcPts val="800"/>
              </a:spcAft>
              <a:buNone/>
            </a:pPr>
            <a:r>
              <a:rPr lang="en-US" sz="1700" dirty="0">
                <a:solidFill>
                  <a:srgbClr val="212121"/>
                </a:solidFill>
                <a:latin typeface="Arial" pitchFamily="34" charset="0"/>
                <a:ea typeface="Arial" pitchFamily="34" charset="-122"/>
                <a:cs typeface="Arial" pitchFamily="34" charset="-120"/>
              </a:rPr>
              <a:t>Son especialmente útiles al principio del proyecto, cuando hay que entender cómo debe funcionar el sistema antes de programar.</a:t>
            </a:r>
            <a:endParaRPr lang="en-US" sz="1700" dirty="0"/>
          </a:p>
        </p:txBody>
      </p:sp>
      <p:sp>
        <p:nvSpPr>
          <p:cNvPr id="5" name="Shape 3"/>
          <p:cNvSpPr/>
          <p:nvPr/>
        </p:nvSpPr>
        <p:spPr>
          <a:xfrm>
            <a:off x="548640" y="4937760"/>
            <a:ext cx="11091672" cy="914400"/>
          </a:xfrm>
          <a:prstGeom prst="roundRect">
            <a:avLst/>
          </a:prstGeom>
          <a:solidFill>
            <a:srgbClr val="E0F2F1"/>
          </a:solidFill>
          <a:ln w="19050">
            <a:solidFill>
              <a:srgbClr val="009688"/>
            </a:solidFill>
            <a:prstDash val="solid"/>
          </a:ln>
        </p:spPr>
      </p:sp>
      <p:sp>
        <p:nvSpPr>
          <p:cNvPr id="6" name="Text 4"/>
          <p:cNvSpPr/>
          <p:nvPr/>
        </p:nvSpPr>
        <p:spPr>
          <a:xfrm>
            <a:off x="777240" y="5010912"/>
            <a:ext cx="10634472" cy="768096"/>
          </a:xfrm>
          <a:prstGeom prst="rect">
            <a:avLst/>
          </a:prstGeom>
          <a:noFill/>
          <a:ln/>
        </p:spPr>
        <p:txBody>
          <a:bodyPr wrap="square" rtlCol="0" anchor="ctr"/>
          <a:lstStyle/>
          <a:p>
            <a:pPr indent="0" marL="0">
              <a:buNone/>
            </a:pPr>
            <a:r>
              <a:rPr lang="en-US" sz="1600" dirty="0">
                <a:solidFill>
                  <a:srgbClr val="212121"/>
                </a:solidFill>
                <a:latin typeface="Arial" pitchFamily="34" charset="0"/>
                <a:ea typeface="Arial" pitchFamily="34" charset="-122"/>
                <a:cs typeface="Arial" pitchFamily="34" charset="-120"/>
              </a:rPr>
              <a:t>Idea clave: el diagrama de clases es la FOTO del sistema (qué piezas tiene y cómo encajan). Los diagramas de comportamiento son el VÍDEO: qué pasa cuando el sistema se pone en marcha.</a:t>
            </a:r>
            <a:endParaRPr lang="en-US" sz="1600" dirty="0"/>
          </a:p>
        </p:txBody>
      </p:sp>
      <p:sp>
        <p:nvSpPr>
          <p:cNvPr id="7" name="Text 5"/>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6 · Tipos de diagramas de comportamiento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La familia de diagramas de comportamiento</a:t>
            </a:r>
            <a:endParaRPr lang="en-US" sz="2300" dirty="0"/>
          </a:p>
        </p:txBody>
      </p:sp>
      <p:sp>
        <p:nvSpPr>
          <p:cNvPr id="4" name="Shape 2"/>
          <p:cNvSpPr/>
          <p:nvPr/>
        </p:nvSpPr>
        <p:spPr>
          <a:xfrm>
            <a:off x="4265676" y="1188720"/>
            <a:ext cx="3657600" cy="640080"/>
          </a:xfrm>
          <a:prstGeom prst="roundRect">
            <a:avLst/>
          </a:prstGeom>
          <a:solidFill>
            <a:srgbClr val="303F9F"/>
          </a:solidFill>
          <a:ln w="19050">
            <a:solidFill>
              <a:srgbClr val="303F9F"/>
            </a:solidFill>
            <a:prstDash val="solid"/>
          </a:ln>
        </p:spPr>
      </p:sp>
      <p:sp>
        <p:nvSpPr>
          <p:cNvPr id="5" name="Text 3"/>
          <p:cNvSpPr/>
          <p:nvPr/>
        </p:nvSpPr>
        <p:spPr>
          <a:xfrm>
            <a:off x="4265676" y="1188720"/>
            <a:ext cx="3657600" cy="64008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Diagramas de comportamiento</a:t>
            </a:r>
            <a:endParaRPr lang="en-US" sz="1600" dirty="0"/>
          </a:p>
        </p:txBody>
      </p:sp>
      <p:sp>
        <p:nvSpPr>
          <p:cNvPr id="6" name="Shape 4"/>
          <p:cNvSpPr/>
          <p:nvPr/>
        </p:nvSpPr>
        <p:spPr>
          <a:xfrm>
            <a:off x="822960" y="2834640"/>
            <a:ext cx="2148840" cy="594360"/>
          </a:xfrm>
          <a:prstGeom prst="roundRect">
            <a:avLst/>
          </a:prstGeom>
          <a:solidFill>
            <a:srgbClr val="E8EAF6"/>
          </a:solidFill>
          <a:ln w="19050">
            <a:solidFill>
              <a:srgbClr val="3F51B5"/>
            </a:solidFill>
            <a:prstDash val="solid"/>
          </a:ln>
        </p:spPr>
      </p:sp>
      <p:sp>
        <p:nvSpPr>
          <p:cNvPr id="7" name="Text 5"/>
          <p:cNvSpPr/>
          <p:nvPr/>
        </p:nvSpPr>
        <p:spPr>
          <a:xfrm>
            <a:off x="822960" y="2834640"/>
            <a:ext cx="2148840" cy="594360"/>
          </a:xfrm>
          <a:prstGeom prst="rect">
            <a:avLst/>
          </a:prstGeom>
          <a:noFill/>
          <a:ln/>
        </p:spPr>
        <p:txBody>
          <a:bodyPr wrap="square" rtlCol="0" anchor="ctr"/>
          <a:lstStyle/>
          <a:p>
            <a:pPr algn="ctr" indent="0" marL="0">
              <a:buNone/>
            </a:pPr>
            <a:r>
              <a:rPr lang="en-US" sz="1300" b="1" dirty="0">
                <a:solidFill>
                  <a:srgbClr val="212121"/>
                </a:solidFill>
                <a:latin typeface="Arial" pitchFamily="34" charset="0"/>
                <a:ea typeface="Arial" pitchFamily="34" charset="-122"/>
                <a:cs typeface="Arial" pitchFamily="34" charset="-120"/>
              </a:rPr>
              <a:t>Casos de uso</a:t>
            </a:r>
            <a:endParaRPr lang="en-US" sz="1300" dirty="0"/>
          </a:p>
        </p:txBody>
      </p:sp>
      <p:sp>
        <p:nvSpPr>
          <p:cNvPr id="8" name="Shape 6"/>
          <p:cNvSpPr/>
          <p:nvPr/>
        </p:nvSpPr>
        <p:spPr>
          <a:xfrm>
            <a:off x="3246120" y="2834640"/>
            <a:ext cx="2148840" cy="594360"/>
          </a:xfrm>
          <a:prstGeom prst="roundRect">
            <a:avLst/>
          </a:prstGeom>
          <a:solidFill>
            <a:srgbClr val="E8EAF6"/>
          </a:solidFill>
          <a:ln w="19050">
            <a:solidFill>
              <a:srgbClr val="3F51B5"/>
            </a:solidFill>
            <a:prstDash val="solid"/>
          </a:ln>
        </p:spPr>
      </p:sp>
      <p:sp>
        <p:nvSpPr>
          <p:cNvPr id="9" name="Text 7"/>
          <p:cNvSpPr/>
          <p:nvPr/>
        </p:nvSpPr>
        <p:spPr>
          <a:xfrm>
            <a:off x="3246120" y="2834640"/>
            <a:ext cx="2148840" cy="594360"/>
          </a:xfrm>
          <a:prstGeom prst="rect">
            <a:avLst/>
          </a:prstGeom>
          <a:noFill/>
          <a:ln/>
        </p:spPr>
        <p:txBody>
          <a:bodyPr wrap="square" rtlCol="0" anchor="ctr"/>
          <a:lstStyle/>
          <a:p>
            <a:pPr algn="ctr" indent="0" marL="0">
              <a:buNone/>
            </a:pPr>
            <a:r>
              <a:rPr lang="en-US" sz="1300" b="1" dirty="0">
                <a:solidFill>
                  <a:srgbClr val="212121"/>
                </a:solidFill>
                <a:latin typeface="Arial" pitchFamily="34" charset="0"/>
                <a:ea typeface="Arial" pitchFamily="34" charset="-122"/>
                <a:cs typeface="Arial" pitchFamily="34" charset="-120"/>
              </a:rPr>
              <a:t>Actividad</a:t>
            </a:r>
            <a:endParaRPr lang="en-US" sz="1300" dirty="0"/>
          </a:p>
        </p:txBody>
      </p:sp>
      <p:sp>
        <p:nvSpPr>
          <p:cNvPr id="10" name="Shape 8"/>
          <p:cNvSpPr/>
          <p:nvPr/>
        </p:nvSpPr>
        <p:spPr>
          <a:xfrm>
            <a:off x="5669280" y="2834640"/>
            <a:ext cx="2148840" cy="594360"/>
          </a:xfrm>
          <a:prstGeom prst="roundRect">
            <a:avLst/>
          </a:prstGeom>
          <a:solidFill>
            <a:srgbClr val="E8EAF6"/>
          </a:solidFill>
          <a:ln w="19050">
            <a:solidFill>
              <a:srgbClr val="3F51B5"/>
            </a:solidFill>
            <a:prstDash val="solid"/>
          </a:ln>
        </p:spPr>
      </p:sp>
      <p:sp>
        <p:nvSpPr>
          <p:cNvPr id="11" name="Text 9"/>
          <p:cNvSpPr/>
          <p:nvPr/>
        </p:nvSpPr>
        <p:spPr>
          <a:xfrm>
            <a:off x="5669280" y="2834640"/>
            <a:ext cx="2148840" cy="594360"/>
          </a:xfrm>
          <a:prstGeom prst="rect">
            <a:avLst/>
          </a:prstGeom>
          <a:noFill/>
          <a:ln/>
        </p:spPr>
        <p:txBody>
          <a:bodyPr wrap="square" rtlCol="0" anchor="ctr"/>
          <a:lstStyle/>
          <a:p>
            <a:pPr algn="ctr" indent="0" marL="0">
              <a:buNone/>
            </a:pPr>
            <a:r>
              <a:rPr lang="en-US" sz="1300" b="1" dirty="0">
                <a:solidFill>
                  <a:srgbClr val="212121"/>
                </a:solidFill>
                <a:latin typeface="Arial" pitchFamily="34" charset="0"/>
                <a:ea typeface="Arial" pitchFamily="34" charset="-122"/>
                <a:cs typeface="Arial" pitchFamily="34" charset="-120"/>
              </a:rPr>
              <a:t>Estados</a:t>
            </a:r>
            <a:endParaRPr lang="en-US" sz="1300" dirty="0"/>
          </a:p>
        </p:txBody>
      </p:sp>
      <p:sp>
        <p:nvSpPr>
          <p:cNvPr id="12" name="Shape 10"/>
          <p:cNvSpPr/>
          <p:nvPr/>
        </p:nvSpPr>
        <p:spPr>
          <a:xfrm>
            <a:off x="8503920" y="2834640"/>
            <a:ext cx="2834640" cy="594360"/>
          </a:xfrm>
          <a:prstGeom prst="roundRect">
            <a:avLst/>
          </a:prstGeom>
          <a:solidFill>
            <a:srgbClr val="E0F2F1"/>
          </a:solidFill>
          <a:ln w="19050">
            <a:solidFill>
              <a:srgbClr val="009688"/>
            </a:solidFill>
            <a:prstDash val="solid"/>
          </a:ln>
        </p:spPr>
      </p:sp>
      <p:sp>
        <p:nvSpPr>
          <p:cNvPr id="13" name="Text 11"/>
          <p:cNvSpPr/>
          <p:nvPr/>
        </p:nvSpPr>
        <p:spPr>
          <a:xfrm>
            <a:off x="8503920" y="2834640"/>
            <a:ext cx="2834640" cy="594360"/>
          </a:xfrm>
          <a:prstGeom prst="rect">
            <a:avLst/>
          </a:prstGeom>
          <a:noFill/>
          <a:ln/>
        </p:spPr>
        <p:txBody>
          <a:bodyPr wrap="square" rtlCol="0" anchor="ctr"/>
          <a:lstStyle/>
          <a:p>
            <a:pPr algn="ctr" indent="0" marL="0">
              <a:buNone/>
            </a:pPr>
            <a:r>
              <a:rPr lang="en-US" sz="1300" b="1" dirty="0">
                <a:solidFill>
                  <a:srgbClr val="212121"/>
                </a:solidFill>
                <a:latin typeface="Arial" pitchFamily="34" charset="0"/>
                <a:ea typeface="Arial" pitchFamily="34" charset="-122"/>
                <a:cs typeface="Arial" pitchFamily="34" charset="-120"/>
              </a:rPr>
              <a:t>Diagramas de interacción</a:t>
            </a:r>
            <a:endParaRPr lang="en-US" sz="1300" dirty="0"/>
          </a:p>
        </p:txBody>
      </p:sp>
      <p:sp>
        <p:nvSpPr>
          <p:cNvPr id="14" name="Shape 12"/>
          <p:cNvSpPr/>
          <p:nvPr/>
        </p:nvSpPr>
        <p:spPr>
          <a:xfrm flipH="1">
            <a:off x="1897380" y="1828800"/>
            <a:ext cx="4197096" cy="1005840"/>
          </a:xfrm>
          <a:prstGeom prst="line">
            <a:avLst/>
          </a:prstGeom>
          <a:noFill/>
          <a:ln w="15240">
            <a:solidFill>
              <a:srgbClr val="757575"/>
            </a:solidFill>
            <a:prstDash val="solid"/>
          </a:ln>
        </p:spPr>
      </p:sp>
      <p:sp>
        <p:nvSpPr>
          <p:cNvPr id="15" name="Shape 13"/>
          <p:cNvSpPr/>
          <p:nvPr/>
        </p:nvSpPr>
        <p:spPr>
          <a:xfrm flipH="1">
            <a:off x="4320540" y="1828800"/>
            <a:ext cx="1773936" cy="1005840"/>
          </a:xfrm>
          <a:prstGeom prst="line">
            <a:avLst/>
          </a:prstGeom>
          <a:noFill/>
          <a:ln w="15240">
            <a:solidFill>
              <a:srgbClr val="757575"/>
            </a:solidFill>
            <a:prstDash val="solid"/>
          </a:ln>
        </p:spPr>
      </p:sp>
      <p:sp>
        <p:nvSpPr>
          <p:cNvPr id="16" name="Shape 14"/>
          <p:cNvSpPr/>
          <p:nvPr/>
        </p:nvSpPr>
        <p:spPr>
          <a:xfrm>
            <a:off x="6094476" y="1828800"/>
            <a:ext cx="649224" cy="1005840"/>
          </a:xfrm>
          <a:prstGeom prst="line">
            <a:avLst/>
          </a:prstGeom>
          <a:noFill/>
          <a:ln w="15240">
            <a:solidFill>
              <a:srgbClr val="757575"/>
            </a:solidFill>
            <a:prstDash val="solid"/>
          </a:ln>
        </p:spPr>
      </p:sp>
      <p:sp>
        <p:nvSpPr>
          <p:cNvPr id="17" name="Shape 15"/>
          <p:cNvSpPr/>
          <p:nvPr/>
        </p:nvSpPr>
        <p:spPr>
          <a:xfrm>
            <a:off x="6094476" y="1828800"/>
            <a:ext cx="3826764" cy="1005840"/>
          </a:xfrm>
          <a:prstGeom prst="line">
            <a:avLst/>
          </a:prstGeom>
          <a:noFill/>
          <a:ln w="15240">
            <a:solidFill>
              <a:srgbClr val="757575"/>
            </a:solidFill>
            <a:prstDash val="solid"/>
          </a:ln>
        </p:spPr>
      </p:sp>
      <p:sp>
        <p:nvSpPr>
          <p:cNvPr id="18" name="Shape 16"/>
          <p:cNvSpPr/>
          <p:nvPr/>
        </p:nvSpPr>
        <p:spPr>
          <a:xfrm>
            <a:off x="8138160" y="4480560"/>
            <a:ext cx="1737360" cy="548640"/>
          </a:xfrm>
          <a:prstGeom prst="roundRect">
            <a:avLst/>
          </a:prstGeom>
          <a:solidFill>
            <a:srgbClr val="E0F2F1"/>
          </a:solidFill>
          <a:ln w="19050">
            <a:solidFill>
              <a:srgbClr val="009688"/>
            </a:solidFill>
            <a:prstDash val="solid"/>
          </a:ln>
        </p:spPr>
      </p:sp>
      <p:sp>
        <p:nvSpPr>
          <p:cNvPr id="19" name="Text 17"/>
          <p:cNvSpPr/>
          <p:nvPr/>
        </p:nvSpPr>
        <p:spPr>
          <a:xfrm>
            <a:off x="8138160" y="4480560"/>
            <a:ext cx="1737360" cy="548640"/>
          </a:xfrm>
          <a:prstGeom prst="rect">
            <a:avLst/>
          </a:prstGeom>
          <a:noFill/>
          <a:ln/>
        </p:spPr>
        <p:txBody>
          <a:bodyPr wrap="square" rtlCol="0" anchor="ctr"/>
          <a:lstStyle/>
          <a:p>
            <a:pPr algn="ctr" indent="0" marL="0">
              <a:buNone/>
            </a:pPr>
            <a:r>
              <a:rPr lang="en-US" sz="1300" b="1" dirty="0">
                <a:solidFill>
                  <a:srgbClr val="212121"/>
                </a:solidFill>
                <a:latin typeface="Arial" pitchFamily="34" charset="0"/>
                <a:ea typeface="Arial" pitchFamily="34" charset="-122"/>
                <a:cs typeface="Arial" pitchFamily="34" charset="-120"/>
              </a:rPr>
              <a:t>Secuencia</a:t>
            </a:r>
            <a:endParaRPr lang="en-US" sz="1300" dirty="0"/>
          </a:p>
        </p:txBody>
      </p:sp>
      <p:sp>
        <p:nvSpPr>
          <p:cNvPr id="20" name="Shape 18"/>
          <p:cNvSpPr/>
          <p:nvPr/>
        </p:nvSpPr>
        <p:spPr>
          <a:xfrm>
            <a:off x="10058400" y="4480560"/>
            <a:ext cx="1737360" cy="548640"/>
          </a:xfrm>
          <a:prstGeom prst="roundRect">
            <a:avLst/>
          </a:prstGeom>
          <a:solidFill>
            <a:srgbClr val="E0F2F1"/>
          </a:solidFill>
          <a:ln w="19050">
            <a:solidFill>
              <a:srgbClr val="009688"/>
            </a:solidFill>
            <a:prstDash val="solid"/>
          </a:ln>
        </p:spPr>
      </p:sp>
      <p:sp>
        <p:nvSpPr>
          <p:cNvPr id="21" name="Text 19"/>
          <p:cNvSpPr/>
          <p:nvPr/>
        </p:nvSpPr>
        <p:spPr>
          <a:xfrm>
            <a:off x="10058400" y="4480560"/>
            <a:ext cx="1737360" cy="548640"/>
          </a:xfrm>
          <a:prstGeom prst="rect">
            <a:avLst/>
          </a:prstGeom>
          <a:noFill/>
          <a:ln/>
        </p:spPr>
        <p:txBody>
          <a:bodyPr wrap="square" rtlCol="0" anchor="ctr"/>
          <a:lstStyle/>
          <a:p>
            <a:pPr algn="ctr" indent="0" marL="0">
              <a:buNone/>
            </a:pPr>
            <a:r>
              <a:rPr lang="en-US" sz="1300" b="1" dirty="0">
                <a:solidFill>
                  <a:srgbClr val="212121"/>
                </a:solidFill>
                <a:latin typeface="Arial" pitchFamily="34" charset="0"/>
                <a:ea typeface="Arial" pitchFamily="34" charset="-122"/>
                <a:cs typeface="Arial" pitchFamily="34" charset="-120"/>
              </a:rPr>
              <a:t>Comunicación</a:t>
            </a:r>
            <a:endParaRPr lang="en-US" sz="1300" dirty="0"/>
          </a:p>
        </p:txBody>
      </p:sp>
      <p:sp>
        <p:nvSpPr>
          <p:cNvPr id="22" name="Shape 20"/>
          <p:cNvSpPr/>
          <p:nvPr/>
        </p:nvSpPr>
        <p:spPr>
          <a:xfrm flipH="1">
            <a:off x="9006840" y="3429000"/>
            <a:ext cx="914400" cy="1051560"/>
          </a:xfrm>
          <a:prstGeom prst="line">
            <a:avLst/>
          </a:prstGeom>
          <a:noFill/>
          <a:ln w="15240">
            <a:solidFill>
              <a:srgbClr val="009688"/>
            </a:solidFill>
            <a:prstDash val="solid"/>
          </a:ln>
        </p:spPr>
      </p:sp>
      <p:sp>
        <p:nvSpPr>
          <p:cNvPr id="23" name="Shape 21"/>
          <p:cNvSpPr/>
          <p:nvPr/>
        </p:nvSpPr>
        <p:spPr>
          <a:xfrm>
            <a:off x="9921240" y="3429000"/>
            <a:ext cx="1005840" cy="1051560"/>
          </a:xfrm>
          <a:prstGeom prst="line">
            <a:avLst/>
          </a:prstGeom>
          <a:noFill/>
          <a:ln w="15240">
            <a:solidFill>
              <a:srgbClr val="009688"/>
            </a:solidFill>
            <a:prstDash val="solid"/>
          </a:ln>
        </p:spPr>
      </p:sp>
      <p:sp>
        <p:nvSpPr>
          <p:cNvPr id="24" name="Shape 22"/>
          <p:cNvSpPr/>
          <p:nvPr/>
        </p:nvSpPr>
        <p:spPr>
          <a:xfrm>
            <a:off x="548640" y="5486400"/>
            <a:ext cx="11091672" cy="777240"/>
          </a:xfrm>
          <a:prstGeom prst="roundRect">
            <a:avLst/>
          </a:prstGeom>
          <a:solidFill>
            <a:srgbClr val="E0F2F1"/>
          </a:solidFill>
          <a:ln w="19050">
            <a:solidFill>
              <a:srgbClr val="009688"/>
            </a:solidFill>
            <a:prstDash val="solid"/>
          </a:ln>
        </p:spPr>
      </p:sp>
      <p:sp>
        <p:nvSpPr>
          <p:cNvPr id="25" name="Text 23"/>
          <p:cNvSpPr/>
          <p:nvPr/>
        </p:nvSpPr>
        <p:spPr>
          <a:xfrm>
            <a:off x="777240" y="5559552"/>
            <a:ext cx="10634472" cy="630936"/>
          </a:xfrm>
          <a:prstGeom prst="rect">
            <a:avLst/>
          </a:prstGeom>
          <a:noFill/>
          <a:ln/>
        </p:spPr>
        <p:txBody>
          <a:bodyPr wrap="square" rtlCol="0" anchor="ctr"/>
          <a:lstStyle/>
          <a:p>
            <a:pPr indent="0" marL="0">
              <a:buNone/>
            </a:pPr>
            <a:r>
              <a:rPr lang="en-US" sz="1400" dirty="0">
                <a:solidFill>
                  <a:srgbClr val="212121"/>
                </a:solidFill>
                <a:latin typeface="Arial" pitchFamily="34" charset="0"/>
                <a:ea typeface="Arial" pitchFamily="34" charset="-122"/>
                <a:cs typeface="Arial" pitchFamily="34" charset="-120"/>
              </a:rPr>
              <a:t>Secuencia y comunicación contienen la misma información (qué objetos se envían qué mensajes): solo cambia el énfasis. Por eso se estudian juntos como diagramas de interacción.</a:t>
            </a:r>
            <a:endParaRPr lang="en-US" sz="1400" dirty="0"/>
          </a:p>
        </p:txBody>
      </p:sp>
      <p:sp>
        <p:nvSpPr>
          <p:cNvPr id="26" name="Text 24"/>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6 · Tipos de diagramas de comportamiento</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Tipos: qué muestra cada uno (1/2)</a:t>
            </a:r>
            <a:endParaRPr lang="en-US" sz="2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11091672" cy="914400"/>
        </p:xfrm>
        <a:graphic>
          <a:graphicData uri="http://schemas.openxmlformats.org/drawingml/2006/table">
            <a:tbl>
              <a:tblPr/>
              <a:tblGrid>
                <a:gridCol w="1774668"/>
                <a:gridCol w="5767669"/>
                <a:gridCol w="3549335"/>
              </a:tblGrid>
              <a:tr h="1234440">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Diagrama</a:t>
                      </a:r>
                      <a:endParaRPr lang="en-US" sz="15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Qué muestra</a:t>
                      </a:r>
                      <a:endParaRPr lang="en-US" sz="15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La pregunta que responde</a:t>
                      </a:r>
                      <a:endParaRPr lang="en-US" sz="15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r>
              <a:tr h="1234440">
                <a:tc>
                  <a:txBody>
                    <a:bodyPr/>
                    <a:lstStyle/>
                    <a:p>
                      <a:pPr algn="l" indent="0" marL="0">
                        <a:buNone/>
                      </a:pPr>
                      <a:r>
                        <a:rPr lang="en-US" sz="1400" b="1" dirty="0">
                          <a:solidFill>
                            <a:srgbClr val="212121"/>
                          </a:solidFill>
                          <a:latin typeface="Arial" pitchFamily="34" charset="0"/>
                          <a:ea typeface="Arial" pitchFamily="34" charset="-122"/>
                          <a:cs typeface="Arial" pitchFamily="34" charset="-120"/>
                        </a:rPr>
                        <a:t>Casos de uso</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La foto de las funcionalidades: qué puede hacer cada tipo de usuario (actor), sin entrar en el cómo. Lo entiende cualquiera: muñecos, elipses y líneas.</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¿Qué ofrece el sistema y a quién?</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1234440">
                <a:tc>
                  <a:txBody>
                    <a:bodyPr/>
                    <a:lstStyle/>
                    <a:p>
                      <a:pPr algn="l" indent="0" marL="0">
                        <a:buNone/>
                      </a:pPr>
                      <a:r>
                        <a:rPr lang="en-US" sz="1400" b="1" dirty="0">
                          <a:solidFill>
                            <a:srgbClr val="212121"/>
                          </a:solidFill>
                          <a:latin typeface="Arial" pitchFamily="34" charset="0"/>
                          <a:ea typeface="Arial" pitchFamily="34" charset="-122"/>
                          <a:cs typeface="Arial" pitchFamily="34" charset="-120"/>
                        </a:rPr>
                        <a:t>Secuencia</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Una operación como conversación entre objetos ordenada en el tiempo: quién llama a quién, quién espera y quién continúa.</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¿En qué orden se hablan los objetos y quién espera a quién?</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1234440">
                <a:tc>
                  <a:txBody>
                    <a:bodyPr/>
                    <a:lstStyle/>
                    <a:p>
                      <a:pPr algn="l" indent="0" marL="0">
                        <a:buNone/>
                      </a:pPr>
                      <a:r>
                        <a:rPr lang="en-US" sz="1400" b="1" dirty="0">
                          <a:solidFill>
                            <a:srgbClr val="212121"/>
                          </a:solidFill>
                          <a:latin typeface="Arial" pitchFamily="34" charset="0"/>
                          <a:ea typeface="Arial" pitchFamily="34" charset="-122"/>
                          <a:cs typeface="Arial" pitchFamily="34" charset="-120"/>
                        </a:rPr>
                        <a:t>Comunicación</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La misma conversación, pero enseñando la red de conexiones: objetos unidos por canales y mensajes numerados.</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¿Qué objetos están conectados y cuánto tráfico soporta cada conexión?</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6 · Tipos de diagramas de comportamiento</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Tipos: qué muestra cada uno (2/2)</a:t>
            </a:r>
            <a:endParaRPr lang="en-US" sz="2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11091672" cy="914400"/>
        </p:xfrm>
        <a:graphic>
          <a:graphicData uri="http://schemas.openxmlformats.org/drawingml/2006/table">
            <a:tbl>
              <a:tblPr/>
              <a:tblGrid>
                <a:gridCol w="1774668"/>
                <a:gridCol w="5767669"/>
                <a:gridCol w="3549335"/>
              </a:tblGrid>
              <a:tr h="1234440">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Diagrama</a:t>
                      </a:r>
                      <a:endParaRPr lang="en-US" sz="15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Qué muestra</a:t>
                      </a:r>
                      <a:endParaRPr lang="en-US" sz="15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La pregunta que responde</a:t>
                      </a:r>
                      <a:endParaRPr lang="en-US" sz="15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r>
              <a:tr h="1234440">
                <a:tc>
                  <a:txBody>
                    <a:bodyPr/>
                    <a:lstStyle/>
                    <a:p>
                      <a:pPr algn="l" indent="0" marL="0">
                        <a:buNone/>
                      </a:pPr>
                      <a:r>
                        <a:rPr lang="en-US" sz="1400" b="1" dirty="0">
                          <a:solidFill>
                            <a:srgbClr val="212121"/>
                          </a:solidFill>
                          <a:latin typeface="Arial" pitchFamily="34" charset="0"/>
                          <a:ea typeface="Arial" pitchFamily="34" charset="-122"/>
                          <a:cs typeface="Arial" pitchFamily="34" charset="-120"/>
                        </a:rPr>
                        <a:t>Actividad</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El diagrama de flujo de UML: un proceso de principio a fin, con decisiones (rombos), bucles y tareas en paralelo. Las cajas son acciones: cosas que se HACEN.</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¿Qué pasos sigue el proceso, qué alternativas tiene y qué se hace a la vez?</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1234440">
                <a:tc>
                  <a:txBody>
                    <a:bodyPr/>
                    <a:lstStyle/>
                    <a:p>
                      <a:pPr algn="l" indent="0" marL="0">
                        <a:buNone/>
                      </a:pPr>
                      <a:r>
                        <a:rPr lang="en-US" sz="1400" b="1" dirty="0">
                          <a:solidFill>
                            <a:srgbClr val="212121"/>
                          </a:solidFill>
                          <a:latin typeface="Arial" pitchFamily="34" charset="0"/>
                          <a:ea typeface="Arial" pitchFamily="34" charset="-122"/>
                          <a:cs typeface="Arial" pitchFamily="34" charset="-120"/>
                        </a:rPr>
                        <a:t>Estados</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La vida de UN solo objeto: las situaciones estables por las que pasa (las cajas son estados: cosas que se SON) y los eventos que lo hacen saltar de una a otra.</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¿En qué situaciones puede estar este objeto y qué le hace cambiar?</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bl>
          </a:graphicData>
        </a:graphic>
      </p:graphicFrame>
      <p:sp>
        <p:nvSpPr>
          <p:cNvPr id="5" name="Shape 2"/>
          <p:cNvSpPr/>
          <p:nvPr/>
        </p:nvSpPr>
        <p:spPr>
          <a:xfrm>
            <a:off x="548640" y="4846320"/>
            <a:ext cx="11091672" cy="914400"/>
          </a:xfrm>
          <a:prstGeom prst="roundRect">
            <a:avLst/>
          </a:prstGeom>
          <a:solidFill>
            <a:srgbClr val="E0F2F1"/>
          </a:solidFill>
          <a:ln w="19050">
            <a:solidFill>
              <a:srgbClr val="009688"/>
            </a:solidFill>
            <a:prstDash val="solid"/>
          </a:ln>
        </p:spPr>
      </p:sp>
      <p:sp>
        <p:nvSpPr>
          <p:cNvPr id="6" name="Text 3"/>
          <p:cNvSpPr/>
          <p:nvPr/>
        </p:nvSpPr>
        <p:spPr>
          <a:xfrm>
            <a:off x="777240" y="4919472"/>
            <a:ext cx="10634472" cy="768096"/>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Ningún diagrama lo explica todo: en la práctica se combinan. Casos de uso para los requisitos, secuencia para diseñar la comunicación entre objetos, actividad para aclarar un flujo complejo.</a:t>
            </a:r>
            <a:endParaRPr lang="en-US" sz="1500" dirty="0"/>
          </a:p>
        </p:txBody>
      </p:sp>
      <p:sp>
        <p:nvSpPr>
          <p:cNvPr id="7" name="Text 4"/>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6 · Tipos de diagramas de comportamiento</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El mismo sistema, cinco miradas</a:t>
            </a:r>
            <a:endParaRPr lang="en-US" sz="2300" dirty="0"/>
          </a:p>
        </p:txBody>
      </p:sp>
      <p:sp>
        <p:nvSpPr>
          <p:cNvPr id="4" name="Text 2"/>
          <p:cNvSpPr/>
          <p:nvPr/>
        </p:nvSpPr>
        <p:spPr>
          <a:xfrm>
            <a:off x="548640" y="1005840"/>
            <a:ext cx="11091672" cy="457200"/>
          </a:xfrm>
          <a:prstGeom prst="rect">
            <a:avLst/>
          </a:prstGeom>
          <a:noFill/>
          <a:ln/>
        </p:spPr>
        <p:txBody>
          <a:bodyPr wrap="square" rtlCol="0" anchor="t"/>
          <a:lstStyle/>
          <a:p>
            <a:pPr indent="0" marL="0">
              <a:spcAft>
                <a:spcPts val="800"/>
              </a:spcAft>
              <a:buNone/>
            </a:pPr>
            <a:r>
              <a:rPr lang="en-US" sz="1600" dirty="0">
                <a:solidFill>
                  <a:srgbClr val="212121"/>
                </a:solidFill>
                <a:latin typeface="Arial" pitchFamily="34" charset="0"/>
                <a:ea typeface="Arial" pitchFamily="34" charset="-122"/>
                <a:cs typeface="Arial" pitchFamily="34" charset="-120"/>
              </a:rPr>
              <a:t>Imagina la app de una pizzería a domicilio. Cada diagrama la mira desde un sitio distinto:</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1996501"/>
                <a:gridCol w="9095171"/>
              </a:tblGrid>
              <a:tr h="777240">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Diagrama</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Qué contaría de la pizzería</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r>
              <a:tr h="777240">
                <a:tc>
                  <a:txBody>
                    <a:bodyPr/>
                    <a:lstStyle/>
                    <a:p>
                      <a:pPr algn="l" indent="0" marL="0">
                        <a:buNone/>
                      </a:pPr>
                      <a:r>
                        <a:rPr lang="en-US" sz="1400" b="1" dirty="0">
                          <a:solidFill>
                            <a:srgbClr val="212121"/>
                          </a:solidFill>
                          <a:latin typeface="Arial" pitchFamily="34" charset="0"/>
                          <a:ea typeface="Arial" pitchFamily="34" charset="-122"/>
                          <a:cs typeface="Arial" pitchFamily="34" charset="-120"/>
                        </a:rPr>
                        <a:t>Casos de uso</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El cliente puede hacer pedido y seguir el reparto; el cocinero, ver comandas; el administrador, cambiar la carta.</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777240">
                <a:tc>
                  <a:txBody>
                    <a:bodyPr/>
                    <a:lstStyle/>
                    <a:p>
                      <a:pPr algn="l" indent="0" marL="0">
                        <a:buNone/>
                      </a:pPr>
                      <a:r>
                        <a:rPr lang="en-US" sz="1400" b="1" dirty="0">
                          <a:solidFill>
                            <a:srgbClr val="212121"/>
                          </a:solidFill>
                          <a:latin typeface="Arial" pitchFamily="34" charset="0"/>
                          <a:ea typeface="Arial" pitchFamily="34" charset="-122"/>
                          <a:cs typeface="Arial" pitchFamily="34" charset="-120"/>
                        </a:rPr>
                        <a:t>Secuencia</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Cuando el cliente pulsa "Pedir", la App llama a Pago, espera su respuesta y después avisa a Cocina.</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777240">
                <a:tc>
                  <a:txBody>
                    <a:bodyPr/>
                    <a:lstStyle/>
                    <a:p>
                      <a:pPr algn="l" indent="0" marL="0">
                        <a:buNone/>
                      </a:pPr>
                      <a:r>
                        <a:rPr lang="en-US" sz="1400" b="1" dirty="0">
                          <a:solidFill>
                            <a:srgbClr val="212121"/>
                          </a:solidFill>
                          <a:latin typeface="Arial" pitchFamily="34" charset="0"/>
                          <a:ea typeface="Arial" pitchFamily="34" charset="-122"/>
                          <a:cs typeface="Arial" pitchFamily="34" charset="-120"/>
                        </a:rPr>
                        <a:t>Comunicación</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La App está conectada con Pago, Cocina y Reparto: es el objeto con más canales.</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777240">
                <a:tc>
                  <a:txBody>
                    <a:bodyPr/>
                    <a:lstStyle/>
                    <a:p>
                      <a:pPr algn="l" indent="0" marL="0">
                        <a:buNone/>
                      </a:pPr>
                      <a:r>
                        <a:rPr lang="en-US" sz="1400" b="1" dirty="0">
                          <a:solidFill>
                            <a:srgbClr val="212121"/>
                          </a:solidFill>
                          <a:latin typeface="Arial" pitchFamily="34" charset="0"/>
                          <a:ea typeface="Arial" pitchFamily="34" charset="-122"/>
                          <a:cs typeface="Arial" pitchFamily="34" charset="-120"/>
                        </a:rPr>
                        <a:t>Actividad</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El proceso de preparar el pedido, con la decisión [¿ingredientes disponibles?] y el horneado y el cobro en paralelo.</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777240">
                <a:tc>
                  <a:txBody>
                    <a:bodyPr/>
                    <a:lstStyle/>
                    <a:p>
                      <a:pPr algn="l" indent="0" marL="0">
                        <a:buNone/>
                      </a:pPr>
                      <a:r>
                        <a:rPr lang="en-US" sz="1400" b="1" dirty="0">
                          <a:solidFill>
                            <a:srgbClr val="212121"/>
                          </a:solidFill>
                          <a:latin typeface="Arial" pitchFamily="34" charset="0"/>
                          <a:ea typeface="Arial" pitchFamily="34" charset="-122"/>
                          <a:cs typeface="Arial" pitchFamily="34" charset="-120"/>
                        </a:rPr>
                        <a:t>Estados</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La vida de UN pedido: Recibido → EnPreparacion → EnReparto → Entregado (o Cancelado).</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6 · Tipos de diagramas de comportamiento</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¿Cómo reconocer cuál toca?</a:t>
            </a:r>
            <a:endParaRPr lang="en-US" sz="2300" dirty="0"/>
          </a:p>
        </p:txBody>
      </p:sp>
      <p:sp>
        <p:nvSpPr>
          <p:cNvPr id="4" name="Text 2"/>
          <p:cNvSpPr/>
          <p:nvPr/>
        </p:nvSpPr>
        <p:spPr>
          <a:xfrm>
            <a:off x="548640" y="960120"/>
            <a:ext cx="11091672" cy="411480"/>
          </a:xfrm>
          <a:prstGeom prst="rect">
            <a:avLst/>
          </a:prstGeom>
          <a:noFill/>
          <a:ln/>
        </p:spPr>
        <p:txBody>
          <a:bodyPr wrap="square" rtlCol="0" anchor="t"/>
          <a:lstStyle/>
          <a:p>
            <a:pPr indent="0" marL="0">
              <a:spcAft>
                <a:spcPts val="800"/>
              </a:spcAft>
              <a:buNone/>
            </a:pPr>
            <a:r>
              <a:rPr lang="en-US" sz="1600" dirty="0">
                <a:solidFill>
                  <a:srgbClr val="212121"/>
                </a:solidFill>
                <a:latin typeface="Arial" pitchFamily="34" charset="0"/>
                <a:ea typeface="Arial" pitchFamily="34" charset="-122"/>
                <a:cs typeface="Arial" pitchFamily="34" charset="-120"/>
              </a:rPr>
              <a:t>Cuando te describan un problema, busca la frase señal:</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7986004"/>
                <a:gridCol w="3105668"/>
              </a:tblGrid>
              <a:tr h="713232">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Si el enunciado dice...</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El diagrama es...</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r>
              <a:tr h="713232">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"qué puede hacer cada tipo de usuario", "validar los requisitos con el cliente"</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212121"/>
                          </a:solidFill>
                          <a:latin typeface="Arial" pitchFamily="34" charset="0"/>
                          <a:ea typeface="Arial" pitchFamily="34" charset="-122"/>
                          <a:cs typeface="Arial" pitchFamily="34" charset="-120"/>
                        </a:rPr>
                        <a:t>Casos de uso</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713232">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"en qué orden se llaman", "quién espera a quién", "qué mensaje llega primero"</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algn="l" indent="0" marL="0">
                        <a:buNone/>
                      </a:pPr>
                      <a:r>
                        <a:rPr lang="en-US" sz="1400" b="1" dirty="0">
                          <a:solidFill>
                            <a:srgbClr val="212121"/>
                          </a:solidFill>
                          <a:latin typeface="Arial" pitchFamily="34" charset="0"/>
                          <a:ea typeface="Arial" pitchFamily="34" charset="-122"/>
                          <a:cs typeface="Arial" pitchFamily="34" charset="-120"/>
                        </a:rPr>
                        <a:t>Secuencia</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713232">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"qué objetos están conectados", "cuántos mensajes cruzan cada conexión"</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212121"/>
                          </a:solidFill>
                          <a:latin typeface="Arial" pitchFamily="34" charset="0"/>
                          <a:ea typeface="Arial" pitchFamily="34" charset="-122"/>
                          <a:cs typeface="Arial" pitchFamily="34" charset="-120"/>
                        </a:rPr>
                        <a:t>Comunicación</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713232">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"el proceso de...", "con decisiones", "pasos en paralelo", "flujo de trabajo"</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algn="l" indent="0" marL="0">
                        <a:buNone/>
                      </a:pPr>
                      <a:r>
                        <a:rPr lang="en-US" sz="1400" b="1" dirty="0">
                          <a:solidFill>
                            <a:srgbClr val="212121"/>
                          </a:solidFill>
                          <a:latin typeface="Arial" pitchFamily="34" charset="0"/>
                          <a:ea typeface="Arial" pitchFamily="34" charset="-122"/>
                          <a:cs typeface="Arial" pitchFamily="34" charset="-120"/>
                        </a:rPr>
                        <a:t>Actividad</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713232">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"el ciclo de vida de...", "pasa por las situaciones...", "cambia según su estado"</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212121"/>
                          </a:solidFill>
                          <a:latin typeface="Arial" pitchFamily="34" charset="0"/>
                          <a:ea typeface="Arial" pitchFamily="34" charset="-122"/>
                          <a:cs typeface="Arial" pitchFamily="34" charset="-120"/>
                        </a:rPr>
                        <a:t>Estados</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6 · Tipos de diagramas de comportamiento</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Cuidado: las dos confusiones clásicas</a:t>
            </a:r>
            <a:endParaRPr lang="en-US" sz="2300" dirty="0"/>
          </a:p>
        </p:txBody>
      </p:sp>
      <p:sp>
        <p:nvSpPr>
          <p:cNvPr id="4" name="Shape 2"/>
          <p:cNvSpPr/>
          <p:nvPr/>
        </p:nvSpPr>
        <p:spPr>
          <a:xfrm>
            <a:off x="548640" y="1280160"/>
            <a:ext cx="11091672" cy="1051560"/>
          </a:xfrm>
          <a:prstGeom prst="roundRect">
            <a:avLst/>
          </a:prstGeom>
          <a:solidFill>
            <a:srgbClr val="FFF8E1"/>
          </a:solidFill>
          <a:ln w="19050">
            <a:solidFill>
              <a:srgbClr val="F9A825"/>
            </a:solidFill>
            <a:prstDash val="solid"/>
          </a:ln>
        </p:spPr>
      </p:sp>
      <p:sp>
        <p:nvSpPr>
          <p:cNvPr id="5" name="Text 3"/>
          <p:cNvSpPr/>
          <p:nvPr/>
        </p:nvSpPr>
        <p:spPr>
          <a:xfrm>
            <a:off x="777240" y="1353312"/>
            <a:ext cx="10634472" cy="905256"/>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Actividad vs estados — si las cajas serían VERBOS ("Validar datos", "Enviar correo") es un proceso → actividad. Si serían SUSTANTIVOS o adjetivos ("Pendiente", "Enviado") es la vida de un objeto → estados.</a:t>
            </a:r>
            <a:endParaRPr lang="en-US" sz="1500" dirty="0"/>
          </a:p>
        </p:txBody>
      </p:sp>
      <p:sp>
        <p:nvSpPr>
          <p:cNvPr id="6" name="Shape 4"/>
          <p:cNvSpPr/>
          <p:nvPr/>
        </p:nvSpPr>
        <p:spPr>
          <a:xfrm>
            <a:off x="548640" y="2651760"/>
            <a:ext cx="11091672" cy="1051560"/>
          </a:xfrm>
          <a:prstGeom prst="roundRect">
            <a:avLst/>
          </a:prstGeom>
          <a:solidFill>
            <a:srgbClr val="FFF8E1"/>
          </a:solidFill>
          <a:ln w="19050">
            <a:solidFill>
              <a:srgbClr val="F9A825"/>
            </a:solidFill>
            <a:prstDash val="solid"/>
          </a:ln>
        </p:spPr>
      </p:sp>
      <p:sp>
        <p:nvSpPr>
          <p:cNvPr id="7" name="Text 5"/>
          <p:cNvSpPr/>
          <p:nvPr/>
        </p:nvSpPr>
        <p:spPr>
          <a:xfrm>
            <a:off x="777240" y="2724912"/>
            <a:ext cx="10634472" cy="905256"/>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Secuencia vs comunicación — contienen lo mismo. Elige por lo que quieras destacar: el ORDEN de los mensajes (secuencia) o las CONEXIONES entre objetos (comunicación).</a:t>
            </a:r>
            <a:endParaRPr lang="en-US" sz="1500" dirty="0"/>
          </a:p>
        </p:txBody>
      </p:sp>
      <p:sp>
        <p:nvSpPr>
          <p:cNvPr id="8" name="Shape 6"/>
          <p:cNvSpPr/>
          <p:nvPr/>
        </p:nvSpPr>
        <p:spPr>
          <a:xfrm>
            <a:off x="548640" y="4297680"/>
            <a:ext cx="11091672" cy="868680"/>
          </a:xfrm>
          <a:prstGeom prst="roundRect">
            <a:avLst/>
          </a:prstGeom>
          <a:solidFill>
            <a:srgbClr val="E0F2F1"/>
          </a:solidFill>
          <a:ln w="19050">
            <a:solidFill>
              <a:srgbClr val="009688"/>
            </a:solidFill>
            <a:prstDash val="solid"/>
          </a:ln>
        </p:spPr>
      </p:sp>
      <p:sp>
        <p:nvSpPr>
          <p:cNvPr id="9" name="Text 7"/>
          <p:cNvSpPr/>
          <p:nvPr/>
        </p:nvSpPr>
        <p:spPr>
          <a:xfrm>
            <a:off x="777240" y="4370832"/>
            <a:ext cx="10634472" cy="722376"/>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En la primera actividad del tema tendrás que clasificar situaciones reales: la pregunta que debes hacerte siempre es "¿qué quiero que se vea de un vistazo?".</a:t>
            </a:r>
            <a:endParaRPr lang="en-US" sz="1500" dirty="0"/>
          </a:p>
        </p:txBody>
      </p:sp>
      <p:sp>
        <p:nvSpPr>
          <p:cNvPr id="10" name="Text 8"/>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6 · Tipos de diagramas de comportamiento</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Campo de aplicación</a:t>
            </a:r>
            <a:endParaRPr lang="en-US" sz="2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91672" cy="914400"/>
        </p:xfrm>
        <a:graphic>
          <a:graphicData uri="http://schemas.openxmlformats.org/drawingml/2006/table">
            <a:tbl>
              <a:tblPr/>
              <a:tblGrid>
                <a:gridCol w="3327502"/>
                <a:gridCol w="7764170"/>
              </a:tblGrid>
              <a:tr h="777240">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Fase del proyecto</a:t>
                      </a:r>
                      <a:endParaRPr lang="en-US" sz="15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Diagramas que se usan</a:t>
                      </a:r>
                      <a:endParaRPr lang="en-US" sz="15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r>
              <a:tr h="777240">
                <a:tc>
                  <a:txBody>
                    <a:bodyPr/>
                    <a:lstStyle/>
                    <a:p>
                      <a:pPr algn="l" indent="0" marL="0">
                        <a:buNone/>
                      </a:pPr>
                      <a:r>
                        <a:rPr lang="en-US" sz="1500" b="1" dirty="0">
                          <a:solidFill>
                            <a:srgbClr val="212121"/>
                          </a:solidFill>
                          <a:latin typeface="Arial" pitchFamily="34" charset="0"/>
                          <a:ea typeface="Arial" pitchFamily="34" charset="-122"/>
                          <a:cs typeface="Arial" pitchFamily="34" charset="-120"/>
                        </a:rPr>
                        <a:t>Análisis de requisitos</a:t>
                      </a:r>
                      <a:endParaRPr lang="en-US" sz="15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12121"/>
                          </a:solidFill>
                          <a:latin typeface="Arial" pitchFamily="34" charset="0"/>
                          <a:ea typeface="Arial" pitchFamily="34" charset="-122"/>
                          <a:cs typeface="Arial" pitchFamily="34" charset="-120"/>
                        </a:rPr>
                        <a:t>Casos de uso: definen qué debe hacer el sistema junto con clientes o usuarios finales.</a:t>
                      </a:r>
                      <a:endParaRPr lang="en-US" sz="15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777240">
                <a:tc>
                  <a:txBody>
                    <a:bodyPr/>
                    <a:lstStyle/>
                    <a:p>
                      <a:pPr algn="l" indent="0" marL="0">
                        <a:buNone/>
                      </a:pPr>
                      <a:r>
                        <a:rPr lang="en-US" sz="1500" b="1" dirty="0">
                          <a:solidFill>
                            <a:srgbClr val="212121"/>
                          </a:solidFill>
                          <a:latin typeface="Arial" pitchFamily="34" charset="0"/>
                          <a:ea typeface="Arial" pitchFamily="34" charset="-122"/>
                          <a:cs typeface="Arial" pitchFamily="34" charset="-120"/>
                        </a:rPr>
                        <a:t>Diseño</a:t>
                      </a:r>
                      <a:endParaRPr lang="en-US" sz="15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algn="l" indent="0" marL="0">
                        <a:buNone/>
                      </a:pPr>
                      <a:r>
                        <a:rPr lang="en-US" sz="1500" dirty="0">
                          <a:solidFill>
                            <a:srgbClr val="212121"/>
                          </a:solidFill>
                          <a:latin typeface="Arial" pitchFamily="34" charset="0"/>
                          <a:ea typeface="Arial" pitchFamily="34" charset="-122"/>
                          <a:cs typeface="Arial" pitchFamily="34" charset="-120"/>
                        </a:rPr>
                        <a:t>Secuencia y comunicación: detallan cómo interactúan los objetos.</a:t>
                      </a:r>
                      <a:endParaRPr lang="en-US" sz="15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777240">
                <a:tc>
                  <a:txBody>
                    <a:bodyPr/>
                    <a:lstStyle/>
                    <a:p>
                      <a:pPr algn="l" indent="0" marL="0">
                        <a:buNone/>
                      </a:pPr>
                      <a:r>
                        <a:rPr lang="en-US" sz="1500" b="1" dirty="0">
                          <a:solidFill>
                            <a:srgbClr val="212121"/>
                          </a:solidFill>
                          <a:latin typeface="Arial" pitchFamily="34" charset="0"/>
                          <a:ea typeface="Arial" pitchFamily="34" charset="-122"/>
                          <a:cs typeface="Arial" pitchFamily="34" charset="-120"/>
                        </a:rPr>
                        <a:t>Documentación de lógica</a:t>
                      </a:r>
                      <a:endParaRPr lang="en-US" sz="15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12121"/>
                          </a:solidFill>
                          <a:latin typeface="Arial" pitchFamily="34" charset="0"/>
                          <a:ea typeface="Arial" pitchFamily="34" charset="-122"/>
                          <a:cs typeface="Arial" pitchFamily="34" charset="-120"/>
                        </a:rPr>
                        <a:t>Actividad y estados: explican procesos internos complejos.</a:t>
                      </a:r>
                      <a:endParaRPr lang="en-US" sz="15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4023360"/>
            <a:ext cx="11091672" cy="1280160"/>
          </a:xfrm>
          <a:prstGeom prst="rect">
            <a:avLst/>
          </a:prstGeom>
          <a:noFill/>
          <a:ln/>
        </p:spPr>
        <p:txBody>
          <a:bodyPr wrap="square" rtlCol="0" anchor="t"/>
          <a:lstStyle/>
          <a:p>
            <a:pPr indent="0" marL="0">
              <a:spcAft>
                <a:spcPts val="800"/>
              </a:spcAft>
              <a:buNone/>
            </a:pPr>
            <a:r>
              <a:rPr lang="en-US" sz="1500" dirty="0">
                <a:solidFill>
                  <a:srgbClr val="212121"/>
                </a:solidFill>
                <a:latin typeface="Arial" pitchFamily="34" charset="0"/>
                <a:ea typeface="Arial" pitchFamily="34" charset="-122"/>
                <a:cs typeface="Arial" pitchFamily="34" charset="-120"/>
              </a:rPr>
              <a:t>UML define algún tipo más dentro de esta familia (como el diagrama de temporización, que muestra los cambios de estado sobre una escala de tiempo exacta), pero los cinco vistos son los que se usan en la práctica y los que trabajaremos en este tema.</a:t>
            </a:r>
            <a:endParaRPr lang="en-US" sz="1500" dirty="0"/>
          </a:p>
        </p:txBody>
      </p:sp>
      <p:sp>
        <p:nvSpPr>
          <p:cNvPr id="6" name="Text 3"/>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6 · Tipos de diagramas de comportamiento</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Herramientas</a:t>
            </a:r>
            <a:endParaRPr lang="en-US" sz="2300" dirty="0"/>
          </a:p>
        </p:txBody>
      </p:sp>
      <p:sp>
        <p:nvSpPr>
          <p:cNvPr id="4" name="Text 2"/>
          <p:cNvSpPr/>
          <p:nvPr/>
        </p:nvSpPr>
        <p:spPr>
          <a:xfrm>
            <a:off x="548640" y="1005840"/>
            <a:ext cx="11091672" cy="731520"/>
          </a:xfrm>
          <a:prstGeom prst="rect">
            <a:avLst/>
          </a:prstGeom>
          <a:noFill/>
          <a:ln/>
        </p:spPr>
        <p:txBody>
          <a:bodyPr wrap="square" rtlCol="0" anchor="t"/>
          <a:lstStyle/>
          <a:p>
            <a:pPr indent="0" marL="0">
              <a:spcAft>
                <a:spcPts val="800"/>
              </a:spcAft>
              <a:buNone/>
            </a:pPr>
            <a:r>
              <a:rPr lang="en-US" sz="1500" dirty="0">
                <a:solidFill>
                  <a:srgbClr val="212121"/>
                </a:solidFill>
                <a:latin typeface="Arial" pitchFamily="34" charset="0"/>
                <a:ea typeface="Arial" pitchFamily="34" charset="-122"/>
                <a:cs typeface="Arial" pitchFamily="34" charset="-120"/>
              </a:rPr>
              <a:t>Las mismas del tema anterior sirven aquí. Seguiremos usando DIA: su paleta UML incluye actores, casos de uso, líneas de vida, mensajes, nodos de actividad y estados.</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91672" cy="914400"/>
        </p:xfrm>
        <a:graphic>
          <a:graphicData uri="http://schemas.openxmlformats.org/drawingml/2006/table">
            <a:tbl>
              <a:tblPr/>
              <a:tblGrid>
                <a:gridCol w="2883835"/>
                <a:gridCol w="8207837"/>
              </a:tblGrid>
              <a:tr h="731520">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Herramienta</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Qué aporta para estos diagramas</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r>
              <a:tr h="731520">
                <a:tc>
                  <a:txBody>
                    <a:bodyPr/>
                    <a:lstStyle/>
                    <a:p>
                      <a:pPr algn="l" indent="0" marL="0">
                        <a:buNone/>
                      </a:pPr>
                      <a:r>
                        <a:rPr lang="en-US" sz="1400" b="1" dirty="0">
                          <a:solidFill>
                            <a:srgbClr val="212121"/>
                          </a:solidFill>
                          <a:latin typeface="Arial" pitchFamily="34" charset="0"/>
                          <a:ea typeface="Arial" pitchFamily="34" charset="-122"/>
                          <a:cs typeface="Arial" pitchFamily="34" charset="-120"/>
                        </a:rPr>
                        <a:t>DIA</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Todos los elementos de este tema en la paleta UML; es la que usamos en clase.</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731520">
                <a:tc>
                  <a:txBody>
                    <a:bodyPr/>
                    <a:lstStyle/>
                    <a:p>
                      <a:pPr algn="l" indent="0" marL="0">
                        <a:buNone/>
                      </a:pPr>
                      <a:r>
                        <a:rPr lang="en-US" sz="1400" b="1" dirty="0">
                          <a:solidFill>
                            <a:srgbClr val="212121"/>
                          </a:solidFill>
                          <a:latin typeface="Arial" pitchFamily="34" charset="0"/>
                          <a:ea typeface="Arial" pitchFamily="34" charset="-122"/>
                          <a:cs typeface="Arial" pitchFamily="34" charset="-120"/>
                        </a:rPr>
                        <a:t>Draw.io / Lucidchart</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Plantillas visuales rápidas para casos de uso y actividad.</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731520">
                <a:tc>
                  <a:txBody>
                    <a:bodyPr/>
                    <a:lstStyle/>
                    <a:p>
                      <a:pPr algn="l" indent="0" marL="0">
                        <a:buNone/>
                      </a:pPr>
                      <a:r>
                        <a:rPr lang="en-US" sz="1400" b="1" dirty="0">
                          <a:solidFill>
                            <a:srgbClr val="212121"/>
                          </a:solidFill>
                          <a:latin typeface="Arial" pitchFamily="34" charset="0"/>
                          <a:ea typeface="Arial" pitchFamily="34" charset="-122"/>
                          <a:cs typeface="Arial" pitchFamily="34" charset="-120"/>
                        </a:rPr>
                        <a:t>PlantUML / Mermaid</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Secuencia y estados escritos como texto; ideales para documentación que cambia a menudo.</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731520">
                <a:tc>
                  <a:txBody>
                    <a:bodyPr/>
                    <a:lstStyle/>
                    <a:p>
                      <a:pPr algn="l" indent="0" marL="0">
                        <a:buNone/>
                      </a:pPr>
                      <a:r>
                        <a:rPr lang="en-US" sz="1400" b="1" dirty="0">
                          <a:solidFill>
                            <a:srgbClr val="212121"/>
                          </a:solidFill>
                          <a:latin typeface="Arial" pitchFamily="34" charset="0"/>
                          <a:ea typeface="Arial" pitchFamily="34" charset="-122"/>
                          <a:cs typeface="Arial" pitchFamily="34" charset="-120"/>
                        </a:rPr>
                        <a:t>Visual Paradigm</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algn="l" indent="0" marL="0">
                        <a:buNone/>
                      </a:pPr>
                      <a:r>
                        <a:rPr lang="en-US" sz="1400" dirty="0">
                          <a:solidFill>
                            <a:srgbClr val="212121"/>
                          </a:solidFill>
                          <a:latin typeface="Arial" pitchFamily="34" charset="0"/>
                          <a:ea typeface="Arial" pitchFamily="34" charset="-122"/>
                          <a:cs typeface="Arial" pitchFamily="34" charset="-120"/>
                        </a:rPr>
                        <a:t>Puede generar diagramas de secuencia automáticamente a partir del código (lo viste en el tema 5).</a:t>
                      </a:r>
                      <a:endParaRPr lang="en-US" sz="1400" dirty="0">
                        <a:latin typeface="Arial" charset="0"/>
                        <a:ea typeface="Arial" charset="0"/>
                        <a:cs typeface="Arial" charset="0"/>
                      </a:endParaRPr>
                    </a:p>
                  </a:txBody>
                  <a:tcPr marL="54864" marR="54864" marT="54864" marB="54864"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bl>
          </a:graphicData>
        </a:graphic>
      </p:graphicFrame>
      <p:sp>
        <p:nvSpPr>
          <p:cNvPr id="6" name="Text 3"/>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6 · Tipos de diagramas de comportamiento</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Entornos de Desarrollo</dc:creator>
  <cp:lastModifiedBy>Entornos de Desarrollo</cp:lastModifiedBy>
  <cp:revision>1</cp:revision>
  <dcterms:created xsi:type="dcterms:W3CDTF">2026-07-03T20:12:34Z</dcterms:created>
  <dcterms:modified xsi:type="dcterms:W3CDTF">2026-07-03T20:12:34Z</dcterms:modified>
</cp:coreProperties>
</file>
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996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1: DESARROLLO DE SOFTWARE</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4. Fases del desarrollo del software</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Análisis · Diseño · Implementación · Pruebas · Despliegue · Operación · Documentación · Modelos de ciclo de vida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Visión general del ciclo</a:t>
            </a:r>
            <a:endParaRPr lang="en-US" sz="2600" dirty="0"/>
          </a:p>
        </p:txBody>
      </p:sp>
      <p:sp>
        <p:nvSpPr>
          <p:cNvPr id="4" name="Text 2"/>
          <p:cNvSpPr/>
          <p:nvPr/>
        </p:nvSpPr>
        <p:spPr>
          <a:xfrm>
            <a:off x="548640" y="960120"/>
            <a:ext cx="11091672" cy="68580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Desarrollar software no es solo programar: antes hay que entender qué se necesita, pensar cómo organizarlo, implementarlo, probarlo, entregarlo y mantenerlo. Cada actividad es una FASE, y la salida de una es la entrada de la siguiente.</a:t>
            </a:r>
            <a:endParaRPr lang="en-US" sz="1600" dirty="0"/>
          </a:p>
        </p:txBody>
      </p:sp>
      <p:sp>
        <p:nvSpPr>
          <p:cNvPr id="5" name="Shape 3"/>
          <p:cNvSpPr/>
          <p:nvPr/>
        </p:nvSpPr>
        <p:spPr>
          <a:xfrm>
            <a:off x="548640" y="1852088"/>
            <a:ext cx="11091672" cy="86868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1897808"/>
            <a:ext cx="10634472" cy="77724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¿Por qué existen las fases? Como construir una casa: si pones ladrillos sin plano, cuando llegue el fontanero la tubería ya no cabe. Cada euro que cuesta un error en producción habría costado mucho menos detectado antes. Las fases detectan problemas cuando aún son baratos.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91672" cy="3657600"/>
        </p:xfrm>
        <a:graphic>
          <a:graphicData uri="http://schemas.openxmlformats.org/drawingml/2006/table">
            <a:tbl>
              <a:tblPr/>
              <a:tblGrid>
                <a:gridCol w="2440168">
                  <a:extLst>
                    <a:ext uri="{9D8B030D-6E8A-4147-A177-3AD203B41FA5}">
                      <a16:colId xmlns:a16="http://schemas.microsoft.com/office/drawing/2014/main" val="20000"/>
                    </a:ext>
                  </a:extLst>
                </a:gridCol>
                <a:gridCol w="3660252">
                  <a:extLst>
                    <a:ext uri="{9D8B030D-6E8A-4147-A177-3AD203B41FA5}">
                      <a16:colId xmlns:a16="http://schemas.microsoft.com/office/drawing/2014/main" val="20001"/>
                    </a:ext>
                  </a:extLst>
                </a:gridCol>
                <a:gridCol w="4991252">
                  <a:extLst>
                    <a:ext uri="{9D8B030D-6E8A-4147-A177-3AD203B41FA5}">
                      <a16:colId xmlns:a16="http://schemas.microsoft.com/office/drawing/2014/main" val="20002"/>
                    </a:ext>
                  </a:extLst>
                </a:gridCol>
              </a:tblGrid>
              <a:tr h="45720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Fase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Pregunta clave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Resultado típico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4.1 Análisis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¿Qué debe hacer el sistema?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Lista de requisitos, historias de usuario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4.2 Diseño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¿Cómo lo organizamos?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Diagramas, decisiones de arquitectura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4.3 Implementación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¿Cómo lo codificamos?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Código fuente revisado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4.4 Pruebas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¿Funciona como se espera?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Informes de prueba, bugs corregidos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4.5 Despliegue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¿Cómo lo entregamos?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Versión publicada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4.6 Operación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¿Sigue funcionando?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Métricas, alertas, parches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4572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4.7 Documentación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¿Cómo lo explicamos?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README, guías, comentarios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4.1 Análisis de requisitos</a:t>
            </a:r>
            <a:endParaRPr lang="en-US" sz="2600" dirty="0"/>
          </a:p>
        </p:txBody>
      </p:sp>
      <p:sp>
        <p:nvSpPr>
          <p:cNvPr id="4" name="Text 2"/>
          <p:cNvSpPr/>
          <p:nvPr/>
        </p:nvSpPr>
        <p:spPr>
          <a:xfrm>
            <a:off x="548640" y="960120"/>
            <a:ext cx="11091672" cy="82296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El análisis transforma una necesidad en una lista de condiciones VERIFICABLES que el software debe cumplir. Participan los stakeholders — las personas interesadas: cliente, usuarios finales, equipo técnico, dirección — con el objetivo de que todos acaben con la misma imagen de lo que hay que construir.</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2331720"/>
        </p:xfrm>
        <a:graphic>
          <a:graphicData uri="http://schemas.openxmlformats.org/drawingml/2006/table">
            <a:tbl>
              <a:tblPr/>
              <a:tblGrid>
                <a:gridCol w="1774668">
                  <a:extLst>
                    <a:ext uri="{9D8B030D-6E8A-4147-A177-3AD203B41FA5}">
                      <a16:colId xmlns:a16="http://schemas.microsoft.com/office/drawing/2014/main" val="20000"/>
                    </a:ext>
                  </a:extLst>
                </a:gridCol>
                <a:gridCol w="4658502">
                  <a:extLst>
                    <a:ext uri="{9D8B030D-6E8A-4147-A177-3AD203B41FA5}">
                      <a16:colId xmlns:a16="http://schemas.microsoft.com/office/drawing/2014/main" val="20001"/>
                    </a:ext>
                  </a:extLst>
                </a:gridCol>
                <a:gridCol w="4658502">
                  <a:extLst>
                    <a:ext uri="{9D8B030D-6E8A-4147-A177-3AD203B41FA5}">
                      <a16:colId xmlns:a16="http://schemas.microsoft.com/office/drawing/2014/main" val="20002"/>
                    </a:ext>
                  </a:extLst>
                </a:gridCol>
              </a:tblGrid>
              <a:tr h="7772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Tipo de requisito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describe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Funcional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QUÉ debe hacer el sistema: pantallas, flujos, validaciones, reglas de negocio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sistema permite registrar usuarios con email y contraseña"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No funcional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CÓMO debe ser: rendimiento, seguridad, accesibilidad, cumplimiento legal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inicio de sesión responde en menos de 300 ms para el 95% de las peticiones"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
        <p:nvSpPr>
          <p:cNvPr id="8" name="Text 5"/>
          <p:cNvSpPr/>
          <p:nvPr/>
        </p:nvSpPr>
        <p:spPr>
          <a:xfrm>
            <a:off x="548640" y="4604780"/>
            <a:ext cx="11091672" cy="548640"/>
          </a:xfrm>
          <a:prstGeom prst="rect">
            <a:avLst/>
          </a:prstGeom>
          <a:noFill/>
          <a:ln/>
        </p:spPr>
        <p:txBody>
          <a:bodyPr wrap="square" rtlCol="0" anchor="t"/>
          <a:lstStyle/>
          <a:p>
            <a:pPr marL="0" indent="0">
              <a:buNone/>
            </a:pPr>
            <a:r>
              <a:rPr lang="en-US" sz="1500" i="1" dirty="0">
                <a:solidFill>
                  <a:srgbClr val="757575"/>
                </a:solidFill>
                <a:latin typeface="Arial" pitchFamily="34" charset="0"/>
                <a:ea typeface="Arial" pitchFamily="34" charset="-122"/>
                <a:cs typeface="Arial" pitchFamily="34" charset="-120"/>
              </a:rPr>
              <a:t>Si esta fase queda poco clara, los problemas aparecen en la implementación o — peor — cuando el programa ya está en manos de los usuarios.</a:t>
            </a:r>
            <a:endParaRPr lang="en-US" sz="1500" dirty="0"/>
          </a:p>
        </p:txBody>
      </p:sp>
      <p:sp>
        <p:nvSpPr>
          <p:cNvPr id="9"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4.1 Historias de usuario y criterios INVEST</a:t>
            </a:r>
            <a:endParaRPr lang="en-US" sz="2600" dirty="0"/>
          </a:p>
        </p:txBody>
      </p:sp>
      <p:sp>
        <p:nvSpPr>
          <p:cNvPr id="4" name="Text 2"/>
          <p:cNvSpPr/>
          <p:nvPr/>
        </p:nvSpPr>
        <p:spPr>
          <a:xfrm>
            <a:off x="548640" y="960120"/>
            <a:ext cx="11091672" cy="54864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Una historia de usuario captura una necesidad desde el punto de vista de quien usará el sistema. Se usa en entornos ágiles para planificar y priorizar:</a:t>
            </a:r>
            <a:endParaRPr lang="en-US" sz="1600" dirty="0"/>
          </a:p>
        </p:txBody>
      </p:sp>
      <p:sp>
        <p:nvSpPr>
          <p:cNvPr id="5" name="Shape 3"/>
          <p:cNvSpPr/>
          <p:nvPr/>
        </p:nvSpPr>
        <p:spPr>
          <a:xfrm>
            <a:off x="548640" y="1554480"/>
            <a:ext cx="5106148" cy="29260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554480"/>
            <a:ext cx="73152" cy="2286000"/>
          </a:xfrm>
          <a:prstGeom prst="rect">
            <a:avLst/>
          </a:prstGeom>
          <a:solidFill>
            <a:srgbClr val="009688"/>
          </a:solidFill>
          <a:ln w="12700">
            <a:solidFill>
              <a:srgbClr val="009688"/>
            </a:solidFill>
            <a:prstDash val="solid"/>
          </a:ln>
        </p:spPr>
        <p:txBody>
          <a:bodyPr/>
          <a:lstStyle/>
          <a:p>
            <a:endParaRPr lang="es-ES"/>
          </a:p>
        </p:txBody>
      </p:sp>
      <p:sp>
        <p:nvSpPr>
          <p:cNvPr id="7" name="Text 5"/>
          <p:cNvSpPr/>
          <p:nvPr/>
        </p:nvSpPr>
        <p:spPr>
          <a:xfrm>
            <a:off x="777240" y="1645920"/>
            <a:ext cx="4381356" cy="210312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Historia: Recuperación de contraseña</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Como cliente</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Quiero restablecer mi contraseña</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Para recuperar acceso si la olvido</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Criterios de aceptación (Given/When/Then):</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Given estoy en "Olvidé mi contraseña"</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When introduzco mi email y confirmo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Then recibo un enlace de recuperación válido durante 30 minutos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309082480"/>
              </p:ext>
            </p:extLst>
          </p:nvPr>
        </p:nvGraphicFramePr>
        <p:xfrm>
          <a:off x="6003986" y="1554480"/>
          <a:ext cx="5387196" cy="2688336"/>
        </p:xfrm>
        <a:graphic>
          <a:graphicData uri="http://schemas.openxmlformats.org/drawingml/2006/table">
            <a:tbl>
              <a:tblPr/>
              <a:tblGrid>
                <a:gridCol w="741871">
                  <a:extLst>
                    <a:ext uri="{9D8B030D-6E8A-4147-A177-3AD203B41FA5}">
                      <a16:colId xmlns:a16="http://schemas.microsoft.com/office/drawing/2014/main" val="20000"/>
                    </a:ext>
                  </a:extLst>
                </a:gridCol>
                <a:gridCol w="1305264">
                  <a:extLst>
                    <a:ext uri="{9D8B030D-6E8A-4147-A177-3AD203B41FA5}">
                      <a16:colId xmlns:a16="http://schemas.microsoft.com/office/drawing/2014/main" val="20001"/>
                    </a:ext>
                  </a:extLst>
                </a:gridCol>
                <a:gridCol w="3340061">
                  <a:extLst>
                    <a:ext uri="{9D8B030D-6E8A-4147-A177-3AD203B41FA5}">
                      <a16:colId xmlns:a16="http://schemas.microsoft.com/office/drawing/2014/main" val="20002"/>
                    </a:ext>
                  </a:extLst>
                </a:gridCol>
              </a:tblGrid>
              <a:tr h="38404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Letra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Significa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implica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Independiente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No depende de otra historia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Negociable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El cómo (y el qué) puede cambiar si hay razón</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V</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Valiosa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Aporta algo concreto al usuario o negocio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Estimable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El equipo puede calcular cuánto cuesta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Simple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Cabe en una iteración; si no, se parte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212121"/>
                          </a:solidFill>
                          <a:latin typeface="Arial" pitchFamily="34" charset="0"/>
                          <a:ea typeface="Arial" pitchFamily="34" charset="-122"/>
                          <a:cs typeface="Arial" pitchFamily="34" charset="-120"/>
                        </a:rPr>
                        <a:t>T</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Testable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Criterios de aceptación verificables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
        <p:nvSpPr>
          <p:cNvPr id="9" name="Shape 6"/>
          <p:cNvSpPr/>
          <p:nvPr/>
        </p:nvSpPr>
        <p:spPr>
          <a:xfrm>
            <a:off x="548640" y="5301790"/>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10" name="Text 7"/>
          <p:cNvSpPr/>
          <p:nvPr/>
        </p:nvSpPr>
        <p:spPr>
          <a:xfrm>
            <a:off x="777240" y="5338882"/>
            <a:ext cx="10634472" cy="64008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A cada historia se le añaden criterios de aceptación: condiciones concretas que deben cumplirse para considerarla terminada. Una buena historia cumple los seis criterios INVEST.</a:t>
            </a:r>
            <a:endParaRPr lang="en-US" sz="1400" dirty="0"/>
          </a:p>
        </p:txBody>
      </p:sp>
      <p:sp>
        <p:nvSpPr>
          <p:cNvPr id="11"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4.2 Diseño: arquitectura, patrones y diagramas UML</a:t>
            </a:r>
            <a:endParaRPr lang="en-US" sz="2600" dirty="0"/>
          </a:p>
        </p:txBody>
      </p:sp>
      <p:sp>
        <p:nvSpPr>
          <p:cNvPr id="4" name="Shape 2"/>
          <p:cNvSpPr/>
          <p:nvPr/>
        </p:nvSpPr>
        <p:spPr>
          <a:xfrm>
            <a:off x="548640" y="960120"/>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1005840"/>
            <a:ext cx="10634472" cy="5943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diseño es el puente entre lo que queremos (requisitos) y cómo lo construiremos (código): divide el problema en piezas, acuerda cómo encajan y evita sorpresas al programar.</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2605542740"/>
              </p:ext>
            </p:extLst>
          </p:nvPr>
        </p:nvGraphicFramePr>
        <p:xfrm>
          <a:off x="548640" y="1783080"/>
          <a:ext cx="11091672" cy="2138229"/>
        </p:xfrm>
        <a:graphic>
          <a:graphicData uri="http://schemas.openxmlformats.org/drawingml/2006/table">
            <a:tbl>
              <a:tblPr/>
              <a:tblGrid>
                <a:gridCol w="1441917">
                  <a:extLst>
                    <a:ext uri="{9D8B030D-6E8A-4147-A177-3AD203B41FA5}">
                      <a16:colId xmlns:a16="http://schemas.microsoft.com/office/drawing/2014/main" val="20000"/>
                    </a:ext>
                  </a:extLst>
                </a:gridCol>
                <a:gridCol w="5213086">
                  <a:extLst>
                    <a:ext uri="{9D8B030D-6E8A-4147-A177-3AD203B41FA5}">
                      <a16:colId xmlns:a16="http://schemas.microsoft.com/office/drawing/2014/main" val="20001"/>
                    </a:ext>
                  </a:extLst>
                </a:gridCol>
                <a:gridCol w="4436669">
                  <a:extLst>
                    <a:ext uri="{9D8B030D-6E8A-4147-A177-3AD203B41FA5}">
                      <a16:colId xmlns:a16="http://schemas.microsoft.com/office/drawing/2014/main" val="20002"/>
                    </a:ext>
                  </a:extLst>
                </a:gridCol>
              </a:tblGrid>
              <a:tr h="334104">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Arquitectura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Cómo se organiza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Cuándo usarla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74258">
                <a:tc>
                  <a:txBody>
                    <a:bodyPr/>
                    <a:lstStyle/>
                    <a:p>
                      <a:pPr marL="0" indent="0">
                        <a:buNone/>
                      </a:pPr>
                      <a:r>
                        <a:rPr lang="en-US" sz="1300" b="1" dirty="0">
                          <a:solidFill>
                            <a:srgbClr val="212121"/>
                          </a:solidFill>
                          <a:latin typeface="Arial" pitchFamily="34" charset="0"/>
                          <a:ea typeface="Arial" pitchFamily="34" charset="-122"/>
                          <a:cs typeface="Arial" pitchFamily="34" charset="-120"/>
                        </a:rPr>
                        <a:t>Monolito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Todo el código en una sola aplicación. Fácil de arrancar, entender y desplegar.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Proyectos pequeños, primeras prácticas, equipos de 1-2 personas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1012">
                <a:tc>
                  <a:txBody>
                    <a:bodyPr/>
                    <a:lstStyle/>
                    <a:p>
                      <a:pPr marL="0" indent="0">
                        <a:buNone/>
                      </a:pPr>
                      <a:r>
                        <a:rPr lang="en-US" sz="1300" b="1" dirty="0">
                          <a:solidFill>
                            <a:srgbClr val="212121"/>
                          </a:solidFill>
                          <a:latin typeface="Arial" pitchFamily="34" charset="0"/>
                          <a:ea typeface="Arial" pitchFamily="34" charset="-122"/>
                          <a:cs typeface="Arial" pitchFamily="34" charset="-120"/>
                        </a:rPr>
                        <a:t>Tres capas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Presentación (pantallas) → Lógica (reglas y cálculos) → Datos (BD/archivos)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Apps web o escritorio de tamaño medio — la más habitual en DAW y DAM</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68855">
                <a:tc>
                  <a:txBody>
                    <a:bodyPr/>
                    <a:lstStyle/>
                    <a:p>
                      <a:pPr marL="0" indent="0">
                        <a:buNone/>
                      </a:pPr>
                      <a:r>
                        <a:rPr lang="en-US" sz="1300" b="1" dirty="0">
                          <a:solidFill>
                            <a:srgbClr val="212121"/>
                          </a:solidFill>
                          <a:latin typeface="Arial" pitchFamily="34" charset="0"/>
                          <a:ea typeface="Arial" pitchFamily="34" charset="-122"/>
                          <a:cs typeface="Arial" pitchFamily="34" charset="-120"/>
                        </a:rPr>
                        <a:t>Servicios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Piezas independientes que se comunican por mensajes. Escala bien, pero añade complejidad.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Sistemas grandes con equipos independientes; no para empezar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48640" y="4023360"/>
            <a:ext cx="11091672" cy="438912"/>
          </a:xfrm>
          <a:prstGeom prst="rect">
            <a:avLst/>
          </a:prstGeom>
          <a:solidFill>
            <a:srgbClr val="3F51B5"/>
          </a:solidFill>
          <a:ln w="12700">
            <a:solidFill>
              <a:srgbClr val="3F51B5"/>
            </a:solidFill>
            <a:prstDash val="solid"/>
          </a:ln>
        </p:spPr>
        <p:txBody>
          <a:bodyPr/>
          <a:lstStyle/>
          <a:p>
            <a:endParaRPr lang="es-ES"/>
          </a:p>
        </p:txBody>
      </p:sp>
      <p:sp>
        <p:nvSpPr>
          <p:cNvPr id="8" name="Text 5"/>
          <p:cNvSpPr/>
          <p:nvPr/>
        </p:nvSpPr>
        <p:spPr>
          <a:xfrm>
            <a:off x="731520" y="402336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Diagramas UML — solo los más útiles</a:t>
            </a:r>
            <a:endParaRPr lang="en-US" sz="17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48640" y="4572000"/>
          <a:ext cx="11091672" cy="1828800"/>
        </p:xfrm>
        <a:graphic>
          <a:graphicData uri="http://schemas.openxmlformats.org/drawingml/2006/table">
            <a:tbl>
              <a:tblPr/>
              <a:tblGrid>
                <a:gridCol w="1663751">
                  <a:extLst>
                    <a:ext uri="{9D8B030D-6E8A-4147-A177-3AD203B41FA5}">
                      <a16:colId xmlns:a16="http://schemas.microsoft.com/office/drawing/2014/main" val="20000"/>
                    </a:ext>
                  </a:extLst>
                </a:gridCol>
                <a:gridCol w="9427921">
                  <a:extLst>
                    <a:ext uri="{9D8B030D-6E8A-4147-A177-3AD203B41FA5}">
                      <a16:colId xmlns:a16="http://schemas.microsoft.com/office/drawing/2014/main" val="20001"/>
                    </a:ext>
                  </a:extLst>
                </a:gridCol>
              </a:tblGrid>
              <a:tr h="45720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Diagrama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muestra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Clases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Qué datos hay y cómo se relacionan (ej.: Carrito contiene Productos, con sus métodos)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Actividad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Los pasos de un flujo: inicio → decisiones → fin (ej.: login con reintento si la contraseña falla)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Casos de uso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Quién hace qué: una lista de acciones y actores ya basta — "Registrar (Cliente)", "Ver pedidos (Admin)"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4.3 Implementación — principios básicos</a:t>
            </a:r>
            <a:endParaRPr lang="en-US" sz="2600" dirty="0"/>
          </a:p>
        </p:txBody>
      </p:sp>
      <p:sp>
        <p:nvSpPr>
          <p:cNvPr id="4" name="Text 2"/>
          <p:cNvSpPr/>
          <p:nvPr/>
        </p:nvSpPr>
        <p:spPr>
          <a:xfrm>
            <a:off x="548640" y="960120"/>
            <a:ext cx="11091672" cy="59436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Objetivo: convertir el diseño en código que funciona y que CUALQUIER COMPAÑERO pueda leer y mantener. No es solo "que compile": importa que sea claro, coherente y fácil de cambiar.</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3" cy="4663440"/>
        </p:xfrm>
        <a:graphic>
          <a:graphicData uri="http://schemas.openxmlformats.org/drawingml/2006/table">
            <a:tbl>
              <a:tblPr/>
              <a:tblGrid>
                <a:gridCol w="1774668">
                  <a:extLst>
                    <a:ext uri="{9D8B030D-6E8A-4147-A177-3AD203B41FA5}">
                      <a16:colId xmlns:a16="http://schemas.microsoft.com/office/drawing/2014/main" val="20000"/>
                    </a:ext>
                  </a:extLst>
                </a:gridCol>
                <a:gridCol w="4880336">
                  <a:extLst>
                    <a:ext uri="{9D8B030D-6E8A-4147-A177-3AD203B41FA5}">
                      <a16:colId xmlns:a16="http://schemas.microsoft.com/office/drawing/2014/main" val="20001"/>
                    </a:ext>
                  </a:extLst>
                </a:gridCol>
                <a:gridCol w="4436669">
                  <a:extLst>
                    <a:ext uri="{9D8B030D-6E8A-4147-A177-3AD203B41FA5}">
                      <a16:colId xmlns:a16="http://schemas.microsoft.com/office/drawing/2014/main" val="20002"/>
                    </a:ext>
                  </a:extLst>
                </a:gridCol>
              </a:tblGrid>
              <a:tr h="7772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Principio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significa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Claridad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Escribe para quien lo leerá después (muchas veces tú en 6 meses). Los nombres explican qué hacen sin comentarios.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double totalConImpuestos = calcularTotalPedido(precio, iva)  — no  double r = f(p, i)</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Una responsabilidad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Cada función hace UNA sola cosa. Si valida + calcula + envía emails, es difícil de probar y cambiar.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Separar en validar(p), calcularTotal(p), guardar(p), notificarCliente(p)</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DRY (no te repitas)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Si copias y pegas el mismo bloque en varios sitios, al cambiarlo tendrás que buscarlo en todos.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Extraer el bloque repetido a una función reutilizable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Comentarios útiles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No comentes lo que el código ya dice; comenta el PORQUÉ: decisiones, reglas de negocio, restricciones.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 Si b es 0 devolvemos 0 por política de negocio (evita dividir por cero)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Estilo consistente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Misma indentación, llaves y espacios en todo el proyecto.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Un formateador automático (Checkstyle en Java) evita discusiones y errores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4.4 Pruebas — la pirámide y los tipos</a:t>
            </a:r>
            <a:endParaRPr lang="en-US" sz="2600" dirty="0"/>
          </a:p>
        </p:txBody>
      </p:sp>
      <p:sp>
        <p:nvSpPr>
          <p:cNvPr id="4" name="Shape 2"/>
          <p:cNvSpPr/>
          <p:nvPr/>
        </p:nvSpPr>
        <p:spPr>
          <a:xfrm>
            <a:off x="548640" y="960120"/>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1005840"/>
            <a:ext cx="10634472" cy="73152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Probar no es desconfiar del código: es aprender rápido si algo funciona como esperamos. Cuanto antes pruebas, más barato es corregir. La pirámide: muchas pruebas rápidas y baratas en la base, pocas lentas y costosas arriba.</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3" cy="3886200"/>
        </p:xfrm>
        <a:graphic>
          <a:graphicData uri="http://schemas.openxmlformats.org/drawingml/2006/table">
            <a:tbl>
              <a:tblPr/>
              <a:tblGrid>
                <a:gridCol w="1663751">
                  <a:extLst>
                    <a:ext uri="{9D8B030D-6E8A-4147-A177-3AD203B41FA5}">
                      <a16:colId xmlns:a16="http://schemas.microsoft.com/office/drawing/2014/main" val="20000"/>
                    </a:ext>
                  </a:extLst>
                </a:gridCol>
                <a:gridCol w="3549335">
                  <a:extLst>
                    <a:ext uri="{9D8B030D-6E8A-4147-A177-3AD203B41FA5}">
                      <a16:colId xmlns:a16="http://schemas.microsoft.com/office/drawing/2014/main" val="20001"/>
                    </a:ext>
                  </a:extLst>
                </a:gridCol>
                <a:gridCol w="3327502">
                  <a:extLst>
                    <a:ext uri="{9D8B030D-6E8A-4147-A177-3AD203B41FA5}">
                      <a16:colId xmlns:a16="http://schemas.microsoft.com/office/drawing/2014/main" val="20002"/>
                    </a:ext>
                  </a:extLst>
                </a:gridCol>
                <a:gridCol w="2551085">
                  <a:extLst>
                    <a:ext uri="{9D8B030D-6E8A-4147-A177-3AD203B41FA5}">
                      <a16:colId xmlns:a16="http://schemas.microsoft.com/office/drawing/2014/main" val="20003"/>
                    </a:ext>
                  </a:extLst>
                </a:gridCol>
              </a:tblGrid>
              <a:tr h="7772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Tipo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prueba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Herramientas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Unitarias (muchas)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Una sola función o clase aislada. Las más rápidas y fáciles de mantener.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calcularTotal(10, 0.21) devuelve 12.1</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JUnit (Java), Jest (JS), pytest (Python)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Integración (algunas)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encaje entre piezas: función + BD, servicio + API externa.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Guardar un pedido en la BD de pruebas y leerlo después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BD de pruebas, mocks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Sistema / E2E (pocas)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flujo completo tal como lo ve el usuario.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Login → añadir al carrito → pagar → confirmación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Selenium, Cypress, Playwright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Aceptación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Que el sistema cumple los requisitos acordados con el cliente.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Basadas en los criterios de aceptación de las historias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Given/When/Then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9"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4.4 Pruebas — TDD y BDD</a:t>
            </a:r>
            <a:endParaRPr lang="en-US" sz="2600" dirty="0"/>
          </a:p>
        </p:txBody>
      </p:sp>
      <p:sp>
        <p:nvSpPr>
          <p:cNvPr id="4" name="Shape 2"/>
          <p:cNvSpPr/>
          <p:nvPr/>
        </p:nvSpPr>
        <p:spPr>
          <a:xfrm>
            <a:off x="548640" y="960120"/>
            <a:ext cx="11091672" cy="438912"/>
          </a:xfrm>
          <a:prstGeom prst="rect">
            <a:avLst/>
          </a:prstGeom>
          <a:solidFill>
            <a:srgbClr val="3F51B5"/>
          </a:solidFill>
          <a:ln w="12700">
            <a:solidFill>
              <a:srgbClr val="3F51B5"/>
            </a:solidFill>
            <a:prstDash val="solid"/>
          </a:ln>
        </p:spPr>
        <p:txBody>
          <a:bodyPr/>
          <a:lstStyle/>
          <a:p>
            <a:endParaRPr lang="es-ES"/>
          </a:p>
        </p:txBody>
      </p:sp>
      <p:sp>
        <p:nvSpPr>
          <p:cNvPr id="5" name="Text 3"/>
          <p:cNvSpPr/>
          <p:nvPr/>
        </p:nvSpPr>
        <p:spPr>
          <a:xfrm>
            <a:off x="731520" y="9601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TDD (Test-Driven Development): la prueba ANTES que el código</a:t>
            </a:r>
            <a:endParaRPr lang="en-US" sz="1700" dirty="0"/>
          </a:p>
        </p:txBody>
      </p:sp>
      <p:sp>
        <p:nvSpPr>
          <p:cNvPr id="6" name="Shape 4"/>
          <p:cNvSpPr/>
          <p:nvPr/>
        </p:nvSpPr>
        <p:spPr>
          <a:xfrm>
            <a:off x="548640" y="1508760"/>
            <a:ext cx="3422904" cy="914400"/>
          </a:xfrm>
          <a:prstGeom prst="roundRect">
            <a:avLst/>
          </a:prstGeom>
          <a:solidFill>
            <a:srgbClr val="E8EAF6"/>
          </a:solidFill>
          <a:ln w="15875">
            <a:solidFill>
              <a:srgbClr val="3F51B5"/>
            </a:solidFill>
            <a:prstDash val="solid"/>
          </a:ln>
        </p:spPr>
        <p:txBody>
          <a:bodyPr/>
          <a:lstStyle/>
          <a:p>
            <a:endParaRPr lang="es-ES"/>
          </a:p>
        </p:txBody>
      </p:sp>
      <p:sp>
        <p:nvSpPr>
          <p:cNvPr id="7" name="Text 5"/>
          <p:cNvSpPr/>
          <p:nvPr/>
        </p:nvSpPr>
        <p:spPr>
          <a:xfrm>
            <a:off x="594360" y="1554480"/>
            <a:ext cx="3331464" cy="82296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RED</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Escribe una prueba</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que falle</a:t>
            </a:r>
            <a:endParaRPr lang="en-US" sz="1300" dirty="0"/>
          </a:p>
        </p:txBody>
      </p:sp>
      <p:sp>
        <p:nvSpPr>
          <p:cNvPr id="8" name="Text 6"/>
          <p:cNvSpPr/>
          <p:nvPr/>
        </p:nvSpPr>
        <p:spPr>
          <a:xfrm>
            <a:off x="3925824" y="1508760"/>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4383024" y="1508760"/>
            <a:ext cx="3422904" cy="914400"/>
          </a:xfrm>
          <a:prstGeom prst="roundRect">
            <a:avLst/>
          </a:prstGeom>
          <a:solidFill>
            <a:srgbClr val="E8EAF6"/>
          </a:solidFill>
          <a:ln w="15875">
            <a:solidFill>
              <a:srgbClr val="3F51B5"/>
            </a:solidFill>
            <a:prstDash val="solid"/>
          </a:ln>
        </p:spPr>
        <p:txBody>
          <a:bodyPr/>
          <a:lstStyle/>
          <a:p>
            <a:endParaRPr lang="es-ES"/>
          </a:p>
        </p:txBody>
      </p:sp>
      <p:sp>
        <p:nvSpPr>
          <p:cNvPr id="10" name="Text 8"/>
          <p:cNvSpPr/>
          <p:nvPr/>
        </p:nvSpPr>
        <p:spPr>
          <a:xfrm>
            <a:off x="4428744" y="1554480"/>
            <a:ext cx="3331464" cy="82296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GREEN</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Escribe el mínimo código</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para que pase</a:t>
            </a:r>
            <a:endParaRPr lang="en-US" sz="1300" dirty="0"/>
          </a:p>
        </p:txBody>
      </p:sp>
      <p:sp>
        <p:nvSpPr>
          <p:cNvPr id="11" name="Text 9"/>
          <p:cNvSpPr/>
          <p:nvPr/>
        </p:nvSpPr>
        <p:spPr>
          <a:xfrm>
            <a:off x="7760208" y="1508760"/>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8217408" y="1508760"/>
            <a:ext cx="3422904" cy="914400"/>
          </a:xfrm>
          <a:prstGeom prst="roundRect">
            <a:avLst/>
          </a:prstGeom>
          <a:solidFill>
            <a:srgbClr val="E8EAF6"/>
          </a:solidFill>
          <a:ln w="15875">
            <a:solidFill>
              <a:srgbClr val="3F51B5"/>
            </a:solidFill>
            <a:prstDash val="solid"/>
          </a:ln>
        </p:spPr>
        <p:txBody>
          <a:bodyPr/>
          <a:lstStyle/>
          <a:p>
            <a:endParaRPr lang="es-ES"/>
          </a:p>
        </p:txBody>
      </p:sp>
      <p:sp>
        <p:nvSpPr>
          <p:cNvPr id="13" name="Text 11"/>
          <p:cNvSpPr/>
          <p:nvPr/>
        </p:nvSpPr>
        <p:spPr>
          <a:xfrm>
            <a:off x="8263128" y="1554480"/>
            <a:ext cx="3331464" cy="82296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REFACTOR</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Mejora el código</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sin romper nada</a:t>
            </a:r>
            <a:endParaRPr lang="en-US" sz="1300" dirty="0"/>
          </a:p>
        </p:txBody>
      </p:sp>
      <p:sp>
        <p:nvSpPr>
          <p:cNvPr id="14" name="Text 12"/>
          <p:cNvSpPr/>
          <p:nvPr/>
        </p:nvSpPr>
        <p:spPr>
          <a:xfrm>
            <a:off x="548640" y="2606040"/>
            <a:ext cx="11091672" cy="50292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Ventaja: al terminar tienes el código Y las pruebas a la vez, y el diseño suele ser más simple porque solo escribes lo que la prueba necesita.</a:t>
            </a:r>
            <a:endParaRPr lang="en-US" sz="1500" dirty="0"/>
          </a:p>
        </p:txBody>
      </p:sp>
      <p:sp>
        <p:nvSpPr>
          <p:cNvPr id="15" name="Shape 13"/>
          <p:cNvSpPr/>
          <p:nvPr/>
        </p:nvSpPr>
        <p:spPr>
          <a:xfrm>
            <a:off x="548640" y="3246120"/>
            <a:ext cx="11091672" cy="438912"/>
          </a:xfrm>
          <a:prstGeom prst="rect">
            <a:avLst/>
          </a:prstGeom>
          <a:solidFill>
            <a:srgbClr val="3F51B5"/>
          </a:solidFill>
          <a:ln w="12700">
            <a:solidFill>
              <a:srgbClr val="3F51B5"/>
            </a:solidFill>
            <a:prstDash val="solid"/>
          </a:ln>
        </p:spPr>
        <p:txBody>
          <a:bodyPr/>
          <a:lstStyle/>
          <a:p>
            <a:endParaRPr lang="es-ES"/>
          </a:p>
        </p:txBody>
      </p:sp>
      <p:sp>
        <p:nvSpPr>
          <p:cNvPr id="16" name="Text 14"/>
          <p:cNvSpPr/>
          <p:nvPr/>
        </p:nvSpPr>
        <p:spPr>
          <a:xfrm>
            <a:off x="731520" y="32461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BDD (Behavior-Driven Development): comportamiento en lenguaje común</a:t>
            </a:r>
            <a:endParaRPr lang="en-US" sz="1700" dirty="0"/>
          </a:p>
        </p:txBody>
      </p:sp>
      <p:sp>
        <p:nvSpPr>
          <p:cNvPr id="17" name="Shape 15"/>
          <p:cNvSpPr/>
          <p:nvPr/>
        </p:nvSpPr>
        <p:spPr>
          <a:xfrm>
            <a:off x="548640" y="3794760"/>
            <a:ext cx="6766560" cy="1463040"/>
          </a:xfrm>
          <a:prstGeom prst="rect">
            <a:avLst/>
          </a:prstGeom>
          <a:solidFill>
            <a:srgbClr val="ECEFF1"/>
          </a:solidFill>
          <a:ln w="12700">
            <a:solidFill>
              <a:srgbClr val="EEEEEE"/>
            </a:solidFill>
            <a:prstDash val="solid"/>
          </a:ln>
        </p:spPr>
        <p:txBody>
          <a:bodyPr/>
          <a:lstStyle/>
          <a:p>
            <a:endParaRPr lang="es-ES"/>
          </a:p>
        </p:txBody>
      </p:sp>
      <p:sp>
        <p:nvSpPr>
          <p:cNvPr id="18" name="Shape 16"/>
          <p:cNvSpPr/>
          <p:nvPr/>
        </p:nvSpPr>
        <p:spPr>
          <a:xfrm>
            <a:off x="548640" y="3794760"/>
            <a:ext cx="73152" cy="1463040"/>
          </a:xfrm>
          <a:prstGeom prst="rect">
            <a:avLst/>
          </a:prstGeom>
          <a:solidFill>
            <a:srgbClr val="009688"/>
          </a:solidFill>
          <a:ln w="12700">
            <a:solidFill>
              <a:srgbClr val="009688"/>
            </a:solidFill>
            <a:prstDash val="solid"/>
          </a:ln>
        </p:spPr>
        <p:txBody>
          <a:bodyPr/>
          <a:lstStyle/>
          <a:p>
            <a:endParaRPr lang="es-ES"/>
          </a:p>
        </p:txBody>
      </p:sp>
      <p:sp>
        <p:nvSpPr>
          <p:cNvPr id="19" name="Text 17"/>
          <p:cNvSpPr/>
          <p:nvPr/>
        </p:nvSpPr>
        <p:spPr>
          <a:xfrm>
            <a:off x="777240" y="3886200"/>
            <a:ext cx="6355080" cy="128016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Feature: Recuperar contraseña</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Scenario: Enlace válido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Given estoy en "Olvidé mi contraseña"</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When introduzco mi email y confirmo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Then recibo un enlace válido durante 30 minutos</a:t>
            </a:r>
            <a:endParaRPr lang="en-US" sz="1400" dirty="0"/>
          </a:p>
        </p:txBody>
      </p:sp>
      <p:sp>
        <p:nvSpPr>
          <p:cNvPr id="20" name="Text 18"/>
          <p:cNvSpPr/>
          <p:nvPr/>
        </p:nvSpPr>
        <p:spPr>
          <a:xfrm>
            <a:off x="7589520" y="3840480"/>
            <a:ext cx="4023360" cy="1463040"/>
          </a:xfrm>
          <a:prstGeom prst="rect">
            <a:avLst/>
          </a:prstGeom>
          <a:noFill/>
          <a:ln/>
        </p:spPr>
        <p:txBody>
          <a:bodyPr wrap="square" rtlCol="0" anchor="t"/>
          <a:lstStyle/>
          <a:p>
            <a:pPr marL="0" indent="0">
              <a:buNone/>
            </a:pPr>
            <a:r>
              <a:rPr lang="en-US" sz="1300" dirty="0">
                <a:solidFill>
                  <a:srgbClr val="212121"/>
                </a:solidFill>
                <a:latin typeface="Arial" pitchFamily="34" charset="0"/>
                <a:ea typeface="Arial" pitchFamily="34" charset="-122"/>
                <a:cs typeface="Arial" pitchFamily="34" charset="-120"/>
              </a:rPr>
              <a:t>Describe el comportamiento esperado en un lenguaje que el equipo técnico Y el cliente entienden. Se usa sobre todo para pruebas de aceptación.</a:t>
            </a:r>
            <a:endParaRPr lang="en-US" sz="1300" dirty="0"/>
          </a:p>
        </p:txBody>
      </p:sp>
      <p:sp>
        <p:nvSpPr>
          <p:cNvPr id="23" name="Text 21"/>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4.5 Despliegue — dónde vive la app y estrategias</a:t>
            </a:r>
            <a:endParaRPr lang="en-US" sz="2600" dirty="0"/>
          </a:p>
        </p:txBody>
      </p:sp>
      <p:sp>
        <p:nvSpPr>
          <p:cNvPr id="4" name="Text 2"/>
          <p:cNvSpPr/>
          <p:nvPr/>
        </p:nvSpPr>
        <p:spPr>
          <a:xfrm>
            <a:off x="548640" y="960120"/>
            <a:ext cx="11091672" cy="50292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Desplegar es llevar el software de "listo en el repositorio" a "en manos de los usuarios", de forma segura y con plan de vuelta atrás.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1" cy="2743200"/>
        </p:xfrm>
        <a:graphic>
          <a:graphicData uri="http://schemas.openxmlformats.org/drawingml/2006/table">
            <a:tbl>
              <a:tblPr/>
              <a:tblGrid>
                <a:gridCol w="2218334">
                  <a:extLst>
                    <a:ext uri="{9D8B030D-6E8A-4147-A177-3AD203B41FA5}">
                      <a16:colId xmlns:a16="http://schemas.microsoft.com/office/drawing/2014/main" val="20000"/>
                    </a:ext>
                  </a:extLst>
                </a:gridCol>
                <a:gridCol w="2994751">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3105668">
                  <a:extLst>
                    <a:ext uri="{9D8B030D-6E8A-4147-A177-3AD203B41FA5}">
                      <a16:colId xmlns:a16="http://schemas.microsoft.com/office/drawing/2014/main" val="20003"/>
                    </a:ext>
                  </a:extLst>
                </a:gridCol>
              </a:tblGrid>
              <a:tr h="68580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Modalidad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Dónde se ejecuta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Ventajas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 tener en cuenta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858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Servidor propio (on-premises)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Máquinas que tu empresa gestiona físicamente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Control total; los datos no salen de la empresa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Tú te encargas de todo: actualizaciones, backups, seguridad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Nube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Servidores de un proveedor (AWS, Azure, Google Cloud)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Pagas lo que usas; escala fácil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Dependes del proveedor; costes pueden subir sin control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858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Tienda móvil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Play Store (Android) / App Store (iOS)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Distribución masiva, actualizaciones automáticas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Revisión previa de la tienda; puede tardar días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 y="3886200"/>
          <a:ext cx="11091673" cy="2633472"/>
        </p:xfrm>
        <a:graphic>
          <a:graphicData uri="http://schemas.openxmlformats.org/drawingml/2006/table">
            <a:tbl>
              <a:tblPr/>
              <a:tblGrid>
                <a:gridCol w="1331001">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2551085">
                  <a:extLst>
                    <a:ext uri="{9D8B030D-6E8A-4147-A177-3AD203B41FA5}">
                      <a16:colId xmlns:a16="http://schemas.microsoft.com/office/drawing/2014/main" val="20003"/>
                    </a:ext>
                  </a:extLst>
                </a:gridCol>
              </a:tblGrid>
              <a:tr h="65836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Estrategia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Cómo funciona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Ventaja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Cuándo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Blue/Green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Dos entornos idénticos (azul = actual, verde = nuevo); el tráfico cambia de golpe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Vuelta al azul en segundos si algo falla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Cambios grandes con reversión rápida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Canary</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La versión nueva va solo a un % pequeño (5%) y se amplía gradualmente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Los errores afectan a muy poca gente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Observar comportamiento real antes del 100%</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Rolling</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Las instancias del servidor se actualizan una a una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Sin corte de servicio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Sistemas con varias instancias en paralelo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4.5 Despliegue — versionado SemVer</a:t>
            </a:r>
            <a:endParaRPr lang="en-US" sz="2600" dirty="0"/>
          </a:p>
        </p:txBody>
      </p:sp>
      <p:sp>
        <p:nvSpPr>
          <p:cNvPr id="4" name="Text 2"/>
          <p:cNvSpPr/>
          <p:nvPr/>
        </p:nvSpPr>
        <p:spPr>
          <a:xfrm>
            <a:off x="548640" y="960120"/>
            <a:ext cx="11091672" cy="457200"/>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Las versiones llevan tres números: MAJOR.MINOR.PATCH (por ejemplo, 2.4.7).</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2267712"/>
        </p:xfrm>
        <a:graphic>
          <a:graphicData uri="http://schemas.openxmlformats.org/drawingml/2006/table">
            <a:tbl>
              <a:tblPr/>
              <a:tblGrid>
                <a:gridCol w="1441917">
                  <a:extLst>
                    <a:ext uri="{9D8B030D-6E8A-4147-A177-3AD203B41FA5}">
                      <a16:colId xmlns:a16="http://schemas.microsoft.com/office/drawing/2014/main" val="20000"/>
                    </a:ext>
                  </a:extLst>
                </a:gridCol>
                <a:gridCol w="5213086">
                  <a:extLst>
                    <a:ext uri="{9D8B030D-6E8A-4147-A177-3AD203B41FA5}">
                      <a16:colId xmlns:a16="http://schemas.microsoft.com/office/drawing/2014/main" val="20001"/>
                    </a:ext>
                  </a:extLst>
                </a:gridCol>
                <a:gridCol w="4436669">
                  <a:extLst>
                    <a:ext uri="{9D8B030D-6E8A-4147-A177-3AD203B41FA5}">
                      <a16:colId xmlns:a16="http://schemas.microsoft.com/office/drawing/2014/main" val="20002"/>
                    </a:ext>
                  </a:extLst>
                </a:gridCol>
              </a:tblGrid>
              <a:tr h="56692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Número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Cuándo se incrementa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212121"/>
                          </a:solidFill>
                          <a:latin typeface="Arial" pitchFamily="34" charset="0"/>
                          <a:ea typeface="Arial" pitchFamily="34" charset="-122"/>
                          <a:cs typeface="Arial" pitchFamily="34" charset="-120"/>
                        </a:rPr>
                        <a:t>PATCH</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Arreglo de un bug, sin cambios de funcionalidad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1.3.5 → 1.3.6 (arreglaste un bug)</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212121"/>
                          </a:solidFill>
                          <a:latin typeface="Arial" pitchFamily="34" charset="0"/>
                          <a:ea typeface="Arial" pitchFamily="34" charset="-122"/>
                          <a:cs typeface="Arial" pitchFamily="34" charset="-120"/>
                        </a:rPr>
                        <a:t>MINOR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Función nueva que no rompe nada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1.3.6 → 1.4.0 (añadiste una función)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212121"/>
                          </a:solidFill>
                          <a:latin typeface="Arial" pitchFamily="34" charset="0"/>
                          <a:ea typeface="Arial" pitchFamily="34" charset="-122"/>
                          <a:cs typeface="Arial" pitchFamily="34" charset="-120"/>
                        </a:rPr>
                        <a:t>MAJOR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Cambio que rompe compatibilidad con versiones anteriores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1.4.0 → 2.0.0 (los usuarios deben adaptar su código)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4219178"/>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4"/>
          <p:cNvSpPr/>
          <p:nvPr/>
        </p:nvSpPr>
        <p:spPr>
          <a:xfrm>
            <a:off x="731520" y="421918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Antes de desplegar, comprueba siempre</a:t>
            </a:r>
            <a:endParaRPr lang="en-US" sz="1700" dirty="0"/>
          </a:p>
        </p:txBody>
      </p:sp>
      <p:sp>
        <p:nvSpPr>
          <p:cNvPr id="8" name="Text 5"/>
          <p:cNvSpPr/>
          <p:nvPr/>
        </p:nvSpPr>
        <p:spPr>
          <a:xfrm>
            <a:off x="548640" y="4776439"/>
            <a:ext cx="11091672" cy="1280160"/>
          </a:xfrm>
          <a:prstGeom prst="rect">
            <a:avLst/>
          </a:prstGeom>
          <a:noFill/>
          <a:ln/>
        </p:spPr>
        <p:txBody>
          <a:bodyPr wrap="square" rtlCol="0" anchor="t"/>
          <a:lstStyle/>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Los datos de configuración (contraseñas, URLs de base de datos) están en el entorno destino, NO en el código.</a:t>
            </a:r>
            <a:endParaRPr lang="en-US" sz="1600" dirty="0"/>
          </a:p>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Tienes copia de seguridad de la base de datos si vas a cambiar su estructura.</a:t>
            </a:r>
            <a:endParaRPr lang="en-US" sz="1600" dirty="0"/>
          </a:p>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Sabes cómo volver atrás si algo sale mal.</a:t>
            </a:r>
            <a:endParaRPr lang="en-US" sz="1600" dirty="0"/>
          </a:p>
        </p:txBody>
      </p:sp>
      <p:sp>
        <p:nvSpPr>
          <p:cNvPr id="5"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4.6 Operación y mantenimiento</a:t>
            </a:r>
            <a:endParaRPr lang="en-US" sz="2600" dirty="0"/>
          </a:p>
        </p:txBody>
      </p:sp>
      <p:sp>
        <p:nvSpPr>
          <p:cNvPr id="4" name="Text 2"/>
          <p:cNvSpPr/>
          <p:nvPr/>
        </p:nvSpPr>
        <p:spPr>
          <a:xfrm>
            <a:off x="548640" y="960120"/>
            <a:ext cx="11091672" cy="64008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En producción el trabajo no termina: hay que vigilar, resolver y mejorar. Objetivo: que el equipo detecte los problemas ANTES que los usuarios. Para ello se recogen señales automáticas:</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186500992"/>
              </p:ext>
            </p:extLst>
          </p:nvPr>
        </p:nvGraphicFramePr>
        <p:xfrm>
          <a:off x="540014" y="1564830"/>
          <a:ext cx="11091672" cy="2791508"/>
        </p:xfrm>
        <a:graphic>
          <a:graphicData uri="http://schemas.openxmlformats.org/drawingml/2006/table">
            <a:tbl>
              <a:tblPr/>
              <a:tblGrid>
                <a:gridCol w="1109167">
                  <a:extLst>
                    <a:ext uri="{9D8B030D-6E8A-4147-A177-3AD203B41FA5}">
                      <a16:colId xmlns:a16="http://schemas.microsoft.com/office/drawing/2014/main" val="20000"/>
                    </a:ext>
                  </a:extLst>
                </a:gridCol>
                <a:gridCol w="4658502">
                  <a:extLst>
                    <a:ext uri="{9D8B030D-6E8A-4147-A177-3AD203B41FA5}">
                      <a16:colId xmlns:a16="http://schemas.microsoft.com/office/drawing/2014/main" val="20001"/>
                    </a:ext>
                  </a:extLst>
                </a:gridCol>
                <a:gridCol w="5324003">
                  <a:extLst>
                    <a:ext uri="{9D8B030D-6E8A-4147-A177-3AD203B41FA5}">
                      <a16:colId xmlns:a16="http://schemas.microsoft.com/office/drawing/2014/main" val="20002"/>
                    </a:ext>
                  </a:extLst>
                </a:gridCol>
              </a:tblGrid>
              <a:tr h="393365">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Señal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Clave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69343">
                <a:tc>
                  <a:txBody>
                    <a:bodyPr/>
                    <a:lstStyle/>
                    <a:p>
                      <a:pPr marL="0" indent="0">
                        <a:buNone/>
                      </a:pPr>
                      <a:r>
                        <a:rPr lang="en-US" sz="1300" b="1" dirty="0">
                          <a:solidFill>
                            <a:srgbClr val="212121"/>
                          </a:solidFill>
                          <a:latin typeface="Arial" pitchFamily="34" charset="0"/>
                          <a:ea typeface="Arial" pitchFamily="34" charset="-122"/>
                          <a:cs typeface="Arial" pitchFamily="34" charset="-120"/>
                        </a:rPr>
                        <a:t>Logs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Mensajes de texto que la app escribe mientras funciona. El primer sitio donde mirar cuando algo falla.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Niveles: DEBUG (desarrollo) · INFO (eventos normales) · WARN (raro pero no roto) · ERROR (hay que actuar)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Métricas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Números medidos a intervalos: peticiones/segundo, tiempo de respuesta, errores/minuto, CPU y memoria.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Se muestran en un dashboard que el equipo consulta en cualquier momento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914400">
                <a:tc>
                  <a:txBody>
                    <a:bodyPr/>
                    <a:lstStyle/>
                    <a:p>
                      <a:pPr marL="0" indent="0">
                        <a:buNone/>
                      </a:pPr>
                      <a:r>
                        <a:rPr lang="en-US" sz="1300" b="1" dirty="0">
                          <a:solidFill>
                            <a:srgbClr val="212121"/>
                          </a:solidFill>
                          <a:latin typeface="Arial" pitchFamily="34" charset="0"/>
                          <a:ea typeface="Arial" pitchFamily="34" charset="-122"/>
                          <a:cs typeface="Arial" pitchFamily="34" charset="-120"/>
                        </a:rPr>
                        <a:t>Alertas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Notificación automática cuando una métrica supera un umbral ("si los errores superan el 5%, avisa").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Deben ser ACCIONABLES: al saltar una, alguien sabe qué hacer. Los runbooks (guías paso a paso por incidencia) permiten actuar sin depender de quien las creó</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2318053151"/>
              </p:ext>
            </p:extLst>
          </p:nvPr>
        </p:nvGraphicFramePr>
        <p:xfrm>
          <a:off x="548640" y="4410691"/>
          <a:ext cx="11091672" cy="2057400"/>
        </p:xfrm>
        <a:graphic>
          <a:graphicData uri="http://schemas.openxmlformats.org/drawingml/2006/table">
            <a:tbl>
              <a:tblPr/>
              <a:tblGrid>
                <a:gridCol w="1663751">
                  <a:extLst>
                    <a:ext uri="{9D8B030D-6E8A-4147-A177-3AD203B41FA5}">
                      <a16:colId xmlns:a16="http://schemas.microsoft.com/office/drawing/2014/main" val="20000"/>
                    </a:ext>
                  </a:extLst>
                </a:gridCol>
                <a:gridCol w="3882085">
                  <a:extLst>
                    <a:ext uri="{9D8B030D-6E8A-4147-A177-3AD203B41FA5}">
                      <a16:colId xmlns:a16="http://schemas.microsoft.com/office/drawing/2014/main" val="20001"/>
                    </a:ext>
                  </a:extLst>
                </a:gridCol>
                <a:gridCol w="5545836">
                  <a:extLst>
                    <a:ext uri="{9D8B030D-6E8A-4147-A177-3AD203B41FA5}">
                      <a16:colId xmlns:a16="http://schemas.microsoft.com/office/drawing/2014/main" val="20002"/>
                    </a:ext>
                  </a:extLst>
                </a:gridCol>
              </a:tblGrid>
              <a:tr h="41148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Mantenimiento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Cuándo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114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Correctivo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Bug detectado en producción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Arreglar un error que cierra la app sola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Adaptativo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Cambia el entorno externo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Actualizar la app por una nueva versión de Android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114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Perfectivo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Mejorar rendimiento o usabilidad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Reducir el tiempo de carga de una pantalla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Preventivo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Evitar problemas futuros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Actualizar dependencias con vulnerabilidades conocidas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7"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4.7 Documentación</a:t>
            </a:r>
            <a:endParaRPr lang="en-US" sz="2600" dirty="0"/>
          </a:p>
        </p:txBody>
      </p:sp>
      <p:sp>
        <p:nvSpPr>
          <p:cNvPr id="4" name="Text 2"/>
          <p:cNvSpPr/>
          <p:nvPr/>
        </p:nvSpPr>
        <p:spPr>
          <a:xfrm>
            <a:off x="548640" y="960120"/>
            <a:ext cx="11091672" cy="64008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La documentación reduce la dependencia de personas clave, acelera el onboarding (la incorporación de una persona nueva al equipo) y baja el coste de mantenimiento. No es un extra: es parte del producto.</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3685062812"/>
              </p:ext>
            </p:extLst>
          </p:nvPr>
        </p:nvGraphicFramePr>
        <p:xfrm>
          <a:off x="548640" y="1737360"/>
          <a:ext cx="11091672" cy="4014734"/>
        </p:xfrm>
        <a:graphic>
          <a:graphicData uri="http://schemas.openxmlformats.org/drawingml/2006/table">
            <a:tbl>
              <a:tblPr/>
              <a:tblGrid>
                <a:gridCol w="2218334">
                  <a:extLst>
                    <a:ext uri="{9D8B030D-6E8A-4147-A177-3AD203B41FA5}">
                      <a16:colId xmlns:a16="http://schemas.microsoft.com/office/drawing/2014/main" val="20000"/>
                    </a:ext>
                  </a:extLst>
                </a:gridCol>
                <a:gridCol w="8873338">
                  <a:extLst>
                    <a:ext uri="{9D8B030D-6E8A-4147-A177-3AD203B41FA5}">
                      <a16:colId xmlns:a16="http://schemas.microsoft.com/office/drawing/2014/main" val="20001"/>
                    </a:ext>
                  </a:extLst>
                </a:gridCol>
              </a:tblGrid>
              <a:tr h="540014">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Documento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debe contener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8686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README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punto de entrada: ¿qué hace este programa? ¿cómo lo instalo? ¿cómo lo ejecuto? ¿cómo lo pruebo?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Comentarios en el código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No el QUÉ (los nombres ya lo dicen) sino el PORQUÉ: decisiones y restricciones. Ej.: "// precio sin IVA porque el descuento se aplica antes de impuestos (requisito RF-14)"</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8686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Registro de decisiones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Qué se eligió y por qué, con fecha y alternativas descartadas. Ej.: "PostgreSQL — necesitamos transacciones ACID y el equipo conoce SQL. Descartados: MongoDB (sin experiencia), SQLite (no escala)"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300" b="1" dirty="0">
                          <a:solidFill>
                            <a:srgbClr val="212121"/>
                          </a:solidFill>
                          <a:latin typeface="Arial" pitchFamily="34" charset="0"/>
                          <a:ea typeface="Arial" pitchFamily="34" charset="-122"/>
                          <a:cs typeface="Arial" pitchFamily="34" charset="-120"/>
                        </a:rPr>
                        <a:t>Guía de contribución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Si trabaja más de una persona: cómo hacer cambios, nombrar ramas y pasar las pruebas antes de entregar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809804"/>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855524"/>
            <a:ext cx="10634472" cy="68580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Regla del nuevo compañero: ¿podría alguien que empieza HOY poner el proyecto en marcha en menos de una hora siguiendo solo lo escrito? Si la respuesta es no, falta documentación.</a:t>
            </a:r>
            <a:endParaRPr lang="en-US" sz="14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Resumen: entradas → salidas por fase</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1672" cy="5266944"/>
        </p:xfrm>
        <a:graphic>
          <a:graphicData uri="http://schemas.openxmlformats.org/drawingml/2006/table">
            <a:tbl>
              <a:tblPr/>
              <a:tblGrid>
                <a:gridCol w="1996501">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gridCol w="4658502">
                  <a:extLst>
                    <a:ext uri="{9D8B030D-6E8A-4147-A177-3AD203B41FA5}">
                      <a16:colId xmlns:a16="http://schemas.microsoft.com/office/drawing/2014/main" val="20002"/>
                    </a:ext>
                  </a:extLst>
                </a:gridCol>
              </a:tblGrid>
              <a:tr h="65836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Fase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Entradas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Salidas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4.1 Análisis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Objetivos, restricciones, necesidades de los usuarios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Requisitos priorizados, historias con criterios, bocetos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4.2 Diseño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Requisitos, restricciones, objetivos de calidad</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Diagramas UML, decisiones de arquitectura, bocetos acordados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4.3 Implementación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Requisitos claros, diseño acordado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Código legible y ejecutable, instrucciones de arranque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4.4 Pruebas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Criterios de aceptación, código, datos de prueba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Resultados, bugs detectados y corregidos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4.5 Despliegue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Versión aprobada, configuración del entorno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Versión publicada, lista de cambios, plan de vuelta atrás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4.6 Operación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Versión desplegada, métricas iniciales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Alertas, panel de monitorización, mejoras y parches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4.7 Documentación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Código y decisiones actuales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README, comentarios, registro de decisiones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4.8 Modelos de ciclo de vida (I)</a:t>
            </a:r>
            <a:endParaRPr lang="en-US" sz="2600" dirty="0"/>
          </a:p>
        </p:txBody>
      </p:sp>
      <p:sp>
        <p:nvSpPr>
          <p:cNvPr id="4" name="Text 2"/>
          <p:cNvSpPr/>
          <p:nvPr/>
        </p:nvSpPr>
        <p:spPr>
          <a:xfrm>
            <a:off x="548640" y="960120"/>
            <a:ext cx="11091672" cy="59436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Las fases siempre están presentes. Lo que cambia según el modelo es EL ORDEN en que se recorren, CUÁNDO se entrega algo al usuario y CÓMO se gestionan los cambios.</a:t>
            </a:r>
            <a:endParaRPr lang="en-US" sz="1600" dirty="0"/>
          </a:p>
        </p:txBody>
      </p:sp>
      <p:sp>
        <p:nvSpPr>
          <p:cNvPr id="5" name="Shape 3"/>
          <p:cNvSpPr/>
          <p:nvPr/>
        </p:nvSpPr>
        <p:spPr>
          <a:xfrm>
            <a:off x="548640" y="1691640"/>
            <a:ext cx="11091672" cy="438912"/>
          </a:xfrm>
          <a:prstGeom prst="rect">
            <a:avLst/>
          </a:prstGeom>
          <a:solidFill>
            <a:srgbClr val="3F51B5"/>
          </a:solidFill>
          <a:ln w="12700">
            <a:solidFill>
              <a:srgbClr val="3F51B5"/>
            </a:solidFill>
            <a:prstDash val="solid"/>
          </a:ln>
        </p:spPr>
        <p:txBody>
          <a:bodyPr/>
          <a:lstStyle/>
          <a:p>
            <a:endParaRPr lang="es-ES"/>
          </a:p>
        </p:txBody>
      </p:sp>
      <p:sp>
        <p:nvSpPr>
          <p:cNvPr id="6" name="Text 4"/>
          <p:cNvSpPr/>
          <p:nvPr/>
        </p:nvSpPr>
        <p:spPr>
          <a:xfrm>
            <a:off x="731520" y="169164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Cascada — las fases en orden, sin volver atrás</a:t>
            </a:r>
            <a:endParaRPr lang="en-US" sz="1700" dirty="0"/>
          </a:p>
        </p:txBody>
      </p:sp>
      <p:sp>
        <p:nvSpPr>
          <p:cNvPr id="7" name="Text 5"/>
          <p:cNvSpPr/>
          <p:nvPr/>
        </p:nvSpPr>
        <p:spPr>
          <a:xfrm>
            <a:off x="548640" y="2240280"/>
            <a:ext cx="11091672" cy="96012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Análisis → Diseño → Implementación → Pruebas → Despliegue.  Funciona con requisitos muy estables, contratos cerrados y entornos regulados que exigen documentar cada paso.  Riesgo principal: si el cliente cambia de idea a mitad, el coste de corregir es muy alto porque ya se construyó sobre una base incorrecta.</a:t>
            </a:r>
            <a:endParaRPr lang="en-US" sz="1500" dirty="0"/>
          </a:p>
        </p:txBody>
      </p:sp>
      <p:sp>
        <p:nvSpPr>
          <p:cNvPr id="8" name="Shape 6"/>
          <p:cNvSpPr/>
          <p:nvPr/>
        </p:nvSpPr>
        <p:spPr>
          <a:xfrm>
            <a:off x="548640" y="3337560"/>
            <a:ext cx="11091672" cy="438912"/>
          </a:xfrm>
          <a:prstGeom prst="rect">
            <a:avLst/>
          </a:prstGeom>
          <a:solidFill>
            <a:srgbClr val="3F51B5"/>
          </a:solidFill>
          <a:ln w="12700">
            <a:solidFill>
              <a:srgbClr val="3F51B5"/>
            </a:solidFill>
            <a:prstDash val="solid"/>
          </a:ln>
        </p:spPr>
        <p:txBody>
          <a:bodyPr/>
          <a:lstStyle/>
          <a:p>
            <a:endParaRPr lang="es-ES"/>
          </a:p>
        </p:txBody>
      </p:sp>
      <p:sp>
        <p:nvSpPr>
          <p:cNvPr id="9" name="Text 7"/>
          <p:cNvSpPr/>
          <p:nvPr/>
        </p:nvSpPr>
        <p:spPr>
          <a:xfrm>
            <a:off x="731520" y="333756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Modelo en V — cada fase de definición tiene su fase de pruebas correspondiente</a:t>
            </a:r>
            <a:endParaRPr lang="en-US" sz="1700" dirty="0"/>
          </a:p>
        </p:txBody>
      </p:sp>
      <p:sp>
        <p:nvSpPr>
          <p:cNvPr id="10" name="Text 8"/>
          <p:cNvSpPr/>
          <p:nvPr/>
        </p:nvSpPr>
        <p:spPr>
          <a:xfrm>
            <a:off x="548640" y="3886200"/>
            <a:ext cx="11091672" cy="109728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El lado izquierdo define (requisitos → diseño de sistema → diseño detallado); el derecho verifica (pruebas de aceptación ← integración ← unitarias). Cada nivel de definición se comprueba con su nivel de prueba.  Se usa en sectores donde el fallo tiene consecuencias graves (automoción, sanidad, aeroespacial) y se exige trazabilidad entre requisitos y pruebas.</a:t>
            </a:r>
            <a:endParaRPr lang="en-US" sz="1500" dirty="0"/>
          </a:p>
        </p:txBody>
      </p:sp>
      <p:sp>
        <p:nvSpPr>
          <p:cNvPr id="11" name="Shape 9"/>
          <p:cNvSpPr/>
          <p:nvPr/>
        </p:nvSpPr>
        <p:spPr>
          <a:xfrm>
            <a:off x="548640" y="5120640"/>
            <a:ext cx="11091672" cy="438912"/>
          </a:xfrm>
          <a:prstGeom prst="rect">
            <a:avLst/>
          </a:prstGeom>
          <a:solidFill>
            <a:srgbClr val="3F51B5"/>
          </a:solidFill>
          <a:ln w="12700">
            <a:solidFill>
              <a:srgbClr val="3F51B5"/>
            </a:solidFill>
            <a:prstDash val="solid"/>
          </a:ln>
        </p:spPr>
        <p:txBody>
          <a:bodyPr/>
          <a:lstStyle/>
          <a:p>
            <a:endParaRPr lang="es-ES"/>
          </a:p>
        </p:txBody>
      </p:sp>
      <p:sp>
        <p:nvSpPr>
          <p:cNvPr id="12" name="Text 10"/>
          <p:cNvSpPr/>
          <p:nvPr/>
        </p:nvSpPr>
        <p:spPr>
          <a:xfrm>
            <a:off x="731520" y="512064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Espiral — el análisis de riesgos en el centro de cada vuelta</a:t>
            </a:r>
            <a:endParaRPr lang="en-US" sz="1700" dirty="0"/>
          </a:p>
        </p:txBody>
      </p:sp>
      <p:sp>
        <p:nvSpPr>
          <p:cNvPr id="13" name="Text 11"/>
          <p:cNvSpPr/>
          <p:nvPr/>
        </p:nvSpPr>
        <p:spPr>
          <a:xfrm>
            <a:off x="548640" y="5669280"/>
            <a:ext cx="11091672" cy="77724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En cada iteración: definir objetivos → identificar y mitigar riesgos → desarrollar y validar → planificar la siguiente vuelta. Para proyectos innovadores con mucha incertidumbre técnica. Más complejo de gestionar.</a:t>
            </a:r>
            <a:endParaRPr lang="en-US" sz="1500" dirty="0"/>
          </a:p>
        </p:txBody>
      </p:sp>
      <p:sp>
        <p:nvSpPr>
          <p:cNvPr id="14" name="Text 1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4.8 Modelos de ciclo de vida (II) — incremental, iterativo y comparativa</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2668780351"/>
              </p:ext>
            </p:extLst>
          </p:nvPr>
        </p:nvGraphicFramePr>
        <p:xfrm>
          <a:off x="548640" y="853159"/>
          <a:ext cx="11091672" cy="2622258"/>
        </p:xfrm>
        <a:graphic>
          <a:graphicData uri="http://schemas.openxmlformats.org/drawingml/2006/table">
            <a:tbl>
              <a:tblPr/>
              <a:tblGrid>
                <a:gridCol w="2218334">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gridCol w="4436669">
                  <a:extLst>
                    <a:ext uri="{9D8B030D-6E8A-4147-A177-3AD203B41FA5}">
                      <a16:colId xmlns:a16="http://schemas.microsoft.com/office/drawing/2014/main" val="20002"/>
                    </a:ext>
                  </a:extLst>
                </a:gridCol>
              </a:tblGrid>
              <a:tr h="354546">
                <a:tc>
                  <a:txBody>
                    <a:bodyPr/>
                    <a:lstStyle/>
                    <a:p>
                      <a:pPr marL="0" indent="0" algn="ctr">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Incremental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Iterativo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Qué se repite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Se añaden funcionalidades NUEVAS en cada ciclo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Se MEJORA la misma funcionalidad en cada ciclo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Analogía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Construir la casa habitación a habitación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Boceto → plano → plano definitivo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Resultado de cada ciclo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 pieza nueva que suma al producto anterior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 versión mejorada de lo que ya había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Cuándo usarlo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Proyecto grande divisible en funcionalidades que entregan valor por separado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Requisitos difusos que se descubren cuando el usuario ve el producto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3611880"/>
            <a:ext cx="11091672" cy="438912"/>
          </a:xfrm>
          <a:prstGeom prst="rect">
            <a:avLst/>
          </a:prstGeom>
          <a:solidFill>
            <a:srgbClr val="3F51B5"/>
          </a:solidFill>
          <a:ln w="12700">
            <a:solidFill>
              <a:srgbClr val="3F51B5"/>
            </a:solidFill>
            <a:prstDash val="solid"/>
          </a:ln>
        </p:spPr>
        <p:txBody>
          <a:bodyPr/>
          <a:lstStyle/>
          <a:p>
            <a:endParaRPr lang="es-ES"/>
          </a:p>
        </p:txBody>
      </p:sp>
      <p:sp>
        <p:nvSpPr>
          <p:cNvPr id="6" name="Text 3"/>
          <p:cNvSpPr/>
          <p:nvPr/>
        </p:nvSpPr>
        <p:spPr>
          <a:xfrm>
            <a:off x="731520" y="361188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Comparativa de todos los modelos</a:t>
            </a:r>
            <a:endParaRPr lang="en-US" sz="1700" dirty="0"/>
          </a:p>
        </p:txBody>
      </p:sp>
      <p:graphicFrame>
        <p:nvGraphicFramePr>
          <p:cNvPr id="31" name="Table 1"/>
          <p:cNvGraphicFramePr>
            <a:graphicFrameLocks noGrp="1"/>
          </p:cNvGraphicFramePr>
          <p:nvPr>
            <p:extLst>
              <p:ext uri="{D42A27DB-BD31-4B8C-83A1-F6EECF244321}">
                <p14:modId xmlns:p14="http://schemas.microsoft.com/office/powerpoint/2010/main" val="2524256061"/>
              </p:ext>
            </p:extLst>
          </p:nvPr>
        </p:nvGraphicFramePr>
        <p:xfrm>
          <a:off x="548640" y="4039751"/>
          <a:ext cx="11091671" cy="2560320"/>
        </p:xfrm>
        <a:graphic>
          <a:graphicData uri="http://schemas.openxmlformats.org/drawingml/2006/table">
            <a:tbl>
              <a:tblPr/>
              <a:tblGrid>
                <a:gridCol w="1441917">
                  <a:extLst>
                    <a:ext uri="{9D8B030D-6E8A-4147-A177-3AD203B41FA5}">
                      <a16:colId xmlns:a16="http://schemas.microsoft.com/office/drawing/2014/main" val="20000"/>
                    </a:ext>
                  </a:extLst>
                </a:gridCol>
                <a:gridCol w="3105668">
                  <a:extLst>
                    <a:ext uri="{9D8B030D-6E8A-4147-A177-3AD203B41FA5}">
                      <a16:colId xmlns:a16="http://schemas.microsoft.com/office/drawing/2014/main" val="20001"/>
                    </a:ext>
                  </a:extLst>
                </a:gridCol>
                <a:gridCol w="2994751">
                  <a:extLst>
                    <a:ext uri="{9D8B030D-6E8A-4147-A177-3AD203B41FA5}">
                      <a16:colId xmlns:a16="http://schemas.microsoft.com/office/drawing/2014/main" val="20002"/>
                    </a:ext>
                  </a:extLst>
                </a:gridCol>
                <a:gridCol w="3549335">
                  <a:extLst>
                    <a:ext uri="{9D8B030D-6E8A-4147-A177-3AD203B41FA5}">
                      <a16:colId xmlns:a16="http://schemas.microsoft.com/office/drawing/2014/main" val="20003"/>
                    </a:ext>
                  </a:extLst>
                </a:gridCol>
              </a:tblGrid>
              <a:tr h="36576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Modelo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Ritmo de entrega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Gestión del cambio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Mejor para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365760">
                <a:tc>
                  <a:txBody>
                    <a:bodyPr/>
                    <a:lstStyle/>
                    <a:p>
                      <a:pPr marL="0" indent="0">
                        <a:buNone/>
                      </a:pPr>
                      <a:r>
                        <a:rPr lang="en-US" sz="1200" b="1" dirty="0">
                          <a:solidFill>
                            <a:srgbClr val="212121"/>
                          </a:solidFill>
                          <a:latin typeface="Arial" pitchFamily="34" charset="0"/>
                          <a:ea typeface="Arial" pitchFamily="34" charset="-122"/>
                          <a:cs typeface="Arial" pitchFamily="34" charset="-120"/>
                        </a:rPr>
                        <a:t>Cascada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Una entrega al final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Costoso, hay que rediseñar</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Requisitos fijos, contratos cerrados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212121"/>
                          </a:solidFill>
                          <a:latin typeface="Arial" pitchFamily="34" charset="0"/>
                          <a:ea typeface="Arial" pitchFamily="34" charset="-122"/>
                          <a:cs typeface="Arial" pitchFamily="34" charset="-120"/>
                        </a:rPr>
                        <a:t>Modelo en V</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Una entrega, verificación formal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Costoso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Sectores regulados, seguridad crítica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212121"/>
                          </a:solidFill>
                          <a:latin typeface="Arial" pitchFamily="34" charset="0"/>
                          <a:ea typeface="Arial" pitchFamily="34" charset="-122"/>
                          <a:cs typeface="Arial" pitchFamily="34" charset="-120"/>
                        </a:rPr>
                        <a:t>Incremental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Entregas parciales funcionales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Moderado entre incrementos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Proyectos grandes divisibles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200" b="1" dirty="0">
                          <a:solidFill>
                            <a:srgbClr val="212121"/>
                          </a:solidFill>
                          <a:latin typeface="Arial" pitchFamily="34" charset="0"/>
                          <a:ea typeface="Arial" pitchFamily="34" charset="-122"/>
                          <a:cs typeface="Arial" pitchFamily="34" charset="-120"/>
                        </a:rPr>
                        <a:t>Iterativo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Versiones sucesivas mejoradas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Bien tolerado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Requisitos difusos que se clarifican con el uso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65760">
                <a:tc>
                  <a:txBody>
                    <a:bodyPr/>
                    <a:lstStyle/>
                    <a:p>
                      <a:pPr marL="0" indent="0">
                        <a:buNone/>
                      </a:pPr>
                      <a:r>
                        <a:rPr lang="en-US" sz="1200" b="1" dirty="0">
                          <a:solidFill>
                            <a:srgbClr val="212121"/>
                          </a:solidFill>
                          <a:latin typeface="Arial" pitchFamily="34" charset="0"/>
                          <a:ea typeface="Arial" pitchFamily="34" charset="-122"/>
                          <a:cs typeface="Arial" pitchFamily="34" charset="-120"/>
                        </a:rPr>
                        <a:t>Espiral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Ciclos con prototipos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Bien gestionado con experiencia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Alto riesgo técnico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200" b="1" dirty="0">
                          <a:solidFill>
                            <a:srgbClr val="212121"/>
                          </a:solidFill>
                          <a:latin typeface="Arial" pitchFamily="34" charset="0"/>
                          <a:ea typeface="Arial" pitchFamily="34" charset="-122"/>
                          <a:cs typeface="Arial" pitchFamily="34" charset="-120"/>
                        </a:rPr>
                        <a:t>Ágil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Entregas frecuentes (semanas)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Alta — su punto fuerte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Cliente que necesita feedback rápido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
        <p:nvSpPr>
          <p:cNvPr id="8" name="Text 4"/>
          <p:cNvSpPr/>
          <p:nvPr/>
        </p:nvSpPr>
        <p:spPr>
          <a:xfrm>
            <a:off x="548640" y="6594719"/>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4. Fases del desarrollo del software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2775</Words>
  <Application>Microsoft Office PowerPoint</Application>
  <PresentationFormat>Panorámica</PresentationFormat>
  <Paragraphs>361</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VENTURA EDO, AITOR</cp:lastModifiedBy>
  <cp:revision>3</cp:revision>
  <dcterms:created xsi:type="dcterms:W3CDTF">2026-06-13T00:03:29Z</dcterms:created>
  <dcterms:modified xsi:type="dcterms:W3CDTF">2026-06-14T19:14:45Z</dcterms:modified>
</cp:coreProperties>
</file>
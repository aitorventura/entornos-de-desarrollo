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67335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03F9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ENTORNOS DE DESARROLLO  —  TEMA 1: DESARROLLO DE SOFTWARE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554480"/>
            <a:ext cx="11091672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Código fuente, objeto y ejecutable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0" y="5120640"/>
            <a:ext cx="12188952" cy="914400"/>
          </a:xfrm>
          <a:prstGeom prst="rect">
            <a:avLst/>
          </a:prstGeom>
          <a:solidFill>
            <a:srgbClr val="009688"/>
          </a:solidFill>
          <a:ln w="1270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548640" y="5120640"/>
            <a:ext cx="110916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Modelos de traducción  ·  Compilación  ·  Máquinas virtuales  ·  Empaquetado  ·  Java desde consola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 Del código fuente al binario: los tres modelos de traducción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ordenador solo entiende ceros y unos. Los lenguajes que usamos (C, Java, Python…) son legibles para personas, pero la CPU no los entiende: hace falta traducción. Según el lenguaje, hay tres caminos:</a:t>
            </a:r>
            <a:endParaRPr lang="en-US" sz="1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91671" cy="4937760"/>
        </p:xfrm>
        <a:graphic>
          <a:graphicData uri="http://schemas.openxmlformats.org/drawingml/2006/table">
            <a:tbl>
              <a:tblPr/>
              <a:tblGrid>
                <a:gridCol w="14419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585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384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28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2344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Modelo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Cómo funciona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Flujo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Ejemplos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344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Compilado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 compilador traduce TODO el programa de una vez antes de ejecutarlo. El resultado es un ejecutable independiente con instrucciones binarias para la CPU.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Fuente (.c) → Compilador → Código objeto (.o) → Enlazador → Ejecutable (.exe, ELF)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C, C++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344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Interpretado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Sin compilación previa: el intérprete lee el código fuente LÍNEA A LÍNEA al ejecutarlo, traduciendo y ejecutando sobre la marcha.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Fuente (.py, .js) → Intérprete → Ejecución directa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Python, JavaScript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344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Híbrido con VM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Compila primero a BYTECODE (código intermedio). Una máquina virtual (JVM / CLR) lo ejecuta, con un compilador JIT que convierte a código máquina las partes más usadas.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Fuente → Compilador → Bytecode (.class / CIL) → VM + JIT → Ejecución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Java, C#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669280"/>
            <a:ext cx="11091672" cy="77724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4"/>
          <p:cNvSpPr/>
          <p:nvPr/>
        </p:nvSpPr>
        <p:spPr>
          <a:xfrm>
            <a:off x="777240" y="5715000"/>
            <a:ext cx="106344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Analogía del libro: compilado = traductor que traduce todo el libro antes de publicarlo · interpretado = intérprete simultáneo frase a frase · JIT = intérprete que memoriza las frases que más se repiten.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Código fuente, objeto y ejecutable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 El proceso compilado en detalle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1889150" cy="91440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F51B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594360" y="1051560"/>
            <a:ext cx="179771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Código fuente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(.c / .cpp)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392070" y="1005840"/>
            <a:ext cx="502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F5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849270" y="1005840"/>
            <a:ext cx="1889150" cy="91440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F51B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2894990" y="1051560"/>
            <a:ext cx="179771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Compilador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Ensamblador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692701" y="1005840"/>
            <a:ext cx="502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F5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149901" y="1005840"/>
            <a:ext cx="1889150" cy="91440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F51B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5195621" y="1051560"/>
            <a:ext cx="179771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Código objeto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(.o / .obj)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993331" y="1005840"/>
            <a:ext cx="502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F5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7450531" y="1005840"/>
            <a:ext cx="1889150" cy="91440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F51B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7496251" y="1051560"/>
            <a:ext cx="179771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Enlazador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(+ librerías)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293962" y="1005840"/>
            <a:ext cx="502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F5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9751162" y="1005840"/>
            <a:ext cx="1889150" cy="91440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F51B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9796882" y="1051560"/>
            <a:ext cx="179771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Ejecutable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(.exe / ELF / Mach-O)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2194560"/>
            <a:ext cx="11091672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Compilación: traduce el fuente a código objeto. Contiene binario, pero incompleto: sabe que llamará a printf, pero no en qué dirección de memoria estará. Esas referencias quedan pendientes.</a:t>
            </a:r>
            <a:endParaRPr lang="en-US" sz="14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Ensamblado: convierte las instrucciones al formato exacto de la CPU. En la práctica va integrado en el compilador, en un solo paso.</a:t>
            </a:r>
            <a:endParaRPr lang="en-US" sz="14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Enlazado: el linker une todos los archivos objeto y las librerías (bloques de código ya compilado que el programa reutiliza, como las funciones matemáticas o de E/S), resuelve las referencias pendientes y produce el ejecutable final.</a:t>
            </a:r>
            <a:endParaRPr lang="en-US" sz="14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formato del ejecutable depende del SO: .exe en Windows, ELF en Linux, Mach-O en macOS. Por eso un .exe de Windows no funciona directamente en Linux.</a:t>
            </a:r>
            <a:endParaRPr lang="en-US" sz="14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8287160"/>
              </p:ext>
            </p:extLst>
          </p:nvPr>
        </p:nvGraphicFramePr>
        <p:xfrm>
          <a:off x="548640" y="4089780"/>
          <a:ext cx="11091673" cy="1508760"/>
        </p:xfrm>
        <a:graphic>
          <a:graphicData uri="http://schemas.openxmlformats.org/drawingml/2006/table">
            <a:tbl>
              <a:tblPr/>
              <a:tblGrid>
                <a:gridCol w="13310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366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401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838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Enlazado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Qué incluye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Ventaja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Inconveniente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Estático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Todo el código de las librerías dentro del ejecutable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Funciona solo, sin dependencias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Más grande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Dinámico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Referencias a librerías externas (.dll en Windows, .so en Linux)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Más ligero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Falla si la librería no está instalada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0" name="Shape 17"/>
          <p:cNvSpPr/>
          <p:nvPr/>
        </p:nvSpPr>
        <p:spPr>
          <a:xfrm>
            <a:off x="548640" y="5715000"/>
            <a:ext cx="11091672" cy="73152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8"/>
          <p:cNvSpPr/>
          <p:nvPr/>
        </p:nvSpPr>
        <p:spPr>
          <a:xfrm>
            <a:off x="777240" y="5760720"/>
            <a:ext cx="106344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clásico error de las DLL: "no se encontró MSVCP140.dll" — el equipo destino no tiene la versión correcta de una librería dinámica. Por eso los instaladores incluyen redistribuibles de Visual C++.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Código fuente, objeto y ejecutable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 Comparativa y cuándo elegir cada modelo</a:t>
            </a:r>
            <a:endParaRPr lang="en-US" sz="2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5416030"/>
              </p:ext>
            </p:extLst>
          </p:nvPr>
        </p:nvGraphicFramePr>
        <p:xfrm>
          <a:off x="548640" y="1051560"/>
          <a:ext cx="11091672" cy="2584474"/>
        </p:xfrm>
        <a:graphic>
          <a:graphicData uri="http://schemas.openxmlformats.org/drawingml/2006/table">
            <a:tbl>
              <a:tblPr/>
              <a:tblGrid>
                <a:gridCol w="12200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729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8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838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1658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2707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Tipo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Cómo funciona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Ejemplo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Ventajas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Inconvenientes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Compilado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Todo a código máquina antes de ejecutar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C, C++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Muy rápido; el compilador optimiza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Recompilar tras cada cambio; el binario solo vale para un sistema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Interpretado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Ejecuta línea a línea en tiempo real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Python, JS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Flexible; multiplataforma; desarrollo rápido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Más lento; necesita el intérprete instalado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JIT (VM)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Bytecode + VM que traduce en ejecución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Java, C#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Portabilidad + buen rendimiento; se adapta a cada máquina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Necesita la VM; arranque algo más lento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0856735"/>
              </p:ext>
            </p:extLst>
          </p:nvPr>
        </p:nvGraphicFramePr>
        <p:xfrm>
          <a:off x="548640" y="3986268"/>
          <a:ext cx="11091672" cy="2324819"/>
        </p:xfrm>
        <a:graphic>
          <a:graphicData uri="http://schemas.openxmlformats.org/drawingml/2006/table">
            <a:tbl>
              <a:tblPr/>
              <a:tblGrid>
                <a:gridCol w="15528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165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56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165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457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Compilado (C/C++)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Interpretado (Python/JS)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JIT (Java/C#)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Elige cuando…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 rendimiento es crítico y el sistema destino es fijo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Necesitas desarrollar y cambiar rápido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Necesitas portabilidad y buen rendimiento a la vez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Casos típicos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Videojuegos, SO, drivers, firmware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Scripts, web, prototipos, ciencia de datos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Apps empresariales, Android, backend con carga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Punto fuerte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Velocidad de ejecución máxima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Ciclo editar-probar sin recompilar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Funciona en cualquier sistema con la VM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Código fuente, objeto y ejecutable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 Máquinas virtuales y portabilidad del bytecode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 compilar Java no obtienes un ejecutable para Windows o Linux: obtienes BYTECODE, un formato intermedio que cualquier sistema ejecuta si tiene instalada la JVM.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91672" cy="73152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777240" y="1645920"/>
            <a:ext cx="106344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Analogía: un PDF. No importa dónde lo creaste — cualquier ordenador con un lector de PDF lo abre. El PDF es un formato intermedio universal; el bytecode de Java funciona igual.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514600"/>
            <a:ext cx="2464308" cy="91440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F51B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594360" y="2560320"/>
            <a:ext cx="237286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Código fuente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(.java)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967228" y="2514600"/>
            <a:ext cx="502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F5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424428" y="2514600"/>
            <a:ext cx="2464308" cy="91440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F51B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3470148" y="2560320"/>
            <a:ext cx="237286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javac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(compilador)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843016" y="2514600"/>
            <a:ext cx="502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F5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300216" y="2514600"/>
            <a:ext cx="2464308" cy="91440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F51B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6345936" y="2560320"/>
            <a:ext cx="237286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Bytecode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(.class)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718804" y="2514600"/>
            <a:ext cx="502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F5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9176004" y="2514600"/>
            <a:ext cx="2464308" cy="91440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F51B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9221724" y="2560320"/>
            <a:ext cx="237286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JVM en Windows /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Linux / macOS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3560124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mismo .class funciona en los tres sistemas: "Write Once, Run Anywhere" (WORA), la promesa de Java.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48640" y="3987995"/>
            <a:ext cx="11091672" cy="438912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731520" y="3987995"/>
            <a:ext cx="10725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¿Cómo funciona el JIT?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548640" y="4536635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JVM empieza interpretando el bytecode instrucción a instrucción. Si detecta que una parte se ejecuta muchas veces (un bucle muy repetido), la compila a código máquina nativo: las próximas veces va a velocidad de binario nativo.</a:t>
            </a:r>
            <a:endParaRPr lang="en-US" sz="15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2594307"/>
              </p:ext>
            </p:extLst>
          </p:nvPr>
        </p:nvGraphicFramePr>
        <p:xfrm>
          <a:off x="548640" y="5109428"/>
          <a:ext cx="11091672" cy="1365504"/>
        </p:xfrm>
        <a:graphic>
          <a:graphicData uri="http://schemas.openxmlformats.org/drawingml/2006/table">
            <a:tbl>
              <a:tblPr/>
              <a:tblGrid>
                <a:gridCol w="16637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279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Ecosistema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Compilador → intermedio → ejecutor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Java / JVM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javac genera .class con bytecode → la JVM lo ejecuta y el JIT optimiza las partes críticas (descarga: adoptium.net)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C# / CLR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 compilador de C# genera CIL (Common Intermediate Language) → la CLR de .NET lo ejecuta con JIT; .NET moderno es multiplataforma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3" name="Text 20"/>
          <p:cNvSpPr/>
          <p:nvPr/>
        </p:nvSpPr>
        <p:spPr>
          <a:xfrm>
            <a:off x="548640" y="6525716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Código fuente, objeto y ejecutable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AOT y 2.5 Empaquetado y distribución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11091672" cy="82296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777240" y="1005840"/>
            <a:ext cx="106344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AOT (Ahead-of-Time) — el camino contrario al JIT: compila todo ANTES de ejecutar y genera un binario nativo. Se pierde portabilidad pero se gana arranque rápido y no se necesita la VM. Herramientas: GraalVM (Java), NativeAOT (.NET).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11091672" cy="438912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731520" y="1965960"/>
            <a:ext cx="10725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llega el programa al usuario</a:t>
            </a:r>
            <a:endParaRPr lang="en-US" sz="17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8259894"/>
              </p:ext>
            </p:extLst>
          </p:nvPr>
        </p:nvGraphicFramePr>
        <p:xfrm>
          <a:off x="548640" y="2514600"/>
          <a:ext cx="11091672" cy="3119312"/>
        </p:xfrm>
        <a:graphic>
          <a:graphicData uri="http://schemas.openxmlformats.org/drawingml/2006/table">
            <a:tbl>
              <a:tblPr/>
              <a:tblGrid>
                <a:gridCol w="13310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711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729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165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32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Método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Qué incluye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Cuándo usarlo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Ejemplos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Instalador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Solo el programa (las librerías pueden descargarse durante la instalación)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Apps de escritorio tradicionales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.exe / .msi (Windows), .deb (Ubuntu), .rpm (Fedora)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Bundle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Programa + todas las dependencias en un paquete portable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Apps multiplataforma sin instalación de librerías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Electron (VS Code, Discord): incluye Chrome y Node.js dentro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Contenedor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Programa + dependencias + entorno completo (SO, variables, red)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Servicios web, despliegues en la nube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Docker: igual en el portátil, en pruebas y en producción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48640" y="5728800"/>
            <a:ext cx="11091672" cy="56848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7"/>
          <p:cNvSpPr/>
          <p:nvPr/>
        </p:nvSpPr>
        <p:spPr>
          <a:xfrm>
            <a:off x="777240" y="5609754"/>
            <a:ext cx="106344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Ejemplos concretos: videojuego de PC → instalador .exe que descarga DirectX si falta · app Android → archivo .apk (Android Package) con bytecode + recursos · servicio web → contenedor Docker que el servidor arranca en segundos.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Código fuente, objeto y ejecutable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2.6 Compilar y ejecutar Java desde consola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 pasos obligatorios y separados — no puedes saltarte ninguno: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1889150" cy="91440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F51B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594360" y="1508760"/>
            <a:ext cx="179771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Hola.java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(tú lo escribes)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392070" y="1463040"/>
            <a:ext cx="502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F5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849270" y="1463040"/>
            <a:ext cx="1889150" cy="91440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F51B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2894990" y="1508760"/>
            <a:ext cx="179771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javac Hola.java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(compilar)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692701" y="1463040"/>
            <a:ext cx="502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F5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149901" y="1463040"/>
            <a:ext cx="1889150" cy="91440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F51B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5195621" y="1508760"/>
            <a:ext cx="179771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Hola.class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(bytecode generado)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993331" y="1463040"/>
            <a:ext cx="502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F5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7450531" y="1463040"/>
            <a:ext cx="1889150" cy="91440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F51B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7496251" y="1508760"/>
            <a:ext cx="179771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 Hola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(ejecutar en la JVM)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293962" y="1463040"/>
            <a:ext cx="502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F5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9751162" y="1463040"/>
            <a:ext cx="1889150" cy="91440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F51B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9796882" y="1508760"/>
            <a:ext cx="179771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Salida en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pantalla</a:t>
            </a:r>
            <a:endParaRPr lang="en-US" sz="13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850071"/>
              </p:ext>
            </p:extLst>
          </p:nvPr>
        </p:nvGraphicFramePr>
        <p:xfrm>
          <a:off x="548640" y="2537032"/>
          <a:ext cx="11091672" cy="1700784"/>
        </p:xfrm>
        <a:graphic>
          <a:graphicData uri="http://schemas.openxmlformats.org/drawingml/2006/table">
            <a:tbl>
              <a:tblPr/>
              <a:tblGrid>
                <a:gridCol w="19965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930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021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Comando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Qué hace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Detalle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javac Hola.java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Compila: comprueba la sintaxis y genera el bytecode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 todo va bien no imprime nada; aparece Hola.class junto al .java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java Hola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Ejecuta: arranca la JVM con esa clase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 escribe el NOMBRE DE LA CLASE, sin extensión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0" name="Shape 17"/>
          <p:cNvSpPr/>
          <p:nvPr/>
        </p:nvSpPr>
        <p:spPr>
          <a:xfrm>
            <a:off x="548640" y="4353749"/>
            <a:ext cx="11091672" cy="68580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8"/>
          <p:cNvSpPr/>
          <p:nvPr/>
        </p:nvSpPr>
        <p:spPr>
          <a:xfrm>
            <a:off x="777240" y="4399469"/>
            <a:ext cx="106344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1 — el nombre del archivo debe coincidir con la clase: public class Hola → el archivo TIENE que llamarse Hola.java (mayúsculas incluidas), o javac da error.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548640" y="5176709"/>
            <a:ext cx="11091672" cy="73152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20"/>
          <p:cNvSpPr/>
          <p:nvPr/>
        </p:nvSpPr>
        <p:spPr>
          <a:xfrm>
            <a:off x="777240" y="5222429"/>
            <a:ext cx="106344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2 — no escribas java Hola.class: java espera el nombre de la clase; con la extensión buscará una clase llamada literalmente "Hola.class" y fallará (Could not find or load main class).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548640" y="5950496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Paquetes: en proyectos reales las clases se agrupan en paquetes, que son carpetas. Un paquete org.entornos equivale a la ruta org/entornos/, y Java exige que la estructura de carpetas coincida exactamente con la declaración package del archivo.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548640" y="6499830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Código fuente, objeto y ejecutable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1450</Words>
  <Application>Microsoft Office PowerPoint</Application>
  <PresentationFormat>Panorámica</PresentationFormat>
  <Paragraphs>174</Paragraphs>
  <Slides>7</Slides>
  <Notes>7</Notes>
  <HiddenSlides>0</HiddenSlides>
  <MMClips>0</MMClips>
  <ScaleCrop>false</ScaleCrop>
  <HeadingPairs>
    <vt:vector size="6" baseType="variant">
      <vt:variant>
        <vt:lpstr>Fuentes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9" baseType="lpstr"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Entornos de Desarrollo</dc:creator>
  <cp:lastModifiedBy>VENTURA EDO, AITOR</cp:lastModifiedBy>
  <cp:revision>2</cp:revision>
  <dcterms:created xsi:type="dcterms:W3CDTF">2026-06-13T00:03:29Z</dcterms:created>
  <dcterms:modified xsi:type="dcterms:W3CDTF">2026-06-13T07:34:51Z</dcterms:modified>
</cp:coreProperties>
</file>
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3: VERIFICACIÓN Y PRUEBAS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y corregir errores en tiempo de ejecución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depurar?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10058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Depurar consiste en ejecutar el programa de forma controlada, deteniéndolo donde tú decides, para observar y modificar su estado mientras está en marcha. La herramienta que lo hace posible es el depurador (debugger), integrado en IntelliJ.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31536" cy="43891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5065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Sin depurador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4315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System.out.println por todo el código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Recompilar y ejecutar cada vez que se añade un print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saber exactamente dónde está el error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de depuración queda mezclado con el real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08776" y="2103120"/>
            <a:ext cx="5431536" cy="43891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2103120"/>
            <a:ext cx="5065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Con el depurador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08776" y="2606040"/>
            <a:ext cx="54315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se detiene en el punto exacto que eliges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 el valor de todas las variables en ese instante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Avanzas línea a línea para seguir la ejecución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modificar variables en caliente sin recompilar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que solo se ve en ejecución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con error de lógica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91672" cy="1737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73152" cy="1737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08760"/>
            <a:ext cx="106801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numbers = {1, 2, 3, 4, 5};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0;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&lt;= numbers.length; i++) {  // ← ERROR: &lt;= en vez de &lt;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numbers[i];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System.out.println("Suma: " + sum);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1927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Excepción en ejecución (el programa compila sin error)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67912"/>
            <a:ext cx="73152" cy="7772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59352"/>
            <a:ext cx="106801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in thread "main" java.lang.ArrayIndexOutOfBoundsException: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 5 out of bounds for length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 Main.main(Main.java:5)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09744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82896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array solo tiene índices del 0 al 4. La condición i &lt;= numbers.length permite que i llegue a 5. Con el depurador, paras en el bucle y ves que i vale 5 antes del fallo. Solución: cambiar &lt;= por &lt;.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el depurador en IntelliJ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tres formas equivalentes de lanzar el depurador en IntelliJ: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544202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90472"/>
            <a:ext cx="42698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 Clic en el margen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42698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gris junto al número de línea → Debug 'Main'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4544202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52344"/>
            <a:ext cx="42698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Menú Run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136392"/>
            <a:ext cx="42698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→ Debug 'Main'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544202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14216"/>
            <a:ext cx="42698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Shift + F9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398264"/>
            <a:ext cx="42698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Atajo de teclado directo</a:t>
            </a:r>
            <a:endParaRPr lang="en-US" sz="1300" dirty="0"/>
          </a:p>
        </p:txBody>
      </p:sp>
      <p:pic>
        <p:nvPicPr>
          <p:cNvPr id="15" name="Image 0" descr="C:/Users/Aitor/Documents/apuntes-profe/entornos-de-desarrollo/docs/tema3/img/debug-iniciar-menu-contex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757" y="1417320"/>
            <a:ext cx="5322240" cy="362102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5312664"/>
            <a:ext cx="11091672" cy="8686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5385816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Sin breakpoints no pasa nada distinto: el programa se ejecuta de principio a fin igual que con Run normal. Para que la depuración tenga sentido, hace falta marcar al menos un punto donde el programa se pare.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interrupción (Breakpoints)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breakpoint es una marca en una línea de código que le dice al depurador: deten aqui la ejecucion. Cuando el programa llega a esa línea durante la depuración, se para y puedes inspeccionarlo.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añadir y quitar un breakpoint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43153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clic en el margen izquierdo, junto al número de línea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una bola roja y la línea se resalta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Atajo: Ctrl + F8  (también añade y elimina)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quitarlo: clic de nuevo sobre la bola roja</a:t>
            </a:r>
            <a:endParaRPr lang="en-US" sz="1500" dirty="0"/>
          </a:p>
        </p:txBody>
      </p:sp>
      <p:pic>
        <p:nvPicPr>
          <p:cNvPr id="10" name="Image 0" descr="C:/Users/Aitor/Documents/apuntes-profe/entornos-de-desarrollo/docs/tema3/img/debug-breakpoint-anad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776" y="2286000"/>
            <a:ext cx="5431536" cy="352079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989679"/>
            <a:ext cx="11091672" cy="4572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062831"/>
            <a:ext cx="10634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Los breakpoints se guardan entre sesiones. Si cierras IntelliJ y lo abres de nuevo, los breakpoints que tenías siguen ahí.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breakpoints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distingue varios tipos de breakpoints según qué hace que se active la parada: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214835"/>
                <a:gridCol w="4436669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activa cuando…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línea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ejecución llega a la línea de código marcada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más habitual. Punto de partida en cualquier depuración.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programa entra o sale de un método concreto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comprobar condiciones de entrada/salida sin buscar la línea exacta.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Watchpoint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lee o modifica un atributo de instancia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Detectar qué parte del código está cambiando una variable de objeto sin que lo esperes.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excepción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lanza una excepción concreta en cualquier punto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Encontrar el origen real de una excepción inesperada. Se configura desde Ctrl+Shift+F8.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breakpoints — Capturas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431536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5248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método</a:t>
            </a:r>
            <a:endParaRPr lang="en-US" sz="1400" dirty="0"/>
          </a:p>
        </p:txBody>
      </p:sp>
      <p:pic>
        <p:nvPicPr>
          <p:cNvPr id="7" name="Image 0" descr="C:/Users/Aitor/Documents/apuntes-profe/entornos-de-desarrollo/docs/tema3/img/debug-breakpoint-met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31536" cy="24478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755422"/>
            <a:ext cx="54315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firma del método. Permite elegir si se activa al entrar, al salir o en ambos.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868680"/>
            <a:ext cx="5431536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0216" y="868680"/>
            <a:ext cx="5248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Watchpoint</a:t>
            </a:r>
            <a:endParaRPr lang="en-US" sz="1400" dirty="0"/>
          </a:p>
        </p:txBody>
      </p:sp>
      <p:pic>
        <p:nvPicPr>
          <p:cNvPr id="11" name="Image 1" descr="C:/Users/Aitor/Documents/apuntes-profe/entornos-de-desarrollo/docs/tema3/img/debug-breakpoint-cam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234440"/>
            <a:ext cx="5431536" cy="12384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08776" y="2518601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declaración de un atributo. Se activa cuando se lee o escribe ese campo.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08776" y="3204401"/>
            <a:ext cx="5431536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0216" y="3204401"/>
            <a:ext cx="5248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excepción</a:t>
            </a:r>
            <a:endParaRPr lang="en-US" sz="1400" dirty="0"/>
          </a:p>
        </p:txBody>
      </p:sp>
      <p:pic>
        <p:nvPicPr>
          <p:cNvPr id="15" name="Image 2" descr="C:/Users/Aitor/Documents/apuntes-profe/entornos-de-desarrollo/docs/tema3/img/debug-breakpoint-excepc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3570161"/>
            <a:ext cx="5431536" cy="18105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08776" y="5426393"/>
            <a:ext cx="54315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View Breakpoints. Se activa al lanzarse la excepción, antes de que el catch la capture.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 avanzadas de breakpoints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View Breakpoints (Ctrl + Shift + F8) cada breakpoint admite configuraciones adicionales en lugar de limitarse a «parar siempre aquí»: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986120" cy="914400"/>
        </p:xfrm>
        <a:graphic>
          <a:graphicData uri="http://schemas.openxmlformats.org/drawingml/2006/table">
            <a:tbl>
              <a:tblPr/>
              <a:tblGrid>
                <a:gridCol w="2155003"/>
                <a:gridCol w="3831117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se activa si una expresión se cumple (ej. i == 2). Evita parar en cada iteración.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and 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vez de detener el programa, escribe un mensaje en consola.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once hit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breakpoint se borra tras activarse una vez.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 until hitting…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Permanece inactivo hasta que se alcanza otro breakpoint indicado.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Instance filters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se activa para una instancia concreta del objeto.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filters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Restringe la activación a una clase concreta.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activa solo tras alcanzarse un número de veces determinado.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Caller filters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si el código fue invocado desde un método concreto.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C:/Users/Aitor/Documents/apuntes-profe/entornos-de-desarrollo/docs/tema3/img/debug-view-break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3360" y="1417320"/>
            <a:ext cx="4876952" cy="32548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 avanzadas — Condition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Condition: detenerse solo cuando i == 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00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la casilla Condition sobre el breakpoint y escribe i == 2. El programa solo se detiene en la iteración donde i vale exactamente 2, ignorando el resto.</a:t>
            </a:r>
            <a:endParaRPr lang="en-US" sz="1400" dirty="0"/>
          </a:p>
        </p:txBody>
      </p:sp>
      <p:pic>
        <p:nvPicPr>
          <p:cNvPr id="8" name="Image 0" descr="C:/Users/Aitor/Documents/apuntes-profe/entornos-de-desarrollo/docs/tema3/img/debug-cond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7775" y="1417320"/>
            <a:ext cx="6762537" cy="20994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791086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864238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Las opciones Remove once hit, Pass count y Caller filters funcionan de forma similar: cada una añade una condición diferente para que el breakpoint solo se active en circunstancias concretas.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Configuraciones avanzadas — Evaluate and 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and log: registrar sin detener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 Evaluate and log con el mensaje "El valor actual de i es: " + i y desmarca Suspend. El programa no se detiene: la consola muestra el valor de i en cada vuelta del bucle.</a:t>
            </a:r>
            <a:endParaRPr lang="en-US" sz="1500" dirty="0"/>
          </a:p>
        </p:txBody>
      </p:sp>
      <p:pic>
        <p:nvPicPr>
          <p:cNvPr id="8" name="Image 0" descr="C:/Users/Aitor/Documents/apuntes-profe/entornos-de-desarrollo/docs/tema3/img/debug-evaluate-and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5431536" cy="2265245"/>
          </a:xfrm>
          <a:prstGeom prst="rect">
            <a:avLst/>
          </a:prstGeom>
        </p:spPr>
      </p:pic>
      <p:pic>
        <p:nvPicPr>
          <p:cNvPr id="9" name="Image 1" descr="C:/Users/Aitor/Documents/apuntes-profe/entornos-de-desarrollo/docs/tema3/img/debug-evaluate-and-log-conso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057400"/>
            <a:ext cx="5431536" cy="24447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730793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4803945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consola muestra el valor de i en cada iteración hasta que el programa lanza la excepción al salirse del array. El programa nunca se detuvo: solo registró lo que pasó.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Inspeccionar el programa en marcha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 Variables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54420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valor de todas las variables en el instante de la parada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actualiza automáticamente en cada paso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i (índice), numbers[i] (valor), sum (acumulado)</a:t>
            </a:r>
            <a:endParaRPr lang="en-US" sz="1500" dirty="0"/>
          </a:p>
        </p:txBody>
      </p:sp>
      <p:pic>
        <p:nvPicPr>
          <p:cNvPr id="8" name="Image 0" descr="C:/Users/Aitor/Documents/apuntes-profe/entornos-de-desarrollo/docs/tema3/img/debug-vista-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442" y="1417320"/>
            <a:ext cx="6318870" cy="370185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347771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420923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expandir objetos y arrays directamente en la pestaña Variables para ver sus elementos internos sin necesidad de añadir prints al código.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 y vigilar variables en caliente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Value y Watches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43153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Value: clic derecho → Set Value → nuevo valor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 variable sin recompilar; el programa sigue con el nuevo valor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Watches: + New Watch → expresión como sum + numbers[i]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recalcula automáticamente en cada parada</a:t>
            </a:r>
            <a:endParaRPr lang="en-US" sz="1400" dirty="0"/>
          </a:p>
        </p:txBody>
      </p:sp>
      <p:pic>
        <p:nvPicPr>
          <p:cNvPr id="8" name="Image 0" descr="C:/Users/Aitor/Documents/apuntes-profe/entornos-de-desarrollo/docs/tema3/img/debug-set-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776" y="1417320"/>
            <a:ext cx="5431536" cy="22973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897501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970653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depurador no es solo de lectura. Puedes cambiar variables para probar escenarios distintos sin recompilar, y ver de inmediato cómo afecta ese cambio al resultado.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Avanzar paso a paso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detenido en un breakpoint, estos son los controles para recorrer el programa: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483864" cy="13716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3483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 a la siguiente línea sin entrar en los métodos que se llamen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2544" y="1463040"/>
            <a:ext cx="3483864" cy="13716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572768"/>
            <a:ext cx="3483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43984" y="2029968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43984" y="233172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dentro del método llamado en esa línea para depurarlo también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6448" y="1463040"/>
            <a:ext cx="3483864" cy="13716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1572768"/>
            <a:ext cx="3483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⇧F8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47888" y="2029968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233172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del método actual y vuelve al punto desde donde se le llamó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5385816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72968"/>
            <a:ext cx="5385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630168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Program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5202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Reanuda la ejecución hasta el siguiente breakpoint (o hasta el final)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54496" y="3063240"/>
            <a:ext cx="5385816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3172968"/>
            <a:ext cx="5385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Alt+F8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45936" y="3630168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Expression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45936" y="3931920"/>
            <a:ext cx="5202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cualquier expresión en el contexto actual o reasigna una variable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pila de llamadas (Call Stack)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pestaña Frames de la ventana Debug muestra la pila de llamadas: la secuencia de métodos que se han ido llamando unos a otros hasta llegar al punto donde está detenido el programa.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986120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571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 Frames — IntelliJ</a:t>
            </a:r>
            <a:endParaRPr lang="en-US" sz="1400" dirty="0"/>
          </a:p>
        </p:txBody>
      </p:sp>
      <p:pic>
        <p:nvPicPr>
          <p:cNvPr id="9" name="Image 0" descr="C:/Users/Aitor/Documents/apuntes-profe/entornos-de-desarrollo/docs/tema3/img/debug-pila-llama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5986120" cy="19882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63360" y="2057400"/>
            <a:ext cx="487695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0520" y="2057400"/>
            <a:ext cx="4602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usarla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63360" y="2560320"/>
            <a:ext cx="48769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entrada más alta es el método donde estás parado ahora mismo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Debajo aparece quien lo llamó, y así sucesivamente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clic en cualquier línea de la pila para ir directamente a ese punto del código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Especialmente útil cuando un mismo método se llama desde varios sitios y necesitas saber por cuál has llegado esta vez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 Breakpoints — desactivar todos a la vez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Depuración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10058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tienes varios breakpoints colocados pero quieres ejecutar el programa sin que ninguno te interrumpa —sin necesidad de borrarlos uno a uno—, el botón Mute Breakpoints de la ventana Debug los desactiva todos temporalmente.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65336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encuentra en la barra de herramientas de la ventana Debug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pulsarlo, todos los breakpoints se vuelven grises (inactivos) pero no se borran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volver a pulsarlo, se reactivan exactamente como estaban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 quieres ejecutar el programa de principio a fin sin paradas intermedias</a:t>
            </a:r>
            <a:endParaRPr lang="en-US" sz="1500" dirty="0"/>
          </a:p>
        </p:txBody>
      </p:sp>
      <p:pic>
        <p:nvPicPr>
          <p:cNvPr id="8" name="Image 0" descr="C:/Users/Aitor/Documents/apuntes-profe/entornos-de-desarrollo/docs/tema3/img/debug-mute-break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609" y="2103120"/>
            <a:ext cx="5209703" cy="23235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655296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728448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Alternativa: desde Run → View Breakpoints (Ctrl+Shift+F8) puedes activar y desactivar breakpoints individuales sin eliminarlos, usando la casilla de verificación de cada uno.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2026-06-23T11:19:21Z</dcterms:created>
  <dcterms:modified xsi:type="dcterms:W3CDTF">2026-06-23T11:19:21Z</dcterms:modified>
</cp:coreProperties>
</file>
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3: VERIFICACIÓN Y PRUEBAS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diseño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casos de prueba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Verificación y Pruebas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se puede probar «todo»?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todas las combinaciones posibles de entrada es imposible. Cuanto más crece el software, más astronómico se vuelve el número de casos.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83864" cy="10515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33924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números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 99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casos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14216" y="1783080"/>
            <a:ext cx="3931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52544" y="1783080"/>
            <a:ext cx="3483864" cy="10515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828800"/>
            <a:ext cx="33924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campos de texto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millones de casos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18120" y="1783080"/>
            <a:ext cx="3931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56448" y="1783080"/>
            <a:ext cx="3483864" cy="10515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828800"/>
            <a:ext cx="33924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real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variables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 cubrir todo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es elegir un conjunto representativo: casos que maximizan la detección de errores con el menor número de pruebas posible.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653369" cy="23317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86200"/>
            <a:ext cx="52876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blanca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528760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 el código por dentro.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rutas lógicas, condiciones y bucles.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010912"/>
            <a:ext cx="52876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negra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52876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mira entradas y salidas.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según la especificación.</a:t>
            </a:r>
            <a:endParaRPr lang="en-US" sz="1300" dirty="0"/>
          </a:p>
        </p:txBody>
      </p:sp>
      <p:pic>
        <p:nvPicPr>
          <p:cNvPr id="21" name="Image 0" descr="C:/Users/Aitor/Documents/apuntes-profe/entornos-de-desarrollo/docs/tema3/img/casos-caja-blanca-neg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973" y="3771900"/>
            <a:ext cx="246697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caja blanca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pruebas de caja blanca se centran en la estructura interna del programa: sus rutas lógicas, condiciones y bucles. El probador tiene acceso al código fuente y lo examina directamente.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se analiza?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478024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 ejecución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caminos puede tomar el programa según las condiciones del código.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y decisiones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todas las ramas de un if o un switch se evalúan correctamente.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Bucles</a:t>
            </a:r>
            <a:endParaRPr lang="en-US" sz="15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ejecutan el número de veces esperado, y qué pasa si no se ejecutan ninguna.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caja blanca — cobertura y valoración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del código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qué porcentaje del programa se ha ejercitado realmente: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56232"/>
          <a:ext cx="11091672" cy="914400"/>
        </p:xfrm>
        <a:graphic>
          <a:graphicData uri="http://schemas.openxmlformats.org/drawingml/2006/table">
            <a:tbl>
              <a:tblPr/>
              <a:tblGrid>
                <a:gridCol w="3882085"/>
                <a:gridCol w="7209587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sentencias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¿Se ejecutó cada línea al menos una vez?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condiciones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¿Se evaluaron todos los valores posibles de cada condición?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rutas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¿Se probaron todas las combinaciones de caminos posibles?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20624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2062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e inconvenientes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8640" y="4809744"/>
            <a:ext cx="5431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favor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08776" y="4809744"/>
            <a:ext cx="5431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contra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221224"/>
            <a:ext cx="54315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errores de lógica interna que la caja negra pasaría por alto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código innecesario o redundante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08776" y="5221224"/>
            <a:ext cx="54315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conocer el código a fondo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más tiempo que la caja negra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sistemas grandes, cubrir todas las rutas puede ser impracticable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técnica del camino básico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sistemática de aplicar la caja blanca: identifica todas las rutas independientes de un programa para garantizar que se cubre toda su lógica interna.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58191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92808"/>
            <a:ext cx="1490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Analizar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12264" y="1847088"/>
            <a:ext cx="393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0592" y="1847088"/>
            <a:ext cx="158191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892808"/>
            <a:ext cx="1490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Diagrama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flujo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14216" y="1847088"/>
            <a:ext cx="393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52544" y="1847088"/>
            <a:ext cx="158191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892808"/>
            <a:ext cx="1490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Complejidad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ciclomática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16168" y="1847088"/>
            <a:ext cx="393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54496" y="1847088"/>
            <a:ext cx="158191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892808"/>
            <a:ext cx="1490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Caminos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1847088"/>
            <a:ext cx="393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56448" y="1847088"/>
            <a:ext cx="158191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892808"/>
            <a:ext cx="1490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Diseñar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20072" y="1847088"/>
            <a:ext cx="393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58400" y="1847088"/>
            <a:ext cx="1581912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1892808"/>
            <a:ext cx="1490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Ejecutar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validar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18688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1868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ciclomática  —  M = E - N + 2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384048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número de aristas          N = número de nodos          M = número de caminos independientes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407408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49884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es el número mínimo de casos de prueba necesarios para cubrir toda la lógica del método.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523036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— calcularTotalConDescuento:  7 nodos, 8 aristas  →  M = 8 - 7 + 2 = 3  →  3 casos de prueba mínimos.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técnica del camino básico — los 6 pasos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658502"/>
                <a:gridCol w="3993002"/>
              </a:tblGrid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hace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produce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Analizar el código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Leer el código e identificar todas las estructuras de control: if, for, while, switch...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puntos de decisión y bifurcaciones del método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Diagrama de flujo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Asignar un nodo a cada punto relevante y dibujar las aristas que los conectan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 de flujo de control con nodos etiquetados y aristas dirigidas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Complejidad ciclomática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Contar nodos y aristas del grafo y aplicar  M = E - N + 2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M: indica cuántos caminos independientes existen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Caminos independientes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Listar los M caminos que recorren el grafo sin repetir rutas ya cubiertas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C1, C2... Cm con el recorrido de nodos de cada camino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Diseñar casos de prueba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cada camino, elegir una entrada concreta que lo fuerce y anotar la salida esperada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 de casos con entrada, camino cubierto y salida esperada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Ejecutar y validar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Ejecutar el código con cada entrada y comparar la salida real con la esperada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Confirmación de que todos los caminos funcionan correctamente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— calcularTotalConDescuento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 recibe un array de precios y aplica un 20 % de descuento a los que superen 50 €.</a:t>
            </a:r>
            <a:endParaRPr lang="en-US" sz="1400" dirty="0"/>
          </a:p>
        </p:txBody>
      </p:sp>
      <p:pic>
        <p:nvPicPr>
          <p:cNvPr id="6" name="Image 0" descr="C:/Users/Aitor/Documents/apuntes-profe/entornos-de-desarrollo/docs/tema3/img/casos-calc-co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11091672" cy="4479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— Identificar estructuras de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marcan el bucle for (recorre el array) y el if/else (bifurca según el precio de cada elemento).</a:t>
            </a:r>
            <a:endParaRPr lang="en-US" sz="1400" dirty="0"/>
          </a:p>
        </p:txBody>
      </p:sp>
      <p:pic>
        <p:nvPicPr>
          <p:cNvPr id="6" name="Image 0" descr="C:/Users/Aitor/Documents/apuntes-profe/entornos-de-desarrollo/docs/tema3/img/casos-calc-pa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11091672" cy="4615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Diagrama de flujo de control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punto relevante se le asigna un nodo (A–G) y se dibujan las aristas. La arista G→B representa la vuelta al bucle.</a:t>
            </a:r>
            <a:endParaRPr lang="en-US" sz="1400" dirty="0"/>
          </a:p>
        </p:txBody>
      </p:sp>
      <p:pic>
        <p:nvPicPr>
          <p:cNvPr id="6" name="Image 0" descr="C:/Users/Aitor/Documents/apuntes-profe/entornos-de-desarrollo/docs/tema3/img/casos-calc-pas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29" y="1307592"/>
            <a:ext cx="10888093" cy="5093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— Complejidad ciclomática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grafo listo se aplica  M = E - N + 2 = 8 - 7 + 2 = 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3 caminos independientes, así que hacen falta al menos 3 casos de prueba.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caminos son: C1 (A→B→G, array vacío), C2 (A→B→C→D→E→G, precio &gt; 50) y C3 (A→B→C→D→F→G, precio ≤ 50).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siguiente diapositiva se muestran los grafos coloreados.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— Caminos independientes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grafo completo a la izquierda; a la derecha, cada uno de los 3 caminos resaltado con su color.</a:t>
            </a:r>
            <a:endParaRPr lang="en-US" sz="1400" dirty="0"/>
          </a:p>
        </p:txBody>
      </p:sp>
      <p:pic>
        <p:nvPicPr>
          <p:cNvPr id="6" name="Image 0" descr="C:/Users/Aitor/Documents/apuntes-profe/entornos-de-desarrollo/docs/tema3/img/casos-calc-pa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32" y="1307592"/>
            <a:ext cx="10008487" cy="5093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5 — Diseñar casos de prueba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por camino: se elige una entrada concreta y se anota la salida esperada.</a:t>
            </a:r>
            <a:endParaRPr lang="en-US" sz="1400" dirty="0"/>
          </a:p>
        </p:txBody>
      </p:sp>
      <p:pic>
        <p:nvPicPr>
          <p:cNvPr id="6" name="Image 0" descr="C:/Users/Aitor/Documents/apuntes-profe/entornos-de-desarrollo/docs/tema3/img/casos-calc-paso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11091672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6 — Ejecutar y validar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ejecutan los 3 casos y se comprueba que la salida real coincide con la esperada.</a:t>
            </a:r>
            <a:endParaRPr lang="en-US" sz="1400" dirty="0"/>
          </a:p>
        </p:txBody>
      </p:sp>
      <p:pic>
        <p:nvPicPr>
          <p:cNvPr id="6" name="Image 0" descr="C:/Users/Aitor/Documents/apuntes-profe/entornos-de-desarrollo/docs/tema3/img/casos-calc-paso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11091672" cy="48310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caja negra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Evalúan el comportamiento del software a partir de sus especificaciones, entradas y salidas, sin mirar cómo está implementado por dentro. Son complementarias a la caja blanca, no una alternativa.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tipos de errores detecta?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523744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incorrectas o ausentes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interfaz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en estructuras de datos o en accesos a bases de datos externas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rendimiento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inicialización y terminación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183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casos de prueba se diseñan atendiendo a las especificaciones del problema, sin importar los detalles internos del programa.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caja negra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tres técnicas principales para diseñar casos de prueba de caja negra: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65576" cy="429768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Equivalente (PE)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3191256" cy="2743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309981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las entradas en clases de equivalencia.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valores de una misma clase deberían comportarse igual.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Basta probar un representante por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417320"/>
            <a:ext cx="3465576" cy="429768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581912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Valores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(AVL)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98848" y="2377440"/>
            <a:ext cx="3191256" cy="2743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514600"/>
            <a:ext cx="309981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 la PE probando los bordes de cada clase.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se concentran ahí: un &lt; que debería ser &lt;=, un índice fuera de rango...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tiene sentido con rangos numéricos o conjuntos finitos.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74736" y="1417320"/>
            <a:ext cx="3465576" cy="42976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1581912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Aleatorias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11896" y="2377440"/>
            <a:ext cx="3191256" cy="27432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514600"/>
            <a:ext cx="309981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entradas al azar para descubrir errores en combinaciones no previstas.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 no hay un patrón concreto que seguir o el espacio de entradas es muy grande.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 equivalente — directrices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condición de entrada, las clases de equivalencia se determinan según el tipo de entrada: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438418"/>
                <a:gridCol w="3882085"/>
                <a:gridCol w="3771168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entrada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válidas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inválidas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Rango de valores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ej. [20..30]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(un valor dentro, p. ej. 25)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(uno por debajo y otro por encima: 15 y 40)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Conjunto finito de valores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ej. {2, 4, 6, 8}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(un valor del conjunto, p. ej. 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(uno fuera por debajo y otro por encima: 1 y 10)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 booleana (T/F)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ej. «debe ser una letra»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(un valor que la cumple, p. ej. «j»)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(un valor que no la cumple, p. ej. «?»)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Conjunto de valores admitidos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ej. {opción1, opción2, opción3}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tantas como valores admitidos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 en el ejemplo)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(un valor no admitido)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58968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550408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inválidas se cubren de una en una para poder aislar el error. Las válidas pueden cubrirse varias en el mismo caso de prueba.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 equivalente — ejemplo (pasos 1 y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la edad de un usuario: debe estar entre 18 y 65 años (ambos inclusive).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— Identificar las clases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21992"/>
          <a:ext cx="11091672" cy="914400"/>
        </p:xfrm>
        <a:graphic>
          <a:graphicData uri="http://schemas.openxmlformats.org/drawingml/2006/table">
            <a:tbl>
              <a:tblPr/>
              <a:tblGrid>
                <a:gridCol w="1663751"/>
                <a:gridCol w="4214835"/>
                <a:gridCol w="1885584"/>
                <a:gridCol w="332750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datos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válidas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inválidas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rango de valores [18..65]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502152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0215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Tabla de clases de equivalencia</a:t>
            </a:r>
            <a:endParaRPr lang="en-US" sz="17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78224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4214835"/>
                <a:gridCol w="4880336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válidas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no válidas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 valor dentro de [18..65]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 valor por debajo de 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(3) valor por encima de 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Partición equivalente — ejemplo (paso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— Diseñar los casos de prueba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por cada clase de equivalencia identificada (válidas e inválidas):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39112"/>
          <a:ext cx="11091672" cy="914400"/>
        </p:xfrm>
        <a:graphic>
          <a:graphicData uri="http://schemas.openxmlformats.org/drawingml/2006/table">
            <a:tbl>
              <a:tblPr/>
              <a:tblGrid>
                <a:gridCol w="3549335"/>
                <a:gridCol w="4436669"/>
                <a:gridCol w="3105668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 de prueba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cubiertas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esperada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 = 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 válida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 =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 inválida — por debajo de 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Rechazado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 = 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(3) inválida — por encima de 65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Rechazado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valores límite (AVL)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se concentran en los límites: un &lt; que debería ser &lt;=, un índice fuera de rango... El AVL complementa la PE probando específicamente esos bordes.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entrada edad con rango [18..65]: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30552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5545836"/>
                <a:gridCol w="354933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válidas en el límite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inválidas junto al límite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 18  (2) 19  (3) 64  (4) 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 17  (6) 66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364992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36499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prueba AVL — los 6 valores críticos</a:t>
            </a:r>
            <a:endParaRPr lang="en-US" sz="17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13632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1331001"/>
                <a:gridCol w="2772918"/>
                <a:gridCol w="366025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cubiertas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 inferior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Adyacente interior inf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Adyacente interior sup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 superior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Aceptado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Justo fuera (inf)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Rechazado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Justo fuera (sup)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Rechazado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aleatorias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3: Verificación y Pruebas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0467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10634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se sigue ningún patrón concreto, se pueden generar entradas al azar para descubrir errores en combinaciones que no se habrían ocurrido diseñando casos a mano.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— calculadora con cuatro operaciones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478024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una calculadora que acepta dos números y una operación (+, -, x, /):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80944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887334"/>
                <a:gridCol w="798600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 es interesante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 genérico, sin valores límite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 si el programa controla la división por cero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Multiplicación con un número negativo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 con resultado positivo grande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2026-06-24T00:02:58Z</dcterms:created>
  <dcterms:modified xsi:type="dcterms:W3CDTF">2026-06-24T00:02:58Z</dcterms:modified>
</cp:coreProperties>
</file>
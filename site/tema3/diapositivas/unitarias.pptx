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101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3: VERIFICACIÓN Y PRUEBAS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Pruebas unitarias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JUnit  ·  TDD  ·  Tests parametrizados  ·  Dobles de prueba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1. ¿Qué son las pruebas unitarias?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Shape 3"/>
          <p:cNvSpPr/>
          <p:nvPr/>
        </p:nvSpPr>
        <p:spPr>
          <a:xfrm>
            <a:off x="548640" y="868680"/>
            <a:ext cx="11091672" cy="804672"/>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5836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Una prueba unitaria verifica el correcto funcionamiento de un módulo individual del código —normalmente un método o una clase— de forma aislada, antes de comprobar cómo se integra con el resto del sistema.</a:t>
            </a:r>
            <a:endParaRPr lang="en-US" sz="1500" dirty="0"/>
          </a:p>
        </p:txBody>
      </p:sp>
      <p:sp>
        <p:nvSpPr>
          <p:cNvPr id="7" name="Text 5"/>
          <p:cNvSpPr/>
          <p:nvPr/>
        </p:nvSpPr>
        <p:spPr>
          <a:xfrm>
            <a:off x="548640" y="1874520"/>
            <a:ext cx="11091672" cy="347472"/>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Para que una prueba unitaria cumpla su función debe ser:</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59152"/>
          <a:ext cx="11091672" cy="3291840"/>
        </p:xfrm>
        <a:graphic>
          <a:graphicData uri="http://schemas.openxmlformats.org/drawingml/2006/table">
            <a:tbl>
              <a:tblPr/>
              <a:tblGrid>
                <a:gridCol w="2218334">
                  <a:extLst>
                    <a:ext uri="{9D8B030D-6E8A-4147-A177-3AD203B41FA5}">
                      <a16:colId xmlns:a16="http://schemas.microsoft.com/office/drawing/2014/main" val="20000"/>
                    </a:ext>
                  </a:extLst>
                </a:gridCol>
                <a:gridCol w="8873338">
                  <a:extLst>
                    <a:ext uri="{9D8B030D-6E8A-4147-A177-3AD203B41FA5}">
                      <a16:colId xmlns:a16="http://schemas.microsoft.com/office/drawing/2014/main" val="20001"/>
                    </a:ext>
                  </a:extLst>
                </a:gridCol>
              </a:tblGrid>
              <a:tr h="54864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Característica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Qué significa en la práctica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Automatizable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 ejecuta sin intervención manual, no «lo pruebo a mano cada vez»</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Completa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Cubre la mayor cantidad posible de código, no solo el camino feliz</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Reutilizable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No sirve solo para una ejecución puntual; se puede volver a correr cuando se quiera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Independiente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resultado de una prueba no debe depender de que se haya ejecutado otra antes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Profesional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Se documenta y se cuida con la misma calidad que el código de producción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1. Pruebas unitarias — Ventajas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36576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Las pruebas unitarias traen ventajas claras a medida que el proyecto crece:</a:t>
            </a:r>
            <a:endParaRPr lang="en-US" sz="1500" dirty="0"/>
          </a:p>
        </p:txBody>
      </p:sp>
      <p:sp>
        <p:nvSpPr>
          <p:cNvPr id="6" name="Text 4"/>
          <p:cNvSpPr/>
          <p:nvPr/>
        </p:nvSpPr>
        <p:spPr>
          <a:xfrm>
            <a:off x="548640" y="1399032"/>
            <a:ext cx="11091672" cy="4572000"/>
          </a:xfrm>
          <a:prstGeom prst="rect">
            <a:avLst/>
          </a:prstGeom>
          <a:noFill/>
          <a:ln/>
        </p:spPr>
        <p:txBody>
          <a:bodyPr wrap="square" rtlCol="0" anchor="t"/>
          <a:lstStyle/>
          <a:p>
            <a:pPr marL="342900" indent="-342900">
              <a:spcAft>
                <a:spcPts val="200"/>
              </a:spcAft>
              <a:buSzPct val="100000"/>
              <a:buChar char="•"/>
            </a:pPr>
            <a:r>
              <a:rPr lang="en-US" sz="1500" b="1" dirty="0">
                <a:solidFill>
                  <a:srgbClr val="212121"/>
                </a:solidFill>
                <a:latin typeface="Arial" pitchFamily="34" charset="0"/>
                <a:ea typeface="Arial" pitchFamily="34" charset="-122"/>
                <a:cs typeface="Arial" pitchFamily="34" charset="-120"/>
              </a:rPr>
              <a:t>Confianza al modificar</a:t>
            </a:r>
            <a:endParaRPr lang="en-US" sz="1500" dirty="0"/>
          </a:p>
          <a:p>
            <a:pPr marL="0" lvl="1" indent="0">
              <a:spcAft>
                <a:spcPts val="1200"/>
              </a:spcAft>
              <a:buNone/>
            </a:pPr>
            <a:r>
              <a:rPr lang="en-US" sz="1300" dirty="0">
                <a:solidFill>
                  <a:srgbClr val="757575"/>
                </a:solidFill>
                <a:latin typeface="Arial" pitchFamily="34" charset="0"/>
                <a:ea typeface="Arial" pitchFamily="34" charset="-122"/>
                <a:cs typeface="Arial" pitchFamily="34" charset="-120"/>
              </a:rPr>
              <a:t>Cualquier cambio que rompa algo se detecta enseguida.</a:t>
            </a:r>
            <a:endParaRPr lang="en-US" sz="1500" dirty="0"/>
          </a:p>
          <a:p>
            <a:pPr marL="342900" indent="-342900">
              <a:spcAft>
                <a:spcPts val="200"/>
              </a:spcAft>
              <a:buSzPct val="100000"/>
              <a:buChar char="•"/>
            </a:pPr>
            <a:r>
              <a:rPr lang="en-US" sz="1500" b="1" dirty="0">
                <a:solidFill>
                  <a:srgbClr val="212121"/>
                </a:solidFill>
                <a:latin typeface="Arial" pitchFamily="34" charset="0"/>
                <a:ea typeface="Arial" pitchFamily="34" charset="-122"/>
                <a:cs typeface="Arial" pitchFamily="34" charset="-120"/>
              </a:rPr>
              <a:t>Seguridad antes de integrar</a:t>
            </a:r>
            <a:endParaRPr lang="en-US" sz="1500" dirty="0"/>
          </a:p>
          <a:p>
            <a:pPr marL="0" lvl="1" indent="0">
              <a:spcAft>
                <a:spcPts val="1200"/>
              </a:spcAft>
              <a:buNone/>
            </a:pPr>
            <a:r>
              <a:rPr lang="en-US" sz="1300" dirty="0">
                <a:solidFill>
                  <a:srgbClr val="757575"/>
                </a:solidFill>
                <a:latin typeface="Arial" pitchFamily="34" charset="0"/>
                <a:ea typeface="Arial" pitchFamily="34" charset="-122"/>
                <a:cs typeface="Arial" pitchFamily="34" charset="-120"/>
              </a:rPr>
              <a:t>Se sabe que cada pieza funciona antes de combinarlas.</a:t>
            </a:r>
            <a:endParaRPr lang="en-US" sz="1500" dirty="0"/>
          </a:p>
          <a:p>
            <a:pPr marL="342900" indent="-342900">
              <a:spcAft>
                <a:spcPts val="200"/>
              </a:spcAft>
              <a:buSzPct val="100000"/>
              <a:buChar char="•"/>
            </a:pPr>
            <a:r>
              <a:rPr lang="en-US" sz="1500" b="1" dirty="0">
                <a:solidFill>
                  <a:srgbClr val="212121"/>
                </a:solidFill>
                <a:latin typeface="Arial" pitchFamily="34" charset="0"/>
                <a:ea typeface="Arial" pitchFamily="34" charset="-122"/>
                <a:cs typeface="Arial" pitchFamily="34" charset="-120"/>
              </a:rPr>
              <a:t>Documentación viva</a:t>
            </a:r>
            <a:endParaRPr lang="en-US" sz="1500" dirty="0"/>
          </a:p>
          <a:p>
            <a:pPr marL="0" lvl="1" indent="0">
              <a:spcAft>
                <a:spcPts val="1200"/>
              </a:spcAft>
              <a:buNone/>
            </a:pPr>
            <a:r>
              <a:rPr lang="en-US" sz="1300" dirty="0">
                <a:solidFill>
                  <a:srgbClr val="757575"/>
                </a:solidFill>
                <a:latin typeface="Arial" pitchFamily="34" charset="0"/>
                <a:ea typeface="Arial" pitchFamily="34" charset="-122"/>
                <a:cs typeface="Arial" pitchFamily="34" charset="-120"/>
              </a:rPr>
              <a:t>Los tests muestran cómo se espera que se use cada unidad de código.</a:t>
            </a:r>
            <a:endParaRPr lang="en-US" sz="1500" dirty="0"/>
          </a:p>
          <a:p>
            <a:pPr marL="342900" indent="-342900">
              <a:spcAft>
                <a:spcPts val="200"/>
              </a:spcAft>
              <a:buSzPct val="100000"/>
              <a:buChar char="•"/>
            </a:pPr>
            <a:r>
              <a:rPr lang="en-US" sz="1500" b="1" dirty="0">
                <a:solidFill>
                  <a:srgbClr val="212121"/>
                </a:solidFill>
                <a:latin typeface="Arial" pitchFamily="34" charset="0"/>
                <a:ea typeface="Arial" pitchFamily="34" charset="-122"/>
                <a:cs typeface="Arial" pitchFamily="34" charset="-120"/>
              </a:rPr>
              <a:t>Separación de interfaz e implementación</a:t>
            </a:r>
            <a:endParaRPr lang="en-US" sz="1500" dirty="0"/>
          </a:p>
          <a:p>
            <a:pPr marL="0" lvl="1" indent="0">
              <a:spcAft>
                <a:spcPts val="1200"/>
              </a:spcAft>
              <a:buNone/>
            </a:pPr>
            <a:r>
              <a:rPr lang="en-US" sz="1300" dirty="0">
                <a:solidFill>
                  <a:srgbClr val="757575"/>
                </a:solidFill>
                <a:latin typeface="Arial" pitchFamily="34" charset="0"/>
                <a:ea typeface="Arial" pitchFamily="34" charset="-122"/>
                <a:cs typeface="Arial" pitchFamily="34" charset="-120"/>
              </a:rPr>
              <a:t>Se puede cambiar cómo funciona algo por dentro sin tocar los tests si el comportamiento externo no cambia.</a:t>
            </a:r>
            <a:endParaRPr lang="en-US" sz="1500" dirty="0"/>
          </a:p>
          <a:p>
            <a:pPr marL="342900" indent="-342900">
              <a:spcAft>
                <a:spcPts val="200"/>
              </a:spcAft>
              <a:buSzPct val="100000"/>
              <a:buChar char="•"/>
            </a:pPr>
            <a:r>
              <a:rPr lang="en-US" sz="1500" b="1" dirty="0">
                <a:solidFill>
                  <a:srgbClr val="212121"/>
                </a:solidFill>
                <a:latin typeface="Arial" pitchFamily="34" charset="0"/>
                <a:ea typeface="Arial" pitchFamily="34" charset="-122"/>
                <a:cs typeface="Arial" pitchFamily="34" charset="-120"/>
              </a:rPr>
              <a:t>Localización de errores</a:t>
            </a:r>
            <a:endParaRPr lang="en-US" sz="1500" dirty="0"/>
          </a:p>
          <a:p>
            <a:pPr marL="0" lvl="1" indent="0">
              <a:spcAft>
                <a:spcPts val="400"/>
              </a:spcAft>
              <a:buNone/>
            </a:pPr>
            <a:r>
              <a:rPr lang="en-US" sz="1300" dirty="0">
                <a:solidFill>
                  <a:srgbClr val="757575"/>
                </a:solidFill>
                <a:latin typeface="Arial" pitchFamily="34" charset="0"/>
                <a:ea typeface="Arial" pitchFamily="34" charset="-122"/>
                <a:cs typeface="Arial" pitchFamily="34" charset="-120"/>
              </a:rPr>
              <a:t>Se depura la unidad problemática en aislamiento, sin revisar todo el sistema a la vez.</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 JUnit</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Shape 3"/>
          <p:cNvSpPr/>
          <p:nvPr/>
        </p:nvSpPr>
        <p:spPr>
          <a:xfrm>
            <a:off x="548640" y="868680"/>
            <a:ext cx="11091672" cy="841248"/>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94944"/>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JUnit es el framework de pruebas unitarias más usado en Java. Permite comprobar que cada unidad de código se comporta como se espera y es una pieza habitual del desarrollo ágil. Se integra con Maven o Gradle para automatizar su ejecución dentro de la integración continua.</a:t>
            </a:r>
            <a:endParaRPr lang="en-US" sz="1500" dirty="0"/>
          </a:p>
        </p:txBody>
      </p:sp>
      <p:sp>
        <p:nvSpPr>
          <p:cNvPr id="7" name="Shape 5"/>
          <p:cNvSpPr/>
          <p:nvPr/>
        </p:nvSpPr>
        <p:spPr>
          <a:xfrm>
            <a:off x="548640" y="1911096"/>
            <a:ext cx="11091672" cy="384048"/>
          </a:xfrm>
          <a:prstGeom prst="rect">
            <a:avLst/>
          </a:prstGeom>
          <a:solidFill>
            <a:srgbClr val="3F51B5"/>
          </a:solidFill>
          <a:ln w="12700">
            <a:solidFill>
              <a:srgbClr val="3F51B5"/>
            </a:solidFill>
            <a:prstDash val="solid"/>
          </a:ln>
        </p:spPr>
        <p:txBody>
          <a:bodyPr/>
          <a:lstStyle/>
          <a:p>
            <a:endParaRPr lang="es-ES"/>
          </a:p>
        </p:txBody>
      </p:sp>
      <p:sp>
        <p:nvSpPr>
          <p:cNvPr id="8" name="Text 6"/>
          <p:cNvSpPr/>
          <p:nvPr/>
        </p:nvSpPr>
        <p:spPr>
          <a:xfrm>
            <a:off x="731520" y="1911096"/>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Conceptos clave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432304"/>
          <a:ext cx="11091672" cy="2971800"/>
        </p:xfrm>
        <a:graphic>
          <a:graphicData uri="http://schemas.openxmlformats.org/drawingml/2006/table">
            <a:tbl>
              <a:tblPr/>
              <a:tblGrid>
                <a:gridCol w="2440168">
                  <a:extLst>
                    <a:ext uri="{9D8B030D-6E8A-4147-A177-3AD203B41FA5}">
                      <a16:colId xmlns:a16="http://schemas.microsoft.com/office/drawing/2014/main" val="20000"/>
                    </a:ext>
                  </a:extLst>
                </a:gridCol>
                <a:gridCol w="8651504">
                  <a:extLst>
                    <a:ext uri="{9D8B030D-6E8A-4147-A177-3AD203B41FA5}">
                      <a16:colId xmlns:a16="http://schemas.microsoft.com/office/drawing/2014/main" val="20001"/>
                    </a:ext>
                  </a:extLst>
                </a:gridCol>
              </a:tblGrid>
              <a:tr h="59436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Concepto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Qué 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Prueba unitaria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Verifica una funcionalidad concreta de forma aislada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Assert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Instrucción que comprueba si el comportamiento obtenido coincide con el esperado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Anotación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Marca el papel que juega cada método dentro del ciclo de vida de la prueba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Clase de prueba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Agrupa los métodos de test relacionados con una misma clase de producción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2.1 Configuración básica con Maven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74980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Para usar JUnit necesitas crear un proyecto Maven —una herramienta de construcción que gestiona la estructura de carpetas, la descarga de librerías externas y la compilación del proyecto—. Sin Maven tendrías que descargar los JARs a mano y configurar el classpath tú solo.</a:t>
            </a:r>
            <a:endParaRPr lang="en-US" sz="1500" dirty="0"/>
          </a:p>
        </p:txBody>
      </p:sp>
      <p:sp>
        <p:nvSpPr>
          <p:cNvPr id="6" name="Shape 4"/>
          <p:cNvSpPr/>
          <p:nvPr/>
        </p:nvSpPr>
        <p:spPr>
          <a:xfrm>
            <a:off x="548640" y="1801368"/>
            <a:ext cx="11091672" cy="384048"/>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801368"/>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Estructura de carpetas que genera Maven automáticamente</a:t>
            </a:r>
            <a:endParaRPr lang="en-US" sz="1500" dirty="0"/>
          </a:p>
        </p:txBody>
      </p:sp>
      <p:sp>
        <p:nvSpPr>
          <p:cNvPr id="8" name="Shape 6"/>
          <p:cNvSpPr/>
          <p:nvPr/>
        </p:nvSpPr>
        <p:spPr>
          <a:xfrm>
            <a:off x="548640" y="2322576"/>
            <a:ext cx="11091672" cy="137160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322576"/>
            <a:ext cx="64008" cy="1371600"/>
          </a:xfrm>
          <a:prstGeom prst="rect">
            <a:avLst/>
          </a:prstGeom>
          <a:solidFill>
            <a:srgbClr val="009688"/>
          </a:solidFill>
          <a:ln w="12700">
            <a:solidFill>
              <a:srgbClr val="009688"/>
            </a:solidFill>
            <a:prstDash val="solid"/>
          </a:ln>
        </p:spPr>
        <p:txBody>
          <a:bodyPr/>
          <a:lstStyle/>
          <a:p>
            <a:endParaRPr lang="es-ES"/>
          </a:p>
        </p:txBody>
      </p:sp>
      <p:sp>
        <p:nvSpPr>
          <p:cNvPr id="10" name="Text 8"/>
          <p:cNvSpPr/>
          <p:nvPr/>
        </p:nvSpPr>
        <p:spPr>
          <a:xfrm>
            <a:off x="749808" y="2414016"/>
            <a:ext cx="10744200" cy="118872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mi-proyecto/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pom.xml          &lt;- configuración del proyecto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src/</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main/java/   &lt;- código de producción (tu aplicación)</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test/java/   &lt;- aquí irán tus clases de prueba</a:t>
            </a:r>
            <a:endParaRPr lang="en-US" sz="1200" dirty="0"/>
          </a:p>
        </p:txBody>
      </p:sp>
      <p:sp>
        <p:nvSpPr>
          <p:cNvPr id="11" name="Text 9"/>
          <p:cNvSpPr/>
          <p:nvPr/>
        </p:nvSpPr>
        <p:spPr>
          <a:xfrm>
            <a:off x="548640" y="3922776"/>
            <a:ext cx="11091672" cy="74980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El archivo pom.xml (Project Object Model) es el corazón del proyecto Maven: describe el proyecto, su versión de Java y las dependencias —librerías externas que Maven descargará automáticamente desde Internet al construirlo—.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2.1 Maven — Dependencias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804672"/>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Una dependencia es una librería externa que el proyecto necesita. Sin Maven tendrías que descargar el JAR, guardarlo en alguna carpeta y añadirlo manualmente al classpath. Con Maven basta con declararlo en el pom.xml: Maven lo busca en Maven Central —el repositorio público de librerías Java— y lo descarga solo.</a:t>
            </a:r>
            <a:endParaRPr lang="en-US" sz="1500" dirty="0"/>
          </a:p>
        </p:txBody>
      </p:sp>
      <p:sp>
        <p:nvSpPr>
          <p:cNvPr id="6" name="Shape 4"/>
          <p:cNvSpPr/>
          <p:nvPr/>
        </p:nvSpPr>
        <p:spPr>
          <a:xfrm>
            <a:off x="548640" y="1856232"/>
            <a:ext cx="11091672" cy="384048"/>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856232"/>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Dependencia de JUnit 5 — pegar dentro de &lt;dependencies&gt; en el pom.xml</a:t>
            </a:r>
            <a:endParaRPr lang="en-US" sz="1500" dirty="0"/>
          </a:p>
        </p:txBody>
      </p:sp>
      <p:sp>
        <p:nvSpPr>
          <p:cNvPr id="8" name="Shape 6"/>
          <p:cNvSpPr/>
          <p:nvPr/>
        </p:nvSpPr>
        <p:spPr>
          <a:xfrm>
            <a:off x="548640" y="2377440"/>
            <a:ext cx="11091672" cy="1481328"/>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377440"/>
            <a:ext cx="64008" cy="1481328"/>
          </a:xfrm>
          <a:prstGeom prst="rect">
            <a:avLst/>
          </a:prstGeom>
          <a:solidFill>
            <a:srgbClr val="009688"/>
          </a:solidFill>
          <a:ln w="12700">
            <a:solidFill>
              <a:srgbClr val="009688"/>
            </a:solidFill>
            <a:prstDash val="solid"/>
          </a:ln>
        </p:spPr>
        <p:txBody>
          <a:bodyPr/>
          <a:lstStyle/>
          <a:p>
            <a:endParaRPr lang="es-ES"/>
          </a:p>
        </p:txBody>
      </p:sp>
      <p:sp>
        <p:nvSpPr>
          <p:cNvPr id="10" name="Text 8"/>
          <p:cNvSpPr/>
          <p:nvPr/>
        </p:nvSpPr>
        <p:spPr>
          <a:xfrm>
            <a:off x="749808" y="2468880"/>
            <a:ext cx="10744200" cy="1298448"/>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&lt;dependency&gt;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&lt;groupId&gt;org.junit.jupiter&lt;/groupId&gt;    &lt;!-- organización que la publica --&gt;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&lt;artifactId&gt;junit-jupiter&lt;/artifactId&gt;  &lt;!-- nombre del módulo concreto --&gt;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&lt;version&gt;5.11.4&lt;/version&gt;               &lt;!-- versión que Maven descargará --&gt;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&lt;scope&gt;test&lt;/scope&gt;                     &lt;!-- solo para compilar y ejecutar tests --&gt;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&lt;/dependency&gt;</a:t>
            </a:r>
            <a:endParaRPr lang="en-US" sz="1200" dirty="0"/>
          </a:p>
        </p:txBody>
      </p:sp>
      <p:sp>
        <p:nvSpPr>
          <p:cNvPr id="11" name="Shape 9"/>
          <p:cNvSpPr/>
          <p:nvPr/>
        </p:nvSpPr>
        <p:spPr>
          <a:xfrm>
            <a:off x="548640" y="4059936"/>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12" name="Text 10"/>
          <p:cNvSpPr/>
          <p:nvPr/>
        </p:nvSpPr>
        <p:spPr>
          <a:xfrm>
            <a:off x="777240" y="4133088"/>
            <a:ext cx="10634472" cy="630936"/>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El &lt;scope&gt;test&lt;/scope&gt; excluye la librería del JAR final de la aplicación. Para buscar cualquier dependencia: mvnrepository.com o search.maven.org. Tras pegar el XML, IntelliJ muestra un icono de Maven para descargarla.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2.2 Ciclo de vida de las anotaciones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4572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Las anotaciones de JUnit controlan cuándo se ejecuta cada método. El orden es importante para preparar y limpiar el entorno de prueba correctamente:</a:t>
            </a:r>
            <a:endParaRPr lang="en-US" sz="1500" dirty="0"/>
          </a:p>
        </p:txBody>
      </p:sp>
      <p:sp>
        <p:nvSpPr>
          <p:cNvPr id="6" name="Shape 4"/>
          <p:cNvSpPr/>
          <p:nvPr/>
        </p:nvSpPr>
        <p:spPr>
          <a:xfrm>
            <a:off x="548640" y="1490472"/>
            <a:ext cx="4567062" cy="34747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685800" y="1490472"/>
            <a:ext cx="4292742"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Orden de ejecución</a:t>
            </a:r>
            <a:endParaRPr lang="en-US" sz="1300" dirty="0"/>
          </a:p>
        </p:txBody>
      </p:sp>
      <p:sp>
        <p:nvSpPr>
          <p:cNvPr id="8" name="Shape 6"/>
          <p:cNvSpPr/>
          <p:nvPr/>
        </p:nvSpPr>
        <p:spPr>
          <a:xfrm>
            <a:off x="5298582" y="1490472"/>
            <a:ext cx="6341730" cy="347472"/>
          </a:xfrm>
          <a:prstGeom prst="rect">
            <a:avLst/>
          </a:prstGeom>
          <a:solidFill>
            <a:srgbClr val="3F51B5"/>
          </a:solidFill>
          <a:ln w="12700">
            <a:solidFill>
              <a:srgbClr val="3F51B5"/>
            </a:solidFill>
            <a:prstDash val="solid"/>
          </a:ln>
        </p:spPr>
        <p:txBody>
          <a:bodyPr/>
          <a:lstStyle/>
          <a:p>
            <a:endParaRPr lang="es-ES"/>
          </a:p>
        </p:txBody>
      </p:sp>
      <p:sp>
        <p:nvSpPr>
          <p:cNvPr id="9" name="Text 7"/>
          <p:cNvSpPr/>
          <p:nvPr/>
        </p:nvSpPr>
        <p:spPr>
          <a:xfrm>
            <a:off x="5435742" y="1490472"/>
            <a:ext cx="6067410"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Anotación y cuándo se aplica</a:t>
            </a:r>
            <a:endParaRPr lang="en-US" sz="1300" dirty="0"/>
          </a:p>
        </p:txBody>
      </p:sp>
      <p:sp>
        <p:nvSpPr>
          <p:cNvPr id="10" name="Shape 8"/>
          <p:cNvSpPr/>
          <p:nvPr/>
        </p:nvSpPr>
        <p:spPr>
          <a:xfrm>
            <a:off x="548640" y="1947672"/>
            <a:ext cx="4567062" cy="2468880"/>
          </a:xfrm>
          <a:prstGeom prst="rect">
            <a:avLst/>
          </a:prstGeom>
          <a:solidFill>
            <a:srgbClr val="ECEFF1"/>
          </a:solidFill>
          <a:ln w="12700">
            <a:solidFill>
              <a:srgbClr val="EEEEEE"/>
            </a:solidFill>
            <a:prstDash val="solid"/>
          </a:ln>
        </p:spPr>
        <p:txBody>
          <a:bodyPr/>
          <a:lstStyle/>
          <a:p>
            <a:endParaRPr lang="es-ES"/>
          </a:p>
        </p:txBody>
      </p:sp>
      <p:sp>
        <p:nvSpPr>
          <p:cNvPr id="11" name="Shape 9"/>
          <p:cNvSpPr/>
          <p:nvPr/>
        </p:nvSpPr>
        <p:spPr>
          <a:xfrm>
            <a:off x="548640" y="1947672"/>
            <a:ext cx="64008" cy="2468880"/>
          </a:xfrm>
          <a:prstGeom prst="rect">
            <a:avLst/>
          </a:prstGeom>
          <a:solidFill>
            <a:srgbClr val="009688"/>
          </a:solidFill>
          <a:ln w="12700">
            <a:solidFill>
              <a:srgbClr val="009688"/>
            </a:solidFill>
            <a:prstDash val="solid"/>
          </a:ln>
        </p:spPr>
        <p:txBody>
          <a:bodyPr/>
          <a:lstStyle/>
          <a:p>
            <a:endParaRPr lang="es-ES"/>
          </a:p>
        </p:txBody>
      </p:sp>
      <p:sp>
        <p:nvSpPr>
          <p:cNvPr id="12" name="Text 10"/>
          <p:cNvSpPr/>
          <p:nvPr/>
        </p:nvSpPr>
        <p:spPr>
          <a:xfrm>
            <a:off x="749808" y="2039112"/>
            <a:ext cx="4219590" cy="228600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 --- inicio de la suite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@BeforeAll   // 1 vez</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@BeforeEach  // antes de cada 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@Test        // el test en sí</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@AfterEach   // después de cada test</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(se repite para cada @Test)</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@AfterAll    // 1 vez al final</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298582" y="1947672"/>
          <a:ext cx="6341729" cy="2962656"/>
        </p:xfrm>
        <a:graphic>
          <a:graphicData uri="http://schemas.openxmlformats.org/drawingml/2006/table">
            <a:tbl>
              <a:tblPr/>
              <a:tblGrid>
                <a:gridCol w="2409857">
                  <a:extLst>
                    <a:ext uri="{9D8B030D-6E8A-4147-A177-3AD203B41FA5}">
                      <a16:colId xmlns:a16="http://schemas.microsoft.com/office/drawing/2014/main" val="20000"/>
                    </a:ext>
                  </a:extLst>
                </a:gridCol>
                <a:gridCol w="3931872">
                  <a:extLst>
                    <a:ext uri="{9D8B030D-6E8A-4147-A177-3AD203B41FA5}">
                      <a16:colId xmlns:a16="http://schemas.microsoft.com/office/drawing/2014/main" val="20001"/>
                    </a:ext>
                  </a:extLst>
                </a:gridCol>
              </a:tblGrid>
              <a:tr h="493776">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Anotación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Cuándo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Marca un método como prueba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@BeforeEach</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Antes de cada prueba individual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@AfterEach</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Después de cada prueba individual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@BeforeAll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Una sola vez, al inicio de la suite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@AfterAll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Una sola vez, al final de la suite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2.3 Los asserts principales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530352"/>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Un assert es la instrucción que verifica si el resultado obtenido coincide con el esperado. Si la condición no se cumple, JUnit marca el test como fallido y muestra qué se esperaba y qué se obtuvo.</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63624"/>
          <a:ext cx="11091672" cy="3968496"/>
        </p:xfrm>
        <a:graphic>
          <a:graphicData uri="http://schemas.openxmlformats.org/drawingml/2006/table">
            <a:tbl>
              <a:tblPr/>
              <a:tblGrid>
                <a:gridCol w="5213086">
                  <a:extLst>
                    <a:ext uri="{9D8B030D-6E8A-4147-A177-3AD203B41FA5}">
                      <a16:colId xmlns:a16="http://schemas.microsoft.com/office/drawing/2014/main" val="20000"/>
                    </a:ext>
                  </a:extLst>
                </a:gridCol>
                <a:gridCol w="5878586">
                  <a:extLst>
                    <a:ext uri="{9D8B030D-6E8A-4147-A177-3AD203B41FA5}">
                      <a16:colId xmlns:a16="http://schemas.microsoft.com/office/drawing/2014/main" val="20001"/>
                    </a:ext>
                  </a:extLst>
                </a:gridCol>
              </a:tblGrid>
              <a:tr h="566928">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Método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Comprueba que…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assertEquals(esperado, obtenido)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ambos valores son iguales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assertTrue(condicion)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la condición es verdadera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assertFalse(condicion)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la condición es falsa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assertNull(objeto)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objeto es null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assertNotNull(objeto)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objeto no es null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212121"/>
                          </a:solidFill>
                          <a:latin typeface="Arial" pitchFamily="34" charset="0"/>
                          <a:ea typeface="Arial" pitchFamily="34" charset="-122"/>
                          <a:cs typeface="Arial" pitchFamily="34" charset="-120"/>
                        </a:rPr>
                        <a:t>assertThrows(Tipo.class, () -&gt; { })</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código del lambda lanza esa excepción concreta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2.4 TDD — Desarrollo guiado por pruebas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77724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En el desarrollo normal escribes primero el código y luego los tests. TDD (Test-Driven Development) invierte ese orden: primero escribes un test que falla, luego el mínimo código para que pase, y finalmente mejoras el código sin romper los tests. El ciclo se repite para cada funcionalidad.</a:t>
            </a:r>
            <a:endParaRPr lang="en-US" sz="1500" dirty="0"/>
          </a:p>
        </p:txBody>
      </p:sp>
      <p:sp>
        <p:nvSpPr>
          <p:cNvPr id="6" name="Shape 4"/>
          <p:cNvSpPr/>
          <p:nvPr/>
        </p:nvSpPr>
        <p:spPr>
          <a:xfrm>
            <a:off x="548640" y="1901952"/>
            <a:ext cx="3422904" cy="1325880"/>
          </a:xfrm>
          <a:prstGeom prst="roundRect">
            <a:avLst/>
          </a:prstGeom>
          <a:solidFill>
            <a:srgbClr val="E8EAF6"/>
          </a:solidFill>
          <a:ln w="15875">
            <a:solidFill>
              <a:srgbClr val="3F51B5"/>
            </a:solidFill>
            <a:prstDash val="solid"/>
          </a:ln>
        </p:spPr>
        <p:txBody>
          <a:bodyPr/>
          <a:lstStyle/>
          <a:p>
            <a:endParaRPr lang="es-ES"/>
          </a:p>
        </p:txBody>
      </p:sp>
      <p:sp>
        <p:nvSpPr>
          <p:cNvPr id="7" name="Text 5"/>
          <p:cNvSpPr/>
          <p:nvPr/>
        </p:nvSpPr>
        <p:spPr>
          <a:xfrm>
            <a:off x="621792" y="1975104"/>
            <a:ext cx="3276600" cy="1179576"/>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ROJO</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Escribe el test</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antes de tener</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la implementación</a:t>
            </a:r>
            <a:endParaRPr lang="en-US" sz="1500" dirty="0"/>
          </a:p>
        </p:txBody>
      </p:sp>
      <p:sp>
        <p:nvSpPr>
          <p:cNvPr id="8" name="Text 6"/>
          <p:cNvSpPr/>
          <p:nvPr/>
        </p:nvSpPr>
        <p:spPr>
          <a:xfrm>
            <a:off x="3925824" y="1901952"/>
            <a:ext cx="502920" cy="13258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383024" y="1901952"/>
            <a:ext cx="3422904" cy="1325880"/>
          </a:xfrm>
          <a:prstGeom prst="roundRect">
            <a:avLst/>
          </a:prstGeom>
          <a:solidFill>
            <a:srgbClr val="E8EAF6"/>
          </a:solidFill>
          <a:ln w="15875">
            <a:solidFill>
              <a:srgbClr val="3F51B5"/>
            </a:solidFill>
            <a:prstDash val="solid"/>
          </a:ln>
        </p:spPr>
        <p:txBody>
          <a:bodyPr/>
          <a:lstStyle/>
          <a:p>
            <a:endParaRPr lang="es-ES"/>
          </a:p>
        </p:txBody>
      </p:sp>
      <p:sp>
        <p:nvSpPr>
          <p:cNvPr id="10" name="Text 8"/>
          <p:cNvSpPr/>
          <p:nvPr/>
        </p:nvSpPr>
        <p:spPr>
          <a:xfrm>
            <a:off x="4456176" y="1975104"/>
            <a:ext cx="3276600" cy="1179576"/>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VERDE</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Escribe el código</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mínimo para</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que el test pase</a:t>
            </a:r>
            <a:endParaRPr lang="en-US" sz="1500" dirty="0"/>
          </a:p>
        </p:txBody>
      </p:sp>
      <p:sp>
        <p:nvSpPr>
          <p:cNvPr id="11" name="Text 9"/>
          <p:cNvSpPr/>
          <p:nvPr/>
        </p:nvSpPr>
        <p:spPr>
          <a:xfrm>
            <a:off x="7760208" y="1901952"/>
            <a:ext cx="502920" cy="132588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8217408" y="1901952"/>
            <a:ext cx="3422904" cy="1325880"/>
          </a:xfrm>
          <a:prstGeom prst="roundRect">
            <a:avLst/>
          </a:prstGeom>
          <a:solidFill>
            <a:srgbClr val="E8EAF6"/>
          </a:solidFill>
          <a:ln w="15875">
            <a:solidFill>
              <a:srgbClr val="3F51B5"/>
            </a:solidFill>
            <a:prstDash val="solid"/>
          </a:ln>
        </p:spPr>
        <p:txBody>
          <a:bodyPr/>
          <a:lstStyle/>
          <a:p>
            <a:endParaRPr lang="es-ES"/>
          </a:p>
        </p:txBody>
      </p:sp>
      <p:sp>
        <p:nvSpPr>
          <p:cNvPr id="13" name="Text 11"/>
          <p:cNvSpPr/>
          <p:nvPr/>
        </p:nvSpPr>
        <p:spPr>
          <a:xfrm>
            <a:off x="8290560" y="1975104"/>
            <a:ext cx="3276600" cy="1179576"/>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REFACTORIZA</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Mejora el código</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sin romper</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los tests</a:t>
            </a:r>
            <a:endParaRPr lang="en-US" sz="1500" dirty="0"/>
          </a:p>
        </p:txBody>
      </p:sp>
      <p:sp>
        <p:nvSpPr>
          <p:cNvPr id="14" name="Text 12"/>
          <p:cNvSpPr/>
          <p:nvPr/>
        </p:nvSpPr>
        <p:spPr>
          <a:xfrm>
            <a:off x="548640" y="3520440"/>
            <a:ext cx="11091672" cy="65836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La ventaja de TDD no es solo tener tests: es que el diseño del código mejora porque lo piensas desde el punto de vista de quien lo va a usar, no de quien lo va a implementar. Si algo resulta difícil de testear, probablemente está mal diseñado.</a:t>
            </a:r>
            <a:endParaRPr lang="en-US" sz="1500" dirty="0"/>
          </a:p>
        </p:txBody>
      </p:sp>
      <p:sp>
        <p:nvSpPr>
          <p:cNvPr id="15" name="Shape 13"/>
          <p:cNvSpPr/>
          <p:nvPr/>
        </p:nvSpPr>
        <p:spPr>
          <a:xfrm>
            <a:off x="548640" y="4379976"/>
            <a:ext cx="11091672" cy="749808"/>
          </a:xfrm>
          <a:prstGeom prst="roundRect">
            <a:avLst/>
          </a:prstGeom>
          <a:solidFill>
            <a:srgbClr val="E0F2F1"/>
          </a:solidFill>
          <a:ln w="19050">
            <a:solidFill>
              <a:srgbClr val="009688"/>
            </a:solidFill>
            <a:prstDash val="solid"/>
          </a:ln>
        </p:spPr>
        <p:txBody>
          <a:bodyPr/>
          <a:lstStyle/>
          <a:p>
            <a:endParaRPr lang="es-ES"/>
          </a:p>
        </p:txBody>
      </p:sp>
      <p:sp>
        <p:nvSpPr>
          <p:cNvPr id="16" name="Text 14"/>
          <p:cNvSpPr/>
          <p:nvPr/>
        </p:nvSpPr>
        <p:spPr>
          <a:xfrm>
            <a:off x="777240" y="4453128"/>
            <a:ext cx="10634472" cy="603504"/>
          </a:xfrm>
          <a:prstGeom prst="rect">
            <a:avLst/>
          </a:prstGeom>
          <a:noFill/>
          <a:ln/>
        </p:spPr>
        <p:txBody>
          <a:bodyPr wrap="square" rtlCol="0" anchor="ctr"/>
          <a:lstStyle/>
          <a:p>
            <a:pPr marL="0" indent="0">
              <a:buNone/>
            </a:pPr>
            <a:r>
              <a:rPr lang="en-US" sz="1400" dirty="0">
                <a:solidFill>
                  <a:srgbClr val="212121"/>
                </a:solidFill>
                <a:latin typeface="Arial" pitchFamily="34" charset="0"/>
                <a:ea typeface="Arial" pitchFamily="34" charset="-122"/>
                <a:cs typeface="Arial" pitchFamily="34" charset="-120"/>
              </a:rPr>
              <a:t>El test debe fallar antes de escribir la implementación. Si el test pasa desde el principio, o está mal escrito, o la funcionalidad ya existía. Un test en verde sin haber implementado nada no aporta nada.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3. Tests parametrizados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Shape 3"/>
          <p:cNvSpPr/>
          <p:nvPr/>
        </p:nvSpPr>
        <p:spPr>
          <a:xfrm>
            <a:off x="548640" y="868680"/>
            <a:ext cx="11091672" cy="86868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72237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Cuando se quiere probar el mismo método con varios conjuntos de datos distintos, escribir un @Test por cada combinación lleva a duplicar mucho código. Los tests parametrizados resuelven esto ejecutando un único método de prueba varias veces, una por cada conjunto de datos.</a:t>
            </a:r>
            <a:endParaRPr lang="en-US" sz="1500" dirty="0"/>
          </a:p>
        </p:txBody>
      </p:sp>
      <p:sp>
        <p:nvSpPr>
          <p:cNvPr id="7" name="Text 5"/>
          <p:cNvSpPr/>
          <p:nvPr/>
        </p:nvSpPr>
        <p:spPr>
          <a:xfrm>
            <a:off x="548640" y="1938528"/>
            <a:ext cx="11091672" cy="38404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La anotación principal es @ParameterizedTest, que se combina con una fuente de datos: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459736"/>
          <a:ext cx="11091672" cy="2971800"/>
        </p:xfrm>
        <a:graphic>
          <a:graphicData uri="http://schemas.openxmlformats.org/drawingml/2006/table">
            <a:tbl>
              <a:tblPr/>
              <a:tblGrid>
                <a:gridCol w="2218334">
                  <a:extLst>
                    <a:ext uri="{9D8B030D-6E8A-4147-A177-3AD203B41FA5}">
                      <a16:colId xmlns:a16="http://schemas.microsoft.com/office/drawing/2014/main" val="20000"/>
                    </a:ext>
                  </a:extLst>
                </a:gridCol>
                <a:gridCol w="8873338">
                  <a:extLst>
                    <a:ext uri="{9D8B030D-6E8A-4147-A177-3AD203B41FA5}">
                      <a16:colId xmlns:a16="http://schemas.microsoft.com/office/drawing/2014/main" val="20001"/>
                    </a:ext>
                  </a:extLst>
                </a:gridCol>
              </a:tblGrid>
              <a:tr h="59436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Fuente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Cuándo usarla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@ValueSource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lista de valores de un mismo tipo (ints, strings…)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@CsvSource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Varias columnas de datos separadas por comas, directamente en el código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@CsvFileSource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Los datos se leen desde un archivo CSV externo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@MethodSource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 método aparte genera los datos; útil cuando son más complejos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3. Tests parametrizados — Sin parametrizar vs. con @CsvSource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38404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Ejemplo con Calculadora.sumar(): el mismo resultado con mucho menos código y sin duplicar la lógica de verificación.</a:t>
            </a:r>
            <a:endParaRPr lang="en-US" sz="1500" dirty="0"/>
          </a:p>
        </p:txBody>
      </p:sp>
      <p:sp>
        <p:nvSpPr>
          <p:cNvPr id="6" name="Shape 4"/>
          <p:cNvSpPr/>
          <p:nvPr/>
        </p:nvSpPr>
        <p:spPr>
          <a:xfrm>
            <a:off x="548640" y="1389888"/>
            <a:ext cx="5454396" cy="34747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685800" y="1389888"/>
            <a:ext cx="5180076"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Sin parametrizar — código duplicado</a:t>
            </a:r>
            <a:endParaRPr lang="en-US" sz="1300" dirty="0"/>
          </a:p>
        </p:txBody>
      </p:sp>
      <p:sp>
        <p:nvSpPr>
          <p:cNvPr id="8" name="Shape 6"/>
          <p:cNvSpPr/>
          <p:nvPr/>
        </p:nvSpPr>
        <p:spPr>
          <a:xfrm>
            <a:off x="6185916" y="1389888"/>
            <a:ext cx="5454396" cy="347472"/>
          </a:xfrm>
          <a:prstGeom prst="rect">
            <a:avLst/>
          </a:prstGeom>
          <a:solidFill>
            <a:srgbClr val="009688"/>
          </a:solidFill>
          <a:ln w="12700">
            <a:solidFill>
              <a:srgbClr val="009688"/>
            </a:solidFill>
            <a:prstDash val="solid"/>
          </a:ln>
        </p:spPr>
        <p:txBody>
          <a:bodyPr/>
          <a:lstStyle/>
          <a:p>
            <a:endParaRPr lang="es-ES"/>
          </a:p>
        </p:txBody>
      </p:sp>
      <p:sp>
        <p:nvSpPr>
          <p:cNvPr id="9" name="Text 7"/>
          <p:cNvSpPr/>
          <p:nvPr/>
        </p:nvSpPr>
        <p:spPr>
          <a:xfrm>
            <a:off x="6323076" y="1389888"/>
            <a:ext cx="5180076"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Con @CsvSource — un solo test</a:t>
            </a:r>
            <a:endParaRPr lang="en-US" sz="1300" dirty="0"/>
          </a:p>
        </p:txBody>
      </p:sp>
      <p:sp>
        <p:nvSpPr>
          <p:cNvPr id="10" name="Shape 8"/>
          <p:cNvSpPr/>
          <p:nvPr/>
        </p:nvSpPr>
        <p:spPr>
          <a:xfrm>
            <a:off x="548640" y="1828800"/>
            <a:ext cx="5454396" cy="2606040"/>
          </a:xfrm>
          <a:prstGeom prst="rect">
            <a:avLst/>
          </a:prstGeom>
          <a:solidFill>
            <a:srgbClr val="ECEFF1"/>
          </a:solidFill>
          <a:ln w="12700">
            <a:solidFill>
              <a:srgbClr val="EEEEEE"/>
            </a:solidFill>
            <a:prstDash val="solid"/>
          </a:ln>
        </p:spPr>
        <p:txBody>
          <a:bodyPr/>
          <a:lstStyle/>
          <a:p>
            <a:endParaRPr lang="es-ES"/>
          </a:p>
        </p:txBody>
      </p:sp>
      <p:sp>
        <p:nvSpPr>
          <p:cNvPr id="11" name="Shape 9"/>
          <p:cNvSpPr/>
          <p:nvPr/>
        </p:nvSpPr>
        <p:spPr>
          <a:xfrm>
            <a:off x="548640" y="1828800"/>
            <a:ext cx="64008" cy="2606040"/>
          </a:xfrm>
          <a:prstGeom prst="rect">
            <a:avLst/>
          </a:prstGeom>
          <a:solidFill>
            <a:srgbClr val="009688"/>
          </a:solidFill>
          <a:ln w="12700">
            <a:solidFill>
              <a:srgbClr val="009688"/>
            </a:solidFill>
            <a:prstDash val="solid"/>
          </a:ln>
        </p:spPr>
        <p:txBody>
          <a:bodyPr/>
          <a:lstStyle/>
          <a:p>
            <a:endParaRPr lang="es-ES"/>
          </a:p>
        </p:txBody>
      </p:sp>
      <p:sp>
        <p:nvSpPr>
          <p:cNvPr id="12" name="Text 10"/>
          <p:cNvSpPr/>
          <p:nvPr/>
        </p:nvSpPr>
        <p:spPr>
          <a:xfrm>
            <a:off x="749808" y="1920240"/>
            <a:ext cx="5106924" cy="242316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testSumarValidos()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assertEquals(5, calc.sumar(2, 3));</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assertEquals(7, calc.sumar(3, 4));</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testSumarNegativo()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assertThrows(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IllegalArgumentException.class,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-&gt; calc.sumar(-1, 3));</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6185916" y="1828800"/>
            <a:ext cx="5454396" cy="2606040"/>
          </a:xfrm>
          <a:prstGeom prst="rect">
            <a:avLst/>
          </a:prstGeom>
          <a:solidFill>
            <a:srgbClr val="ECEFF1"/>
          </a:solidFill>
          <a:ln w="12700">
            <a:solidFill>
              <a:srgbClr val="EEEEEE"/>
            </a:solidFill>
            <a:prstDash val="solid"/>
          </a:ln>
        </p:spPr>
        <p:txBody>
          <a:bodyPr/>
          <a:lstStyle/>
          <a:p>
            <a:endParaRPr lang="es-ES"/>
          </a:p>
        </p:txBody>
      </p:sp>
      <p:sp>
        <p:nvSpPr>
          <p:cNvPr id="14" name="Shape 12"/>
          <p:cNvSpPr/>
          <p:nvPr/>
        </p:nvSpPr>
        <p:spPr>
          <a:xfrm>
            <a:off x="6185916" y="1828800"/>
            <a:ext cx="64008" cy="2606040"/>
          </a:xfrm>
          <a:prstGeom prst="rect">
            <a:avLst/>
          </a:prstGeom>
          <a:solidFill>
            <a:srgbClr val="009688"/>
          </a:solidFill>
          <a:ln w="12700">
            <a:solidFill>
              <a:srgbClr val="009688"/>
            </a:solidFill>
            <a:prstDash val="solid"/>
          </a:ln>
        </p:spPr>
        <p:txBody>
          <a:bodyPr/>
          <a:lstStyle/>
          <a:p>
            <a:endParaRPr lang="es-ES"/>
          </a:p>
        </p:txBody>
      </p:sp>
      <p:sp>
        <p:nvSpPr>
          <p:cNvPr id="15" name="Text 13"/>
          <p:cNvSpPr/>
          <p:nvPr/>
        </p:nvSpPr>
        <p:spPr>
          <a:xfrm>
            <a:off x="6387084" y="1920240"/>
            <a:ext cx="5106924" cy="242316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@ParameterizedTest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@CsvSource({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"2, 3, 5",</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"3, 4, 7"</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testSumarValidos(int a,</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int b, int esperado)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assertEquals(esperado,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calc.sumar(a, b));</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3. Tests parametrizados — @ValueSource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621792"/>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Cuando solo se necesita un parámetro por caso, @ValueSource es más directo: se pasa una lista de valores del mismo tipo y JUnit ejecuta el test una vez por cada elemento de la lista.</a:t>
            </a:r>
            <a:endParaRPr lang="en-US" sz="1500" dirty="0"/>
          </a:p>
        </p:txBody>
      </p:sp>
      <p:sp>
        <p:nvSpPr>
          <p:cNvPr id="6" name="Shape 4"/>
          <p:cNvSpPr/>
          <p:nvPr/>
        </p:nvSpPr>
        <p:spPr>
          <a:xfrm>
            <a:off x="548640" y="1673352"/>
            <a:ext cx="11091672" cy="384048"/>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673352"/>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Ejemplo: validar que varios números son pares</a:t>
            </a:r>
            <a:endParaRPr lang="en-US" sz="1500" dirty="0"/>
          </a:p>
        </p:txBody>
      </p:sp>
      <p:sp>
        <p:nvSpPr>
          <p:cNvPr id="8" name="Shape 6"/>
          <p:cNvSpPr/>
          <p:nvPr/>
        </p:nvSpPr>
        <p:spPr>
          <a:xfrm>
            <a:off x="548640" y="2194560"/>
            <a:ext cx="11091672" cy="315468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194560"/>
            <a:ext cx="64008" cy="3154680"/>
          </a:xfrm>
          <a:prstGeom prst="rect">
            <a:avLst/>
          </a:prstGeom>
          <a:solidFill>
            <a:srgbClr val="009688"/>
          </a:solidFill>
          <a:ln w="12700">
            <a:solidFill>
              <a:srgbClr val="009688"/>
            </a:solidFill>
            <a:prstDash val="solid"/>
          </a:ln>
        </p:spPr>
        <p:txBody>
          <a:bodyPr/>
          <a:lstStyle/>
          <a:p>
            <a:endParaRPr lang="es-ES"/>
          </a:p>
        </p:txBody>
      </p:sp>
      <p:sp>
        <p:nvSpPr>
          <p:cNvPr id="10" name="Text 8"/>
          <p:cNvSpPr/>
          <p:nvPr/>
        </p:nvSpPr>
        <p:spPr>
          <a:xfrm>
            <a:off x="749808" y="2286000"/>
            <a:ext cx="10744200" cy="297180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 JUnit ejecuta este test 4 veces: con 2, con 4, con 6 y con 8</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@ParameterizedTest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@ValueSource(ints = {2, 4, 6, 8})</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testEsParConNumerosValidos(int numero)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assertTrue(validador.esPar(numero));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JUnit ejecuta este test 3 veces: con -2, con -4 y con -6</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@ParameterizedTest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@ValueSource(ints = {-2, -4, -6})</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testEsParConNumerosNegativos(int numero)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assertThrows(IllegalArgumentException.class,</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-&gt; validador.esPar(numero));</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4. Dobles de prueba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74980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A veces probar una clase implica, sin querer, probar también sus dependencias: una base de datos, un servicio web, un archivo externo… Eso complica la prueba y mezcla responsabilidades. Los dobles de prueba son objetos que sustituyen esas dependencias reales dentro del test.</a:t>
            </a:r>
            <a:endParaRPr lang="en-US" sz="1500" dirty="0"/>
          </a:p>
        </p:txBody>
      </p:sp>
      <p:sp>
        <p:nvSpPr>
          <p:cNvPr id="6" name="Shape 4"/>
          <p:cNvSpPr/>
          <p:nvPr/>
        </p:nvSpPr>
        <p:spPr>
          <a:xfrm>
            <a:off x="548640" y="1801368"/>
            <a:ext cx="11091672" cy="384048"/>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801368"/>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Tipos de dobles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22576"/>
          <a:ext cx="11091672" cy="3218688"/>
        </p:xfrm>
        <a:graphic>
          <a:graphicData uri="http://schemas.openxmlformats.org/drawingml/2006/table">
            <a:tbl>
              <a:tblPr/>
              <a:tblGrid>
                <a:gridCol w="1109167">
                  <a:extLst>
                    <a:ext uri="{9D8B030D-6E8A-4147-A177-3AD203B41FA5}">
                      <a16:colId xmlns:a16="http://schemas.microsoft.com/office/drawing/2014/main" val="20000"/>
                    </a:ext>
                  </a:extLst>
                </a:gridCol>
                <a:gridCol w="9982505">
                  <a:extLst>
                    <a:ext uri="{9D8B030D-6E8A-4147-A177-3AD203B41FA5}">
                      <a16:colId xmlns:a16="http://schemas.microsoft.com/office/drawing/2014/main" val="20001"/>
                    </a:ext>
                  </a:extLst>
                </a:gridCol>
              </a:tblGrid>
              <a:tr h="80467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Qué hace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804672">
                <a:tc>
                  <a:txBody>
                    <a:bodyPr/>
                    <a:lstStyle/>
                    <a:p>
                      <a:pPr marL="0" indent="0">
                        <a:buNone/>
                      </a:pPr>
                      <a:r>
                        <a:rPr lang="en-US" sz="1300" b="1" dirty="0">
                          <a:solidFill>
                            <a:srgbClr val="212121"/>
                          </a:solidFill>
                          <a:latin typeface="Arial" pitchFamily="34" charset="0"/>
                          <a:ea typeface="Arial" pitchFamily="34" charset="-122"/>
                          <a:cs typeface="Arial" pitchFamily="34" charset="-120"/>
                        </a:rPr>
                        <a:t>Mock</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Objeto falso que simula una dependencia real. Se define qué devuelve cada método y se puede verificar si fue llamado y con qué parámetros.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4672">
                <a:tc>
                  <a:txBody>
                    <a:bodyPr/>
                    <a:lstStyle/>
                    <a:p>
                      <a:pPr marL="0" indent="0">
                        <a:buNone/>
                      </a:pPr>
                      <a:r>
                        <a:rPr lang="en-US" sz="1300" b="1" dirty="0">
                          <a:solidFill>
                            <a:srgbClr val="212121"/>
                          </a:solidFill>
                          <a:latin typeface="Arial" pitchFamily="34" charset="0"/>
                          <a:ea typeface="Arial" pitchFamily="34" charset="-122"/>
                          <a:cs typeface="Arial" pitchFamily="34" charset="-120"/>
                        </a:rPr>
                        <a:t>Stub</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Versión simplificada que se limita a devolver datos predefinidos, sin la lógica de verificación de un mock.</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04672">
                <a:tc>
                  <a:txBody>
                    <a:bodyPr/>
                    <a:lstStyle/>
                    <a:p>
                      <a:pPr marL="0" indent="0">
                        <a:buNone/>
                      </a:pPr>
                      <a:r>
                        <a:rPr lang="en-US" sz="1300" b="1" dirty="0">
                          <a:solidFill>
                            <a:srgbClr val="212121"/>
                          </a:solidFill>
                          <a:latin typeface="Arial" pitchFamily="34" charset="0"/>
                          <a:ea typeface="Arial" pitchFamily="34" charset="-122"/>
                          <a:cs typeface="Arial" pitchFamily="34" charset="-120"/>
                        </a:rPr>
                        <a:t>Dummy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Objeto sin funcionalidad real; solo existe porque el código lo necesita para ejecutarse (ej: parámetro obligatorio que no influye en el resultado).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4.1 Mocks con Mockito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621792"/>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Mockito es la librería más usada en Java para crear mocks. Permite definir qué devuelve cada método de una dependencia falsa y verificar que fue llamado correctamente durante el test.</a:t>
            </a:r>
            <a:endParaRPr lang="en-US" sz="1500" dirty="0"/>
          </a:p>
        </p:txBody>
      </p:sp>
      <p:sp>
        <p:nvSpPr>
          <p:cNvPr id="6" name="Shape 4"/>
          <p:cNvSpPr/>
          <p:nvPr/>
        </p:nvSpPr>
        <p:spPr>
          <a:xfrm>
            <a:off x="548640" y="1673352"/>
            <a:ext cx="11091672" cy="384048"/>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673352"/>
            <a:ext cx="10725912" cy="384048"/>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Añadir Mockito como dependencia en el pom.xml</a:t>
            </a:r>
            <a:endParaRPr lang="en-US" sz="1500" dirty="0"/>
          </a:p>
        </p:txBody>
      </p:sp>
      <p:sp>
        <p:nvSpPr>
          <p:cNvPr id="8" name="Shape 6"/>
          <p:cNvSpPr/>
          <p:nvPr/>
        </p:nvSpPr>
        <p:spPr>
          <a:xfrm>
            <a:off x="548640" y="2194560"/>
            <a:ext cx="11091672" cy="1481328"/>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194560"/>
            <a:ext cx="64008" cy="1481328"/>
          </a:xfrm>
          <a:prstGeom prst="rect">
            <a:avLst/>
          </a:prstGeom>
          <a:solidFill>
            <a:srgbClr val="009688"/>
          </a:solidFill>
          <a:ln w="12700">
            <a:solidFill>
              <a:srgbClr val="009688"/>
            </a:solidFill>
            <a:prstDash val="solid"/>
          </a:ln>
        </p:spPr>
        <p:txBody>
          <a:bodyPr/>
          <a:lstStyle/>
          <a:p>
            <a:endParaRPr lang="es-ES"/>
          </a:p>
        </p:txBody>
      </p:sp>
      <p:sp>
        <p:nvSpPr>
          <p:cNvPr id="10" name="Text 8"/>
          <p:cNvSpPr/>
          <p:nvPr/>
        </p:nvSpPr>
        <p:spPr>
          <a:xfrm>
            <a:off x="749808" y="2286000"/>
            <a:ext cx="10744200" cy="1298448"/>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&lt;dependency&gt;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&lt;groupId&gt;org.mockito&lt;/groupId&gt;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&lt;artifactId&gt;mockito-core&lt;/artifactId&gt;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&lt;version&gt;5.15.2&lt;/version&gt;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&lt;scope&gt;test&lt;/scope&gt;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&lt;/dependency&gt;</a:t>
            </a:r>
            <a:endParaRPr lang="en-US" sz="1200" dirty="0"/>
          </a:p>
        </p:txBody>
      </p:sp>
      <p:sp>
        <p:nvSpPr>
          <p:cNvPr id="11" name="Text 9"/>
          <p:cNvSpPr/>
          <p:nvPr/>
        </p:nvSpPr>
        <p:spPr>
          <a:xfrm>
            <a:off x="548640" y="3904488"/>
            <a:ext cx="11091672" cy="804672"/>
          </a:xfrm>
          <a:prstGeom prst="rect">
            <a:avLst/>
          </a:prstGeom>
          <a:noFill/>
          <a:ln/>
        </p:spPr>
        <p:txBody>
          <a:bodyPr wrap="square" rtlCol="0" anchor="t"/>
          <a:lstStyle/>
          <a:p>
            <a:pPr marL="0" indent="0">
              <a:buNone/>
            </a:pPr>
            <a:r>
              <a:rPr lang="en-US" sz="1400" dirty="0">
                <a:solidFill>
                  <a:srgbClr val="212121"/>
                </a:solidFill>
                <a:latin typeface="Arial" pitchFamily="34" charset="0"/>
                <a:ea typeface="Arial" pitchFamily="34" charset="-122"/>
                <a:cs typeface="Arial" pitchFamily="34" charset="-120"/>
              </a:rPr>
              <a:t>El problema sin mock: si CalculadoraService usa Calculadora internamente y Calculadora tiene un error, el test de CalculadoraService fallaría aunque el servicio estuviera bien escrito. Con un mock controlamos exactamente qué devuelve Calculadora, y el test solo depende de la lógica del propio servicio.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4.1 Mocks con Mockito — Ejemplo completo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Shape 3"/>
          <p:cNvSpPr/>
          <p:nvPr/>
        </p:nvSpPr>
        <p:spPr>
          <a:xfrm>
            <a:off x="548640" y="868680"/>
            <a:ext cx="4788896" cy="347472"/>
          </a:xfrm>
          <a:prstGeom prst="rect">
            <a:avLst/>
          </a:prstGeom>
          <a:solidFill>
            <a:srgbClr val="3F51B5"/>
          </a:solidFill>
          <a:ln w="12700">
            <a:solidFill>
              <a:srgbClr val="3F51B5"/>
            </a:solidFill>
            <a:prstDash val="solid"/>
          </a:ln>
        </p:spPr>
        <p:txBody>
          <a:bodyPr/>
          <a:lstStyle/>
          <a:p>
            <a:endParaRPr lang="es-ES"/>
          </a:p>
        </p:txBody>
      </p:sp>
      <p:sp>
        <p:nvSpPr>
          <p:cNvPr id="6" name="Text 4"/>
          <p:cNvSpPr/>
          <p:nvPr/>
        </p:nvSpPr>
        <p:spPr>
          <a:xfrm>
            <a:off x="685800" y="868680"/>
            <a:ext cx="4514576"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CalculadoraService.java</a:t>
            </a:r>
            <a:endParaRPr lang="en-US" sz="1300" dirty="0"/>
          </a:p>
        </p:txBody>
      </p:sp>
      <p:sp>
        <p:nvSpPr>
          <p:cNvPr id="7" name="Shape 5"/>
          <p:cNvSpPr/>
          <p:nvPr/>
        </p:nvSpPr>
        <p:spPr>
          <a:xfrm>
            <a:off x="5520416" y="868680"/>
            <a:ext cx="6119896" cy="347472"/>
          </a:xfrm>
          <a:prstGeom prst="rect">
            <a:avLst/>
          </a:prstGeom>
          <a:solidFill>
            <a:srgbClr val="009688"/>
          </a:solidFill>
          <a:ln w="12700">
            <a:solidFill>
              <a:srgbClr val="009688"/>
            </a:solidFill>
            <a:prstDash val="solid"/>
          </a:ln>
        </p:spPr>
        <p:txBody>
          <a:bodyPr/>
          <a:lstStyle/>
          <a:p>
            <a:endParaRPr lang="es-ES"/>
          </a:p>
        </p:txBody>
      </p:sp>
      <p:sp>
        <p:nvSpPr>
          <p:cNvPr id="8" name="Text 6"/>
          <p:cNvSpPr/>
          <p:nvPr/>
        </p:nvSpPr>
        <p:spPr>
          <a:xfrm>
            <a:off x="5657576" y="868680"/>
            <a:ext cx="5845576"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CalculadoraServiceTest.java</a:t>
            </a:r>
            <a:endParaRPr lang="en-US" sz="1300" dirty="0"/>
          </a:p>
        </p:txBody>
      </p:sp>
      <p:sp>
        <p:nvSpPr>
          <p:cNvPr id="9" name="Shape 7"/>
          <p:cNvSpPr/>
          <p:nvPr/>
        </p:nvSpPr>
        <p:spPr>
          <a:xfrm>
            <a:off x="548640" y="1325880"/>
            <a:ext cx="4788896" cy="3108960"/>
          </a:xfrm>
          <a:prstGeom prst="rect">
            <a:avLst/>
          </a:prstGeom>
          <a:solidFill>
            <a:srgbClr val="ECEFF1"/>
          </a:solidFill>
          <a:ln w="12700">
            <a:solidFill>
              <a:srgbClr val="EEEEEE"/>
            </a:solidFill>
            <a:prstDash val="solid"/>
          </a:ln>
        </p:spPr>
        <p:txBody>
          <a:bodyPr/>
          <a:lstStyle/>
          <a:p>
            <a:endParaRPr lang="es-ES"/>
          </a:p>
        </p:txBody>
      </p:sp>
      <p:sp>
        <p:nvSpPr>
          <p:cNvPr id="10" name="Shape 8"/>
          <p:cNvSpPr/>
          <p:nvPr/>
        </p:nvSpPr>
        <p:spPr>
          <a:xfrm>
            <a:off x="548640" y="1325880"/>
            <a:ext cx="64008" cy="3108960"/>
          </a:xfrm>
          <a:prstGeom prst="rect">
            <a:avLst/>
          </a:prstGeom>
          <a:solidFill>
            <a:srgbClr val="009688"/>
          </a:solidFill>
          <a:ln w="12700">
            <a:solidFill>
              <a:srgbClr val="009688"/>
            </a:solidFill>
            <a:prstDash val="solid"/>
          </a:ln>
        </p:spPr>
        <p:txBody>
          <a:bodyPr/>
          <a:lstStyle/>
          <a:p>
            <a:endParaRPr lang="es-ES"/>
          </a:p>
        </p:txBody>
      </p:sp>
      <p:sp>
        <p:nvSpPr>
          <p:cNvPr id="11" name="Text 9"/>
          <p:cNvSpPr/>
          <p:nvPr/>
        </p:nvSpPr>
        <p:spPr>
          <a:xfrm>
            <a:off x="749808" y="1417320"/>
            <a:ext cx="4441424" cy="292608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public class CalculadoraService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private Calculadora calc;</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public CalculadoraService(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Calculadora calc)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this.calc = calc;</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public int dobleDeLaSuma(</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int a, int b)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int suma = calc.sumar(a, b);</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return calc.multiplicar(suma, 2);</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
        <p:nvSpPr>
          <p:cNvPr id="12" name="Shape 10"/>
          <p:cNvSpPr/>
          <p:nvPr/>
        </p:nvSpPr>
        <p:spPr>
          <a:xfrm>
            <a:off x="5520416" y="1325880"/>
            <a:ext cx="6119896" cy="4114800"/>
          </a:xfrm>
          <a:prstGeom prst="rect">
            <a:avLst/>
          </a:prstGeom>
          <a:solidFill>
            <a:srgbClr val="ECEFF1"/>
          </a:solidFill>
          <a:ln w="12700">
            <a:solidFill>
              <a:srgbClr val="EEEEEE"/>
            </a:solidFill>
            <a:prstDash val="solid"/>
          </a:ln>
        </p:spPr>
        <p:txBody>
          <a:bodyPr/>
          <a:lstStyle/>
          <a:p>
            <a:endParaRPr lang="es-ES"/>
          </a:p>
        </p:txBody>
      </p:sp>
      <p:sp>
        <p:nvSpPr>
          <p:cNvPr id="13" name="Shape 11"/>
          <p:cNvSpPr/>
          <p:nvPr/>
        </p:nvSpPr>
        <p:spPr>
          <a:xfrm>
            <a:off x="5520416" y="1325880"/>
            <a:ext cx="64008" cy="4114800"/>
          </a:xfrm>
          <a:prstGeom prst="rect">
            <a:avLst/>
          </a:prstGeom>
          <a:solidFill>
            <a:srgbClr val="009688"/>
          </a:solidFill>
          <a:ln w="12700">
            <a:solidFill>
              <a:srgbClr val="009688"/>
            </a:solidFill>
            <a:prstDash val="solid"/>
          </a:ln>
        </p:spPr>
        <p:txBody>
          <a:bodyPr/>
          <a:lstStyle/>
          <a:p>
            <a:endParaRPr lang="es-ES"/>
          </a:p>
        </p:txBody>
      </p:sp>
      <p:sp>
        <p:nvSpPr>
          <p:cNvPr id="14" name="Text 12"/>
          <p:cNvSpPr/>
          <p:nvPr/>
        </p:nvSpPr>
        <p:spPr>
          <a:xfrm>
            <a:off x="5721584" y="1417320"/>
            <a:ext cx="5772424" cy="2926080"/>
          </a:xfrm>
          <a:prstGeom prst="rect">
            <a:avLst/>
          </a:prstGeom>
          <a:noFill/>
          <a:ln/>
        </p:spPr>
        <p:txBody>
          <a:bodyPr wrap="square" rtlCol="0" anchor="t"/>
          <a:lstStyle/>
          <a:p>
            <a:pPr marL="0" indent="0">
              <a:buNone/>
            </a:pPr>
            <a:r>
              <a:rPr lang="en-US" sz="1200" dirty="0">
                <a:solidFill>
                  <a:srgbClr val="263238"/>
                </a:solidFill>
                <a:latin typeface="Courier New" pitchFamily="34" charset="0"/>
                <a:ea typeface="Courier New" pitchFamily="34" charset="-122"/>
                <a:cs typeface="Courier New" pitchFamily="34" charset="-120"/>
              </a:rPr>
              <a:t>@Test</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void testDobleDeLaSuma()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1. Crear el mock</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Calculadora mock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mock(Calculadora.class);</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2. Configurar qué devuelve</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when(mock.sumar(2, 3))</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.thenReturn(5);</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when(mock.multiplicar(5, 2))</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.thenReturn(10);</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3. Instanciar con el mock</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CalculadoraService svc =</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new CalculadoraService(mock);</a:t>
            </a:r>
            <a:endParaRPr lang="en-US" sz="1200" dirty="0"/>
          </a:p>
          <a:p>
            <a:pPr marL="0" indent="0">
              <a:buNone/>
            </a:pP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 4. Ejecutar y verificar</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assertEquals(10,</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      svc.dobleDeLaSuma(2, 3));</a:t>
            </a:r>
            <a:endParaRPr lang="en-US" sz="1200" dirty="0"/>
          </a:p>
          <a:p>
            <a:pPr marL="0" indent="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4.1 Mocks con Mockito — ¿Por qué aislar?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Verificación y Pruebas  ·  Pruebas unitarias</a:t>
            </a:r>
            <a:endParaRPr lang="en-US" sz="1100" dirty="0"/>
          </a:p>
        </p:txBody>
      </p:sp>
      <p:sp>
        <p:nvSpPr>
          <p:cNvPr id="5" name="Text 3"/>
          <p:cNvSpPr/>
          <p:nvPr/>
        </p:nvSpPr>
        <p:spPr>
          <a:xfrm>
            <a:off x="548640" y="868680"/>
            <a:ext cx="11091672" cy="841248"/>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Cuando un test usa un mock en lugar de la dependencia real, el resultado solo depende de la lógica de la clase bajo prueba. Si el test falla, el error está en esa clase, no en la dependencia. Sin mock, un error en Calculadora haría fallar también el test de CalculadoraService, aunque el servicio esté bien escrito.</a:t>
            </a:r>
            <a:endParaRPr lang="en-US" sz="1500" dirty="0"/>
          </a:p>
        </p:txBody>
      </p:sp>
      <p:sp>
        <p:nvSpPr>
          <p:cNvPr id="6" name="Shape 4"/>
          <p:cNvSpPr/>
          <p:nvPr/>
        </p:nvSpPr>
        <p:spPr>
          <a:xfrm>
            <a:off x="548640" y="1911096"/>
            <a:ext cx="11091672" cy="1078992"/>
          </a:xfrm>
          <a:prstGeom prst="roundRect">
            <a:avLst/>
          </a:prstGeom>
          <a:solidFill>
            <a:srgbClr val="E0F2F1"/>
          </a:solidFill>
          <a:ln w="19050">
            <a:solidFill>
              <a:srgbClr val="009688"/>
            </a:solidFill>
            <a:prstDash val="solid"/>
          </a:ln>
        </p:spPr>
        <p:txBody>
          <a:bodyPr/>
          <a:lstStyle/>
          <a:p>
            <a:endParaRPr lang="es-ES"/>
          </a:p>
        </p:txBody>
      </p:sp>
      <p:sp>
        <p:nvSpPr>
          <p:cNvPr id="7" name="Text 5"/>
          <p:cNvSpPr/>
          <p:nvPr/>
        </p:nvSpPr>
        <p:spPr>
          <a:xfrm>
            <a:off x="777240" y="1984248"/>
            <a:ext cx="10634472" cy="93268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cocinero y sus herramientas: imagina que quieres evaluar a un cocinero (CalculadoraService) que usa ciertas herramientas (Calculadora). Si quieres juzgar solo al cocinero, no tiene sentido usar herramientas defectuosas de verdad: le das herramientas simuladas que sabes que funcionan perfectamente. Eso es exactamente lo que hace un mock dentro de una prueba unitaria.</a:t>
            </a:r>
            <a:endParaRPr lang="en-US" sz="1500" dirty="0"/>
          </a:p>
        </p:txBody>
      </p:sp>
      <p:sp>
        <p:nvSpPr>
          <p:cNvPr id="8" name="Shape 6"/>
          <p:cNvSpPr/>
          <p:nvPr/>
        </p:nvSpPr>
        <p:spPr>
          <a:xfrm>
            <a:off x="548640" y="3264408"/>
            <a:ext cx="3422904" cy="1005840"/>
          </a:xfrm>
          <a:prstGeom prst="roundRect">
            <a:avLst/>
          </a:prstGeom>
          <a:solidFill>
            <a:srgbClr val="E8EAF6"/>
          </a:solidFill>
          <a:ln w="15875">
            <a:solidFill>
              <a:srgbClr val="3F51B5"/>
            </a:solidFill>
            <a:prstDash val="solid"/>
          </a:ln>
        </p:spPr>
        <p:txBody>
          <a:bodyPr/>
          <a:lstStyle/>
          <a:p>
            <a:endParaRPr lang="es-ES"/>
          </a:p>
        </p:txBody>
      </p:sp>
      <p:sp>
        <p:nvSpPr>
          <p:cNvPr id="9" name="Text 7"/>
          <p:cNvSpPr/>
          <p:nvPr/>
        </p:nvSpPr>
        <p:spPr>
          <a:xfrm>
            <a:off x="621792" y="3337560"/>
            <a:ext cx="3276600" cy="859536"/>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Test</a:t>
            </a:r>
            <a:endParaRPr lang="en-US" sz="1400" dirty="0"/>
          </a:p>
        </p:txBody>
      </p:sp>
      <p:sp>
        <p:nvSpPr>
          <p:cNvPr id="10" name="Text 8"/>
          <p:cNvSpPr/>
          <p:nvPr/>
        </p:nvSpPr>
        <p:spPr>
          <a:xfrm>
            <a:off x="3925824" y="3264408"/>
            <a:ext cx="502920" cy="100584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4383024" y="3264408"/>
            <a:ext cx="3422904" cy="100584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4456176" y="3337560"/>
            <a:ext cx="3276600" cy="859536"/>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Clase</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bajo prueba</a:t>
            </a:r>
            <a:endParaRPr lang="en-US" sz="1400" dirty="0"/>
          </a:p>
        </p:txBody>
      </p:sp>
      <p:sp>
        <p:nvSpPr>
          <p:cNvPr id="13" name="Text 11"/>
          <p:cNvSpPr/>
          <p:nvPr/>
        </p:nvSpPr>
        <p:spPr>
          <a:xfrm>
            <a:off x="7760208" y="3264408"/>
            <a:ext cx="502920" cy="100584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8217408" y="3264408"/>
            <a:ext cx="3422904" cy="100584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8290560" y="3337560"/>
            <a:ext cx="3276600" cy="859536"/>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Mock</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(devuelve valor</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controlado)</a:t>
            </a:r>
            <a:endParaRPr lang="en-US" sz="1400" dirty="0"/>
          </a:p>
        </p:txBody>
      </p:sp>
      <p:sp>
        <p:nvSpPr>
          <p:cNvPr id="16" name="Text 14"/>
          <p:cNvSpPr/>
          <p:nvPr/>
        </p:nvSpPr>
        <p:spPr>
          <a:xfrm>
            <a:off x="548640" y="4453128"/>
            <a:ext cx="11091672" cy="438912"/>
          </a:xfrm>
          <a:prstGeom prst="rect">
            <a:avLst/>
          </a:prstGeom>
          <a:noFill/>
          <a:ln/>
        </p:spPr>
        <p:txBody>
          <a:bodyPr wrap="square" rtlCol="0" anchor="t"/>
          <a:lstStyle/>
          <a:p>
            <a:pPr marL="0" indent="0">
              <a:buNone/>
            </a:pPr>
            <a:r>
              <a:rPr lang="en-US" sz="1300" dirty="0">
                <a:solidFill>
                  <a:srgbClr val="757575"/>
                </a:solidFill>
                <a:latin typeface="Arial" pitchFamily="34" charset="0"/>
                <a:ea typeface="Arial" pitchFamily="34" charset="-122"/>
                <a:cs typeface="Arial" pitchFamily="34" charset="-120"/>
              </a:rPr>
              <a:t>El test controla exactamente lo que devuelve el mock, de modo que el resultado solo depende de la lógica de la clase que se está evaluando.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2365</Words>
  <Application>Microsoft Office PowerPoint</Application>
  <PresentationFormat>Panorámica</PresentationFormat>
  <Paragraphs>279</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VENTURA EDO, AITOR</cp:lastModifiedBy>
  <cp:revision>2</cp:revision>
  <dcterms:created xsi:type="dcterms:W3CDTF">2026-06-24T14:08:12Z</dcterms:created>
  <dcterms:modified xsi:type="dcterms:W3CDTF">2026-06-25T09:21:27Z</dcterms:modified>
</cp:coreProperties>
</file>
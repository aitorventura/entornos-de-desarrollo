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03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 —  TEMA 5: DIAGRAMAS DE CLASES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UML, herramientas y conceptos básicos de la POO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5 — Diagramas de Clases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5 · UML, herramientas y conceptos básicos de la POO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9601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(Unified Modeling Language) es el estándar para diseñar y documentar sistemas de software orientados a objetos. Se creó en 1997 y define un conjunto de diagramas gráficos para visualizar la estructura y el comportamiento de una aplicación antes de programarla.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11091672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5740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grandes familias de diagramas UML 2.5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5454396" cy="34747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51760"/>
            <a:ext cx="52715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(qué piezas tiene)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85916" y="2651760"/>
            <a:ext cx="5454396" cy="347472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77356" y="2651760"/>
            <a:ext cx="52715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Comportamiento (qué hace)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090672"/>
            <a:ext cx="545439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Clases (este tema)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Objetos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Paquetes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85916" y="3090672"/>
            <a:ext cx="545439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de uso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Secuencia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Comunicación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462272"/>
            <a:ext cx="11091672" cy="64008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535424"/>
            <a:ext cx="106344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es una herramienta de comunicación, no un fin en sí mismo. En metodologías ágiles se usa de forma ligera; en proyectos más formales se documenta más.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DIA: herramienta principal del curso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5 · UML, herramientas y conceptos básicos de la POO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9144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Diseñar diagramas UML puede hacerse de diversas maneras. DIA es la herramienta que usamos en clase: de código abierto, gratuita y ligera, con paletas específicas para UML, bases de datos y diagramas de flujo.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2107692" y="1956816"/>
            <a:ext cx="7973568" cy="335584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pic>
        <p:nvPicPr>
          <p:cNvPr id="8" name="Image 0" descr="C:/Users/Aitor/Documents/apuntes-profe/entornos-de-desarrollo/docs/tema5/img/dia-interfaz-gene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1415" y="2011680"/>
            <a:ext cx="5046122" cy="3246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534924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lienzo a la derecha y las paletas de herramientas a la izquierda, con la paleta UML seleccionada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DIA: configuración importante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5 · UML, herramientas y conceptos básicos de la POO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9144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poder generar código a partir de un archivo DIA, hay que desactivar la compresión antes de guardar. Archivo → Preferencias → Diagrama por defecto, y desmarcar "Comprimir archivos guardados". Sin esto, dia2code no puede leer el archivo.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976372" y="2048256"/>
            <a:ext cx="6236208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pic>
        <p:nvPicPr>
          <p:cNvPr id="8" name="Image 0" descr="C:/Users/Aitor/Documents/apuntes-profe/entornos-de-desarrollo/docs/tema5/img/dia-preferencias-desactivar-compre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1236" y="2106852"/>
            <a:ext cx="6126480" cy="33758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557784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 → Preferencias → Diagrama por defecto: desmarcar "Comprimir archivos guardados"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visuales (drag &amp; drop)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5 · UML, herramientas y conceptos básicos de la POO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8229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Estas aplicaciones ofrecen paletas de componentes UML pre-dibujados que se arrastran al lienzo con el ratón, sin escribir ninguna sintaxis. Es el enfoque más cómodo para diseñar en colaboración con otras personas en tiempo real.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1672" cy="914400"/>
        </p:xfrm>
        <a:graphic>
          <a:graphicData uri="http://schemas.openxmlformats.org/drawingml/2006/table">
            <a:tbl>
              <a:tblPr/>
              <a:tblGrid>
                <a:gridCol w="1663751"/>
                <a:gridCol w="2218334"/>
                <a:gridCol w="4436669"/>
                <a:gridCol w="2772918"/>
              </a:tblGrid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Herramienta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Cómo se usa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Ventajas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tener en cuenta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Draw.io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Navegador web o app de escritorio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Gratuito, se integra bien con Drive y GitHub, interfaz familiar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Lucidchart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Aplicación web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Excelente entorno colaborativo en tiempo real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versión gratuita limita a un par de documentos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StarUML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Software de escritorio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Ingeniería inversa y generación de código integradas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Curva de aprendizaje algo mayor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Diagramación como código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5 · UML, herramientas y conceptos básicos de la POO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9144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Aquí el diagrama no se dibuja con el ratón: se escribe como texto plano y una herramienta lo convierte en imagen. Es la forma preferida en proyectos que usan Git, porque un fichero de texto admite "diffs" — algo imposible con una imagen.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54543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Mermaid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85916" y="2057400"/>
            <a:ext cx="54543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PlantUML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5454396" cy="9601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423160"/>
            <a:ext cx="64008" cy="96012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514600"/>
            <a:ext cx="513435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```mermaid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classDiagram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ClaseA -- ClaseB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```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85916" y="2423160"/>
            <a:ext cx="5454396" cy="9601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5916" y="2423160"/>
            <a:ext cx="64008" cy="96012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7084" y="2514600"/>
            <a:ext cx="513435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@startuml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ClaseA -- ClaseB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@enduml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566160"/>
            <a:ext cx="54543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renderiza donde haya intérprete; GitHub lo soporta de forma nativa. Es lo que hemos usado en varios diagramas sencillos de este tema.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185916" y="3566160"/>
            <a:ext cx="54543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pionero de este enfoque: sintaxis algo más detallada, pero con mucho más soporte de plugins en los IDE.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526280"/>
            <a:ext cx="11091672" cy="6400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599432"/>
            <a:ext cx="106344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¿Cuál elegir? Para diagramas rápidos dentro de Markdown, Mermaid es más ligero. Para proyectos grandes con muchos tipos de diagrama, PlantUML tiene más opciones de personalización.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 de entornos de desarrollo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5 · UML, herramientas y conceptos básicos de la POO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9144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Puedes integrar diagramas de clases en tus proyectos con "Extensiones" (NetBeans) o "Plugins" (IntelliJ, Eclipse, VS Code). La ventaja: el diagrama se genera a partir del código que ya tienes, sin dibujar nada a mano — es la misma idea que la ingeniería inversa que verás más adelante en el tema.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11091672" cy="6858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84832"/>
            <a:ext cx="10634472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IntelliJ IDEA (versión Ultimate, o Community con algunos plugins) basta con "click derecho → Diagrams → Show Diagram" sobre cualquier base de código Java para que se trace solo.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11091672" cy="96012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044952"/>
            <a:ext cx="10634472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¿Dibujar el diagrama o generarlo del código? Con DIA, Draw.io o Mermaid dibujas tú, para diseñar antes de escribir el código. Con un plugin del IDE, el diagrama sale después, a partir de código que ya existe: sirve para entender o documentar un proyecto ya escrito. Ambos enfoques son UML, pero resuelven momentos distintos del trabajo.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una clase?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5 · UML, herramientas y conceptos básicos de la POO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8229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clase es un molde o plantilla a partir de la cual se crean los objetos: agrupa datos (atributos) y comportamientos (métodos) que van a tener los objetos creados a partir de ella.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1091672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2024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un diagrama UML, una clase es un rectángulo de tres partes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74236" y="2514600"/>
            <a:ext cx="3840480" cy="457200"/>
          </a:xfrm>
          <a:prstGeom prst="rect">
            <a:avLst/>
          </a:prstGeom>
          <a:solidFill>
            <a:srgbClr val="3F51B5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74236" y="2514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Vehiculo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74236" y="2971800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11396" y="29718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marca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modelo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velocidad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74236" y="3520440"/>
            <a:ext cx="3840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11396" y="35204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acelerar()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frenar()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16052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de la clase — arriba, en singular y con mayúscula inicial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Atributos — en medio, las características del objeto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Métodos (operaciones) — abajo, las acciones que puede realizar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Visibilidad (encapsulamiento)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5 · UML, herramientas y conceptos básicos de la POO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315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encapsulamiento es el principio de ocultar los detalles internos de una clase y exponer solo lo necesario. Se denota con símbolos delante de cada atributo y método.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331001"/>
                <a:gridCol w="3105668"/>
                <a:gridCol w="6655003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Símbolo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Nombre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Accesible desde...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Público (Public)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Cualquier otra clase o parte del programa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Privado (Private)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desde dentro de la misma clase (lo habitual en atributos)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Protegido (Protected)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propia clase y sus clases hijas (herencia)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Paquete (Package)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Clases del mismo paquete (predeterminado en Java)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709160"/>
            <a:ext cx="11091672" cy="5486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4782312"/>
            <a:ext cx="10634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DIA, el desplegable de visibilidad muestra: Público, Privado, Protegido e Implementación (así llama DIA a lo que en UML es Package).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5 · UML, herramientas y conceptos básicos de la POO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858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atributos son las propiedades de una clase. Cada objeto creado a partir de ella tendrá sus propios valores para estos atributos.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91672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8308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 UML (empieza siempre por la visibilidad)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091672" cy="5029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331720"/>
            <a:ext cx="64008" cy="50292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423160"/>
            <a:ext cx="1077163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visibilidad nombre : tipo = valorPorDefecto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063240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marca : String  →  atributo privado sin valor por defecto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saldo : double = 0  →  atributo privado que empieza en 0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activo : boolean = true  →  atributo público que empieza en verdadero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Métodos (operaciones)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5 · UML, herramientas y conceptos básicos de la POO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5943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métodos determinan el comportamiento de un objeto: son las funciones definidas dentro de la clase.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1091672" cy="5029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45920"/>
            <a:ext cx="64008" cy="50292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737360"/>
            <a:ext cx="1077163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visibilidad nombre(dirección param : tipo, ...) : tipoRetorno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8873338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Dirección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Significado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Parámetro de entrada (lo más habitual, equivale a omitirlo)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Parámetro de salida (el método escribe en él)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inout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Entrada y salida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48640" y="43891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acelerar(in incremento : int) : void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transferir(in cantidad : double, in destino : CuentaCorriente) : boolean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Modificador static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5 · UML, herramientas y conceptos básicos de la POO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858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atributo o método static pertenece a la clase en sí, no a cada objeto: todos los objetos comparten el mismo valor.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91672" cy="21031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83080"/>
            <a:ext cx="64008" cy="210312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874520"/>
            <a:ext cx="1077163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Matematicas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final double PI = 3.1416;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double seno(double a)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Math.sin(Math.toRadians(a));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 usa sin crear ningún objeto: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System.out.println(Matematicas.PI);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11091672" cy="6400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187952"/>
            <a:ext cx="106344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UML, los miembros estáticos se representan subrayados. En DIA se usa la convención de guiones bajos: _PI_, _seno_.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Estereotipos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5 · UML, herramientas y conceptos básicos de la POO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858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estereotipos añaden información extra a un elemento del diagrama. Se escriben entre comillas angulares («nombre») encima o cerca del elemento.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2440168"/>
                <a:gridCol w="1996501"/>
                <a:gridCol w="6655003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Estereotipo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aplica 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Significado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«interface»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 una interfaz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«abstract»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 abstracta, no se puede instanciar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«utility»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métodos y atributos estáticos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«entity»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Entidad de negocio en el modelo de datos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«boundary»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Interfaz de usuario o punto de interacción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«control»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Clase de control que gestiona la lógica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«enumeration»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 enumerado (enum)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«exception»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Representa una excepción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«Create» / «Destroy»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Constructor / destructor de la clase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Objetos e instanciación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5 · UML, herramientas y conceptos básicos de la POO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858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una clase es el molde, un objeto es lo que construimos con él. Crear un objeto a partir de una clase se llama instanciación.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91672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8308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objeto tiene tres características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 — cada objeto es único, aunque tenga los mismos datos que otro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— los valores de sus atributos en un momento dado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Comportamiento — lo que puede hacer, definido por los métodos de su clase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11091672" cy="9144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429000"/>
            <a:ext cx="64008" cy="91440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520440"/>
            <a:ext cx="107716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Coche miCoche = new Coche("Toyota", "Corolla", "Rojo");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Coche tuCoche = new Coche("Ford", "Focus", "Azul");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Dos objetos distintos, misma clase, estados diferentes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pilares de la POO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5 · UML, herramientas y conceptos básicos de la POO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5943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Clases, atributos, métodos y visibilidad son piezas sueltas. Cuatro ideas las convierten en programación orientada a objetos: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3105668"/>
                <a:gridCol w="7986004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Pilar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una frase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Encapsulamiento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Ocultar los datos internos y exponer solo lo necesario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Herencia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Una clase hija reutiliza atributos y métodos de una clase padre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Polimorfismo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mismo método se comporta distinto según el objeto real que lo ejecuta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Abstracción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Definir qué hace algo sin fijar cómo lo hace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Polimorfismo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5 · UML, herramientas y conceptos básicos de la POO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8229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misma llamada a un método puede ejecutar código distinto según el tipo real del objeto que la recibe, aunque la variable tenga un tipo más genérico.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91672" cy="27432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74520"/>
            <a:ext cx="64008" cy="274320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965960"/>
            <a:ext cx="1077163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Hablador { public void habla();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Gato implements Hablador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habla() { System.out.println("Miau");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Cuco implements Hablador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habla() { System.out.println("Cu cu");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Hablador animal1 = new Gato();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Hablador animal2 = new Cuco();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animal1.habla();  // Miau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animal2.habla();  // Cu cu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800600"/>
            <a:ext cx="11091672" cy="5486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873752"/>
            <a:ext cx="10634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decide en tiempo de ejecución qué versión de habla() se llama, no en tiempo de compilación.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Abstracción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5 · UML, herramientas y conceptos básicos de la POO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315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Abstracción es quedarte con lo esencial de un concepto e ignorar los detalles que no importan para el problema que estás resolviendo.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91672" cy="11887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64008" cy="118872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920240"/>
            <a:ext cx="1077163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Empleado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double salario;    // relevante para nóminas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numeroSS;   // relevante para nóminas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colorDeOjos NO aparece: es real, pero irrelevante aquí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11091672" cy="7772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319272"/>
            <a:ext cx="10634472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clases abstractas y las interfaces llevan la abstracción un paso más allá: declaran que un método existe (el qué) sin escribir todavía su implementación (el cómo).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Entornos de Desarrollo</dc:creator>
  <cp:lastModifiedBy>Entornos de Desarrollo</cp:lastModifiedBy>
  <cp:revision>1</cp:revision>
  <dcterms:created xsi:type="dcterms:W3CDTF">2026-07-02T13:57:07Z</dcterms:created>
  <dcterms:modified xsi:type="dcterms:W3CDTF">2026-07-02T13:57:07Z</dcterms:modified>
</cp:coreProperties>
</file>
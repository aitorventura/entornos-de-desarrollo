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0BEC5"/>
                </a:solidFill>
                <a:latin typeface="Arial" pitchFamily="34" charset="0"/>
                <a:ea typeface="Arial" pitchFamily="34" charset="-122"/>
                <a:cs typeface="Arial" pitchFamily="34" charset="-120"/>
              </a:rPr>
              <a:t>ENTORNOS DE DESARROLLO  —  TEMA 5: DIAGRAMAS DE CLASES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Generación de código e ingeniería inversa</a:t>
            </a:r>
            <a:endParaRPr lang="en-US" sz="38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5 — Diagramas de Clases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Generación de código (Forward Engineering)</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86868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72237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diagrama de clases bien hecho se parece mucho a las clases que acabará teniendo el proyecto. La generación de código (Forward Engineering) crea automáticamente el código fuente a partir de un diagrama estructurado en una herramienta UML.</a:t>
            </a:r>
            <a:endParaRPr lang="en-US" sz="1500" dirty="0"/>
          </a:p>
        </p:txBody>
      </p:sp>
      <p:sp>
        <p:nvSpPr>
          <p:cNvPr id="7" name="Text 5"/>
          <p:cNvSpPr/>
          <p:nvPr/>
        </p:nvSpPr>
        <p:spPr>
          <a:xfrm>
            <a:off x="548640" y="2011680"/>
            <a:ext cx="11091672" cy="1828800"/>
          </a:xfrm>
          <a:prstGeom prst="rect">
            <a:avLst/>
          </a:prstGeom>
          <a:noFill/>
          <a:ln/>
        </p:spPr>
        <p:txBody>
          <a:bodyPr wrap="square" rtlCol="0" anchor="t"/>
          <a:lstStyle/>
          <a:p>
            <a:pPr marL="342900" indent="-342900">
              <a:spcAft>
                <a:spcPts val="500"/>
              </a:spcAft>
              <a:buSzPct val="100000"/>
              <a:buChar char="•"/>
            </a:pPr>
            <a:r>
              <a:rPr lang="en-US" sz="1450" dirty="0">
                <a:solidFill>
                  <a:srgbClr val="212121"/>
                </a:solidFill>
                <a:latin typeface="Arial" pitchFamily="34" charset="0"/>
                <a:ea typeface="Arial" pitchFamily="34" charset="-122"/>
                <a:cs typeface="Arial" pitchFamily="34" charset="-120"/>
              </a:rPr>
              <a:t>Ahorro de tiempo: generar decenas de clases con sus atributos y firmas ahorra horas de copiar y pegar, y reduce errores tipográficos.</a:t>
            </a:r>
            <a:endParaRPr lang="en-US" sz="1450" dirty="0"/>
          </a:p>
          <a:p>
            <a:pPr marL="342900" indent="-342900">
              <a:spcAft>
                <a:spcPts val="500"/>
              </a:spcAft>
              <a:buSzPct val="100000"/>
              <a:buChar char="•"/>
            </a:pPr>
            <a:r>
              <a:rPr lang="en-US" sz="1450" dirty="0">
                <a:solidFill>
                  <a:srgbClr val="212121"/>
                </a:solidFill>
                <a:latin typeface="Arial" pitchFamily="34" charset="0"/>
                <a:ea typeface="Arial" pitchFamily="34" charset="-122"/>
                <a:cs typeface="Arial" pitchFamily="34" charset="-120"/>
              </a:rPr>
              <a:t>El código de partida coincide con el diseño: nadie copia el diagrama a mano, así que no se cuela ningún despiste.</a:t>
            </a:r>
            <a:endParaRPr lang="en-US" sz="1450" dirty="0"/>
          </a:p>
          <a:p>
            <a:pPr marL="342900" indent="-342900">
              <a:spcAft>
                <a:spcPts val="500"/>
              </a:spcAft>
              <a:buSzPct val="100000"/>
              <a:buChar char="•"/>
            </a:pPr>
            <a:r>
              <a:rPr lang="en-US" sz="1450" dirty="0">
                <a:solidFill>
                  <a:srgbClr val="212121"/>
                </a:solidFill>
                <a:latin typeface="Arial" pitchFamily="34" charset="0"/>
                <a:ea typeface="Arial" pitchFamily="34" charset="-122"/>
                <a:cs typeface="Arial" pitchFamily="34" charset="-120"/>
              </a:rPr>
              <a:t>Plantillas a medida: algunas herramientas generan automáticamente un getter y un setter para cada atributo.</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genera exactamente?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91440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768096"/>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La mayoría de las herramientas generan el esqueleto del programa: clases y paquetes, herencias e interfaces, atributos con su tipo y visibilidad, y la firma de los métodos — pero vacíos por dentro. La lógica del cuerpo te corresponde programarla a ti.</a:t>
            </a:r>
            <a:endParaRPr lang="en-US" sz="1450" dirty="0"/>
          </a:p>
        </p:txBody>
      </p:sp>
      <p:sp>
        <p:nvSpPr>
          <p:cNvPr id="7" name="Shape 5"/>
          <p:cNvSpPr/>
          <p:nvPr/>
        </p:nvSpPr>
        <p:spPr>
          <a:xfrm>
            <a:off x="548640" y="2057400"/>
            <a:ext cx="11091672" cy="2377440"/>
          </a:xfrm>
          <a:prstGeom prst="rect">
            <a:avLst/>
          </a:prstGeom>
          <a:solidFill>
            <a:srgbClr val="ECEFF1"/>
          </a:solidFill>
          <a:ln w="12700">
            <a:solidFill>
              <a:srgbClr val="EEEEEE"/>
            </a:solidFill>
            <a:prstDash val="solid"/>
          </a:ln>
        </p:spPr>
      </p:sp>
      <p:sp>
        <p:nvSpPr>
          <p:cNvPr id="8" name="Shape 6"/>
          <p:cNvSpPr/>
          <p:nvPr/>
        </p:nvSpPr>
        <p:spPr>
          <a:xfrm>
            <a:off x="548640" y="2057400"/>
            <a:ext cx="64008" cy="2377440"/>
          </a:xfrm>
          <a:prstGeom prst="rect">
            <a:avLst/>
          </a:prstGeom>
          <a:solidFill>
            <a:srgbClr val="009688"/>
          </a:solidFill>
          <a:ln w="12700">
            <a:solidFill>
              <a:srgbClr val="009688"/>
            </a:solidFill>
            <a:prstDash val="solid"/>
          </a:ln>
        </p:spPr>
      </p:sp>
      <p:sp>
        <p:nvSpPr>
          <p:cNvPr id="9" name="Text 7"/>
          <p:cNvSpPr/>
          <p:nvPr/>
        </p:nvSpPr>
        <p:spPr>
          <a:xfrm>
            <a:off x="749808" y="2148840"/>
            <a:ext cx="10771632" cy="2194560"/>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 Ejemplo de Java generado automáticamente a partir de una clase UML "Coche"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public class Coche extends Vehiculo {</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private String marca;</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private String modelo;</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public void acelerar()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 Todo: Implement logic here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Generación desde DIA con dia2code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30936"/>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Para generar código Java directamente desde un archivo .dia se usa la herramienta dia2code: se descarga, se añade su carpeta bin al PATH, y se ejecuta por línea de comandos.</a:t>
            </a:r>
            <a:endParaRPr lang="en-US" sz="1450" dirty="0"/>
          </a:p>
        </p:txBody>
      </p:sp>
      <p:sp>
        <p:nvSpPr>
          <p:cNvPr id="7" name="Shape 5"/>
          <p:cNvSpPr/>
          <p:nvPr/>
        </p:nvSpPr>
        <p:spPr>
          <a:xfrm>
            <a:off x="548640" y="1874520"/>
            <a:ext cx="11091672" cy="502920"/>
          </a:xfrm>
          <a:prstGeom prst="rect">
            <a:avLst/>
          </a:prstGeom>
          <a:solidFill>
            <a:srgbClr val="ECEFF1"/>
          </a:solidFill>
          <a:ln w="12700">
            <a:solidFill>
              <a:srgbClr val="EEEEEE"/>
            </a:solidFill>
            <a:prstDash val="solid"/>
          </a:ln>
        </p:spPr>
      </p:sp>
      <p:sp>
        <p:nvSpPr>
          <p:cNvPr id="8" name="Shape 6"/>
          <p:cNvSpPr/>
          <p:nvPr/>
        </p:nvSpPr>
        <p:spPr>
          <a:xfrm>
            <a:off x="548640" y="1874520"/>
            <a:ext cx="64008" cy="502920"/>
          </a:xfrm>
          <a:prstGeom prst="rect">
            <a:avLst/>
          </a:prstGeom>
          <a:solidFill>
            <a:srgbClr val="009688"/>
          </a:solidFill>
          <a:ln w="12700">
            <a:solidFill>
              <a:srgbClr val="009688"/>
            </a:solidFill>
            <a:prstDash val="solid"/>
          </a:ln>
        </p:spPr>
      </p:sp>
      <p:sp>
        <p:nvSpPr>
          <p:cNvPr id="9" name="Text 7"/>
          <p:cNvSpPr/>
          <p:nvPr/>
        </p:nvSpPr>
        <p:spPr>
          <a:xfrm>
            <a:off x="749808" y="1965960"/>
            <a:ext cx="10771632" cy="320040"/>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dia2code -t java -d directorio_salida archivo.dia</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11091672" cy="914400"/>
        </p:xfrm>
        <a:graphic>
          <a:graphicData uri="http://schemas.openxmlformats.org/drawingml/2006/table">
            <a:tbl>
              <a:tblPr/>
              <a:tblGrid>
                <a:gridCol w="3882085"/>
                <a:gridCol w="7209587"/>
              </a:tblGrid>
              <a:tr h="50292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Parámetro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Significado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502920">
                <a:tc>
                  <a:txBody>
                    <a:bodyPr/>
                    <a:lstStyle/>
                    <a:p>
                      <a:pPr indent="0" marL="0">
                        <a:buNone/>
                      </a:pPr>
                      <a:r>
                        <a:rPr lang="en-US" sz="1400" dirty="0">
                          <a:solidFill>
                            <a:srgbClr val="212121"/>
                          </a:solidFill>
                          <a:latin typeface="Arial" pitchFamily="34" charset="0"/>
                          <a:ea typeface="Arial" pitchFamily="34" charset="-122"/>
                          <a:cs typeface="Arial" pitchFamily="34" charset="-120"/>
                        </a:rPr>
                        <a:t>-t java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Lenguaje de destino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12121"/>
                          </a:solidFill>
                          <a:latin typeface="Arial" pitchFamily="34" charset="0"/>
                          <a:ea typeface="Arial" pitchFamily="34" charset="-122"/>
                          <a:cs typeface="Arial" pitchFamily="34" charset="-120"/>
                        </a:rPr>
                        <a:t>-d directorio_salida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Dónde se crearán los ficheros .java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02920">
                <a:tc>
                  <a:txBody>
                    <a:bodyPr/>
                    <a:lstStyle/>
                    <a:p>
                      <a:pPr indent="0" marL="0">
                        <a:buNone/>
                      </a:pPr>
                      <a:r>
                        <a:rPr lang="en-US" sz="1400" dirty="0">
                          <a:solidFill>
                            <a:srgbClr val="212121"/>
                          </a:solidFill>
                          <a:latin typeface="Arial" pitchFamily="34" charset="0"/>
                          <a:ea typeface="Arial" pitchFamily="34" charset="-122"/>
                          <a:cs typeface="Arial" pitchFamily="34" charset="-120"/>
                        </a:rPr>
                        <a:t>archivo.dia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diagrama fuente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DIA: desactivar la compresión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822960"/>
          </a:xfrm>
          <a:prstGeom prst="roundRect">
            <a:avLst/>
          </a:prstGeom>
          <a:solidFill>
            <a:srgbClr val="FFF8E1"/>
          </a:solidFill>
          <a:ln w="19050">
            <a:solidFill>
              <a:srgbClr val="F9A825"/>
            </a:solidFill>
            <a:prstDash val="solid"/>
          </a:ln>
        </p:spPr>
      </p:sp>
      <p:sp>
        <p:nvSpPr>
          <p:cNvPr id="6" name="Text 4"/>
          <p:cNvSpPr/>
          <p:nvPr/>
        </p:nvSpPr>
        <p:spPr>
          <a:xfrm>
            <a:off x="777240" y="941832"/>
            <a:ext cx="10634472" cy="6766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dia2code necesita que el archivo .dia no esté comprimido. Ve a Archivo → Preferencias → Diagrama por defecto y desmarca "Comprimir archivos guardados". Sin esto, dia2code no puede leer el archivo.</a:t>
            </a:r>
            <a:endParaRPr lang="en-US" sz="1500" dirty="0"/>
          </a:p>
        </p:txBody>
      </p:sp>
      <p:sp>
        <p:nvSpPr>
          <p:cNvPr id="7" name="Shape 5"/>
          <p:cNvSpPr/>
          <p:nvPr/>
        </p:nvSpPr>
        <p:spPr>
          <a:xfrm>
            <a:off x="2976372" y="1956816"/>
            <a:ext cx="6236208" cy="3493008"/>
          </a:xfrm>
          <a:prstGeom prst="rect">
            <a:avLst/>
          </a:prstGeom>
          <a:solidFill>
            <a:srgbClr val="FFFFFF"/>
          </a:solidFill>
          <a:ln w="12700">
            <a:solidFill>
              <a:srgbClr val="EEEEEE"/>
            </a:solidFill>
            <a:prstDash val="solid"/>
          </a:ln>
        </p:spPr>
      </p:sp>
      <p:pic>
        <p:nvPicPr>
          <p:cNvPr id="8" name="Image 0" descr="C:/Users/Aitor/Documents/apuntes-profe/entornos-de-desarrollo/docs/tema5/img/dia-preferencias-desactivar-compresion.png">    </p:cNvPr>
          <p:cNvPicPr>
            <a:picLocks noChangeAspect="1"/>
          </p:cNvPicPr>
          <p:nvPr/>
        </p:nvPicPr>
        <p:blipFill>
          <a:blip r:embed="rId1"/>
          <a:stretch>
            <a:fillRect/>
          </a:stretch>
        </p:blipFill>
        <p:spPr>
          <a:xfrm>
            <a:off x="3031236" y="2015412"/>
            <a:ext cx="6126480" cy="3375816"/>
          </a:xfrm>
          <a:prstGeom prst="rect">
            <a:avLst/>
          </a:prstGeom>
        </p:spPr>
      </p:pic>
      <p:sp>
        <p:nvSpPr>
          <p:cNvPr id="9" name="Text 6"/>
          <p:cNvSpPr/>
          <p:nvPr/>
        </p:nvSpPr>
        <p:spPr>
          <a:xfrm>
            <a:off x="548640" y="5486400"/>
            <a:ext cx="11091672" cy="320040"/>
          </a:xfrm>
          <a:prstGeom prst="rect">
            <a:avLst/>
          </a:prstGeom>
          <a:noFill/>
          <a:ln/>
        </p:spPr>
        <p:txBody>
          <a:bodyPr wrap="square" rtlCol="0" anchor="t"/>
          <a:lstStyle/>
          <a:p>
            <a:pPr algn="ctr" indent="0" marL="0">
              <a:buNone/>
            </a:pPr>
            <a:r>
              <a:rPr lang="en-US" sz="1300" i="1" dirty="0">
                <a:solidFill>
                  <a:srgbClr val="757575"/>
                </a:solidFill>
                <a:latin typeface="Arial" pitchFamily="34" charset="0"/>
                <a:ea typeface="Arial" pitchFamily="34" charset="-122"/>
                <a:cs typeface="Arial" pitchFamily="34" charset="-120"/>
              </a:rPr>
              <a:t>Archivo → Preferencias → Diagrama por defecto: desmarcar "Comprimir archivos guardados"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Herramientas de generación de código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30936"/>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dia2code no es la única forma de hacer forward engineering. En un entorno profesional es más habitual generar el código con un botón dentro del propio programa, sin tocar la terminal.</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662001"/>
                <a:gridCol w="4658502"/>
                <a:gridCol w="3771168"/>
              </a:tblGrid>
              <a:tr h="685800">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Herramienta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Cómo genera el código</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Cuándo la vas a encontrar</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dia2code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Comando de terminal sobre un .dia sin comprimir</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En este curso, junto con DIA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StarUML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Tools → Generate Code, sobre el diagrama abierto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Proyectos personales o empresas pequeñas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Plugins IntelliJ / NetBeans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Botón de generación integrado en el IDE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Cuando ya trabajas dentro de un IDE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Visual Paradigm</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Code Engineering, con plantillas configurables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Consultoras que usan CASE profesionales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8" name="Shape 5"/>
          <p:cNvSpPr/>
          <p:nvPr/>
        </p:nvSpPr>
        <p:spPr>
          <a:xfrm>
            <a:off x="548640" y="5577840"/>
            <a:ext cx="11091672" cy="594360"/>
          </a:xfrm>
          <a:prstGeom prst="roundRect">
            <a:avLst/>
          </a:prstGeom>
          <a:solidFill>
            <a:srgbClr val="E0F2F1"/>
          </a:solidFill>
          <a:ln w="19050">
            <a:solidFill>
              <a:srgbClr val="009688"/>
            </a:solidFill>
            <a:prstDash val="solid"/>
          </a:ln>
        </p:spPr>
      </p:sp>
      <p:sp>
        <p:nvSpPr>
          <p:cNvPr id="9" name="Text 6"/>
          <p:cNvSpPr/>
          <p:nvPr/>
        </p:nvSpPr>
        <p:spPr>
          <a:xfrm>
            <a:off x="777240" y="5650992"/>
            <a:ext cx="10634472" cy="448056"/>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Visual Paradigm es una herramienta profesional (con versión Community gratuita) que además de generar código hace ingeniería inversa, y puede generar diagramas de secuencia a partir del código.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Ingeniería inversa (Reverse Engineering)</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73152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58521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Es el proceso opuesto a la generación de código: analiza de manera automatizada el código fuente de un programa existente para extraer y generar el diagrama de clases correspondiente.</a:t>
            </a:r>
            <a:endParaRPr lang="en-US" sz="1500" dirty="0"/>
          </a:p>
        </p:txBody>
      </p:sp>
      <p:sp>
        <p:nvSpPr>
          <p:cNvPr id="7" name="Text 5"/>
          <p:cNvSpPr/>
          <p:nvPr/>
        </p:nvSpPr>
        <p:spPr>
          <a:xfrm>
            <a:off x="548640" y="1874520"/>
            <a:ext cx="11091672" cy="1554480"/>
          </a:xfrm>
          <a:prstGeom prst="rect">
            <a:avLst/>
          </a:prstGeom>
          <a:noFill/>
          <a:ln/>
        </p:spPr>
        <p:txBody>
          <a:bodyPr wrap="square" rtlCol="0" anchor="t"/>
          <a:lstStyle/>
          <a:p>
            <a:pPr marL="342900" indent="-342900">
              <a:spcAft>
                <a:spcPts val="500"/>
              </a:spcAft>
              <a:buSzPct val="100000"/>
              <a:buChar char="•"/>
            </a:pPr>
            <a:r>
              <a:rPr lang="en-US" sz="1400" dirty="0">
                <a:solidFill>
                  <a:srgbClr val="212121"/>
                </a:solidFill>
                <a:latin typeface="Arial" pitchFamily="34" charset="0"/>
                <a:ea typeface="Arial" pitchFamily="34" charset="-122"/>
                <a:cs typeface="Arial" pitchFamily="34" charset="-120"/>
              </a:rPr>
              <a:t>Comprensión de sistemas "legacy": te permite ver cómo encaja un programa de miles de archivos sin documentación, de un vistazo.</a:t>
            </a:r>
            <a:endParaRPr lang="en-US" sz="1400" dirty="0"/>
          </a:p>
          <a:p>
            <a:pPr marL="342900" indent="-342900">
              <a:spcAft>
                <a:spcPts val="500"/>
              </a:spcAft>
              <a:buSzPct val="100000"/>
              <a:buChar char="•"/>
            </a:pPr>
            <a:r>
              <a:rPr lang="en-US" sz="1400" dirty="0">
                <a:solidFill>
                  <a:srgbClr val="212121"/>
                </a:solidFill>
                <a:latin typeface="Arial" pitchFamily="34" charset="0"/>
                <a:ea typeface="Arial" pitchFamily="34" charset="-122"/>
                <a:cs typeface="Arial" pitchFamily="34" charset="-120"/>
              </a:rPr>
              <a:t>Actualizar la documentación: analizar el código actual es más rápido que rehacer el diagrama a mano.</a:t>
            </a:r>
            <a:endParaRPr lang="en-US" sz="1400" dirty="0"/>
          </a:p>
          <a:p>
            <a:pPr marL="342900" indent="-342900">
              <a:spcAft>
                <a:spcPts val="500"/>
              </a:spcAft>
              <a:buSzPct val="100000"/>
              <a:buChar char="•"/>
            </a:pPr>
            <a:r>
              <a:rPr lang="en-US" sz="1400" dirty="0">
                <a:solidFill>
                  <a:srgbClr val="212121"/>
                </a:solidFill>
                <a:latin typeface="Arial" pitchFamily="34" charset="0"/>
                <a:ea typeface="Arial" pitchFamily="34" charset="-122"/>
                <a:cs typeface="Arial" pitchFamily="34" charset="-120"/>
              </a:rPr>
              <a:t>Auditoría visual: ver de forma gráfica la jerarquía de herencia ayuda a detectar problemas de diseño.</a:t>
            </a:r>
            <a:endParaRPr lang="en-US" sz="1400" dirty="0"/>
          </a:p>
        </p:txBody>
      </p:sp>
      <p:sp>
        <p:nvSpPr>
          <p:cNvPr id="8" name="Shape 6"/>
          <p:cNvSpPr/>
          <p:nvPr/>
        </p:nvSpPr>
        <p:spPr>
          <a:xfrm>
            <a:off x="548640" y="3611880"/>
            <a:ext cx="11091672" cy="594360"/>
          </a:xfrm>
          <a:prstGeom prst="roundRect">
            <a:avLst/>
          </a:prstGeom>
          <a:solidFill>
            <a:srgbClr val="E0F2F1"/>
          </a:solidFill>
          <a:ln w="19050">
            <a:solidFill>
              <a:srgbClr val="009688"/>
            </a:solidFill>
            <a:prstDash val="solid"/>
          </a:ln>
        </p:spPr>
      </p:sp>
      <p:sp>
        <p:nvSpPr>
          <p:cNvPr id="9" name="Text 7"/>
          <p:cNvSpPr/>
          <p:nvPr/>
        </p:nvSpPr>
        <p:spPr>
          <a:xfrm>
            <a:off x="777240" y="3685032"/>
            <a:ext cx="10634472" cy="448056"/>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Las herramientas recorren el código como haría un compilador: identifican clases, atributos, métodos y relaciones, y arman el diagrama solas.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Ingeniería inversa con IntelliJ: el menú</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82296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766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IntelliJ IDEA Ultimate genera diagramas de clases directamente desde el código: clic derecho sobre el paquete que quieras analizar → Diagrams → Show Diagram (atajo: Ctrl+Alt+Mayús+U).</a:t>
            </a:r>
            <a:endParaRPr lang="en-US" sz="1500" dirty="0"/>
          </a:p>
        </p:txBody>
      </p:sp>
      <p:sp>
        <p:nvSpPr>
          <p:cNvPr id="7" name="Shape 5"/>
          <p:cNvSpPr/>
          <p:nvPr/>
        </p:nvSpPr>
        <p:spPr>
          <a:xfrm>
            <a:off x="4393692" y="1956816"/>
            <a:ext cx="3401568" cy="3493008"/>
          </a:xfrm>
          <a:prstGeom prst="rect">
            <a:avLst/>
          </a:prstGeom>
          <a:solidFill>
            <a:srgbClr val="FFFFFF"/>
          </a:solidFill>
          <a:ln w="12700">
            <a:solidFill>
              <a:srgbClr val="EEEEEE"/>
            </a:solidFill>
            <a:prstDash val="solid"/>
          </a:ln>
        </p:spPr>
      </p:sp>
      <p:pic>
        <p:nvPicPr>
          <p:cNvPr id="8" name="Image 0" descr="C:/Users/Aitor/Documents/apuntes-profe/entornos-de-desarrollo/docs/tema5/img/intellij-menu-diagrams-show.png">    </p:cNvPr>
          <p:cNvPicPr>
            <a:picLocks noChangeAspect="1"/>
          </p:cNvPicPr>
          <p:nvPr/>
        </p:nvPicPr>
        <p:blipFill>
          <a:blip r:embed="rId1"/>
          <a:stretch>
            <a:fillRect/>
          </a:stretch>
        </p:blipFill>
        <p:spPr>
          <a:xfrm>
            <a:off x="4448556" y="2015708"/>
            <a:ext cx="3291840" cy="3375224"/>
          </a:xfrm>
          <a:prstGeom prst="rect">
            <a:avLst/>
          </a:prstGeom>
        </p:spPr>
      </p:pic>
      <p:sp>
        <p:nvSpPr>
          <p:cNvPr id="9" name="Text 6"/>
          <p:cNvSpPr/>
          <p:nvPr/>
        </p:nvSpPr>
        <p:spPr>
          <a:xfrm>
            <a:off x="548640" y="5486400"/>
            <a:ext cx="11091672" cy="320040"/>
          </a:xfrm>
          <a:prstGeom prst="rect">
            <a:avLst/>
          </a:prstGeom>
          <a:noFill/>
          <a:ln/>
        </p:spPr>
        <p:txBody>
          <a:bodyPr wrap="square" rtlCol="0" anchor="t"/>
          <a:lstStyle/>
          <a:p>
            <a:pPr algn="ctr" indent="0" marL="0">
              <a:buNone/>
            </a:pPr>
            <a:r>
              <a:rPr lang="en-US" sz="1300" i="1" dirty="0">
                <a:solidFill>
                  <a:srgbClr val="757575"/>
                </a:solidFill>
                <a:latin typeface="Arial" pitchFamily="34" charset="0"/>
                <a:ea typeface="Arial" pitchFamily="34" charset="-122"/>
                <a:cs typeface="Arial" pitchFamily="34" charset="-120"/>
              </a:rPr>
              <a:t>Clic derecho sobre el paquete → Diagrams → Show Diagram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Ingeniería inversa con IntelliJ: el resultado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91440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768096"/>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IntelliJ genera automáticamente el diagrama con todas las clases, atributos, métodos y relaciones del paquete. Es interactivo: puedes navegar al código haciendo clic en cada clase, y exportarlo como imagen para la documentación.</a:t>
            </a:r>
            <a:endParaRPr lang="en-US" sz="1450" dirty="0"/>
          </a:p>
        </p:txBody>
      </p:sp>
      <p:sp>
        <p:nvSpPr>
          <p:cNvPr id="7" name="Shape 5"/>
          <p:cNvSpPr/>
          <p:nvPr/>
        </p:nvSpPr>
        <p:spPr>
          <a:xfrm>
            <a:off x="3113532" y="2002536"/>
            <a:ext cx="5961888" cy="3310128"/>
          </a:xfrm>
          <a:prstGeom prst="rect">
            <a:avLst/>
          </a:prstGeom>
          <a:solidFill>
            <a:srgbClr val="FFFFFF"/>
          </a:solidFill>
          <a:ln w="12700">
            <a:solidFill>
              <a:srgbClr val="EEEEEE"/>
            </a:solidFill>
            <a:prstDash val="solid"/>
          </a:ln>
        </p:spPr>
      </p:sp>
      <p:pic>
        <p:nvPicPr>
          <p:cNvPr id="8" name="Image 0" descr="C:/Users/Aitor/Documents/apuntes-profe/entornos-de-desarrollo/docs/tema5/img/intellij-diagrama-resultado-ejemplo.png">    </p:cNvPr>
          <p:cNvPicPr>
            <a:picLocks noChangeAspect="1"/>
          </p:cNvPicPr>
          <p:nvPr/>
        </p:nvPicPr>
        <p:blipFill>
          <a:blip r:embed="rId1"/>
          <a:stretch>
            <a:fillRect/>
          </a:stretch>
        </p:blipFill>
        <p:spPr>
          <a:xfrm>
            <a:off x="3772147" y="2057400"/>
            <a:ext cx="4644658" cy="3200400"/>
          </a:xfrm>
          <a:prstGeom prst="rect">
            <a:avLst/>
          </a:prstGeom>
        </p:spPr>
      </p:pic>
      <p:sp>
        <p:nvSpPr>
          <p:cNvPr id="9" name="Text 6"/>
          <p:cNvSpPr/>
          <p:nvPr/>
        </p:nvSpPr>
        <p:spPr>
          <a:xfrm>
            <a:off x="548640" y="5349240"/>
            <a:ext cx="11091672" cy="320040"/>
          </a:xfrm>
          <a:prstGeom prst="rect">
            <a:avLst/>
          </a:prstGeom>
          <a:noFill/>
          <a:ln/>
        </p:spPr>
        <p:txBody>
          <a:bodyPr wrap="square" rtlCol="0" anchor="t"/>
          <a:lstStyle/>
          <a:p>
            <a:pPr algn="ctr" indent="0" marL="0">
              <a:buNone/>
            </a:pPr>
            <a:r>
              <a:rPr lang="en-US" sz="1300" i="1" dirty="0">
                <a:solidFill>
                  <a:srgbClr val="757575"/>
                </a:solidFill>
                <a:latin typeface="Arial" pitchFamily="34" charset="0"/>
                <a:ea typeface="Arial" pitchFamily="34" charset="-122"/>
                <a:cs typeface="Arial" pitchFamily="34" charset="-120"/>
              </a:rPr>
              <a:t>Diagrama de clases generado por IntelliJ a partir del código fuente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Otras herramientas de ingeniería inversa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68580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53949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Cada entorno de desarrollo suele tener su propia forma de hacerlo, y todas parten de la misma idea: apuntar a un código existente y dejar que la herramienta dibuje.</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3549335"/>
                <a:gridCol w="2662001"/>
                <a:gridCol w="4880336"/>
              </a:tblGrid>
              <a:tr h="685800">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Herramienta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Entorno</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Qué la diferencia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IntelliJ IDEA (Diagrams)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IDE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Ya viene integrada, sin instalar nada extra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ObjectAid UML Explorer</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Plugin de Eclipse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Gratuita; el diagrama se actualiza solo al guardar el código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Visual Paradigm (Instant Reverse)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Herramienta CASE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Reconstruye también diagramas de secuencia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212121"/>
                          </a:solidFill>
                          <a:latin typeface="Arial" pitchFamily="34" charset="0"/>
                          <a:ea typeface="Arial" pitchFamily="34" charset="-122"/>
                          <a:cs typeface="Arial" pitchFamily="34" charset="-120"/>
                        </a:rPr>
                        <a:t>StarUML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Herramienta CASE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Ingeniería inversa y generación en el mismo programa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8" name="Shape 5"/>
          <p:cNvSpPr/>
          <p:nvPr/>
        </p:nvSpPr>
        <p:spPr>
          <a:xfrm>
            <a:off x="548640" y="5486400"/>
            <a:ext cx="11091672" cy="548640"/>
          </a:xfrm>
          <a:prstGeom prst="roundRect">
            <a:avLst/>
          </a:prstGeom>
          <a:solidFill>
            <a:srgbClr val="E0F2F1"/>
          </a:solidFill>
          <a:ln w="19050">
            <a:solidFill>
              <a:srgbClr val="009688"/>
            </a:solidFill>
            <a:prstDash val="solid"/>
          </a:ln>
        </p:spPr>
      </p:sp>
      <p:sp>
        <p:nvSpPr>
          <p:cNvPr id="9" name="Text 6"/>
          <p:cNvSpPr/>
          <p:nvPr/>
        </p:nvSpPr>
        <p:spPr>
          <a:xfrm>
            <a:off x="777240" y="5559552"/>
            <a:ext cx="10634472" cy="402336"/>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No hace falta memorizarlas todas: lo importante es entender el patrón común (código → análisis automático → diagrama) y saber usar la que tengas a mano.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Ida y vuelta: diagrama ⇄ código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5 · Generación de código e ingeniería inversa</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3093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Generación de código e ingeniería inversa son las dos caras de la misma moneda. En un proyecto real no se usan de forma aislada, sino que se combinan a lo largo de las distintas fases del desarrollo.</a:t>
            </a:r>
            <a:endParaRPr lang="en-US" sz="1500" dirty="0"/>
          </a:p>
        </p:txBody>
      </p:sp>
      <p:sp>
        <p:nvSpPr>
          <p:cNvPr id="7" name="Shape 5"/>
          <p:cNvSpPr/>
          <p:nvPr/>
        </p:nvSpPr>
        <p:spPr>
          <a:xfrm>
            <a:off x="1613916" y="1920240"/>
            <a:ext cx="3291840" cy="640080"/>
          </a:xfrm>
          <a:prstGeom prst="roundRect">
            <a:avLst/>
          </a:prstGeom>
          <a:solidFill>
            <a:srgbClr val="E8EAF6"/>
          </a:solidFill>
          <a:ln w="15875">
            <a:solidFill>
              <a:srgbClr val="3F51B5"/>
            </a:solidFill>
            <a:prstDash val="solid"/>
          </a:ln>
        </p:spPr>
      </p:sp>
      <p:sp>
        <p:nvSpPr>
          <p:cNvPr id="8" name="Text 6"/>
          <p:cNvSpPr/>
          <p:nvPr/>
        </p:nvSpPr>
        <p:spPr>
          <a:xfrm>
            <a:off x="1613916" y="1920240"/>
            <a:ext cx="3291840" cy="640080"/>
          </a:xfrm>
          <a:prstGeom prst="rect">
            <a:avLst/>
          </a:prstGeom>
          <a:noFill/>
          <a:ln/>
        </p:spPr>
        <p:txBody>
          <a:bodyPr wrap="square" rtlCol="0" anchor="ctr"/>
          <a:lstStyle/>
          <a:p>
            <a:pPr algn="ctr" indent="0" marL="0">
              <a:buNone/>
            </a:pPr>
            <a:r>
              <a:rPr lang="en-US" sz="1400" b="1" dirty="0">
                <a:solidFill>
                  <a:srgbClr val="212121"/>
                </a:solidFill>
                <a:latin typeface="Arial" pitchFamily="34" charset="0"/>
                <a:ea typeface="Arial" pitchFamily="34" charset="-122"/>
                <a:cs typeface="Arial" pitchFamily="34" charset="-120"/>
              </a:rPr>
              <a:t>Diagrama de clases</a:t>
            </a:r>
            <a:endParaRPr lang="en-US" sz="1400" dirty="0"/>
          </a:p>
        </p:txBody>
      </p:sp>
      <p:sp>
        <p:nvSpPr>
          <p:cNvPr id="9" name="Shape 7"/>
          <p:cNvSpPr/>
          <p:nvPr/>
        </p:nvSpPr>
        <p:spPr>
          <a:xfrm>
            <a:off x="7283196" y="1920240"/>
            <a:ext cx="3291840" cy="640080"/>
          </a:xfrm>
          <a:prstGeom prst="roundRect">
            <a:avLst/>
          </a:prstGeom>
          <a:solidFill>
            <a:srgbClr val="E8EAF6"/>
          </a:solidFill>
          <a:ln w="15875">
            <a:solidFill>
              <a:srgbClr val="3F51B5"/>
            </a:solidFill>
            <a:prstDash val="solid"/>
          </a:ln>
        </p:spPr>
      </p:sp>
      <p:sp>
        <p:nvSpPr>
          <p:cNvPr id="10" name="Text 8"/>
          <p:cNvSpPr/>
          <p:nvPr/>
        </p:nvSpPr>
        <p:spPr>
          <a:xfrm>
            <a:off x="7283196" y="1920240"/>
            <a:ext cx="3291840" cy="640080"/>
          </a:xfrm>
          <a:prstGeom prst="rect">
            <a:avLst/>
          </a:prstGeom>
          <a:noFill/>
          <a:ln/>
        </p:spPr>
        <p:txBody>
          <a:bodyPr wrap="square" rtlCol="0" anchor="ctr"/>
          <a:lstStyle/>
          <a:p>
            <a:pPr algn="ctr" indent="0" marL="0">
              <a:buNone/>
            </a:pPr>
            <a:r>
              <a:rPr lang="en-US" sz="1400" b="1" dirty="0">
                <a:solidFill>
                  <a:srgbClr val="212121"/>
                </a:solidFill>
                <a:latin typeface="Arial" pitchFamily="34" charset="0"/>
                <a:ea typeface="Arial" pitchFamily="34" charset="-122"/>
                <a:cs typeface="Arial" pitchFamily="34" charset="-120"/>
              </a:rPr>
              <a:t>Código fuente</a:t>
            </a:r>
            <a:endParaRPr lang="en-US" sz="1400" dirty="0"/>
          </a:p>
        </p:txBody>
      </p:sp>
      <p:sp>
        <p:nvSpPr>
          <p:cNvPr id="11" name="Text 9"/>
          <p:cNvSpPr/>
          <p:nvPr/>
        </p:nvSpPr>
        <p:spPr>
          <a:xfrm>
            <a:off x="4905756" y="1874520"/>
            <a:ext cx="2377440" cy="292608"/>
          </a:xfrm>
          <a:prstGeom prst="rect">
            <a:avLst/>
          </a:prstGeom>
          <a:noFill/>
          <a:ln/>
        </p:spPr>
        <p:txBody>
          <a:bodyPr wrap="square" rtlCol="0" anchor="ctr"/>
          <a:lstStyle/>
          <a:p>
            <a:pPr algn="ctr" indent="0" marL="0">
              <a:buNone/>
            </a:pPr>
            <a:r>
              <a:rPr lang="en-US" sz="1100" b="1" dirty="0">
                <a:solidFill>
                  <a:srgbClr val="3F51B5"/>
                </a:solidFill>
                <a:latin typeface="Arial" pitchFamily="34" charset="0"/>
                <a:ea typeface="Arial" pitchFamily="34" charset="-122"/>
                <a:cs typeface="Arial" pitchFamily="34" charset="-120"/>
              </a:rPr>
              <a:t>Forward Engineering →</a:t>
            </a:r>
            <a:endParaRPr lang="en-US" sz="1100" dirty="0"/>
          </a:p>
        </p:txBody>
      </p:sp>
      <p:sp>
        <p:nvSpPr>
          <p:cNvPr id="12" name="Text 10"/>
          <p:cNvSpPr/>
          <p:nvPr/>
        </p:nvSpPr>
        <p:spPr>
          <a:xfrm>
            <a:off x="4905756" y="2286000"/>
            <a:ext cx="2377440" cy="292608"/>
          </a:xfrm>
          <a:prstGeom prst="rect">
            <a:avLst/>
          </a:prstGeom>
          <a:noFill/>
          <a:ln/>
        </p:spPr>
        <p:txBody>
          <a:bodyPr wrap="square" rtlCol="0" anchor="ctr"/>
          <a:lstStyle/>
          <a:p>
            <a:pPr algn="ctr" indent="0" marL="0">
              <a:buNone/>
            </a:pPr>
            <a:r>
              <a:rPr lang="en-US" sz="1100" b="1" dirty="0">
                <a:solidFill>
                  <a:srgbClr val="3F51B5"/>
                </a:solidFill>
                <a:latin typeface="Arial" pitchFamily="34" charset="0"/>
                <a:ea typeface="Arial" pitchFamily="34" charset="-122"/>
                <a:cs typeface="Arial" pitchFamily="34" charset="-120"/>
              </a:rPr>
              <a:t>← Reverse Engineering</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91672" cy="914400"/>
        </p:xfrm>
        <a:graphic>
          <a:graphicData uri="http://schemas.openxmlformats.org/drawingml/2006/table">
            <a:tbl>
              <a:tblPr/>
              <a:tblGrid>
                <a:gridCol w="2218334"/>
                <a:gridCol w="4436669"/>
                <a:gridCol w="4436669"/>
              </a:tblGrid>
              <a:tr h="548640">
                <a:tc>
                  <a:txBody>
                    <a:bodyPr/>
                    <a:lstStyle/>
                    <a:p>
                      <a:pPr algn="ctr" indent="0" marL="0">
                        <a:buNone/>
                      </a:pP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Generación de código</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Ingeniería inversa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548640">
                <a:tc>
                  <a:txBody>
                    <a:bodyPr/>
                    <a:lstStyle/>
                    <a:p>
                      <a:pPr indent="0" marL="0">
                        <a:buNone/>
                      </a:pPr>
                      <a:r>
                        <a:rPr lang="en-US" sz="1250" b="1" dirty="0">
                          <a:solidFill>
                            <a:srgbClr val="212121"/>
                          </a:solidFill>
                          <a:latin typeface="Arial" pitchFamily="34" charset="0"/>
                          <a:ea typeface="Arial" pitchFamily="34" charset="-122"/>
                          <a:cs typeface="Arial" pitchFamily="34" charset="-120"/>
                        </a:rPr>
                        <a:t>Dirección</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Diagrama → código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Código → diagrama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212121"/>
                          </a:solidFill>
                          <a:latin typeface="Arial" pitchFamily="34" charset="0"/>
                          <a:ea typeface="Arial" pitchFamily="34" charset="-122"/>
                          <a:cs typeface="Arial" pitchFamily="34" charset="-120"/>
                        </a:rPr>
                        <a:t>Cuándo se usa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Al empezar un proyecto, partiendo del diseño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Al incorporarte a un proyecto existente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48640">
                <a:tc>
                  <a:txBody>
                    <a:bodyPr/>
                    <a:lstStyle/>
                    <a:p>
                      <a:pPr indent="0" marL="0">
                        <a:buNone/>
                      </a:pPr>
                      <a:r>
                        <a:rPr lang="en-US" sz="1250" b="1" dirty="0">
                          <a:solidFill>
                            <a:srgbClr val="212121"/>
                          </a:solidFill>
                          <a:latin typeface="Arial" pitchFamily="34" charset="0"/>
                          <a:ea typeface="Arial" pitchFamily="34" charset="-122"/>
                          <a:cs typeface="Arial" pitchFamily="34" charset="-120"/>
                        </a:rPr>
                        <a:t>Riesgo si abusas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El código queda vacío si no programas la lógica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El diagrama queda obsoleto si el código cambia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14" name="Shape 11"/>
          <p:cNvSpPr/>
          <p:nvPr/>
        </p:nvSpPr>
        <p:spPr>
          <a:xfrm>
            <a:off x="548640" y="5257800"/>
            <a:ext cx="11091672" cy="594360"/>
          </a:xfrm>
          <a:prstGeom prst="roundRect">
            <a:avLst/>
          </a:prstGeom>
          <a:solidFill>
            <a:srgbClr val="E0F2F1"/>
          </a:solidFill>
          <a:ln w="19050">
            <a:solidFill>
              <a:srgbClr val="009688"/>
            </a:solidFill>
            <a:prstDash val="solid"/>
          </a:ln>
        </p:spPr>
      </p:sp>
      <p:sp>
        <p:nvSpPr>
          <p:cNvPr id="15" name="Text 12"/>
          <p:cNvSpPr/>
          <p:nvPr/>
        </p:nvSpPr>
        <p:spPr>
          <a:xfrm>
            <a:off x="777240" y="5330952"/>
            <a:ext cx="10634472" cy="448056"/>
          </a:xfrm>
          <a:prstGeom prst="rect">
            <a:avLst/>
          </a:prstGeom>
          <a:noFill/>
          <a:ln/>
        </p:spPr>
        <p:txBody>
          <a:bodyPr wrap="square" rtlCol="0" anchor="ctr"/>
          <a:lstStyle/>
          <a:p>
            <a:pPr indent="0" marL="0">
              <a:buNone/>
            </a:pPr>
            <a:r>
              <a:rPr lang="en-US" sz="1250" dirty="0">
                <a:solidFill>
                  <a:srgbClr val="212121"/>
                </a:solidFill>
                <a:latin typeface="Arial" pitchFamily="34" charset="0"/>
                <a:ea typeface="Arial" pitchFamily="34" charset="-122"/>
                <a:cs typeface="Arial" pitchFamily="34" charset="-120"/>
              </a:rPr>
              <a:t>Buena práctica: lo habitual es generar código al principio del proyecto y, más adelante, usar ingeniería inversa puntualmente para comprobar que la documentación sigue reflejando lo que hace el código de verdad.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Entornos de Desarrollo</cp:lastModifiedBy>
  <cp:revision>1</cp:revision>
  <dcterms:created xsi:type="dcterms:W3CDTF">2026-07-02T14:09:45Z</dcterms:created>
  <dcterms:modified xsi:type="dcterms:W3CDTF">2026-07-02T14:09:45Z</dcterms:modified>
</cp:coreProperties>
</file>
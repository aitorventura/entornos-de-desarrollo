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70" r:id="rId14"/>
    <p:sldId id="272" r:id="rId15"/>
    <p:sldId id="273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88" r:id="rId30"/>
    <p:sldId id="289" r:id="rId31"/>
    <p:sldId id="290" r:id="rId32"/>
    <p:sldId id="291" r:id="rId33"/>
    <p:sldId id="293" r:id="rId34"/>
    <p:sldId id="294" r:id="rId35"/>
    <p:sldId id="295" r:id="rId36"/>
    <p:sldId id="296" r:id="rId37"/>
    <p:sldId id="297" r:id="rId38"/>
    <p:sldId id="298" r:id="rId3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1" d="100"/>
          <a:sy n="81" d="100"/>
        </p:scale>
        <p:origin x="67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70161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03F9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 —  TEMA 4: OPTIMIZACIÓN Y DOCUMENTACIÓN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109167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y Repositorios Remotos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0" y="5120640"/>
            <a:ext cx="12188952" cy="914400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548640" y="512064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Repositorios remotos, autenticación, trabajo colaborativo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☁️ ¿Qué es un Repositorio Remoto?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4 — GitHub y Repositorios Remotos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91440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77240" y="960120"/>
            <a:ext cx="106344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repositorio remoto es una copia de tu repositorio de Git alojada en un servidor de internet. Contiene una réplica completa de la historia del proyecto: commits, ramas y etiquetas.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11091672" cy="411480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731520" y="1965960"/>
            <a:ext cx="10725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Principales utilidades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2514600"/>
            <a:ext cx="11091672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Colaboración</a:t>
            </a:r>
            <a:endParaRPr lang="en-US" sz="1500" dirty="0"/>
          </a:p>
          <a:p>
            <a:pPr marL="685800" lvl="1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Varios desarrolladores pueden trabajar sobre el mismo proyecto y compartir sus cambios.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Copia de seguridad</a:t>
            </a:r>
            <a:endParaRPr lang="en-US" sz="1500" dirty="0"/>
          </a:p>
          <a:p>
            <a:pPr marL="685800" lvl="1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tu ordenador falla, el código sigue estando en la nube.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Distribución</a:t>
            </a:r>
            <a:endParaRPr lang="en-US" sz="1500" dirty="0"/>
          </a:p>
          <a:p>
            <a:pPr marL="685800" lvl="1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Puedes mostrar tu trabajo como portafolio o conectarlo a servidores de despliegue.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Flujo local ↔ remoto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4 — GitHub y Repositorios Remotos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5029200" cy="3200400"/>
          </a:xfrm>
          <a:prstGeom prst="rect">
            <a:avLst/>
          </a:prstGeom>
          <a:solidFill>
            <a:srgbClr val="E8EAF6"/>
          </a:solidFill>
          <a:ln w="19050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6" name="Text 4"/>
          <p:cNvSpPr/>
          <p:nvPr/>
        </p:nvSpPr>
        <p:spPr>
          <a:xfrm>
            <a:off x="685800" y="9601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F5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🖥️ Tu ordenador (LOCAL)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77240" y="1463040"/>
            <a:ext cx="1371600" cy="640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822960" y="150876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Área de trabajo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148840" y="1463040"/>
            <a:ext cx="182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F5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878252" y="2148839"/>
            <a:ext cx="811762" cy="3778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F5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add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331720" y="1463040"/>
            <a:ext cx="1371600" cy="640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2377440" y="150876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Staging / índice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703320" y="1463040"/>
            <a:ext cx="182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F5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246120" y="2184272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F5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commit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886200" y="1463040"/>
            <a:ext cx="1371600" cy="640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3931920" y="150876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Repositorio local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93333" y="926482"/>
            <a:ext cx="4846320" cy="3200400"/>
          </a:xfrm>
          <a:prstGeom prst="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6172200" y="960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9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☁️ GitHub (REMOTO)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315200" y="1463040"/>
            <a:ext cx="2103120" cy="640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7360920" y="15087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Repositorio remoto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665546" y="2336617"/>
            <a:ext cx="640080" cy="0"/>
          </a:xfrm>
          <a:prstGeom prst="line">
            <a:avLst/>
          </a:prstGeom>
          <a:noFill/>
          <a:ln w="25400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5516882" y="2062297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F5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push 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753253" y="3047609"/>
            <a:ext cx="640080" cy="0"/>
          </a:xfrm>
          <a:prstGeom prst="line">
            <a:avLst/>
          </a:prstGeom>
          <a:noFill/>
          <a:ln w="254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5340840" y="2732142"/>
            <a:ext cx="1371599" cy="3154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9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git pull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340560" y="3301473"/>
            <a:ext cx="2289732" cy="4160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git fetch     (solo info)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89204" y="5417820"/>
            <a:ext cx="11091672" cy="68580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1188720" y="5501749"/>
            <a:ext cx="10634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Alternativas a GitHub: • GitLab (open source, muy usado en empresas)  • Bitbucket (Atlassian, integra con Jira/Trello)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Registro en GitHub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4 — GitHub y Repositorios Remotos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68580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77240" y="960120"/>
            <a:ext cx="10634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crear repositorios remotos o colaborar en proyectos, necesitas una cuenta. El proceso es gratuito.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11091672" cy="411480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731520" y="1737360"/>
            <a:ext cx="10725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Pasos para registrarse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2826242"/>
            <a:ext cx="7220048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Visita https://github.com/ y haz clic en “Sign up” (arriba a la derecha).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Introduce tu correo electrónico, elige una contraseña y un nombre de usuario.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Resuelve el puzzle de verificación.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te enviará un código numérico al correo. Intróducelo en la pantalla de confirmación.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 tienes acceso a tu panel de control (dashboard) desde donde puedes crear y explorar repositorios.</a:t>
            </a:r>
            <a:endParaRPr lang="en-US" sz="1500" dirty="0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5254C788-344D-6FD0-7C83-D9EF0EBB05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0561"/>
          <a:stretch>
            <a:fillRect/>
          </a:stretch>
        </p:blipFill>
        <p:spPr>
          <a:xfrm>
            <a:off x="7768688" y="2273124"/>
            <a:ext cx="3013846" cy="40112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de GitHub tras iniciar sesión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4 — GitHub y Repositorios Remotos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68580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77240" y="960120"/>
            <a:ext cx="10634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de control de GitHub: a la izquierda el listado de repositorios (vacío al empezar) y el botón verde “New” para crear uno nuevo.</a:t>
            </a:r>
            <a:endParaRPr lang="en-US" sz="14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8938"/>
            <a:ext cx="11091672" cy="446884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🔐 Autenticación y Conexión en GitHub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4 — GitHub y Repositorios Remotos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68580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77240" y="960120"/>
            <a:ext cx="10634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Desde la terminal no se puede usar la contraseña de la cuenta. GitHub exige uno de estos métodos: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1672" cy="2743200"/>
        </p:xfrm>
        <a:graphic>
          <a:graphicData uri="http://schemas.openxmlformats.org/drawingml/2006/table">
            <a:tbl>
              <a:tblPr/>
              <a:tblGrid>
                <a:gridCol w="19965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021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93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Método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Cómo funciona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Cuándo usarlo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Token PAT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Generas una “contraseña larga” específica para repositorios, revocable en cualquier momento.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Método más habitual al empezar.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Claves SSH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 de claves criptográficas en tu ordenador. Una vez configuradas, no pide credenciales.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Método profesional, más cómodo a largo plazo.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GitHub CLI (gh)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Herramienta oficial de consola que autentica a través del navegador.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Cuando se trabaja mucho con la CLI de GitHub.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5"/>
          <p:cNvSpPr/>
          <p:nvPr/>
        </p:nvSpPr>
        <p:spPr>
          <a:xfrm>
            <a:off x="548640" y="4663440"/>
            <a:ext cx="11091672" cy="82296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6"/>
          <p:cNvSpPr/>
          <p:nvPr/>
        </p:nvSpPr>
        <p:spPr>
          <a:xfrm>
            <a:off x="777240" y="4754880"/>
            <a:ext cx="106344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Recomendación: El PAT es más rápido de configurar al principio. Las claves SSH son más seguras y no requieren pegar ningún token en cada push. En un entorno profesional, SSH es el estándar.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Generar un Token de Acceso Personal (PAT)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4 — GitHub y Repositorios Remotos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411480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31520" y="868680"/>
            <a:ext cx="10725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Pasos en GitHub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11091672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GitHub, haz clic en tu foto de perfil → Settings.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Baja por el menú lateral hasta &lt; &gt; Developer settings.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 a Personal access tokens → Tokens (classic).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Pulsa Generate new token → Generate new token (classic).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Asigna un nombre descriptivo y marca la casilla “repo” para permisos de lectura/escritura.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Baja al final de la página y haz clic en Generate token.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4572000"/>
            <a:ext cx="11091672" cy="77724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57F1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777240" y="4663440"/>
            <a:ext cx="106344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Esta es la única vez que GitHub te muestra el token. Si cierras la pestaña sin copiarlo, tendrás que generar uno nuevo.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Formulario de creación de Token PAT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4 — GitHub y Repositorios Remotos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68580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77240" y="960120"/>
            <a:ext cx="10634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formulario permite asignar nombre, vencimiento y permisos. Marca la casilla “repo” para dar acceso de lectura y escritura sobre repositorios.</a:t>
            </a:r>
            <a:endParaRPr lang="en-US" sz="14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1247" y="1691640"/>
            <a:ext cx="7046458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generado — cópialo ahora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4 — GitHub y Repositorios Remotos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73152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57F1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77240" y="960120"/>
            <a:ext cx="106344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Copia el token completo ahora. GitHub no volverá a mostrártelo. Cuando Git pida contraseña al hacer push, pega este token.</a:t>
            </a:r>
            <a:endParaRPr lang="en-US" sz="14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20543"/>
            <a:ext cx="11091672" cy="305135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Configurar SSH — Paso 1: Generar la clave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4 — GitHub y Repositorios Remotos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68580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77240" y="960120"/>
            <a:ext cx="10634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no quieres pegar el token cada vez que subes código, configura una clave SSH. El proceso es de una sola vez.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11091672" cy="411480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731520" y="1737360"/>
            <a:ext cx="10725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 la clave en Git Bash con tu correo de GitHub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286000"/>
            <a:ext cx="11091672" cy="59436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548640" y="2286000"/>
            <a:ext cx="64008" cy="594360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749808" y="2377440"/>
            <a:ext cx="1072591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ssh-keygen -t ed25519 -C "tu_correo@ejemplo.com"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3017520"/>
            <a:ext cx="11091672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terminal pregunta dónde guardar la clave: pulsa Enter para aceptar la ruta por defecto.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Puede pedir una passphrase (contraseña de la clave): pulsa Enter para dejarlo en blanco.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dibujo ASCII al final confirma que la clave se ha generado en la carpeta .ssh de tu ordenador.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SSH — Terminal generando la clave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4 — GitHub y Repositorios Remotos</a:t>
            </a: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671" y="868680"/>
            <a:ext cx="1104961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Configurar SSH — Paso 2: Copiar la clave pública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4 — GitHub y Repositorios Remotos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73152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77240" y="960120"/>
            <a:ext cx="106344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proceso ha generado dos archivos: la clave privada (nunca la compartas) y la clave pública (la que le damos a GitHub). Copia la pública: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11091672" cy="411480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731520" y="1783080"/>
            <a:ext cx="10725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Comandos para copiar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11091672" cy="178308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548640" y="2331720"/>
            <a:ext cx="64008" cy="1645920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749808" y="2423160"/>
            <a:ext cx="1072591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Windows (Git Bash)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clip &lt; ~/.ssh/id_ed25519.pub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Mac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pbcopy &lt; ~/.ssh/id_ed25519.pub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 muéstrala en pantalla y cópiala manualmente: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~/.ssh/id_ed25519.pub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411480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clave pública siempre empieza por ssh-ed25519.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clave privada (sin .pub) no debes compartirla nunca con nadie.</a:t>
            </a:r>
            <a:endParaRPr lang="en-US" sz="1500" dirty="0"/>
          </a:p>
        </p:txBody>
      </p:sp>
      <p:pic>
        <p:nvPicPr>
          <p:cNvPr id="13" name="Image 0" descr="preencoded.png">
            <a:extLst>
              <a:ext uri="{FF2B5EF4-FFF2-40B4-BE49-F238E27FC236}">
                <a16:creationId xmlns:a16="http://schemas.microsoft.com/office/drawing/2014/main" id="{AAD22E47-FFB2-6C05-6ECE-04631191BB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9867" y="4760532"/>
            <a:ext cx="9305793" cy="167099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Configurar SSH — Paso 3: Añadir la clave a GitHub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4 — GitHub y Repositorios Remotos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411480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31520" y="868680"/>
            <a:ext cx="10725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Pasos en la web de GitHub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11091672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 a GitHub → tu foto de perfil → Settings → SSH and GPG keys.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Pulsa New SSH key.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Escribe un título (p. ej. “Portátil clase”) y pega la clave pública en el campo de texto.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Haz clic en Add SSH key.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716332"/>
            <a:ext cx="11091672" cy="82296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777240" y="2807772"/>
            <a:ext cx="106344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partir de ahora, cuando clones un proyecto usa la URL SSH (empieza por git@github.com:...) en lugar de HTTPS. Cualquier push o pull funcionará sin pedirte credenciales.</a:t>
            </a:r>
            <a:endParaRPr lang="en-US" sz="1500" dirty="0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7FDE6EC3-33B3-C90B-1F4E-BDCCD74021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3879" y="3623354"/>
            <a:ext cx="5962661" cy="314320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SSH — Clave añadida correctamente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4 — GitHub y Repositorios Remotos</a:t>
            </a: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59087"/>
            <a:ext cx="11091672" cy="350558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Subir tu proyecto — Paso 1: Crear el repositorio en GitHub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4 — GitHub y Repositorios Remotos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68580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77240" y="960120"/>
            <a:ext cx="10634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Imagina que has estado trabajando en local con git init, git add y git commit. Ahora quieres subirlo a GitHub.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11091672" cy="411480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731520" y="1737360"/>
            <a:ext cx="10725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Crear un repositorio vacío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2286000"/>
            <a:ext cx="5871014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 en tu cuenta de GitHub y pulsa el botón New para crear un nuevo repositorio.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Dale un nombre y decide si será público o privado.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IMPORTANTE: Si ya tienes un repositorio local listo, NO marques las opciones de añadir README, .gitignore ni licencia desde la web.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Necesitas que GitHub te dé un repositorio completamente vacío para que no haya conflictos con tu historial local.</a:t>
            </a:r>
            <a:endParaRPr lang="en-US" sz="1500" dirty="0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3EC044FA-C3C8-59E1-A164-64123BBA68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245" y="2331720"/>
            <a:ext cx="3905769" cy="384048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2: Enlazar local con remoto (git remote add)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4 — GitHub y Repositorios Remotos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77724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77240" y="960120"/>
            <a:ext cx="106344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alias “origin” es un apodo que le damos a la URL del servidor remoto. Por convención siempre se llama origin; así no tienes que escribir la URL completa cada vez.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11091672" cy="411480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10725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Según el protocolo configurado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23774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5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697480"/>
            <a:ext cx="11091672" cy="50292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548640" y="2697480"/>
            <a:ext cx="64008" cy="502920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749808" y="278892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remote add origin https://github.com/tu-usuario/tu-repositorio.git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3375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5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SSH: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657600"/>
            <a:ext cx="11091672" cy="50292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548640" y="3657600"/>
            <a:ext cx="64008" cy="502920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749808" y="374904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remote add origin git@github.com:tu-usuario/tu-repositorio.git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429768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Verificar que el enlace se ha creado: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617720"/>
            <a:ext cx="11091672" cy="45720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548640" y="4617720"/>
            <a:ext cx="64008" cy="457200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749808" y="4709160"/>
            <a:ext cx="107259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remote -v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remote -v — origin enlazado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4 — GitHub y Repositorios Remotos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64008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77240" y="960120"/>
            <a:ext cx="10634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remote -v confirma que origin apunta a la URL correcta tanto para push como para fetch.</a:t>
            </a:r>
            <a:endParaRPr lang="en-US" sz="14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19280"/>
            <a:ext cx="11091672" cy="376244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3: El primer push (git push -u origin main)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4 — GitHub y Repositorios Remotos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82296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77240" y="960120"/>
            <a:ext cx="106344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primera vez añade -u (--set-upstream) para vincular tu rama local con la rama remota. A partir de ahí, Git sabe adónde ir cuando ejecutas git push o git pull a secas.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11091672" cy="50292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548640" y="1874520"/>
            <a:ext cx="64008" cy="502920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749808" y="196596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-u origin main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56032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9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Info: ¿Por qué me pide (o no me pide) contraseña?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880360"/>
            <a:ext cx="1109167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pide usuario y contraseña:</a:t>
            </a:r>
            <a:endParaRPr lang="en-US" sz="1400" dirty="0"/>
          </a:p>
          <a:p>
            <a:pPr marL="685800" lvl="1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Pega el Token PAT como contraseña. Tu contraseña de GitHub no funcionará.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no pide nada:</a:t>
            </a:r>
            <a:endParaRPr lang="en-US" sz="1400" dirty="0"/>
          </a:p>
          <a:p>
            <a:pPr marL="685800" lvl="1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Tienes SSH configurado, o el Git Credential Manager de Windows ha guardado tus credenciales.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389120"/>
            <a:ext cx="11091672" cy="82296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57F1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777240" y="4480560"/>
            <a:ext cx="106344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No uses git push --force salvo que estés seguro. --force sobreescribe el historial del servidor y puede borrar el trabajo de tus compañeros. Haz primero git pull y luego vuelve a hacer push.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Primer push exitoso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4 — GitHub y Repositorios Remotos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64008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77240" y="960120"/>
            <a:ext cx="10634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push -u origin main con las estadísticas de éxito (Writing objects: 100%) y el aviso de que la rama remota queda enlazada.</a:t>
            </a:r>
            <a:endParaRPr lang="en-US" sz="14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766" y="1645920"/>
            <a:ext cx="9983419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Repositorio en GitHub con los archivos subidos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4 — GitHub y Repositorios Remotos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64008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77240" y="960120"/>
            <a:ext cx="10634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repositorio en GitHub muestra los archivos locales junto al mensaje y la fecha de cada commit.</a:t>
            </a:r>
            <a:endParaRPr lang="en-US" sz="14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606373"/>
            <a:ext cx="11091672" cy="2788253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Clonar un repositorio (git clone)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4 — GitHub y Repositorios Remotos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73152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77240" y="960120"/>
            <a:ext cx="106344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Llegas a un ordenador donde no tienes nada del proyecto. En lugar de git init, usas git clone con la URL del repositorio.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11091672" cy="77724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64008" cy="777240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749808" y="1874520"/>
            <a:ext cx="1072591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https://github.com/tu-usuario/tu-repositorio.git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 con SSH si lo tienes configurado: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git@github.com:tu-usuario/tu-repositorio.git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743200"/>
            <a:ext cx="11091672" cy="411480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731520" y="2743200"/>
            <a:ext cx="10725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clone hace tres cosas de golpe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3291840"/>
            <a:ext cx="1109167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 una carpeta con el nombre del repositorio.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Descarga todos los commits, ramas y archivos.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 origin apuntando al remoto automáticamente.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" y="48006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obtener la URL: entra en el repositorio y haz clic en el botón verde “&lt;&gt; Code”.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Botón Code — cómo obtener la URL de clonación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4 — GitHub y Repositorios Remotos</a:t>
            </a: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4130" y="868680"/>
            <a:ext cx="9200693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clone en la terminal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4 — GitHub y Repositorios Remotos</a:t>
            </a: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31631"/>
            <a:ext cx="11091672" cy="4960497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fetch vs git pull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4 — GitHub y Repositorios Remotos</a:t>
            </a:r>
            <a:endParaRPr lang="en-US" sz="11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868680"/>
          <a:ext cx="11091673" cy="2834640"/>
        </p:xfrm>
        <a:graphic>
          <a:graphicData uri="http://schemas.openxmlformats.org/drawingml/2006/table">
            <a:tbl>
              <a:tblPr/>
              <a:tblGrid>
                <a:gridCol w="33275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275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366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 fetch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 pull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Conecta al remoto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Descarga cambios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Modifica tus archivos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Cuándo usarlo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Cuando quieres revisar antes de integrar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Cuando quieres actualizar directamente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886200"/>
            <a:ext cx="11091672" cy="100584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57F1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777240" y="3977640"/>
            <a:ext cx="106344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¿Y si git pull genera un conflicto? Si tú y otra persona habéis modificado el mismo archivo, Git no puede fusionarlos solo. Abre el archivo, edita las marcas &lt;&lt;&lt;&lt;&lt;&lt;&lt; / ======= / &gt;&gt;&gt;&gt;&gt;&gt;&gt;, guarda, haz git add del archivo resuelto y cierra con git commit.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pull — integrar cambios del remoto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4 — GitHub y Repositorios Remotos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64008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77240" y="960120"/>
            <a:ext cx="10634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pull integra un cambio hecho desde la web de GitHub. La salida muestra el fast-forward y las estadísticas del archivo modificado.</a:t>
            </a:r>
            <a:endParaRPr lang="en-US" sz="14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201072"/>
            <a:ext cx="11091672" cy="359885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🌳 Ramas en el repositorio remoto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4 — GitHub y Repositorios Remotos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73152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77240" y="960120"/>
            <a:ext cx="106344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lo que aprendiste sobre ramas funciona igual en el remoto. Una rama local solo existe en tu ordenador hasta que la subes explícitamente.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11091672" cy="411480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731520" y="1783080"/>
            <a:ext cx="10725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Publicar una rama en GitHub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11091672" cy="100584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548640" y="2331720"/>
            <a:ext cx="64008" cy="1005840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749808" y="2423160"/>
            <a:ext cx="1072591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switch -c nueva-funcionalidad   # crea la rama y cambia a ella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... trabajas, haces commits ...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-u origin nueva-funcionalidad  # la primera vez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                               # las siguientes veces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520440"/>
            <a:ext cx="11091672" cy="411480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731520" y="3520440"/>
            <a:ext cx="10725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Borrar una rama del remoto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4069080"/>
            <a:ext cx="11091672" cy="50292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548640" y="4069080"/>
            <a:ext cx="64008" cy="502920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749808" y="416052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origin --delete nueva-funcionalidad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470916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También puedes borrarla desde la web de GitHub en la sección Branches → icono de papelera.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Borrar la rama remota no elimina la rama local; hay que borrarla por separado.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Publicar rama con git push -u origin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4 — GitHub y Repositorios Remotos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64008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77240" y="960120"/>
            <a:ext cx="10634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aviso [new branch] en la salida de git push confirma que la rama ha llegado al servidor.</a:t>
            </a:r>
            <a:endParaRPr lang="en-US" sz="14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3411" y="1645920"/>
            <a:ext cx="6442131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Selector de ramas en GitHub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4 — GitHub y Repositorios Remotos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68580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77240" y="960120"/>
            <a:ext cx="10634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selector de ramas (arriba a la izquierda del código) muestra todas las ramas subidas. Puedes navegar por ellas o iniciar una Pull Request.</a:t>
            </a:r>
            <a:endParaRPr lang="en-US" sz="14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2378" y="1691640"/>
            <a:ext cx="7424196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📬 Pull Requests: proponer cambios para revisión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4 — GitHub y Repositorios Remotos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77724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77240" y="960120"/>
            <a:ext cx="106344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Pull Request (PR) es una petición que abres en GitHub para que alguien revise tu rama antes de fusionarla en main. Es el mecanismo central del trabajo colaborativo.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11091672" cy="411480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10725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Flujo típico con PRs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2377440"/>
            <a:ext cx="11091672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Subes tu rama al remoto: git push -u origin mi-rama.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GitHub aparece un aviso automático con el botón “Compare &amp; pull request”.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Escribes un título y una descripción explicando qué has cambiado y por qué.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compañero revisa los cambios en la pestaña “Files changed” (líneas en verde = añadidas, en rojo = borradas).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todo está bien, se pulsa “Merge pull request” y los cambios pasan a main.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rama puede borrarse automáticamente después del merge.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5349240"/>
            <a:ext cx="11091672" cy="68580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777240" y="5440680"/>
            <a:ext cx="10634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Las PRs no son solo para equipos grandes. Úsalas en proyectos propios para tener historial de decisiones y una forma ordenada de trabajar por funcionalidades.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Request — diagrama de flujo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4 — GitHub y Repositorios Remotos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3514344" cy="914400"/>
          </a:xfrm>
          <a:prstGeom prst="roundRect">
            <a:avLst/>
          </a:prstGeom>
          <a:solidFill>
            <a:srgbClr val="E8EAF6"/>
          </a:solidFill>
          <a:ln w="16510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594360" y="1371600"/>
            <a:ext cx="342290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push -u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 mi-rama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017264" y="1325880"/>
            <a:ext cx="365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F5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337304" y="1325880"/>
            <a:ext cx="3514344" cy="914400"/>
          </a:xfrm>
          <a:prstGeom prst="roundRect">
            <a:avLst/>
          </a:prstGeom>
          <a:solidFill>
            <a:srgbClr val="E8EAF6"/>
          </a:solidFill>
          <a:ln w="16510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4383024" y="1371600"/>
            <a:ext cx="342290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 PR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GitHub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805928" y="1325880"/>
            <a:ext cx="365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F5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125968" y="1325880"/>
            <a:ext cx="3514344" cy="914400"/>
          </a:xfrm>
          <a:prstGeom prst="roundRect">
            <a:avLst/>
          </a:prstGeom>
          <a:solidFill>
            <a:srgbClr val="E8EAF6"/>
          </a:solidFill>
          <a:ln w="16510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8171688" y="1371600"/>
            <a:ext cx="342290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Revisión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equipo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" y="25146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¿Aprobado?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3017520"/>
            <a:ext cx="5362956" cy="731520"/>
          </a:xfrm>
          <a:prstGeom prst="roundRect">
            <a:avLst/>
          </a:prstGeom>
          <a:solidFill>
            <a:srgbClr val="E0F2F1"/>
          </a:solidFill>
          <a:ln w="1651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640080" y="3108960"/>
            <a:ext cx="51800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Sí → Merge a main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277356" y="3017520"/>
            <a:ext cx="5362956" cy="731520"/>
          </a:xfrm>
          <a:prstGeom prst="roundRect">
            <a:avLst/>
          </a:prstGeom>
          <a:solidFill>
            <a:srgbClr val="FFF8E1"/>
          </a:solidFill>
          <a:ln w="16510">
            <a:solidFill>
              <a:srgbClr val="F57F1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6368796" y="3063240"/>
            <a:ext cx="51800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✖ No → Hacer cambios + push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volver a revisar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4069080"/>
            <a:ext cx="11091672" cy="68580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777240" y="4160520"/>
            <a:ext cx="10634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ciclo “revisión → correcciones → revisión” puede repetirse tantas veces como sea necesario antes del merge.</a:t>
            </a:r>
            <a:endParaRPr lang="en-US" sz="1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Flujo de trabajo habitual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4 — GitHub y Repositorios Remotos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2035454" cy="1097280"/>
          </a:xfrm>
          <a:prstGeom prst="roundRect">
            <a:avLst/>
          </a:prstGeom>
          <a:solidFill>
            <a:srgbClr val="E8EAF6"/>
          </a:solidFill>
          <a:ln w="16510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594360" y="1097280"/>
            <a:ext cx="194401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pull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(actualizarte)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538374" y="1051560"/>
            <a:ext cx="320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F5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812694" y="1051560"/>
            <a:ext cx="2035454" cy="1097280"/>
          </a:xfrm>
          <a:prstGeom prst="roundRect">
            <a:avLst/>
          </a:prstGeom>
          <a:solidFill>
            <a:srgbClr val="E8EAF6"/>
          </a:solidFill>
          <a:ln w="16510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2858414" y="1097280"/>
            <a:ext cx="194401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switch -c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mi-rama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02429" y="1051560"/>
            <a:ext cx="320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F5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076749" y="1051560"/>
            <a:ext cx="2035454" cy="1097280"/>
          </a:xfrm>
          <a:prstGeom prst="roundRect">
            <a:avLst/>
          </a:prstGeom>
          <a:solidFill>
            <a:srgbClr val="E8EAF6"/>
          </a:solidFill>
          <a:ln w="16510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5122469" y="1097280"/>
            <a:ext cx="194401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Trabajar y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commitear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066483" y="1051560"/>
            <a:ext cx="320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F5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340803" y="1051560"/>
            <a:ext cx="2035454" cy="1097280"/>
          </a:xfrm>
          <a:prstGeom prst="roundRect">
            <a:avLst/>
          </a:prstGeom>
          <a:solidFill>
            <a:srgbClr val="E8EAF6"/>
          </a:solidFill>
          <a:ln w="16510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7386523" y="1097280"/>
            <a:ext cx="194401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push -u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 mi-rama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330538" y="1051560"/>
            <a:ext cx="320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F5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9604858" y="1051560"/>
            <a:ext cx="2035454" cy="1097280"/>
          </a:xfrm>
          <a:prstGeom prst="roundRect">
            <a:avLst/>
          </a:prstGeom>
          <a:solidFill>
            <a:srgbClr val="E8EAF6"/>
          </a:solidFill>
          <a:ln w="16510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9650578" y="1097280"/>
            <a:ext cx="194401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+ merge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main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224028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(y vuelta al paso 1)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2697480"/>
            <a:ext cx="11091672" cy="411480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731520" y="2697480"/>
            <a:ext cx="10725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Detalle de cada paso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8640" y="3246120"/>
            <a:ext cx="11091672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pull</a:t>
            </a:r>
            <a:endParaRPr lang="en-US" sz="1400" dirty="0"/>
          </a:p>
          <a:p>
            <a:pPr marL="685800" lvl="1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Actualizarte antes de empezar: integra los cambios del remoto en tu rama local.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switch -c mi-rama</a:t>
            </a:r>
            <a:endParaRPr lang="en-US" sz="1400" dirty="0"/>
          </a:p>
          <a:p>
            <a:pPr marL="685800" lvl="1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Crear una rama para el cambio que vas a hacer; nunca trabajes directo en main.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add . &amp;&amp; git commit -m "..."</a:t>
            </a:r>
            <a:endParaRPr lang="en-US" sz="1400" dirty="0"/>
          </a:p>
          <a:p>
            <a:pPr marL="685800" lvl="1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Commitear con frecuencia con mensajes descriptivos.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push + PR</a:t>
            </a:r>
            <a:endParaRPr lang="en-US" sz="1400" dirty="0"/>
          </a:p>
          <a:p>
            <a:pPr marL="685800" lvl="1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Publicar la rama y abrir una Pull Request para revisar antes de fusionar.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IntelliJ IDEA — Vincular cuenta de GitHub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4 — GitHub y Repositorios Remotos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73152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77240" y="960120"/>
            <a:ext cx="106344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IntelliJ IDEA incorpora soporte nativo para Git y GitHub: la mayoría de operaciones se pueden hacer desde la interfaz sin usar la terminal.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11091672" cy="411480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731520" y="1783080"/>
            <a:ext cx="10725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Enlazar tu cuenta de GitHub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2331720"/>
            <a:ext cx="3608581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File → Settings (o Edit → Preferences en Mac).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 a Version Control → GitHub.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Pulsa + → Log in via GitHub (abre el navegador para autorizar) o introduce tu Token PAT.</a:t>
            </a:r>
            <a:endParaRPr lang="en-US" sz="1500" dirty="0"/>
          </a:p>
        </p:txBody>
      </p:sp>
      <p:pic>
        <p:nvPicPr>
          <p:cNvPr id="11" name="Image 0" descr="preencoded.png">
            <a:extLst>
              <a:ext uri="{FF2B5EF4-FFF2-40B4-BE49-F238E27FC236}">
                <a16:creationId xmlns:a16="http://schemas.microsoft.com/office/drawing/2014/main" id="{28C0AB91-69BF-4103-5D7B-12151C49A6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1910" y="2335962"/>
            <a:ext cx="5161219" cy="3561918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IntelliJ — Menú Git: Commit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4 — GitHub y Repositorios Remotos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411480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31520" y="868680"/>
            <a:ext cx="10725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 Commit (Ctrl+K)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11091672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un panel donde puedes marcar los archivos a añadir al staging.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Escribe el mensaje del commit directamente en el panel.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 derecha se muestra el diff visual con las líneas añadidas (verde) y borradas (rojo).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383280"/>
            <a:ext cx="11091672" cy="59436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777240" y="3474720"/>
            <a:ext cx="106344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Equivale a git add + git commit en un solo paso visual.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IntelliJ — panel de Commit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4 — GitHub y Repositorios Remotos</a:t>
            </a: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" y="868680"/>
            <a:ext cx="10808208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IntelliJ — Menú Git: Push y Pull/Fetch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4 — GitHub y Repositorios Remotos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411480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31520" y="868680"/>
            <a:ext cx="10725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B) Push (Ctrl+Shift+K)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Muestra los commits pendientes de subir y hacia qué rama de origin van.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 antes de enviar.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11091672" cy="411480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731520" y="2514600"/>
            <a:ext cx="10725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C) Pull / Fetch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3063240"/>
            <a:ext cx="1109167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Descarga e integra los cambios del remoto en tu rama actual.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terminal y el IDE son complementarios: la terminal da control total; el IDE acelera las operaciones del día a día.</a:t>
            </a:r>
            <a:endParaRPr lang="en-US" sz="15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IntelliJ — diálogo de Push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4 — GitHub y Repositorios Remotos</a:t>
            </a: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2963" y="868680"/>
            <a:ext cx="8663026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IntelliJ — Gestión de ramas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4 — GitHub y Repositorios Remotos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73152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77240" y="960120"/>
            <a:ext cx="106344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Desde Git → Branches puedes ver todas las ramas locales y remotas, crear una nueva rama (equivale a git switch -c) y cambiar entre ellas.</a:t>
            </a:r>
            <a:endParaRPr lang="en-US" sz="15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5546" y="1783080"/>
            <a:ext cx="573786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Ideas clave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4 — GitHub y Repositorios Remotos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411480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31520" y="868680"/>
            <a:ext cx="10725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Comandos esenciales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5408676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remote add origin &lt;url&gt;</a:t>
            </a:r>
            <a:endParaRPr lang="en-US" sz="1300" dirty="0"/>
          </a:p>
          <a:p>
            <a:pPr marL="685800" lvl="1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Vincula el repo local con el remoto. origin es el alias.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remote -v</a:t>
            </a:r>
            <a:endParaRPr lang="en-US" sz="1300" dirty="0"/>
          </a:p>
          <a:p>
            <a:pPr marL="685800" lvl="1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Comprueba a qué dirección remota apunta el proyecto.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push -u origin &lt;rama&gt;</a:t>
            </a:r>
            <a:endParaRPr lang="en-US" sz="1300" dirty="0"/>
          </a:p>
          <a:p>
            <a:pPr marL="685800" lvl="1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Sube la rama la primera vez y la vincula para futuros pushes.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push</a:t>
            </a:r>
            <a:endParaRPr lang="en-US" sz="1300" dirty="0"/>
          </a:p>
          <a:p>
            <a:pPr marL="685800" lvl="1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Sube los commits de la rama actual al remoto.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31636" y="1417320"/>
            <a:ext cx="5408676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clone &lt;url&gt;</a:t>
            </a:r>
            <a:endParaRPr lang="en-US" sz="1300" dirty="0"/>
          </a:p>
          <a:p>
            <a:pPr marL="685800" lvl="1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Descarga un repositorio completo en una carpeta nueva.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fetch</a:t>
            </a:r>
            <a:endParaRPr lang="en-US" sz="1300" dirty="0"/>
          </a:p>
          <a:p>
            <a:pPr marL="685800" lvl="1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Descarga el estado del remoto sin modificar tus archivos.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pull</a:t>
            </a:r>
            <a:endParaRPr lang="en-US" sz="1300" dirty="0"/>
          </a:p>
          <a:p>
            <a:pPr marL="685800" lvl="1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Descarga y aplica los cambios del remoto en tu rama actual.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push origin --delete &lt;rama&gt;</a:t>
            </a:r>
            <a:endParaRPr lang="en-US" sz="1300" dirty="0"/>
          </a:p>
          <a:p>
            <a:pPr marL="685800" lvl="1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Borra una rama del repositorio remoto.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5623560"/>
            <a:ext cx="11091672" cy="59436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777240" y="5715000"/>
            <a:ext cx="106344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Pull Request es una propuesta de fusión que el equipo revisa antes de integrar en main.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2918</Words>
  <Application>Microsoft Office PowerPoint</Application>
  <PresentationFormat>Panorámica</PresentationFormat>
  <Paragraphs>336</Paragraphs>
  <Slides>38</Slides>
  <Notes>38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38</vt:i4>
      </vt:variant>
    </vt:vector>
  </HeadingPairs>
  <TitlesOfParts>
    <vt:vector size="41" baseType="lpstr">
      <vt:lpstr>Arial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Entornos de Desarrollo</dc:creator>
  <cp:lastModifiedBy>VENTURA EDO, AITOR</cp:lastModifiedBy>
  <cp:revision>2</cp:revision>
  <dcterms:created xsi:type="dcterms:W3CDTF">2026-06-28T18:17:02Z</dcterms:created>
  <dcterms:modified xsi:type="dcterms:W3CDTF">2026-06-28T18:25:29Z</dcterms:modified>
</cp:coreProperties>
</file>
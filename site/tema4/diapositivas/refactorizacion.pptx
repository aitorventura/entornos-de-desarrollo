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03F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 —  TEMA 4: OPTIMIZACIÓN Y DOCUMENTACIÓN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109167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Refactorización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5120640"/>
            <a:ext cx="12188952" cy="91440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12064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Principios, patrones y limitaciones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clave: ¿qué es refactorizar?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4 · Refactorización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86868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41832"/>
            <a:ext cx="10634472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Refactorizar es mejorar el diseño interno del código — cómo está escrito y organizado — sin cambiar lo que hace: misma funcionalidad, mismos resultados.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11091672" cy="411480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965960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programa sigue haciendo exactamente lo mismo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560320"/>
            <a:ext cx="5454396" cy="347472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560320"/>
            <a:ext cx="52715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Qué mejora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85916" y="2560320"/>
            <a:ext cx="5454396" cy="347472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77356" y="2560320"/>
            <a:ext cx="52715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 Qué NO cambia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2999232"/>
            <a:ext cx="5454396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código es más claro y legible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más fácil de mantener y ampliar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más fácil de probar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185916" y="2999232"/>
            <a:ext cx="5454396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resultado del programa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funcionalidad para el usuario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datos de entrada y salida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507992"/>
            <a:ext cx="11091672" cy="59436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581144"/>
            <a:ext cx="10634472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Si el comportamiento cambia, ya no es un refactor — es un cambio de funcionalidad.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Refactorización vs optimización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4 · Refactorización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868680"/>
          <a:ext cx="11091672" cy="914400"/>
        </p:xfrm>
        <a:graphic>
          <a:graphicData uri="http://schemas.openxmlformats.org/drawingml/2006/table">
            <a:tbl>
              <a:tblPr/>
              <a:tblGrid>
                <a:gridCol w="2440168"/>
                <a:gridCol w="4325752"/>
                <a:gridCol w="4325752"/>
              </a:tblGrid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Optimización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Refactorización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mejora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Rendimiento o uso de recursos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Estructura y legibilidad del código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¿Cambia el resultado?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¿Cuándo se hace?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Cuando hay un problema medido de rendimiento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Cuando el código es difícil de leer o mantener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Ejemplo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Sustituir List por HashSet para búsquedas rápidas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Renombrar f() por calcularPrecioConIVA()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892040"/>
            <a:ext cx="11091672" cy="77724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4965192"/>
            <a:ext cx="10634472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Orden habitual en proyectos reales: primero se refactoriza para que el código sea legible, y solo entonces se optimiza donde haga falta.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Principios básicos de refactorización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4 · Refactorización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82296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41832"/>
            <a:ext cx="1063447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Estos cuatro principios están detrás de casi todas las refactorizaciones. No hace falta aplicarlos todos a la vez: basta con identificar el más evidente y trabajar en pasos pequeños.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91672" cy="914400"/>
        </p:xfrm>
        <a:graphic>
          <a:graphicData uri="http://schemas.openxmlformats.org/drawingml/2006/table">
            <a:tbl>
              <a:tblPr/>
              <a:tblGrid>
                <a:gridCol w="3105668"/>
                <a:gridCol w="7986004"/>
              </a:tblGrid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Principio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 qué consiste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Código legible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Nombres que describen la intención. Si tienes que comentar qué hace una variable, es señal de que el nombre no es bueno.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Responsabilidad única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Cada método o clase hace una sola cosa. Un método que valida, calcula y envía emails es difícil de entender y de probar.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Evitar duplicación (DRY)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 copias y pegas lógica, cualquier bug aparece en varios sitios a la vez. Una regla → un único lugar en el código.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Cambios pequeños y verificados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Refactorizar en pasos pequeños y comprobar que todo sigue funcionando. Un refactor enorme es difícil de revertir si algo falla.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 de oro: refactorizar con pruebas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4 · Refactorización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86868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41832"/>
            <a:ext cx="10634472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Refactorizar implica tocar código que funciona, y eso siempre tiene riesgo. La manera segura es tener verificaciones — pruebas automatizadas o casos manuales — para detectar si algo ha dejado de funcionar.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Camino normal (pruebas pasan):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359152"/>
            <a:ext cx="2498598" cy="91440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F51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404872"/>
            <a:ext cx="240715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código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28950" y="2359152"/>
            <a:ext cx="4023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5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412998" y="2359152"/>
            <a:ext cx="2498598" cy="91440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F51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58718" y="2404872"/>
            <a:ext cx="240715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Refactor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pequeño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893308" y="2359152"/>
            <a:ext cx="4023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5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77356" y="2359152"/>
            <a:ext cx="2498598" cy="91440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F51B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23076" y="2404872"/>
            <a:ext cx="240715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Ejecutar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757666" y="2359152"/>
            <a:ext cx="4023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5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141714" y="2359152"/>
            <a:ext cx="2498598" cy="91440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F51B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87434" y="2404872"/>
            <a:ext cx="240715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Siguiente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refactor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350215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las pruebas fallan: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849624"/>
            <a:ext cx="2498598" cy="91440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F51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895344"/>
            <a:ext cx="240715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Deshacer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cambio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028950" y="3849624"/>
            <a:ext cx="4023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5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3412998" y="3849624"/>
            <a:ext cx="2498598" cy="91440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F51B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58718" y="3895344"/>
            <a:ext cx="240715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Analizar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falló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893308" y="3849624"/>
            <a:ext cx="4023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5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277356" y="3849624"/>
            <a:ext cx="2498598" cy="91440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F51B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23076" y="3895344"/>
            <a:ext cx="240715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Refactor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pequeño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757666" y="3849624"/>
            <a:ext cx="4023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5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141714" y="3849624"/>
            <a:ext cx="2498598" cy="91440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F51B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87434" y="3895344"/>
            <a:ext cx="240715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Volver 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48640" y="5038344"/>
            <a:ext cx="11091672" cy="77724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5111496"/>
            <a:ext cx="10634472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Sin pruebas: trabaja en pasos aún más pequeños y verifica manualmente después de cada cambio. Lo ideal es añadir pruebas básicas antes de refactorizar zonas críticas.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Patrones: Rename y Extract Constant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4 · Refactorización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5454396" cy="384048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68680"/>
            <a:ext cx="52715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1) Rename — Renombrar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362456"/>
            <a:ext cx="545439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Nombres crípticos que no explican la intención. En dos semanas nadie sabe qué significa d o f.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066544"/>
            <a:ext cx="5454396" cy="25603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066544"/>
            <a:ext cx="53629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Antes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377440"/>
            <a:ext cx="5454396" cy="100584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377440"/>
            <a:ext cx="64008" cy="100584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468880"/>
            <a:ext cx="513435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d = 0;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f(double p)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p * 1.21;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520440"/>
            <a:ext cx="5454396" cy="25603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520440"/>
            <a:ext cx="53629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Después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831336"/>
            <a:ext cx="5454396" cy="114300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831336"/>
            <a:ext cx="64008" cy="114300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3922776"/>
            <a:ext cx="513435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totalPedidos = 0;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calcularPrecioConIVA(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double precio)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precio * 1.21;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5138928"/>
            <a:ext cx="54543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6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⌨  Atajo: Shift + F6 — actualiza todas las referencias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85916" y="868680"/>
            <a:ext cx="5454396" cy="384048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77356" y="868680"/>
            <a:ext cx="52715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3) Extract Constant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185916" y="1362456"/>
            <a:ext cx="545439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Números mágicos sueltos sin explicación. Si la regla cambia, hay que buscarlos en varios sitios y siempre se olvida alguno.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185916" y="2066544"/>
            <a:ext cx="5454396" cy="25603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31636" y="2066544"/>
            <a:ext cx="53629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Antes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85916" y="2377440"/>
            <a:ext cx="5454396" cy="137160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85916" y="2377440"/>
            <a:ext cx="64008" cy="137160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87084" y="2468880"/>
            <a:ext cx="513435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(password.length() &lt; 8)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throw new IllegalArgumentException();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más abajo, el mismo 8...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(newPass.length() &lt; 8)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errores.add("Contraseña corta");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185916" y="3886200"/>
            <a:ext cx="5454396" cy="25603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31636" y="3886200"/>
            <a:ext cx="53629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Después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85916" y="4197096"/>
            <a:ext cx="5454396" cy="160020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85916" y="4197096"/>
            <a:ext cx="64008" cy="160020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87084" y="4288536"/>
            <a:ext cx="5134356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static final int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MIN_PASSWORD_LENGTH = 8;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(password.length() &lt; MIN_PASSWORD_LENGTH)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throw new IllegalArgumentException();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(newPass.length() &lt; MIN_PASSWORD_LENGTH)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errores.add("Contraseña corta");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185916" y="5961888"/>
            <a:ext cx="54543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cambia el mínimo a 10, se cambia en un único sitio.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Patrón: Extract Method — Extraer método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4 · Refactorización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9167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método largo obliga a leer todo para entender una parte. Si tiene más de 10-15 líneas, suele estar haciendo demasiadas cosas a la vez.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435608"/>
            <a:ext cx="5232563" cy="25603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35608"/>
            <a:ext cx="514112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Antes — todo mezclado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64083" y="1435608"/>
            <a:ext cx="5676229" cy="25603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09803" y="1435608"/>
            <a:ext cx="558478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Después — un método, una responsabilidad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764792"/>
            <a:ext cx="5232563" cy="278892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764792"/>
            <a:ext cx="64008" cy="278892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1856232"/>
            <a:ext cx="4912523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registrarUsuario(String email,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pass)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validar email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(email == null || !email.contains("@"))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throw new IllegalArgumentException();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validar contraseña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(pass == null || pass.length() &lt; 8)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throw new IllegalArgumentException();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guardar en BD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bd.insert("usuarios", email, pass);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enviar correo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correo.enviar(email, "Bienvenido", "...");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64083" y="1764792"/>
            <a:ext cx="5676229" cy="278892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64083" y="1764792"/>
            <a:ext cx="64008" cy="278892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65251" y="1856232"/>
            <a:ext cx="5356189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registrarUsuario(String email,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pass)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validarEmail(email);    // ← intención clara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validarPassword(pass);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guardarUsuario(email, pass);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enviarBienvenida(email);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validarEmail(String email) { ...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validarPassword(String pass) { ...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guardarUsuario(String e, String p) { ...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enviarBienvenida(String email) { ... }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736592"/>
            <a:ext cx="11091672" cy="73152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809744"/>
            <a:ext cx="1063447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Atajo IntelliJ: selecciona el bloque → Ctrl + Alt + M (Windows) / Cmd + Alt + M (Mac). El IDE crea el método y reemplaza el bloque automáticamente.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Patrón: Replace Conditional — Simplificar condición compleja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4 · Refactorización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condición con cuatro o cinco partes unidas con &amp;&amp; y || es difícil de leer de un vistazo y muy fácil de romper al modificarla.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232563" cy="25603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17320"/>
            <a:ext cx="514112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Antes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64083" y="1417320"/>
            <a:ext cx="5676229" cy="25603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09803" y="1417320"/>
            <a:ext cx="558478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Después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746504"/>
            <a:ext cx="5232563" cy="210312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746504"/>
            <a:ext cx="64008" cy="210312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1837944"/>
            <a:ext cx="4912523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(user != null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&amp;&amp; user.isActive()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&amp;&amp; user.getRole() != null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&amp;&amp; user.getRole().equals("ADMIN")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&amp;&amp; !user.isSuspended())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mostrarPanelAdmin();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Para entender qué se comprueba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hay que leer las 5 líneas enteras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64083" y="1746504"/>
            <a:ext cx="5676229" cy="210312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64083" y="1746504"/>
            <a:ext cx="64008" cy="210312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65251" y="1837944"/>
            <a:ext cx="5356189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(esAdminActivo(user))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mostrarPanelAdmin();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 esAdminActivo(User user)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user != null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&amp;&amp; user.isActive()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&amp;&amp; !user.isSuspended()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&amp;&amp; "ADMIN".equals(user.getRole());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078224"/>
          <a:ext cx="11091672" cy="91440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Después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 nombre → hay que leerla entera para entenderla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esAdminActivo() dice exactamente qué se comprueba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se puede probar la condición por separado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 función se puede cubrir con un test unitario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Patrón: DRY — Eliminar código duplicado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4 · Refactorización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Copiar y pegar lógica parece rápido, pero cuando hay que corregir un error o cambiar una regla, hay que hacerlo en todos los sitios — y siempre se olvida alguno.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454396" cy="25603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08760"/>
            <a:ext cx="53629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Antes — misma lógica en 3 controladores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85916" y="1508760"/>
            <a:ext cx="5454396" cy="25603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31636" y="1508760"/>
            <a:ext cx="53629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Después — una clase de utilidad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837944"/>
            <a:ext cx="5454396" cy="260604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837944"/>
            <a:ext cx="64008" cy="260604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1929384"/>
            <a:ext cx="5134356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RegistroController.java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(email == null || !email.contains("@"))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throw new IllegalArgumentException();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ActualizarPerfilController.java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(email == null || !email.contains("@"))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throw new IllegalArgumentException();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RecuperarPasswordController.java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(email == null || !email.contains("@"))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errores.add("Email no válido"); // ← mensaje distinto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85916" y="1837944"/>
            <a:ext cx="5454396" cy="260604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85916" y="1837944"/>
            <a:ext cx="64008" cy="260604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87084" y="1929384"/>
            <a:ext cx="5134356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EmailValidator.java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EmailValidator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static void validar(String email)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(email == null || !email.contains("@"))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throw new IllegalArgumentException(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"Email no válido");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En cualquier controlador: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EmailValidator.validar(email);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672584"/>
            <a:ext cx="11091672" cy="73152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745736"/>
            <a:ext cx="1063447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DRY = Don't Repeat Yourself. Si mañana cambia la regla de validación, se cambia en un único sitio y se aplica en todos los controladores automáticamente.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Patrón: Move Method — Mover la lógica donde corresponde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4 · Refactorización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9167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controlador web acaba haciendo de todo — validar, calcular, acceder a la BD — y se convierte en un cajón de sastre imposible de mantener.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19556" y="1508760"/>
            <a:ext cx="3017520" cy="749808"/>
          </a:xfrm>
          <a:prstGeom prst="round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0996" y="1545336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10996" y="1856232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Recibe la petición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devuelve la respuesta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037076" y="175564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delega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85716" y="1508760"/>
            <a:ext cx="3017520" cy="749808"/>
          </a:xfrm>
          <a:prstGeom prst="round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77156" y="1545336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77156" y="1856232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Lógica de negocio: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validaciones y cálculos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603236" y="175564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delega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51876" y="1508760"/>
            <a:ext cx="3017520" cy="749808"/>
          </a:xfrm>
          <a:prstGeom prst="round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43316" y="1545336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43316" y="1856232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la base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datos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2487168"/>
            <a:ext cx="5232563" cy="25603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487168"/>
            <a:ext cx="514112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Antes — todo en el Controller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64083" y="2487168"/>
            <a:ext cx="5676229" cy="25603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09803" y="2487168"/>
            <a:ext cx="558478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Después — responsabilidades separadas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2816352"/>
            <a:ext cx="5232563" cy="242316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2816352"/>
            <a:ext cx="64008" cy="242316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2907792"/>
            <a:ext cx="4912523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@PostMapping("/pedido")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String crearPedido(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email, List&lt;Double&gt; precios)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(email == null || !email.contains("@"))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"error";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double total = 0;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(Double p : precios) total += p;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total *= 1.21;           // IVA hardcodeado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bd.save(new Pedido(email, total));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"ok: " + total;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964083" y="2816352"/>
            <a:ext cx="5676229" cy="2423160"/>
          </a:xfrm>
          <a:prstGeom prst="rect">
            <a:avLst/>
          </a:prstGeom>
          <a:solidFill>
            <a:srgbClr val="ECEFF1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64083" y="2816352"/>
            <a:ext cx="64008" cy="242316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65251" y="2907792"/>
            <a:ext cx="5356189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Controller — solo recibe y responde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@PostMapping("/pedido")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String crearPedido(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email, List&lt;Double&gt; precios)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pedidoService.crearPedido(email, precios);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Service — lógica de negocio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String crearPedido(String email,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List&lt;Double&gt; precios)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validarEmail(email);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double total = calcularTotalConIVA(precios);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pedidoRepository.save(new Pedido(email, total));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"ok: " + total;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Limitaciones y riesgos al refactorizar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4 · Refactorización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Refactorizar no es gratis. En proyectos reales hay que valorar si el esfuerzo merece la pena: un código que funciona bien — aunque no sea perfecto — puede no necesitar refactorización urgente.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 Buen momento para refactorizar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 Mal momento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Antes de añadir una nueva funcionalidad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Justo antes de una entrega con fecha fija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Cuando los tests pasan y hay tiempo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 ningún tipo de prueba que te proteja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 pasos pequeños con margen para verificar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Mezclado con un cambio de funcionalidad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código va a crecer y a ser mantenido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Código que nadie va a volver a tocar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074920"/>
            <a:ext cx="11091672" cy="91440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5148072"/>
            <a:ext cx="1063447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Riesgos frecuentes:  Cambiar la firma de un método sin actualizar todos los usos  ·  Refactorizar sin pruebas y romper casos límite  ·  Mezclar refactor con cambio de funcionalidad: si algo falla, ya no sabes qué lo ha causado  ·  Hacer un refactor enorme de golpe sin poder revertir pasos.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Herramientas del IDE para refactorizar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4 · Refactorización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1091672" cy="804672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941832"/>
            <a:ext cx="106344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IDEs modernos incluyen refactorizaciones automáticas: en lugar de cambiar el nombre de un método a mano en todos los archivos, el IDE lo hace en un paso y actualiza todas las referencias, eliminando una fuente habitual de errores.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56232"/>
          <a:ext cx="11091672" cy="914400"/>
        </p:xfrm>
        <a:graphic>
          <a:graphicData uri="http://schemas.openxmlformats.org/drawingml/2006/table">
            <a:tbl>
              <a:tblPr/>
              <a:tblGrid>
                <a:gridCol w="1996501"/>
                <a:gridCol w="4547586"/>
                <a:gridCol w="2273793"/>
                <a:gridCol w="2273793"/>
              </a:tblGrid>
              <a:tr h="5212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Acción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hace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Windows / Linux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Mac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Rename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Renombra y actualiza todas las referencias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Shift + F6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Shift + F6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Extract Method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Convierte un bloque seleccionado en un método nuevo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Ctrl + Alt + 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Cmd + Alt + 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Extract Variable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 nombre a una expresión inline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Ctrl + Alt + 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Cmd + Alt + 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Extract Constant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Como Variable, pero como constante de clase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Ctrl + Alt + 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Cmd + Alt + 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Inline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Operación inversa: integra de vuelta en el sitio de uso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Ctrl + Alt + 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Cmd + Alt + 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Move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Mueve una clase o método a otro paquete o clase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687568"/>
            <a:ext cx="11091672" cy="73152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5760720"/>
            <a:ext cx="1063447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 siempre las herramientas del IDE: un buscar-y-reemplazar manual no distingue entre el nombre de un método y la misma cadena dentro de un comentario o un String.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Entornos de Desarrollo</dc:creator>
  <cp:lastModifiedBy>Entornos de Desarrollo</cp:lastModifiedBy>
  <cp:revision>1</cp:revision>
  <dcterms:created xsi:type="dcterms:W3CDTF">2026-06-26T11:53:07Z</dcterms:created>
  <dcterms:modified xsi:type="dcterms:W3CDTF">2026-06-26T11:53:07Z</dcterms:modified>
</cp:coreProperties>
</file>
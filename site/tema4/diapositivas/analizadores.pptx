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3F9F"/>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300" dirty="0">
                <a:solidFill>
                  <a:srgbClr val="B0BEC5"/>
                </a:solidFill>
                <a:latin typeface="Arial" pitchFamily="34" charset="0"/>
                <a:ea typeface="Arial" pitchFamily="34" charset="-122"/>
                <a:cs typeface="Arial" pitchFamily="34" charset="-120"/>
              </a:rPr>
              <a:t>ENTORNOS DE DESARROLLO  —  TEMA 4: OPTIMIZACIÓN Y DOCUMENTACIÓN</a:t>
            </a:r>
            <a:endParaRPr lang="en-US" sz="1300" dirty="0"/>
          </a:p>
        </p:txBody>
      </p:sp>
      <p:sp>
        <p:nvSpPr>
          <p:cNvPr id="3" name="Text 1"/>
          <p:cNvSpPr/>
          <p:nvPr/>
        </p:nvSpPr>
        <p:spPr>
          <a:xfrm>
            <a:off x="548640" y="1371600"/>
            <a:ext cx="11091672" cy="2560320"/>
          </a:xfrm>
          <a:prstGeom prst="rect">
            <a:avLst/>
          </a:prstGeom>
          <a:noFill/>
          <a:ln/>
        </p:spPr>
        <p:txBody>
          <a:bodyPr wrap="square" rtlCol="0" anchor="ctr"/>
          <a:lstStyle/>
          <a:p>
            <a:pPr algn="l" indent="0" marL="0">
              <a:buNone/>
            </a:pPr>
            <a:r>
              <a:rPr lang="en-US" sz="4000" b="1" dirty="0">
                <a:solidFill>
                  <a:srgbClr val="FFFFFF"/>
                </a:solidFill>
                <a:latin typeface="Arial" pitchFamily="34" charset="0"/>
                <a:ea typeface="Arial" pitchFamily="34" charset="-122"/>
                <a:cs typeface="Arial" pitchFamily="34" charset="-120"/>
              </a:rPr>
              <a:t>Analizadores de código</a:t>
            </a:r>
            <a:endParaRPr lang="en-US" sz="40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Revisión estática y configuración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¿Qué es un analizador de código?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4 — Analizadores de código</a:t>
            </a:r>
            <a:endParaRPr lang="en-US" sz="1100" dirty="0"/>
          </a:p>
        </p:txBody>
      </p:sp>
      <p:sp>
        <p:nvSpPr>
          <p:cNvPr id="5" name="Shape 3"/>
          <p:cNvSpPr/>
          <p:nvPr/>
        </p:nvSpPr>
        <p:spPr>
          <a:xfrm>
            <a:off x="548640" y="868680"/>
            <a:ext cx="11091672" cy="100584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859536"/>
          </a:xfrm>
          <a:prstGeom prst="rect">
            <a:avLst/>
          </a:prstGeom>
          <a:noFill/>
          <a:ln/>
        </p:spPr>
        <p:txBody>
          <a:bodyPr wrap="square" rtlCol="0" anchor="ctr"/>
          <a:lstStyle/>
          <a:p>
            <a:pPr indent="0" marL="0">
              <a:buNone/>
            </a:pPr>
            <a:r>
              <a:rPr lang="en-US" sz="1700" dirty="0">
                <a:solidFill>
                  <a:srgbClr val="212121"/>
                </a:solidFill>
                <a:latin typeface="Arial" pitchFamily="34" charset="0"/>
                <a:ea typeface="Arial" pitchFamily="34" charset="-122"/>
                <a:cs typeface="Arial" pitchFamily="34" charset="-120"/>
              </a:rPr>
              <a:t>Un analizador de código lee tu código fuente y detecta problemas SIN ejecutar el programa. Busca errores típicos, malas prácticas y problemas de calidad mirando el texto del código — igual que un corrector ortográfico, pero para lógica de programación.</a:t>
            </a:r>
            <a:endParaRPr lang="en-US" sz="1700" dirty="0"/>
          </a:p>
        </p:txBody>
      </p:sp>
      <p:sp>
        <p:nvSpPr>
          <p:cNvPr id="7" name="Text 5"/>
          <p:cNvSpPr/>
          <p:nvPr/>
        </p:nvSpPr>
        <p:spPr>
          <a:xfrm>
            <a:off x="548640" y="2103120"/>
            <a:ext cx="11091672" cy="640080"/>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La clave es que actúa ANTES de que ejecutes nada. No espera a que el programa falle en tiempo de ejecución — te avisa en el momento en que escribes que algo huele mal.</a:t>
            </a:r>
            <a:endParaRPr lang="en-US" sz="1600" dirty="0"/>
          </a:p>
        </p:txBody>
      </p:sp>
      <p:sp>
        <p:nvSpPr>
          <p:cNvPr id="8" name="Shape 6"/>
          <p:cNvSpPr/>
          <p:nvPr/>
        </p:nvSpPr>
        <p:spPr>
          <a:xfrm>
            <a:off x="548640" y="3017520"/>
            <a:ext cx="11091672" cy="438912"/>
          </a:xfrm>
          <a:prstGeom prst="rect">
            <a:avLst/>
          </a:prstGeom>
          <a:solidFill>
            <a:srgbClr val="3F51B5"/>
          </a:solidFill>
          <a:ln w="12700">
            <a:solidFill>
              <a:srgbClr val="3F51B5"/>
            </a:solidFill>
            <a:prstDash val="solid"/>
          </a:ln>
        </p:spPr>
      </p:sp>
      <p:sp>
        <p:nvSpPr>
          <p:cNvPr id="9" name="Text 7"/>
          <p:cNvSpPr/>
          <p:nvPr/>
        </p:nvSpPr>
        <p:spPr>
          <a:xfrm>
            <a:off x="731520" y="3017520"/>
            <a:ext cx="10725912" cy="438912"/>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Análisis estático vs. ejecución</a:t>
            </a:r>
            <a:endParaRPr lang="en-US" sz="17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639312"/>
          <a:ext cx="11091672" cy="914400"/>
        </p:xfrm>
        <a:graphic>
          <a:graphicData uri="http://schemas.openxmlformats.org/drawingml/2006/table">
            <a:tbl>
              <a:tblPr/>
              <a:tblGrid>
                <a:gridCol w="2440168"/>
                <a:gridCol w="4325752"/>
                <a:gridCol w="4325752"/>
              </a:tblGrid>
              <a:tr h="566928">
                <a:tc>
                  <a:txBody>
                    <a:bodyPr/>
                    <a:lstStyle/>
                    <a:p>
                      <a:pPr algn="ctr" indent="0" marL="0">
                        <a:buNone/>
                      </a:pP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Análisis estático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Ejecución del programa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566928">
                <a:tc>
                  <a:txBody>
                    <a:bodyPr/>
                    <a:lstStyle/>
                    <a:p>
                      <a:pPr indent="0" marL="0">
                        <a:buNone/>
                      </a:pPr>
                      <a:r>
                        <a:rPr lang="en-US" sz="1400" b="1" dirty="0">
                          <a:solidFill>
                            <a:srgbClr val="212121"/>
                          </a:solidFill>
                          <a:latin typeface="Arial" pitchFamily="34" charset="0"/>
                          <a:ea typeface="Arial" pitchFamily="34" charset="-122"/>
                          <a:cs typeface="Arial" pitchFamily="34" charset="-120"/>
                        </a:rPr>
                        <a:t>Cuándo actúa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Mientras escribes / al guardar</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Cuando arrancas el programa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212121"/>
                          </a:solidFill>
                          <a:latin typeface="Arial" pitchFamily="34" charset="0"/>
                          <a:ea typeface="Arial" pitchFamily="34" charset="-122"/>
                          <a:cs typeface="Arial" pitchFamily="34" charset="-120"/>
                        </a:rPr>
                        <a:t>Qué necesita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Solo el código fuente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Compilar + datos de prueba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66928">
                <a:tc>
                  <a:txBody>
                    <a:bodyPr/>
                    <a:lstStyle/>
                    <a:p>
                      <a:pPr indent="0" marL="0">
                        <a:buNone/>
                      </a:pPr>
                      <a:r>
                        <a:rPr lang="en-US" sz="1400" b="1" dirty="0">
                          <a:solidFill>
                            <a:srgbClr val="212121"/>
                          </a:solidFill>
                          <a:latin typeface="Arial" pitchFamily="34" charset="0"/>
                          <a:ea typeface="Arial" pitchFamily="34" charset="-122"/>
                          <a:cs typeface="Arial" pitchFamily="34" charset="-120"/>
                        </a:rPr>
                        <a:t>Qué detecta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Patrones de error conocidos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Errores que ocurren de verdad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¿Por qué se usan en proyectos reales?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4 — Analizadores de código</a:t>
            </a:r>
            <a:endParaRPr lang="en-US" sz="1100" dirty="0"/>
          </a:p>
        </p:txBody>
      </p:sp>
      <p:sp>
        <p:nvSpPr>
          <p:cNvPr id="5" name="Text 3"/>
          <p:cNvSpPr/>
          <p:nvPr/>
        </p:nvSpPr>
        <p:spPr>
          <a:xfrm>
            <a:off x="548640" y="868680"/>
            <a:ext cx="11091672" cy="68580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Imagina un equipo de cinco personas: cada una con su estilo, sin reglas comunes. El código se convierte en un puzzle. Los analizadores definen reglas objetivas que se aplican igual para todos.</a:t>
            </a:r>
            <a:endParaRPr lang="en-US" sz="1500" dirty="0"/>
          </a:p>
        </p:txBody>
      </p:sp>
      <p:sp>
        <p:nvSpPr>
          <p:cNvPr id="6" name="Shape 4"/>
          <p:cNvSpPr/>
          <p:nvPr/>
        </p:nvSpPr>
        <p:spPr>
          <a:xfrm>
            <a:off x="548640" y="1783080"/>
            <a:ext cx="5431536" cy="1965960"/>
          </a:xfrm>
          <a:prstGeom prst="roundRect">
            <a:avLst/>
          </a:prstGeom>
          <a:solidFill>
            <a:srgbClr val="E8EAF6"/>
          </a:solidFill>
          <a:ln w="12700">
            <a:solidFill>
              <a:srgbClr val="3F51B5"/>
            </a:solidFill>
            <a:prstDash val="solid"/>
          </a:ln>
        </p:spPr>
      </p:sp>
      <p:sp>
        <p:nvSpPr>
          <p:cNvPr id="7" name="Text 5"/>
          <p:cNvSpPr/>
          <p:nvPr/>
        </p:nvSpPr>
        <p:spPr>
          <a:xfrm>
            <a:off x="685800" y="1892808"/>
            <a:ext cx="5157216" cy="365760"/>
          </a:xfrm>
          <a:prstGeom prst="rect">
            <a:avLst/>
          </a:prstGeom>
          <a:noFill/>
          <a:ln/>
        </p:spPr>
        <p:txBody>
          <a:bodyPr wrap="square" rtlCol="0" anchor="ctr"/>
          <a:lstStyle/>
          <a:p>
            <a:pPr indent="0" marL="0">
              <a:buNone/>
            </a:pPr>
            <a:r>
              <a:rPr lang="en-US" sz="1500" b="1" dirty="0">
                <a:solidFill>
                  <a:srgbClr val="303F9F"/>
                </a:solidFill>
                <a:latin typeface="Arial" pitchFamily="34" charset="0"/>
                <a:ea typeface="Arial" pitchFamily="34" charset="-122"/>
                <a:cs typeface="Arial" pitchFamily="34" charset="-120"/>
              </a:rPr>
              <a:t>Prevención de bugs</a:t>
            </a:r>
            <a:endParaRPr lang="en-US" sz="1500" dirty="0"/>
          </a:p>
        </p:txBody>
      </p:sp>
      <p:sp>
        <p:nvSpPr>
          <p:cNvPr id="8" name="Text 6"/>
          <p:cNvSpPr/>
          <p:nvPr/>
        </p:nvSpPr>
        <p:spPr>
          <a:xfrm>
            <a:off x="685800" y="2286000"/>
            <a:ext cx="5157216" cy="1325880"/>
          </a:xfrm>
          <a:prstGeom prst="rect">
            <a:avLst/>
          </a:prstGeom>
          <a:noFill/>
          <a:ln/>
        </p:spPr>
        <p:txBody>
          <a:bodyPr wrap="square" rtlCol="0" anchor="t"/>
          <a:lstStyle/>
          <a:p>
            <a:pPr indent="0" marL="0">
              <a:buNone/>
            </a:pPr>
            <a:r>
              <a:rPr lang="en-US" sz="1300" dirty="0">
                <a:solidFill>
                  <a:srgbClr val="212121"/>
                </a:solidFill>
                <a:latin typeface="Arial" pitchFamily="34" charset="0"/>
                <a:ea typeface="Arial" pitchFamily="34" charset="-122"/>
                <a:cs typeface="Arial" pitchFamily="34" charset="-120"/>
              </a:rPr>
              <a:t>Detectan fallos típicos antes de ejecutar.</a:t>
            </a: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Un NPE o un recurso sin cerrar aparece subrayado antes de que el programa arranque.</a:t>
            </a:r>
            <a:endParaRPr lang="en-US" sz="1300" dirty="0"/>
          </a:p>
        </p:txBody>
      </p:sp>
      <p:sp>
        <p:nvSpPr>
          <p:cNvPr id="9" name="Shape 7"/>
          <p:cNvSpPr/>
          <p:nvPr/>
        </p:nvSpPr>
        <p:spPr>
          <a:xfrm>
            <a:off x="6208776" y="1783080"/>
            <a:ext cx="5431536" cy="1965960"/>
          </a:xfrm>
          <a:prstGeom prst="roundRect">
            <a:avLst/>
          </a:prstGeom>
          <a:solidFill>
            <a:srgbClr val="E8EAF6"/>
          </a:solidFill>
          <a:ln w="12700">
            <a:solidFill>
              <a:srgbClr val="3F51B5"/>
            </a:solidFill>
            <a:prstDash val="solid"/>
          </a:ln>
        </p:spPr>
      </p:sp>
      <p:sp>
        <p:nvSpPr>
          <p:cNvPr id="10" name="Text 8"/>
          <p:cNvSpPr/>
          <p:nvPr/>
        </p:nvSpPr>
        <p:spPr>
          <a:xfrm>
            <a:off x="6345936" y="1892808"/>
            <a:ext cx="5157216" cy="365760"/>
          </a:xfrm>
          <a:prstGeom prst="rect">
            <a:avLst/>
          </a:prstGeom>
          <a:noFill/>
          <a:ln/>
        </p:spPr>
        <p:txBody>
          <a:bodyPr wrap="square" rtlCol="0" anchor="ctr"/>
          <a:lstStyle/>
          <a:p>
            <a:pPr indent="0" marL="0">
              <a:buNone/>
            </a:pPr>
            <a:r>
              <a:rPr lang="en-US" sz="1500" b="1" dirty="0">
                <a:solidFill>
                  <a:srgbClr val="303F9F"/>
                </a:solidFill>
                <a:latin typeface="Arial" pitchFamily="34" charset="0"/>
                <a:ea typeface="Arial" pitchFamily="34" charset="-122"/>
                <a:cs typeface="Arial" pitchFamily="34" charset="-120"/>
              </a:rPr>
              <a:t>Estilo uniforme</a:t>
            </a:r>
            <a:endParaRPr lang="en-US" sz="1500" dirty="0"/>
          </a:p>
        </p:txBody>
      </p:sp>
      <p:sp>
        <p:nvSpPr>
          <p:cNvPr id="11" name="Text 9"/>
          <p:cNvSpPr/>
          <p:nvPr/>
        </p:nvSpPr>
        <p:spPr>
          <a:xfrm>
            <a:off x="6345936" y="2286000"/>
            <a:ext cx="5157216" cy="1325880"/>
          </a:xfrm>
          <a:prstGeom prst="rect">
            <a:avLst/>
          </a:prstGeom>
          <a:noFill/>
          <a:ln/>
        </p:spPr>
        <p:txBody>
          <a:bodyPr wrap="square" rtlCol="0" anchor="t"/>
          <a:lstStyle/>
          <a:p>
            <a:pPr indent="0" marL="0">
              <a:buNone/>
            </a:pPr>
            <a:r>
              <a:rPr lang="en-US" sz="1300" dirty="0">
                <a:solidFill>
                  <a:srgbClr val="212121"/>
                </a:solidFill>
                <a:latin typeface="Arial" pitchFamily="34" charset="0"/>
                <a:ea typeface="Arial" pitchFamily="34" charset="-122"/>
                <a:cs typeface="Arial" pitchFamily="34" charset="-120"/>
              </a:rPr>
              <a:t>Todo el equipo sigue las mismas reglas.</a:t>
            </a: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No hay debates de cómo nombrar las variables: lo decide la regla.</a:t>
            </a:r>
            <a:endParaRPr lang="en-US" sz="1300" dirty="0"/>
          </a:p>
        </p:txBody>
      </p:sp>
      <p:sp>
        <p:nvSpPr>
          <p:cNvPr id="12" name="Shape 10"/>
          <p:cNvSpPr/>
          <p:nvPr/>
        </p:nvSpPr>
        <p:spPr>
          <a:xfrm>
            <a:off x="548640" y="3931920"/>
            <a:ext cx="5431536" cy="1965960"/>
          </a:xfrm>
          <a:prstGeom prst="roundRect">
            <a:avLst/>
          </a:prstGeom>
          <a:solidFill>
            <a:srgbClr val="E0F2F1"/>
          </a:solidFill>
          <a:ln w="12700">
            <a:solidFill>
              <a:srgbClr val="009688"/>
            </a:solidFill>
            <a:prstDash val="solid"/>
          </a:ln>
        </p:spPr>
      </p:sp>
      <p:sp>
        <p:nvSpPr>
          <p:cNvPr id="13" name="Text 11"/>
          <p:cNvSpPr/>
          <p:nvPr/>
        </p:nvSpPr>
        <p:spPr>
          <a:xfrm>
            <a:off x="685800" y="4041648"/>
            <a:ext cx="5157216" cy="365760"/>
          </a:xfrm>
          <a:prstGeom prst="rect">
            <a:avLst/>
          </a:prstGeom>
          <a:noFill/>
          <a:ln/>
        </p:spPr>
        <p:txBody>
          <a:bodyPr wrap="square" rtlCol="0" anchor="ctr"/>
          <a:lstStyle/>
          <a:p>
            <a:pPr indent="0" marL="0">
              <a:buNone/>
            </a:pPr>
            <a:r>
              <a:rPr lang="en-US" sz="1500" b="1" dirty="0">
                <a:solidFill>
                  <a:srgbClr val="00695C"/>
                </a:solidFill>
                <a:latin typeface="Arial" pitchFamily="34" charset="0"/>
                <a:ea typeface="Arial" pitchFamily="34" charset="-122"/>
                <a:cs typeface="Arial" pitchFamily="34" charset="-120"/>
              </a:rPr>
              <a:t>Mantenibilidad</a:t>
            </a:r>
            <a:endParaRPr lang="en-US" sz="1500" dirty="0"/>
          </a:p>
        </p:txBody>
      </p:sp>
      <p:sp>
        <p:nvSpPr>
          <p:cNvPr id="14" name="Text 12"/>
          <p:cNvSpPr/>
          <p:nvPr/>
        </p:nvSpPr>
        <p:spPr>
          <a:xfrm>
            <a:off x="685800" y="4434840"/>
            <a:ext cx="5157216" cy="1325880"/>
          </a:xfrm>
          <a:prstGeom prst="rect">
            <a:avLst/>
          </a:prstGeom>
          <a:noFill/>
          <a:ln/>
        </p:spPr>
        <p:txBody>
          <a:bodyPr wrap="square" rtlCol="0" anchor="t"/>
          <a:lstStyle/>
          <a:p>
            <a:pPr indent="0" marL="0">
              <a:buNone/>
            </a:pPr>
            <a:r>
              <a:rPr lang="en-US" sz="1300" dirty="0">
                <a:solidFill>
                  <a:srgbClr val="212121"/>
                </a:solidFill>
                <a:latin typeface="Arial" pitchFamily="34" charset="0"/>
                <a:ea typeface="Arial" pitchFamily="34" charset="-122"/>
                <a:cs typeface="Arial" pitchFamily="34" charset="-120"/>
              </a:rPr>
              <a:t>Código más fácil de leer y modificar.</a:t>
            </a: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Un método de 200 líneas con 15 if anidados es difícil de cambiar sin romper algo.</a:t>
            </a:r>
            <a:endParaRPr lang="en-US" sz="1300" dirty="0"/>
          </a:p>
        </p:txBody>
      </p:sp>
      <p:sp>
        <p:nvSpPr>
          <p:cNvPr id="15" name="Shape 13"/>
          <p:cNvSpPr/>
          <p:nvPr/>
        </p:nvSpPr>
        <p:spPr>
          <a:xfrm>
            <a:off x="6208776" y="3931920"/>
            <a:ext cx="5431536" cy="1965960"/>
          </a:xfrm>
          <a:prstGeom prst="roundRect">
            <a:avLst/>
          </a:prstGeom>
          <a:solidFill>
            <a:srgbClr val="E0F2F1"/>
          </a:solidFill>
          <a:ln w="12700">
            <a:solidFill>
              <a:srgbClr val="009688"/>
            </a:solidFill>
            <a:prstDash val="solid"/>
          </a:ln>
        </p:spPr>
      </p:sp>
      <p:sp>
        <p:nvSpPr>
          <p:cNvPr id="16" name="Text 14"/>
          <p:cNvSpPr/>
          <p:nvPr/>
        </p:nvSpPr>
        <p:spPr>
          <a:xfrm>
            <a:off x="6345936" y="4041648"/>
            <a:ext cx="5157216" cy="365760"/>
          </a:xfrm>
          <a:prstGeom prst="rect">
            <a:avLst/>
          </a:prstGeom>
          <a:noFill/>
          <a:ln/>
        </p:spPr>
        <p:txBody>
          <a:bodyPr wrap="square" rtlCol="0" anchor="ctr"/>
          <a:lstStyle/>
          <a:p>
            <a:pPr indent="0" marL="0">
              <a:buNone/>
            </a:pPr>
            <a:r>
              <a:rPr lang="en-US" sz="1500" b="1" dirty="0">
                <a:solidFill>
                  <a:srgbClr val="00695C"/>
                </a:solidFill>
                <a:latin typeface="Arial" pitchFamily="34" charset="0"/>
                <a:ea typeface="Arial" pitchFamily="34" charset="-122"/>
                <a:cs typeface="Arial" pitchFamily="34" charset="-120"/>
              </a:rPr>
              <a:t>Integración con CI/CD</a:t>
            </a:r>
            <a:endParaRPr lang="en-US" sz="1500" dirty="0"/>
          </a:p>
        </p:txBody>
      </p:sp>
      <p:sp>
        <p:nvSpPr>
          <p:cNvPr id="17" name="Text 15"/>
          <p:cNvSpPr/>
          <p:nvPr/>
        </p:nvSpPr>
        <p:spPr>
          <a:xfrm>
            <a:off x="6345936" y="4434840"/>
            <a:ext cx="5157216" cy="1325880"/>
          </a:xfrm>
          <a:prstGeom prst="rect">
            <a:avLst/>
          </a:prstGeom>
          <a:noFill/>
          <a:ln/>
        </p:spPr>
        <p:txBody>
          <a:bodyPr wrap="square" rtlCol="0" anchor="t"/>
          <a:lstStyle/>
          <a:p>
            <a:pPr indent="0" marL="0">
              <a:buNone/>
            </a:pPr>
            <a:r>
              <a:rPr lang="en-US" sz="1300" dirty="0">
                <a:solidFill>
                  <a:srgbClr val="212121"/>
                </a:solidFill>
                <a:latin typeface="Arial" pitchFamily="34" charset="0"/>
                <a:ea typeface="Arial" pitchFamily="34" charset="-122"/>
                <a:cs typeface="Arial" pitchFamily="34" charset="-120"/>
              </a:rPr>
              <a:t>En empresas, el análisis se ejecuta automáticamente al hacer un push y puede bloquear un merge si hay problemas graves.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Tipos de problemas que detectan</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4 — Analizadores de código</a:t>
            </a:r>
            <a:endParaRPr lang="en-US" sz="1100" dirty="0"/>
          </a:p>
        </p:txBody>
      </p:sp>
      <p:sp>
        <p:nvSpPr>
          <p:cNvPr id="5" name="Text 3"/>
          <p:cNvSpPr/>
          <p:nvPr/>
        </p:nvSpPr>
        <p:spPr>
          <a:xfrm>
            <a:off x="548640" y="868680"/>
            <a:ext cx="11091672" cy="41148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Los analizadores agrupan sus avisos por tipo. Entender la diferencia ayuda a priorizar qué corregir primero:</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18334"/>
                <a:gridCol w="4214835"/>
                <a:gridCol w="4658502"/>
              </a:tblGrid>
              <a:tr h="694944">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Tipo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busca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Ejemplo concreto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694944">
                <a:tc>
                  <a:txBody>
                    <a:bodyPr/>
                    <a:lstStyle/>
                    <a:p>
                      <a:pPr indent="0" marL="0">
                        <a:buNone/>
                      </a:pPr>
                      <a:r>
                        <a:rPr lang="en-US" sz="1300" b="1" dirty="0">
                          <a:solidFill>
                            <a:srgbClr val="212121"/>
                          </a:solidFill>
                          <a:latin typeface="Arial" pitchFamily="34" charset="0"/>
                          <a:ea typeface="Arial" pitchFamily="34" charset="-122"/>
                          <a:cs typeface="Arial" pitchFamily="34" charset="-120"/>
                        </a:rPr>
                        <a:t>Bug probable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Patrones que casi siempre causan un error en tiempo de ejecución</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Llamar a un método sobre una variable null</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94944">
                <a:tc>
                  <a:txBody>
                    <a:bodyPr/>
                    <a:lstStyle/>
                    <a:p>
                      <a:pPr indent="0" marL="0">
                        <a:buNone/>
                      </a:pPr>
                      <a:r>
                        <a:rPr lang="en-US" sz="1300" b="1" dirty="0">
                          <a:solidFill>
                            <a:srgbClr val="212121"/>
                          </a:solidFill>
                          <a:latin typeface="Arial" pitchFamily="34" charset="0"/>
                          <a:ea typeface="Arial" pitchFamily="34" charset="-122"/>
                          <a:cs typeface="Arial" pitchFamily="34" charset="-120"/>
                        </a:rPr>
                        <a:t>Código muerto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Código que nunca se ejecuta o asignaciones redundantes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Variable que se asigna pero nunca se lee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94944">
                <a:tc>
                  <a:txBody>
                    <a:bodyPr/>
                    <a:lstStyle/>
                    <a:p>
                      <a:pPr indent="0" marL="0">
                        <a:buNone/>
                      </a:pPr>
                      <a:r>
                        <a:rPr lang="en-US" sz="1300" b="1" dirty="0">
                          <a:solidFill>
                            <a:srgbClr val="212121"/>
                          </a:solidFill>
                          <a:latin typeface="Arial" pitchFamily="34" charset="0"/>
                          <a:ea typeface="Arial" pitchFamily="34" charset="-122"/>
                          <a:cs typeface="Arial" pitchFamily="34" charset="-120"/>
                        </a:rPr>
                        <a:t>Mala práctica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Construcciones que funcionan pero son frágiles o confusas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Comparar strings con == en vez de .equals()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94944">
                <a:tc>
                  <a:txBody>
                    <a:bodyPr/>
                    <a:lstStyle/>
                    <a:p>
                      <a:pPr indent="0" marL="0">
                        <a:buNone/>
                      </a:pPr>
                      <a:r>
                        <a:rPr lang="en-US" sz="1300" b="1" dirty="0">
                          <a:solidFill>
                            <a:srgbClr val="212121"/>
                          </a:solidFill>
                          <a:latin typeface="Arial" pitchFamily="34" charset="0"/>
                          <a:ea typeface="Arial" pitchFamily="34" charset="-122"/>
                          <a:cs typeface="Arial" pitchFamily="34" charset="-120"/>
                        </a:rPr>
                        <a:t>Estilo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Convenciones de formato y nomenclatura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Nombre de clase en minúscula, línea demasiado larga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94944">
                <a:tc>
                  <a:txBody>
                    <a:bodyPr/>
                    <a:lstStyle/>
                    <a:p>
                      <a:pPr indent="0" marL="0">
                        <a:buNone/>
                      </a:pPr>
                      <a:r>
                        <a:rPr lang="en-US" sz="1300" b="1" dirty="0">
                          <a:solidFill>
                            <a:srgbClr val="212121"/>
                          </a:solidFill>
                          <a:latin typeface="Arial" pitchFamily="34" charset="0"/>
                          <a:ea typeface="Arial" pitchFamily="34" charset="-122"/>
                          <a:cs typeface="Arial" pitchFamily="34" charset="-120"/>
                        </a:rPr>
                        <a:t>Complejidad</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Métodos o clases demasiado complejos para mantenerse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Método de 100 líneas con 10 condiciones anidadas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Ejemplo: NullPointerException (NPE)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4 — Analizadores de código</a:t>
            </a:r>
            <a:endParaRPr lang="en-US" sz="1100" dirty="0"/>
          </a:p>
        </p:txBody>
      </p:sp>
      <p:sp>
        <p:nvSpPr>
          <p:cNvPr id="5" name="Shape 3"/>
          <p:cNvSpPr/>
          <p:nvPr/>
        </p:nvSpPr>
        <p:spPr>
          <a:xfrm>
            <a:off x="548640" y="868680"/>
            <a:ext cx="11091672" cy="77724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63093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NPE = NullPointerException: intentar usar una variable que no apunta a ningún objeto (null). Compila sin errores, pero el programa explota en tiempo de ejecución. El analizador lo detecta ANTES.</a:t>
            </a:r>
            <a:endParaRPr lang="en-US" sz="1500" dirty="0"/>
          </a:p>
        </p:txBody>
      </p:sp>
      <p:sp>
        <p:nvSpPr>
          <p:cNvPr id="7" name="Shape 5"/>
          <p:cNvSpPr/>
          <p:nvPr/>
        </p:nvSpPr>
        <p:spPr>
          <a:xfrm>
            <a:off x="548640" y="1828800"/>
            <a:ext cx="5431536" cy="365760"/>
          </a:xfrm>
          <a:prstGeom prst="rect">
            <a:avLst/>
          </a:prstGeom>
          <a:solidFill>
            <a:srgbClr val="FFEBEE"/>
          </a:solidFill>
          <a:ln w="12700">
            <a:solidFill>
              <a:srgbClr val="EF9A9A"/>
            </a:solidFill>
            <a:prstDash val="solid"/>
          </a:ln>
        </p:spPr>
      </p:sp>
      <p:sp>
        <p:nvSpPr>
          <p:cNvPr id="8" name="Text 6"/>
          <p:cNvSpPr/>
          <p:nvPr/>
        </p:nvSpPr>
        <p:spPr>
          <a:xfrm>
            <a:off x="640080" y="1828800"/>
            <a:ext cx="5248656" cy="365760"/>
          </a:xfrm>
          <a:prstGeom prst="rect">
            <a:avLst/>
          </a:prstGeom>
          <a:noFill/>
          <a:ln/>
        </p:spPr>
        <p:txBody>
          <a:bodyPr wrap="square" rtlCol="0" anchor="ctr"/>
          <a:lstStyle/>
          <a:p>
            <a:pPr indent="0" marL="0">
              <a:buNone/>
            </a:pPr>
            <a:r>
              <a:rPr lang="en-US" sz="1300" b="1" dirty="0">
                <a:solidFill>
                  <a:srgbClr val="C62828"/>
                </a:solidFill>
                <a:latin typeface="Arial" pitchFamily="34" charset="0"/>
                <a:ea typeface="Arial" pitchFamily="34" charset="-122"/>
                <a:cs typeface="Arial" pitchFamily="34" charset="-120"/>
              </a:rPr>
              <a:t>❌  Peligroso — lanza NPE</a:t>
            </a:r>
            <a:endParaRPr lang="en-US" sz="1300" dirty="0"/>
          </a:p>
        </p:txBody>
      </p:sp>
      <p:sp>
        <p:nvSpPr>
          <p:cNvPr id="9" name="Shape 7"/>
          <p:cNvSpPr/>
          <p:nvPr/>
        </p:nvSpPr>
        <p:spPr>
          <a:xfrm>
            <a:off x="6208776" y="1828800"/>
            <a:ext cx="5431536" cy="365760"/>
          </a:xfrm>
          <a:prstGeom prst="rect">
            <a:avLst/>
          </a:prstGeom>
          <a:solidFill>
            <a:srgbClr val="E8F5E9"/>
          </a:solidFill>
          <a:ln w="12700">
            <a:solidFill>
              <a:srgbClr val="A5D6A7"/>
            </a:solidFill>
            <a:prstDash val="solid"/>
          </a:ln>
        </p:spPr>
      </p:sp>
      <p:sp>
        <p:nvSpPr>
          <p:cNvPr id="10" name="Text 8"/>
          <p:cNvSpPr/>
          <p:nvPr/>
        </p:nvSpPr>
        <p:spPr>
          <a:xfrm>
            <a:off x="6300216" y="1828800"/>
            <a:ext cx="5248656" cy="365760"/>
          </a:xfrm>
          <a:prstGeom prst="rect">
            <a:avLst/>
          </a:prstGeom>
          <a:noFill/>
          <a:ln/>
        </p:spPr>
        <p:txBody>
          <a:bodyPr wrap="square" rtlCol="0" anchor="ctr"/>
          <a:lstStyle/>
          <a:p>
            <a:pPr indent="0" marL="0">
              <a:buNone/>
            </a:pPr>
            <a:r>
              <a:rPr lang="en-US" sz="1300" b="1" dirty="0">
                <a:solidFill>
                  <a:srgbClr val="2E7D32"/>
                </a:solidFill>
                <a:latin typeface="Arial" pitchFamily="34" charset="0"/>
                <a:ea typeface="Arial" pitchFamily="34" charset="-122"/>
                <a:cs typeface="Arial" pitchFamily="34" charset="-120"/>
              </a:rPr>
              <a:t>✅  Seguro — el literal no puede ser null</a:t>
            </a:r>
            <a:endParaRPr lang="en-US" sz="1300" dirty="0"/>
          </a:p>
        </p:txBody>
      </p:sp>
      <p:sp>
        <p:nvSpPr>
          <p:cNvPr id="11" name="Shape 9"/>
          <p:cNvSpPr/>
          <p:nvPr/>
        </p:nvSpPr>
        <p:spPr>
          <a:xfrm>
            <a:off x="548640" y="2194560"/>
            <a:ext cx="5431536" cy="2286000"/>
          </a:xfrm>
          <a:prstGeom prst="rect">
            <a:avLst/>
          </a:prstGeom>
          <a:solidFill>
            <a:srgbClr val="ECEFF1"/>
          </a:solidFill>
          <a:ln w="12700">
            <a:solidFill>
              <a:srgbClr val="EEEEEE"/>
            </a:solidFill>
            <a:prstDash val="solid"/>
          </a:ln>
        </p:spPr>
      </p:sp>
      <p:sp>
        <p:nvSpPr>
          <p:cNvPr id="12" name="Shape 10"/>
          <p:cNvSpPr/>
          <p:nvPr/>
        </p:nvSpPr>
        <p:spPr>
          <a:xfrm>
            <a:off x="548640" y="2194560"/>
            <a:ext cx="64008" cy="2286000"/>
          </a:xfrm>
          <a:prstGeom prst="rect">
            <a:avLst/>
          </a:prstGeom>
          <a:solidFill>
            <a:srgbClr val="009688"/>
          </a:solidFill>
          <a:ln w="12700">
            <a:solidFill>
              <a:srgbClr val="009688"/>
            </a:solidFill>
            <a:prstDash val="solid"/>
          </a:ln>
        </p:spPr>
      </p:sp>
      <p:sp>
        <p:nvSpPr>
          <p:cNvPr id="13" name="Text 11"/>
          <p:cNvSpPr/>
          <p:nvPr/>
        </p:nvSpPr>
        <p:spPr>
          <a:xfrm>
            <a:off x="749808" y="2286000"/>
            <a:ext cx="5111496" cy="2103120"/>
          </a:xfrm>
          <a:prstGeom prst="rect">
            <a:avLst/>
          </a:prstGeom>
          <a:noFill/>
          <a:ln/>
        </p:spPr>
        <p:txBody>
          <a:bodyPr wrap="square" rtlCol="0" anchor="t"/>
          <a:lstStyle/>
          <a:p>
            <a:pPr indent="0" marL="0">
              <a:buNone/>
            </a:pPr>
            <a:r>
              <a:rPr lang="en-US" sz="1200" dirty="0">
                <a:solidFill>
                  <a:srgbClr val="263238"/>
                </a:solidFill>
                <a:latin typeface="Courier New" pitchFamily="34" charset="0"/>
                <a:ea typeface="Courier New" pitchFamily="34" charset="-122"/>
                <a:cs typeface="Courier New" pitchFamily="34" charset="-120"/>
              </a:rPr>
              <a:t>String rol = null;</a:t>
            </a:r>
            <a:endParaRPr lang="en-US" sz="1200" dirty="0"/>
          </a:p>
          <a:p>
            <a:pPr indent="0" marL="0">
              <a:buNone/>
            </a:pP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Llama a equals() sobre null</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 NullPointerException</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if (rol.equals("ADMIN"))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System.out.println("Es admin");</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
        <p:nvSpPr>
          <p:cNvPr id="14" name="Shape 12"/>
          <p:cNvSpPr/>
          <p:nvPr/>
        </p:nvSpPr>
        <p:spPr>
          <a:xfrm>
            <a:off x="6208776" y="2194560"/>
            <a:ext cx="5431536" cy="2286000"/>
          </a:xfrm>
          <a:prstGeom prst="rect">
            <a:avLst/>
          </a:prstGeom>
          <a:solidFill>
            <a:srgbClr val="ECEFF1"/>
          </a:solidFill>
          <a:ln w="12700">
            <a:solidFill>
              <a:srgbClr val="EEEEEE"/>
            </a:solidFill>
            <a:prstDash val="solid"/>
          </a:ln>
        </p:spPr>
      </p:sp>
      <p:sp>
        <p:nvSpPr>
          <p:cNvPr id="15" name="Shape 13"/>
          <p:cNvSpPr/>
          <p:nvPr/>
        </p:nvSpPr>
        <p:spPr>
          <a:xfrm>
            <a:off x="6208776" y="2194560"/>
            <a:ext cx="64008" cy="2286000"/>
          </a:xfrm>
          <a:prstGeom prst="rect">
            <a:avLst/>
          </a:prstGeom>
          <a:solidFill>
            <a:srgbClr val="009688"/>
          </a:solidFill>
          <a:ln w="12700">
            <a:solidFill>
              <a:srgbClr val="009688"/>
            </a:solidFill>
            <a:prstDash val="solid"/>
          </a:ln>
        </p:spPr>
      </p:sp>
      <p:sp>
        <p:nvSpPr>
          <p:cNvPr id="16" name="Text 14"/>
          <p:cNvSpPr/>
          <p:nvPr/>
        </p:nvSpPr>
        <p:spPr>
          <a:xfrm>
            <a:off x="6409944" y="2286000"/>
            <a:ext cx="5111496" cy="2103120"/>
          </a:xfrm>
          <a:prstGeom prst="rect">
            <a:avLst/>
          </a:prstGeom>
          <a:noFill/>
          <a:ln/>
        </p:spPr>
        <p:txBody>
          <a:bodyPr wrap="square" rtlCol="0" anchor="t"/>
          <a:lstStyle/>
          <a:p>
            <a:pPr indent="0" marL="0">
              <a:buNone/>
            </a:pPr>
            <a:r>
              <a:rPr lang="en-US" sz="1200" dirty="0">
                <a:solidFill>
                  <a:srgbClr val="263238"/>
                </a:solidFill>
                <a:latin typeface="Courier New" pitchFamily="34" charset="0"/>
                <a:ea typeface="Courier New" pitchFamily="34" charset="-122"/>
                <a:cs typeface="Courier New" pitchFamily="34" charset="-120"/>
              </a:rPr>
              <a:t>String rol = null;</a:t>
            </a:r>
            <a:endParaRPr lang="en-US" sz="1200" dirty="0"/>
          </a:p>
          <a:p>
            <a:pPr indent="0" marL="0">
              <a:buNone/>
            </a:pP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El literal nunca es null</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 seguro aunque rol sea null</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if ("ADMIN".equals(rol))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System.out.println("Es admin");</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
        <p:nvSpPr>
          <p:cNvPr id="17" name="Text 15"/>
          <p:cNvSpPr/>
          <p:nvPr/>
        </p:nvSpPr>
        <p:spPr>
          <a:xfrm>
            <a:off x="548640" y="4663440"/>
            <a:ext cx="11091672" cy="457200"/>
          </a:xfrm>
          <a:prstGeom prst="rect">
            <a:avLst/>
          </a:prstGeom>
          <a:noFill/>
          <a:ln/>
        </p:spPr>
        <p:txBody>
          <a:bodyPr wrap="square" rtlCol="0" anchor="t"/>
          <a:lstStyle/>
          <a:p>
            <a:pPr indent="0" marL="0">
              <a:buNone/>
            </a:pPr>
            <a:r>
              <a:rPr lang="en-US" sz="1400" dirty="0">
                <a:solidFill>
                  <a:srgbClr val="757575"/>
                </a:solidFill>
                <a:latin typeface="Arial" pitchFamily="34" charset="0"/>
                <a:ea typeface="Arial" pitchFamily="34" charset="-122"/>
                <a:cs typeface="Arial" pitchFamily="34" charset="-120"/>
              </a:rPr>
              <a:t>El analizador detecta que rol puede ser null en el momento de la llamada y subraya la línea antes de que ejecutes nada.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Ejemplo: número mágico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4 — Analizadores de código</a:t>
            </a:r>
            <a:endParaRPr lang="en-US" sz="1100" dirty="0"/>
          </a:p>
        </p:txBody>
      </p:sp>
      <p:sp>
        <p:nvSpPr>
          <p:cNvPr id="5" name="Shape 3"/>
          <p:cNvSpPr/>
          <p:nvPr/>
        </p:nvSpPr>
        <p:spPr>
          <a:xfrm>
            <a:off x="548640" y="868680"/>
            <a:ext cx="11091672" cy="86868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72237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número mágico es un valor literal sin nombre que aparece en el código. ¿Qué significa ese 8? ¿Mínimo de caracteres? ¿Máximo? ¿Un límite de intentos? El analizador avisa para que lo conviertas en una constante con nombre.</a:t>
            </a:r>
            <a:endParaRPr lang="en-US" sz="1500" dirty="0"/>
          </a:p>
        </p:txBody>
      </p:sp>
      <p:sp>
        <p:nvSpPr>
          <p:cNvPr id="7" name="Shape 5"/>
          <p:cNvSpPr/>
          <p:nvPr/>
        </p:nvSpPr>
        <p:spPr>
          <a:xfrm>
            <a:off x="548640" y="1920240"/>
            <a:ext cx="5431536" cy="365760"/>
          </a:xfrm>
          <a:prstGeom prst="rect">
            <a:avLst/>
          </a:prstGeom>
          <a:solidFill>
            <a:srgbClr val="FFEBEE"/>
          </a:solidFill>
          <a:ln w="12700">
            <a:solidFill>
              <a:srgbClr val="EF9A9A"/>
            </a:solidFill>
            <a:prstDash val="solid"/>
          </a:ln>
        </p:spPr>
      </p:sp>
      <p:sp>
        <p:nvSpPr>
          <p:cNvPr id="8" name="Text 6"/>
          <p:cNvSpPr/>
          <p:nvPr/>
        </p:nvSpPr>
        <p:spPr>
          <a:xfrm>
            <a:off x="640080" y="1920240"/>
            <a:ext cx="5248656" cy="365760"/>
          </a:xfrm>
          <a:prstGeom prst="rect">
            <a:avLst/>
          </a:prstGeom>
          <a:noFill/>
          <a:ln/>
        </p:spPr>
        <p:txBody>
          <a:bodyPr wrap="square" rtlCol="0" anchor="ctr"/>
          <a:lstStyle/>
          <a:p>
            <a:pPr indent="0" marL="0">
              <a:buNone/>
            </a:pPr>
            <a:r>
              <a:rPr lang="en-US" sz="1300" b="1" dirty="0">
                <a:solidFill>
                  <a:srgbClr val="C62828"/>
                </a:solidFill>
                <a:latin typeface="Arial" pitchFamily="34" charset="0"/>
                <a:ea typeface="Arial" pitchFamily="34" charset="-122"/>
                <a:cs typeface="Arial" pitchFamily="34" charset="-120"/>
              </a:rPr>
              <a:t>❌  Número mágico — intención opaca</a:t>
            </a:r>
            <a:endParaRPr lang="en-US" sz="1300" dirty="0"/>
          </a:p>
        </p:txBody>
      </p:sp>
      <p:sp>
        <p:nvSpPr>
          <p:cNvPr id="9" name="Shape 7"/>
          <p:cNvSpPr/>
          <p:nvPr/>
        </p:nvSpPr>
        <p:spPr>
          <a:xfrm>
            <a:off x="6208776" y="1920240"/>
            <a:ext cx="5431536" cy="365760"/>
          </a:xfrm>
          <a:prstGeom prst="rect">
            <a:avLst/>
          </a:prstGeom>
          <a:solidFill>
            <a:srgbClr val="E8F5E9"/>
          </a:solidFill>
          <a:ln w="12700">
            <a:solidFill>
              <a:srgbClr val="A5D6A7"/>
            </a:solidFill>
            <a:prstDash val="solid"/>
          </a:ln>
        </p:spPr>
      </p:sp>
      <p:sp>
        <p:nvSpPr>
          <p:cNvPr id="10" name="Text 8"/>
          <p:cNvSpPr/>
          <p:nvPr/>
        </p:nvSpPr>
        <p:spPr>
          <a:xfrm>
            <a:off x="6300216" y="1920240"/>
            <a:ext cx="5248656" cy="365760"/>
          </a:xfrm>
          <a:prstGeom prst="rect">
            <a:avLst/>
          </a:prstGeom>
          <a:noFill/>
          <a:ln/>
        </p:spPr>
        <p:txBody>
          <a:bodyPr wrap="square" rtlCol="0" anchor="ctr"/>
          <a:lstStyle/>
          <a:p>
            <a:pPr indent="0" marL="0">
              <a:buNone/>
            </a:pPr>
            <a:r>
              <a:rPr lang="en-US" sz="1300" b="1" dirty="0">
                <a:solidFill>
                  <a:srgbClr val="2E7D32"/>
                </a:solidFill>
                <a:latin typeface="Arial" pitchFamily="34" charset="0"/>
                <a:ea typeface="Arial" pitchFamily="34" charset="-122"/>
                <a:cs typeface="Arial" pitchFamily="34" charset="-120"/>
              </a:rPr>
              <a:t>✅  Constante — intención clara</a:t>
            </a:r>
            <a:endParaRPr lang="en-US" sz="1300" dirty="0"/>
          </a:p>
        </p:txBody>
      </p:sp>
      <p:sp>
        <p:nvSpPr>
          <p:cNvPr id="11" name="Shape 9"/>
          <p:cNvSpPr/>
          <p:nvPr/>
        </p:nvSpPr>
        <p:spPr>
          <a:xfrm>
            <a:off x="548640" y="2286000"/>
            <a:ext cx="5431536" cy="2011680"/>
          </a:xfrm>
          <a:prstGeom prst="rect">
            <a:avLst/>
          </a:prstGeom>
          <a:solidFill>
            <a:srgbClr val="ECEFF1"/>
          </a:solidFill>
          <a:ln w="12700">
            <a:solidFill>
              <a:srgbClr val="EEEEEE"/>
            </a:solidFill>
            <a:prstDash val="solid"/>
          </a:ln>
        </p:spPr>
      </p:sp>
      <p:sp>
        <p:nvSpPr>
          <p:cNvPr id="12" name="Shape 10"/>
          <p:cNvSpPr/>
          <p:nvPr/>
        </p:nvSpPr>
        <p:spPr>
          <a:xfrm>
            <a:off x="548640" y="2286000"/>
            <a:ext cx="64008" cy="2011680"/>
          </a:xfrm>
          <a:prstGeom prst="rect">
            <a:avLst/>
          </a:prstGeom>
          <a:solidFill>
            <a:srgbClr val="009688"/>
          </a:solidFill>
          <a:ln w="12700">
            <a:solidFill>
              <a:srgbClr val="009688"/>
            </a:solidFill>
            <a:prstDash val="solid"/>
          </a:ln>
        </p:spPr>
      </p:sp>
      <p:sp>
        <p:nvSpPr>
          <p:cNvPr id="13" name="Text 11"/>
          <p:cNvSpPr/>
          <p:nvPr/>
        </p:nvSpPr>
        <p:spPr>
          <a:xfrm>
            <a:off x="749808" y="2377440"/>
            <a:ext cx="5111496" cy="1828800"/>
          </a:xfrm>
          <a:prstGeom prst="rect">
            <a:avLst/>
          </a:prstGeom>
          <a:noFill/>
          <a:ln/>
        </p:spPr>
        <p:txBody>
          <a:bodyPr wrap="square" rtlCol="0" anchor="t"/>
          <a:lstStyle/>
          <a:p>
            <a:pPr indent="0" marL="0">
              <a:buNone/>
            </a:pPr>
            <a:r>
              <a:rPr lang="en-US" sz="1200" dirty="0">
                <a:solidFill>
                  <a:srgbClr val="263238"/>
                </a:solidFill>
                <a:latin typeface="Courier New" pitchFamily="34" charset="0"/>
                <a:ea typeface="Courier New" pitchFamily="34" charset="-122"/>
                <a:cs typeface="Courier New" pitchFamily="34" charset="-120"/>
              </a:rPr>
              <a:t>// ¿Por qué 8?</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¿mínimo? ¿máximo? ¿intentos?</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if (password.length() &lt; 8)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System.out.println(</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"Contraseña corta");</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
        <p:nvSpPr>
          <p:cNvPr id="14" name="Shape 12"/>
          <p:cNvSpPr/>
          <p:nvPr/>
        </p:nvSpPr>
        <p:spPr>
          <a:xfrm>
            <a:off x="6208776" y="2286000"/>
            <a:ext cx="5431536" cy="2011680"/>
          </a:xfrm>
          <a:prstGeom prst="rect">
            <a:avLst/>
          </a:prstGeom>
          <a:solidFill>
            <a:srgbClr val="ECEFF1"/>
          </a:solidFill>
          <a:ln w="12700">
            <a:solidFill>
              <a:srgbClr val="EEEEEE"/>
            </a:solidFill>
            <a:prstDash val="solid"/>
          </a:ln>
        </p:spPr>
      </p:sp>
      <p:sp>
        <p:nvSpPr>
          <p:cNvPr id="15" name="Shape 13"/>
          <p:cNvSpPr/>
          <p:nvPr/>
        </p:nvSpPr>
        <p:spPr>
          <a:xfrm>
            <a:off x="6208776" y="2286000"/>
            <a:ext cx="64008" cy="2011680"/>
          </a:xfrm>
          <a:prstGeom prst="rect">
            <a:avLst/>
          </a:prstGeom>
          <a:solidFill>
            <a:srgbClr val="009688"/>
          </a:solidFill>
          <a:ln w="12700">
            <a:solidFill>
              <a:srgbClr val="009688"/>
            </a:solidFill>
            <a:prstDash val="solid"/>
          </a:ln>
        </p:spPr>
      </p:sp>
      <p:sp>
        <p:nvSpPr>
          <p:cNvPr id="16" name="Text 14"/>
          <p:cNvSpPr/>
          <p:nvPr/>
        </p:nvSpPr>
        <p:spPr>
          <a:xfrm>
            <a:off x="6409944" y="2377440"/>
            <a:ext cx="5111496" cy="1828800"/>
          </a:xfrm>
          <a:prstGeom prst="rect">
            <a:avLst/>
          </a:prstGeom>
          <a:noFill/>
          <a:ln/>
        </p:spPr>
        <p:txBody>
          <a:bodyPr wrap="square" rtlCol="0" anchor="t"/>
          <a:lstStyle/>
          <a:p>
            <a:pPr indent="0" marL="0">
              <a:buNone/>
            </a:pPr>
            <a:r>
              <a:rPr lang="en-US" sz="1200" dirty="0">
                <a:solidFill>
                  <a:srgbClr val="263238"/>
                </a:solidFill>
                <a:latin typeface="Courier New" pitchFamily="34" charset="0"/>
                <a:ea typeface="Courier New" pitchFamily="34" charset="-122"/>
                <a:cs typeface="Courier New" pitchFamily="34" charset="-120"/>
              </a:rPr>
              <a:t>final int MIN_PASSWORD_LENGTH = 8;</a:t>
            </a:r>
            <a:endParaRPr lang="en-US" sz="1200" dirty="0"/>
          </a:p>
          <a:p>
            <a:pPr indent="0" marL="0">
              <a:buNone/>
            </a:pP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Intención explícita</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if (password.length()</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&lt; MIN_PASSWORD_LENGTH)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System.out.println(</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"Contraseña corta");</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
        <p:nvSpPr>
          <p:cNvPr id="17" name="Text 15"/>
          <p:cNvSpPr/>
          <p:nvPr/>
        </p:nvSpPr>
        <p:spPr>
          <a:xfrm>
            <a:off x="548640" y="4480560"/>
            <a:ext cx="11091672" cy="457200"/>
          </a:xfrm>
          <a:prstGeom prst="rect">
            <a:avLst/>
          </a:prstGeom>
          <a:noFill/>
          <a:ln/>
        </p:spPr>
        <p:txBody>
          <a:bodyPr wrap="square" rtlCol="0" anchor="t"/>
          <a:lstStyle/>
          <a:p>
            <a:pPr indent="0" marL="0">
              <a:buNone/>
            </a:pPr>
            <a:r>
              <a:rPr lang="en-US" sz="1400" dirty="0">
                <a:solidFill>
                  <a:srgbClr val="757575"/>
                </a:solidFill>
                <a:latin typeface="Arial" pitchFamily="34" charset="0"/>
                <a:ea typeface="Arial" pitchFamily="34" charset="-122"/>
                <a:cs typeface="Arial" pitchFamily="34" charset="-120"/>
              </a:rPr>
              <a:t>Si el mínimo cambia a 10 en el futuro, solo cambias la constante en un sitio — no buscas todos los 8 dispersos por el código.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Ciclo de análisis — el analizador siempre está activo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4 — Analizadores de código</a:t>
            </a:r>
            <a:endParaRPr lang="en-US" sz="1100" dirty="0"/>
          </a:p>
        </p:txBody>
      </p:sp>
      <p:sp>
        <p:nvSpPr>
          <p:cNvPr id="5" name="Text 3"/>
          <p:cNvSpPr/>
          <p:nvPr/>
        </p:nvSpPr>
        <p:spPr>
          <a:xfrm>
            <a:off x="548640" y="868680"/>
            <a:ext cx="11091672" cy="45720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El analizador no es algo que lanzas una vez al terminar — revisa el archivo cada vez que guardas o escribes:</a:t>
            </a:r>
            <a:endParaRPr lang="en-US" sz="1500" dirty="0"/>
          </a:p>
        </p:txBody>
      </p:sp>
      <p:sp>
        <p:nvSpPr>
          <p:cNvPr id="6" name="Shape 4"/>
          <p:cNvSpPr/>
          <p:nvPr/>
        </p:nvSpPr>
        <p:spPr>
          <a:xfrm>
            <a:off x="548640" y="1554480"/>
            <a:ext cx="3483864" cy="914400"/>
          </a:xfrm>
          <a:prstGeom prst="roundRect">
            <a:avLst/>
          </a:prstGeom>
          <a:solidFill>
            <a:srgbClr val="E8EAF6"/>
          </a:solidFill>
          <a:ln w="15875">
            <a:solidFill>
              <a:srgbClr val="3F51B5"/>
            </a:solidFill>
            <a:prstDash val="solid"/>
          </a:ln>
        </p:spPr>
      </p:sp>
      <p:sp>
        <p:nvSpPr>
          <p:cNvPr id="7" name="Text 5"/>
          <p:cNvSpPr/>
          <p:nvPr/>
        </p:nvSpPr>
        <p:spPr>
          <a:xfrm>
            <a:off x="594360" y="1600200"/>
            <a:ext cx="3392424"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Escribes código</a:t>
            </a:r>
            <a:endParaRPr lang="en-US" sz="1400" dirty="0"/>
          </a:p>
        </p:txBody>
      </p:sp>
      <p:sp>
        <p:nvSpPr>
          <p:cNvPr id="8" name="Text 6"/>
          <p:cNvSpPr/>
          <p:nvPr/>
        </p:nvSpPr>
        <p:spPr>
          <a:xfrm>
            <a:off x="3986784" y="1554480"/>
            <a:ext cx="411480" cy="91440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4352544" y="1554480"/>
            <a:ext cx="3483864" cy="914400"/>
          </a:xfrm>
          <a:prstGeom prst="roundRect">
            <a:avLst/>
          </a:prstGeom>
          <a:solidFill>
            <a:srgbClr val="E8EAF6"/>
          </a:solidFill>
          <a:ln w="15875">
            <a:solidFill>
              <a:srgbClr val="3F51B5"/>
            </a:solidFill>
            <a:prstDash val="solid"/>
          </a:ln>
        </p:spPr>
      </p:sp>
      <p:sp>
        <p:nvSpPr>
          <p:cNvPr id="10" name="Text 8"/>
          <p:cNvSpPr/>
          <p:nvPr/>
        </p:nvSpPr>
        <p:spPr>
          <a:xfrm>
            <a:off x="4398264" y="1600200"/>
            <a:ext cx="3392424"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Analizador lee el archivo</a:t>
            </a:r>
            <a:endParaRPr lang="en-US" sz="1400" dirty="0"/>
          </a:p>
        </p:txBody>
      </p:sp>
      <p:sp>
        <p:nvSpPr>
          <p:cNvPr id="11" name="Text 9"/>
          <p:cNvSpPr/>
          <p:nvPr/>
        </p:nvSpPr>
        <p:spPr>
          <a:xfrm>
            <a:off x="7790688" y="1554480"/>
            <a:ext cx="411480" cy="91440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8156448" y="1554480"/>
            <a:ext cx="3483864" cy="914400"/>
          </a:xfrm>
          <a:prstGeom prst="roundRect">
            <a:avLst/>
          </a:prstGeom>
          <a:solidFill>
            <a:srgbClr val="E8EAF6"/>
          </a:solidFill>
          <a:ln w="15875">
            <a:solidFill>
              <a:srgbClr val="3F51B5"/>
            </a:solidFill>
            <a:prstDash val="solid"/>
          </a:ln>
        </p:spPr>
      </p:sp>
      <p:sp>
        <p:nvSpPr>
          <p:cNvPr id="13" name="Text 11"/>
          <p:cNvSpPr/>
          <p:nvPr/>
        </p:nvSpPr>
        <p:spPr>
          <a:xfrm>
            <a:off x="8202168" y="1600200"/>
            <a:ext cx="3392424"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¿Hay problemas?</a:t>
            </a:r>
            <a:endParaRPr lang="en-US" sz="1400" dirty="0"/>
          </a:p>
        </p:txBody>
      </p:sp>
      <p:sp>
        <p:nvSpPr>
          <p:cNvPr id="14" name="Shape 12"/>
          <p:cNvSpPr/>
          <p:nvPr/>
        </p:nvSpPr>
        <p:spPr>
          <a:xfrm>
            <a:off x="548640" y="2697480"/>
            <a:ext cx="5209703" cy="777240"/>
          </a:xfrm>
          <a:prstGeom prst="roundRect">
            <a:avLst/>
          </a:prstGeom>
          <a:solidFill>
            <a:srgbClr val="E8F5E9"/>
          </a:solidFill>
          <a:ln w="15240">
            <a:solidFill>
              <a:srgbClr val="A5D6A7"/>
            </a:solidFill>
            <a:prstDash val="solid"/>
          </a:ln>
        </p:spPr>
      </p:sp>
      <p:sp>
        <p:nvSpPr>
          <p:cNvPr id="15" name="Text 13"/>
          <p:cNvSpPr/>
          <p:nvPr/>
        </p:nvSpPr>
        <p:spPr>
          <a:xfrm>
            <a:off x="685800" y="2697480"/>
            <a:ext cx="4935383" cy="777240"/>
          </a:xfrm>
          <a:prstGeom prst="rect">
            <a:avLst/>
          </a:prstGeom>
          <a:noFill/>
          <a:ln/>
        </p:spPr>
        <p:txBody>
          <a:bodyPr wrap="square" rtlCol="0" anchor="ctr"/>
          <a:lstStyle/>
          <a:p>
            <a:pPr algn="ctr" indent="0" marL="0">
              <a:buNone/>
            </a:pPr>
            <a:r>
              <a:rPr lang="en-US" sz="1500" b="1" dirty="0">
                <a:solidFill>
                  <a:srgbClr val="2E7D32"/>
                </a:solidFill>
                <a:latin typeface="Arial" pitchFamily="34" charset="0"/>
                <a:ea typeface="Arial" pitchFamily="34" charset="-122"/>
                <a:cs typeface="Arial" pitchFamily="34" charset="-120"/>
              </a:rPr>
              <a:t>No →  Todo limpio ✓</a:t>
            </a:r>
            <a:endParaRPr lang="en-US" sz="1500" dirty="0"/>
          </a:p>
        </p:txBody>
      </p:sp>
      <p:sp>
        <p:nvSpPr>
          <p:cNvPr id="16" name="Shape 14"/>
          <p:cNvSpPr/>
          <p:nvPr/>
        </p:nvSpPr>
        <p:spPr>
          <a:xfrm>
            <a:off x="5986943" y="2697480"/>
            <a:ext cx="5653369" cy="777240"/>
          </a:xfrm>
          <a:prstGeom prst="roundRect">
            <a:avLst/>
          </a:prstGeom>
          <a:solidFill>
            <a:srgbClr val="FFEBEE"/>
          </a:solidFill>
          <a:ln w="15240">
            <a:solidFill>
              <a:srgbClr val="EF9A9A"/>
            </a:solidFill>
            <a:prstDash val="solid"/>
          </a:ln>
        </p:spPr>
      </p:sp>
      <p:sp>
        <p:nvSpPr>
          <p:cNvPr id="17" name="Text 15"/>
          <p:cNvSpPr/>
          <p:nvPr/>
        </p:nvSpPr>
        <p:spPr>
          <a:xfrm>
            <a:off x="6124103" y="2697480"/>
            <a:ext cx="5379049" cy="777240"/>
          </a:xfrm>
          <a:prstGeom prst="rect">
            <a:avLst/>
          </a:prstGeom>
          <a:noFill/>
          <a:ln/>
        </p:spPr>
        <p:txBody>
          <a:bodyPr wrap="square" rtlCol="0" anchor="ctr"/>
          <a:lstStyle/>
          <a:p>
            <a:pPr algn="ctr" indent="0" marL="0">
              <a:buNone/>
            </a:pPr>
            <a:r>
              <a:rPr lang="en-US" sz="1500" dirty="0">
                <a:solidFill>
                  <a:srgbClr val="C62828"/>
                </a:solidFill>
                <a:latin typeface="Arial" pitchFamily="34" charset="0"/>
                <a:ea typeface="Arial" pitchFamily="34" charset="-122"/>
                <a:cs typeface="Arial" pitchFamily="34" charset="-120"/>
              </a:rPr>
              <a:t>Sí →  Subrayado en editor</a:t>
            </a:r>
            <a:endParaRPr lang="en-US" sz="1500" dirty="0"/>
          </a:p>
          <a:p>
            <a:pPr algn="ctr" indent="0" marL="0">
              <a:buNone/>
            </a:pPr>
            <a:r>
              <a:rPr lang="en-US" sz="1500" dirty="0">
                <a:solidFill>
                  <a:srgbClr val="C62828"/>
                </a:solidFill>
                <a:latin typeface="Arial" pitchFamily="34" charset="0"/>
                <a:ea typeface="Arial" pitchFamily="34" charset="-122"/>
                <a:cs typeface="Arial" pitchFamily="34" charset="-120"/>
              </a:rPr>
              <a:t>Aviso en el panel</a:t>
            </a:r>
            <a:endParaRPr lang="en-US" sz="1500" dirty="0"/>
          </a:p>
        </p:txBody>
      </p:sp>
      <p:sp>
        <p:nvSpPr>
          <p:cNvPr id="18" name="Shape 16"/>
          <p:cNvSpPr/>
          <p:nvPr/>
        </p:nvSpPr>
        <p:spPr>
          <a:xfrm>
            <a:off x="548640" y="3703320"/>
            <a:ext cx="2532888" cy="914400"/>
          </a:xfrm>
          <a:prstGeom prst="roundRect">
            <a:avLst/>
          </a:prstGeom>
          <a:solidFill>
            <a:srgbClr val="E8EAF6"/>
          </a:solidFill>
          <a:ln w="15875">
            <a:solidFill>
              <a:srgbClr val="3F51B5"/>
            </a:solidFill>
            <a:prstDash val="solid"/>
          </a:ln>
        </p:spPr>
      </p:sp>
      <p:sp>
        <p:nvSpPr>
          <p:cNvPr id="19" name="Text 17"/>
          <p:cNvSpPr/>
          <p:nvPr/>
        </p:nvSpPr>
        <p:spPr>
          <a:xfrm>
            <a:off x="594360" y="3749040"/>
            <a:ext cx="2441448" cy="82296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Revisas el aviso</a:t>
            </a:r>
            <a:endParaRPr lang="en-US" sz="1300" dirty="0"/>
          </a:p>
        </p:txBody>
      </p:sp>
      <p:sp>
        <p:nvSpPr>
          <p:cNvPr id="20" name="Text 18"/>
          <p:cNvSpPr/>
          <p:nvPr/>
        </p:nvSpPr>
        <p:spPr>
          <a:xfrm>
            <a:off x="3035808" y="3703320"/>
            <a:ext cx="411480" cy="91440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21" name="Shape 19"/>
          <p:cNvSpPr/>
          <p:nvPr/>
        </p:nvSpPr>
        <p:spPr>
          <a:xfrm>
            <a:off x="3401568" y="3703320"/>
            <a:ext cx="2532888" cy="914400"/>
          </a:xfrm>
          <a:prstGeom prst="roundRect">
            <a:avLst/>
          </a:prstGeom>
          <a:solidFill>
            <a:srgbClr val="E8EAF6"/>
          </a:solidFill>
          <a:ln w="15875">
            <a:solidFill>
              <a:srgbClr val="3F51B5"/>
            </a:solidFill>
            <a:prstDash val="solid"/>
          </a:ln>
        </p:spPr>
      </p:sp>
      <p:sp>
        <p:nvSpPr>
          <p:cNvPr id="22" name="Text 20"/>
          <p:cNvSpPr/>
          <p:nvPr/>
        </p:nvSpPr>
        <p:spPr>
          <a:xfrm>
            <a:off x="3447288" y="3749040"/>
            <a:ext cx="2441448" cy="82296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¿Tiene sentido corregirlo?</a:t>
            </a:r>
            <a:endParaRPr lang="en-US" sz="1300" dirty="0"/>
          </a:p>
        </p:txBody>
      </p:sp>
      <p:sp>
        <p:nvSpPr>
          <p:cNvPr id="23" name="Text 21"/>
          <p:cNvSpPr/>
          <p:nvPr/>
        </p:nvSpPr>
        <p:spPr>
          <a:xfrm>
            <a:off x="5888736" y="3703320"/>
            <a:ext cx="411480" cy="91440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24" name="Shape 22"/>
          <p:cNvSpPr/>
          <p:nvPr/>
        </p:nvSpPr>
        <p:spPr>
          <a:xfrm>
            <a:off x="6254496" y="3703320"/>
            <a:ext cx="2532888" cy="914400"/>
          </a:xfrm>
          <a:prstGeom prst="roundRect">
            <a:avLst/>
          </a:prstGeom>
          <a:solidFill>
            <a:srgbClr val="E8EAF6"/>
          </a:solidFill>
          <a:ln w="15875">
            <a:solidFill>
              <a:srgbClr val="3F51B5"/>
            </a:solidFill>
            <a:prstDash val="solid"/>
          </a:ln>
        </p:spPr>
      </p:sp>
      <p:sp>
        <p:nvSpPr>
          <p:cNvPr id="25" name="Text 23"/>
          <p:cNvSpPr/>
          <p:nvPr/>
        </p:nvSpPr>
        <p:spPr>
          <a:xfrm>
            <a:off x="6300216" y="3749040"/>
            <a:ext cx="2441448" cy="82296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Sí → Corriges el código</a:t>
            </a:r>
            <a:endParaRPr lang="en-US" sz="1300" dirty="0"/>
          </a:p>
        </p:txBody>
      </p:sp>
      <p:sp>
        <p:nvSpPr>
          <p:cNvPr id="26" name="Text 24"/>
          <p:cNvSpPr/>
          <p:nvPr/>
        </p:nvSpPr>
        <p:spPr>
          <a:xfrm>
            <a:off x="8741664" y="3703320"/>
            <a:ext cx="411480" cy="91440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27" name="Shape 25"/>
          <p:cNvSpPr/>
          <p:nvPr/>
        </p:nvSpPr>
        <p:spPr>
          <a:xfrm>
            <a:off x="9107424" y="3703320"/>
            <a:ext cx="2532888" cy="914400"/>
          </a:xfrm>
          <a:prstGeom prst="roundRect">
            <a:avLst/>
          </a:prstGeom>
          <a:solidFill>
            <a:srgbClr val="E8EAF6"/>
          </a:solidFill>
          <a:ln w="15875">
            <a:solidFill>
              <a:srgbClr val="3F51B5"/>
            </a:solidFill>
            <a:prstDash val="solid"/>
          </a:ln>
        </p:spPr>
      </p:sp>
      <p:sp>
        <p:nvSpPr>
          <p:cNvPr id="28" name="Text 26"/>
          <p:cNvSpPr/>
          <p:nvPr/>
        </p:nvSpPr>
        <p:spPr>
          <a:xfrm>
            <a:off x="9153144" y="3749040"/>
            <a:ext cx="2441448" cy="82296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No aplica → Justificas</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o desactivas la regla</a:t>
            </a:r>
            <a:endParaRPr lang="en-US" sz="1300" dirty="0"/>
          </a:p>
        </p:txBody>
      </p:sp>
      <p:sp>
        <p:nvSpPr>
          <p:cNvPr id="29" name="Shape 27"/>
          <p:cNvSpPr/>
          <p:nvPr/>
        </p:nvSpPr>
        <p:spPr>
          <a:xfrm>
            <a:off x="548640" y="4892040"/>
            <a:ext cx="11091672" cy="868680"/>
          </a:xfrm>
          <a:prstGeom prst="roundRect">
            <a:avLst/>
          </a:prstGeom>
          <a:solidFill>
            <a:srgbClr val="E0F2F1"/>
          </a:solidFill>
          <a:ln w="19050">
            <a:solidFill>
              <a:srgbClr val="009688"/>
            </a:solidFill>
            <a:prstDash val="solid"/>
          </a:ln>
        </p:spPr>
      </p:sp>
      <p:sp>
        <p:nvSpPr>
          <p:cNvPr id="30" name="Text 28"/>
          <p:cNvSpPr/>
          <p:nvPr/>
        </p:nvSpPr>
        <p:spPr>
          <a:xfrm>
            <a:off x="777240" y="4965192"/>
            <a:ext cx="10634472" cy="722376"/>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Un aviso no es una orden — es una pregunta. A veces el analizador se equivoca o la regla no aplica a tu caso. Lo importante es que la decisión sea consciente, no que ignores todos los avisos porque molestan.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Herramientas habituales en Java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4 — Analizadores de código</a:t>
            </a:r>
            <a:endParaRPr lang="en-US" sz="1100" dirty="0"/>
          </a:p>
        </p:txBody>
      </p:sp>
      <p:sp>
        <p:nvSpPr>
          <p:cNvPr id="5" name="Text 3"/>
          <p:cNvSpPr/>
          <p:nvPr/>
        </p:nvSpPr>
        <p:spPr>
          <a:xfrm>
            <a:off x="548640" y="868680"/>
            <a:ext cx="11091672" cy="384048"/>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No son excluyentes — en proyectos de empresa se usan varias a la vez, cada una con su función:</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440168"/>
                <a:gridCol w="4214835"/>
                <a:gridCol w="4436669"/>
              </a:tblGrid>
              <a:tr h="658368">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Herramienta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Punto fuerte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Cuándo usarla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IntelliJ Inspections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NPE probables, código muerto, simplificaciones automáticas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Siempre: ya viene integrada, sin instalar nada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SonarQube for IDE</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Bugs, seguridad y malas prácticas con explicación detallada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En clase y proyectos: plugin gratuito, muy completo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Checkstyle</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Convenciones de estilo: nombres, longitud de línea, imports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Cuando el equipo quiere estilo uniforme en fichero de reglas compartido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PMD</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Malas prácticas de diseño: código duplicado, complejidad, variables sin usar</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Para analizar calidad de diseño más allá del estilo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SpotBugs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Bugs por patrones: comparaciones peligrosas, recursos sin cerrar</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Cuando se quiere detectar errores reales, no solo estilo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550408"/>
            <a:ext cx="11091672" cy="685800"/>
          </a:xfrm>
          <a:prstGeom prst="roundRect">
            <a:avLst/>
          </a:prstGeom>
          <a:solidFill>
            <a:srgbClr val="E0F2F1"/>
          </a:solidFill>
          <a:ln w="19050">
            <a:solidFill>
              <a:srgbClr val="009688"/>
            </a:solidFill>
            <a:prstDash val="solid"/>
          </a:ln>
        </p:spPr>
      </p:sp>
      <p:sp>
        <p:nvSpPr>
          <p:cNvPr id="8" name="Text 5"/>
          <p:cNvSpPr/>
          <p:nvPr/>
        </p:nvSpPr>
        <p:spPr>
          <a:xfrm>
            <a:off x="777240" y="5623560"/>
            <a:ext cx="10634472" cy="539496"/>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En clase: con IntelliJ Inspections y SonarQube for IDE tienes más que suficiente. Las otras tres las verás en prácticas en empresa integradas en el pipeline de CI/CD.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Cómo se ven los avisos en IntelliJ</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4 — Analizadores de código</a:t>
            </a:r>
            <a:endParaRPr lang="en-US" sz="1100" dirty="0"/>
          </a:p>
        </p:txBody>
      </p:sp>
      <p:sp>
        <p:nvSpPr>
          <p:cNvPr id="5" name="Text 3"/>
          <p:cNvSpPr/>
          <p:nvPr/>
        </p:nvSpPr>
        <p:spPr>
          <a:xfrm>
            <a:off x="548640" y="868680"/>
            <a:ext cx="11091672" cy="384048"/>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IntelliJ marca los problemas de varias formas sin que tengas que hacer nada:</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89888"/>
          <a:ext cx="11091672" cy="914400"/>
        </p:xfrm>
        <a:graphic>
          <a:graphicData uri="http://schemas.openxmlformats.org/drawingml/2006/table">
            <a:tbl>
              <a:tblPr/>
              <a:tblGrid>
                <a:gridCol w="4214835"/>
                <a:gridCol w="6876837"/>
              </a:tblGrid>
              <a:tr h="612648">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Zona del IDE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muestra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612648">
                <a:tc>
                  <a:txBody>
                    <a:bodyPr/>
                    <a:lstStyle/>
                    <a:p>
                      <a:pPr indent="0" marL="0">
                        <a:buNone/>
                      </a:pPr>
                      <a:r>
                        <a:rPr lang="en-US" sz="1300" b="1" dirty="0">
                          <a:solidFill>
                            <a:srgbClr val="212121"/>
                          </a:solidFill>
                          <a:latin typeface="Arial" pitchFamily="34" charset="0"/>
                          <a:ea typeface="Arial" pitchFamily="34" charset="-122"/>
                          <a:cs typeface="Arial" pitchFamily="34" charset="-120"/>
                        </a:rPr>
                        <a:t>Editor — subrayado amarillo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Warning: posible problema, no siempre un error</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12648">
                <a:tc>
                  <a:txBody>
                    <a:bodyPr/>
                    <a:lstStyle/>
                    <a:p>
                      <a:pPr indent="0" marL="0">
                        <a:buNone/>
                      </a:pPr>
                      <a:r>
                        <a:rPr lang="en-US" sz="1300" b="1" dirty="0">
                          <a:solidFill>
                            <a:srgbClr val="212121"/>
                          </a:solidFill>
                          <a:latin typeface="Arial" pitchFamily="34" charset="0"/>
                          <a:ea typeface="Arial" pitchFamily="34" charset="-122"/>
                          <a:cs typeface="Arial" pitchFamily="34" charset="-120"/>
                        </a:rPr>
                        <a:t>Editor — subrayado rojo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Error probable o error de compilación</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12648">
                <a:tc>
                  <a:txBody>
                    <a:bodyPr/>
                    <a:lstStyle/>
                    <a:p>
                      <a:pPr indent="0" marL="0">
                        <a:buNone/>
                      </a:pPr>
                      <a:r>
                        <a:rPr lang="en-US" sz="1300" b="1" dirty="0">
                          <a:solidFill>
                            <a:srgbClr val="212121"/>
                          </a:solidFill>
                          <a:latin typeface="Arial" pitchFamily="34" charset="0"/>
                          <a:ea typeface="Arial" pitchFamily="34" charset="-122"/>
                          <a:cs typeface="Arial" pitchFamily="34" charset="-120"/>
                        </a:rPr>
                        <a:t>Barra de scroll (derecha)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Marcas de color en miniatura: dónde están los problemas sin desplazarte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12648">
                <a:tc>
                  <a:txBody>
                    <a:bodyPr/>
                    <a:lstStyle/>
                    <a:p>
                      <a:pPr indent="0" marL="0">
                        <a:buNone/>
                      </a:pPr>
                      <a:r>
                        <a:rPr lang="en-US" sz="1300" b="1" dirty="0">
                          <a:solidFill>
                            <a:srgbClr val="212121"/>
                          </a:solidFill>
                          <a:latin typeface="Arial" pitchFamily="34" charset="0"/>
                          <a:ea typeface="Arial" pitchFamily="34" charset="-122"/>
                          <a:cs typeface="Arial" pitchFamily="34" charset="-120"/>
                        </a:rPr>
                        <a:t>Esquina superior derecha (semáforo)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Verde = limpio · Amarillo = warnings · Rojo = errores probables. Clic para navegar.</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12648">
                <a:tc>
                  <a:txBody>
                    <a:bodyPr/>
                    <a:lstStyle/>
                    <a:p>
                      <a:pPr indent="0" marL="0">
                        <a:buNone/>
                      </a:pPr>
                      <a:r>
                        <a:rPr lang="en-US" sz="1300" b="1" dirty="0">
                          <a:solidFill>
                            <a:srgbClr val="212121"/>
                          </a:solidFill>
                          <a:latin typeface="Arial" pitchFamily="34" charset="0"/>
                          <a:ea typeface="Arial" pitchFamily="34" charset="-122"/>
                          <a:cs typeface="Arial" pitchFamily="34" charset="-120"/>
                        </a:rPr>
                        <a:t>Analyze → Inspect Code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Informe de todo el proyecto agrupado por categoría. Elige ámbito (archivo / módulo / proyecto)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248656"/>
            <a:ext cx="11091672" cy="438912"/>
          </a:xfrm>
          <a:prstGeom prst="rect">
            <a:avLst/>
          </a:prstGeom>
          <a:solidFill>
            <a:srgbClr val="3F51B5"/>
          </a:solidFill>
          <a:ln w="12700">
            <a:solidFill>
              <a:srgbClr val="3F51B5"/>
            </a:solidFill>
            <a:prstDash val="solid"/>
          </a:ln>
        </p:spPr>
      </p:sp>
      <p:sp>
        <p:nvSpPr>
          <p:cNvPr id="8" name="Text 5"/>
          <p:cNvSpPr/>
          <p:nvPr/>
        </p:nvSpPr>
        <p:spPr>
          <a:xfrm>
            <a:off x="731520" y="5248656"/>
            <a:ext cx="10725912" cy="438912"/>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Aplicar correcciones rápidas (quick fix)</a:t>
            </a:r>
            <a:endParaRPr lang="en-US" sz="1700" dirty="0"/>
          </a:p>
        </p:txBody>
      </p:sp>
      <p:sp>
        <p:nvSpPr>
          <p:cNvPr id="9" name="Shape 6"/>
          <p:cNvSpPr/>
          <p:nvPr/>
        </p:nvSpPr>
        <p:spPr>
          <a:xfrm>
            <a:off x="548640" y="5824728"/>
            <a:ext cx="2532888" cy="822960"/>
          </a:xfrm>
          <a:prstGeom prst="roundRect">
            <a:avLst/>
          </a:prstGeom>
          <a:solidFill>
            <a:srgbClr val="E8EAF6"/>
          </a:solidFill>
          <a:ln w="15875">
            <a:solidFill>
              <a:srgbClr val="3F51B5"/>
            </a:solidFill>
            <a:prstDash val="solid"/>
          </a:ln>
        </p:spPr>
      </p:sp>
      <p:sp>
        <p:nvSpPr>
          <p:cNvPr id="10" name="Text 7"/>
          <p:cNvSpPr/>
          <p:nvPr/>
        </p:nvSpPr>
        <p:spPr>
          <a:xfrm>
            <a:off x="594360" y="5870448"/>
            <a:ext cx="2441448" cy="73152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Cursor en</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la línea subrayada</a:t>
            </a:r>
            <a:endParaRPr lang="en-US" sz="1300" dirty="0"/>
          </a:p>
        </p:txBody>
      </p:sp>
      <p:sp>
        <p:nvSpPr>
          <p:cNvPr id="11" name="Text 8"/>
          <p:cNvSpPr/>
          <p:nvPr/>
        </p:nvSpPr>
        <p:spPr>
          <a:xfrm>
            <a:off x="3035808" y="5824728"/>
            <a:ext cx="411480" cy="82296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12" name="Shape 9"/>
          <p:cNvSpPr/>
          <p:nvPr/>
        </p:nvSpPr>
        <p:spPr>
          <a:xfrm>
            <a:off x="3401568" y="5824728"/>
            <a:ext cx="2532888" cy="822960"/>
          </a:xfrm>
          <a:prstGeom prst="roundRect">
            <a:avLst/>
          </a:prstGeom>
          <a:solidFill>
            <a:srgbClr val="E8EAF6"/>
          </a:solidFill>
          <a:ln w="15875">
            <a:solidFill>
              <a:srgbClr val="3F51B5"/>
            </a:solidFill>
            <a:prstDash val="solid"/>
          </a:ln>
        </p:spPr>
      </p:sp>
      <p:sp>
        <p:nvSpPr>
          <p:cNvPr id="13" name="Text 10"/>
          <p:cNvSpPr/>
          <p:nvPr/>
        </p:nvSpPr>
        <p:spPr>
          <a:xfrm>
            <a:off x="3447288" y="5870448"/>
            <a:ext cx="2441448" cy="73152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Alt+Enter</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(Win/Linux)</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Option+Enter (Mac)</a:t>
            </a:r>
            <a:endParaRPr lang="en-US" sz="1300" dirty="0"/>
          </a:p>
        </p:txBody>
      </p:sp>
      <p:sp>
        <p:nvSpPr>
          <p:cNvPr id="14" name="Text 11"/>
          <p:cNvSpPr/>
          <p:nvPr/>
        </p:nvSpPr>
        <p:spPr>
          <a:xfrm>
            <a:off x="5888736" y="5824728"/>
            <a:ext cx="411480" cy="82296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15" name="Shape 12"/>
          <p:cNvSpPr/>
          <p:nvPr/>
        </p:nvSpPr>
        <p:spPr>
          <a:xfrm>
            <a:off x="6254496" y="5824728"/>
            <a:ext cx="2532888" cy="822960"/>
          </a:xfrm>
          <a:prstGeom prst="roundRect">
            <a:avLst/>
          </a:prstGeom>
          <a:solidFill>
            <a:srgbClr val="E8EAF6"/>
          </a:solidFill>
          <a:ln w="15875">
            <a:solidFill>
              <a:srgbClr val="3F51B5"/>
            </a:solidFill>
            <a:prstDash val="solid"/>
          </a:ln>
        </p:spPr>
      </p:sp>
      <p:sp>
        <p:nvSpPr>
          <p:cNvPr id="16" name="Text 13"/>
          <p:cNvSpPr/>
          <p:nvPr/>
        </p:nvSpPr>
        <p:spPr>
          <a:xfrm>
            <a:off x="6300216" y="5870448"/>
            <a:ext cx="2441448" cy="73152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Menú de opciones</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de corrección</a:t>
            </a:r>
            <a:endParaRPr lang="en-US" sz="1300" dirty="0"/>
          </a:p>
        </p:txBody>
      </p:sp>
      <p:sp>
        <p:nvSpPr>
          <p:cNvPr id="17" name="Text 14"/>
          <p:cNvSpPr/>
          <p:nvPr/>
        </p:nvSpPr>
        <p:spPr>
          <a:xfrm>
            <a:off x="8741664" y="5824728"/>
            <a:ext cx="411480" cy="82296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18" name="Shape 15"/>
          <p:cNvSpPr/>
          <p:nvPr/>
        </p:nvSpPr>
        <p:spPr>
          <a:xfrm>
            <a:off x="9107424" y="5824728"/>
            <a:ext cx="2532888" cy="822960"/>
          </a:xfrm>
          <a:prstGeom prst="roundRect">
            <a:avLst/>
          </a:prstGeom>
          <a:solidFill>
            <a:srgbClr val="E8EAF6"/>
          </a:solidFill>
          <a:ln w="15875">
            <a:solidFill>
              <a:srgbClr val="3F51B5"/>
            </a:solidFill>
            <a:prstDash val="solid"/>
          </a:ln>
        </p:spPr>
      </p:sp>
      <p:sp>
        <p:nvSpPr>
          <p:cNvPr id="19" name="Text 16"/>
          <p:cNvSpPr/>
          <p:nvPr/>
        </p:nvSpPr>
        <p:spPr>
          <a:xfrm>
            <a:off x="9153144" y="5870448"/>
            <a:ext cx="2441448" cy="73152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Eliges la opción</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que corresponda</a:t>
            </a:r>
            <a:endParaRPr lang="en-US" sz="1300" dirty="0"/>
          </a:p>
        </p:txBody>
      </p:sp>
      <p:sp>
        <p:nvSpPr>
          <p:cNvPr id="20" name="Shape 17"/>
          <p:cNvSpPr/>
          <p:nvPr/>
        </p:nvSpPr>
        <p:spPr>
          <a:xfrm>
            <a:off x="548640" y="6830568"/>
            <a:ext cx="11091672" cy="594360"/>
          </a:xfrm>
          <a:prstGeom prst="roundRect">
            <a:avLst/>
          </a:prstGeom>
          <a:solidFill>
            <a:srgbClr val="E0F2F1"/>
          </a:solidFill>
          <a:ln w="19050">
            <a:solidFill>
              <a:srgbClr val="009688"/>
            </a:solidFill>
            <a:prstDash val="solid"/>
          </a:ln>
        </p:spPr>
      </p:sp>
      <p:sp>
        <p:nvSpPr>
          <p:cNvPr id="21" name="Text 18"/>
          <p:cNvSpPr/>
          <p:nvPr/>
        </p:nvSpPr>
        <p:spPr>
          <a:xfrm>
            <a:off x="777240" y="6903720"/>
            <a:ext cx="10634472" cy="448056"/>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Lee qué va a cambiar antes de aceptar. Algunos quick fixes son perfectos; otros alteran el comportamiento del programa.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Configuración: qué se puede ajustar</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4 — Analizadores de código</a:t>
            </a:r>
            <a:endParaRPr lang="en-US" sz="1100" dirty="0"/>
          </a:p>
        </p:txBody>
      </p:sp>
      <p:sp>
        <p:nvSpPr>
          <p:cNvPr id="5" name="Text 3"/>
          <p:cNvSpPr/>
          <p:nvPr/>
        </p:nvSpPr>
        <p:spPr>
          <a:xfrm>
            <a:off x="548640" y="868680"/>
            <a:ext cx="11091672" cy="384048"/>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Los analizadores no son todo o nada — se configuran para que encajen con el proyecto:</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35608"/>
          <a:ext cx="11091672" cy="914400"/>
        </p:xfrm>
        <a:graphic>
          <a:graphicData uri="http://schemas.openxmlformats.org/drawingml/2006/table">
            <a:tbl>
              <a:tblPr/>
              <a:tblGrid>
                <a:gridCol w="2440168"/>
                <a:gridCol w="8651504"/>
              </a:tblGrid>
              <a:tr h="86868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Aspecto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permite hacer</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868680">
                <a:tc>
                  <a:txBody>
                    <a:bodyPr/>
                    <a:lstStyle/>
                    <a:p>
                      <a:pPr indent="0" marL="0">
                        <a:buNone/>
                      </a:pPr>
                      <a:r>
                        <a:rPr lang="en-US" sz="1300" b="1" dirty="0">
                          <a:solidFill>
                            <a:srgbClr val="212121"/>
                          </a:solidFill>
                          <a:latin typeface="Arial" pitchFamily="34" charset="0"/>
                          <a:ea typeface="Arial" pitchFamily="34" charset="-122"/>
                          <a:cs typeface="Arial" pitchFamily="34" charset="-120"/>
                        </a:rPr>
                        <a:t>Severidad</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Cada regla tiene nivel Error / Warning / Info. Se puede cambiar la prioridad de cada regla según el criterio del equipo.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868680">
                <a:tc>
                  <a:txBody>
                    <a:bodyPr/>
                    <a:lstStyle/>
                    <a:p>
                      <a:pPr indent="0" marL="0">
                        <a:buNone/>
                      </a:pPr>
                      <a:r>
                        <a:rPr lang="en-US" sz="1300" b="1" dirty="0">
                          <a:solidFill>
                            <a:srgbClr val="212121"/>
                          </a:solidFill>
                          <a:latin typeface="Arial" pitchFamily="34" charset="0"/>
                          <a:ea typeface="Arial" pitchFamily="34" charset="-122"/>
                          <a:cs typeface="Arial" pitchFamily="34" charset="-120"/>
                        </a:rPr>
                        <a:t>Reglas activas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Puedes activar o desactivar reglas concretas. Si una genera muchos falsos positivos, se desactiva — con criterio, no por comodidad.</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868680">
                <a:tc>
                  <a:txBody>
                    <a:bodyPr/>
                    <a:lstStyle/>
                    <a:p>
                      <a:pPr indent="0" marL="0">
                        <a:buNone/>
                      </a:pPr>
                      <a:r>
                        <a:rPr lang="en-US" sz="1300" b="1" dirty="0">
                          <a:solidFill>
                            <a:srgbClr val="212121"/>
                          </a:solidFill>
                          <a:latin typeface="Arial" pitchFamily="34" charset="0"/>
                          <a:ea typeface="Arial" pitchFamily="34" charset="-122"/>
                          <a:cs typeface="Arial" pitchFamily="34" charset="-120"/>
                        </a:rPr>
                        <a:t>Exclusiones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Las carpetas build/, target/ y código generado no deben analizarse. Se excluyen para no mezclar ruido con avisos reales.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868680">
                <a:tc>
                  <a:txBody>
                    <a:bodyPr/>
                    <a:lstStyle/>
                    <a:p>
                      <a:pPr indent="0" marL="0">
                        <a:buNone/>
                      </a:pPr>
                      <a:r>
                        <a:rPr lang="en-US" sz="1300" b="1" dirty="0">
                          <a:solidFill>
                            <a:srgbClr val="212121"/>
                          </a:solidFill>
                          <a:latin typeface="Arial" pitchFamily="34" charset="0"/>
                          <a:ea typeface="Arial" pitchFamily="34" charset="-122"/>
                          <a:cs typeface="Arial" pitchFamily="34" charset="-120"/>
                        </a:rPr>
                        <a:t>Config compartida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La configuración va en un fichero del repositorio (checkstyle.xml, sonar-project.properties). Todos trabajan con las mismas reglas.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7" name="Shape 4"/>
          <p:cNvSpPr/>
          <p:nvPr/>
        </p:nvSpPr>
        <p:spPr>
          <a:xfrm>
            <a:off x="548640" y="6007608"/>
            <a:ext cx="11091672" cy="640080"/>
          </a:xfrm>
          <a:prstGeom prst="roundRect">
            <a:avLst/>
          </a:prstGeom>
          <a:solidFill>
            <a:srgbClr val="E0F2F1"/>
          </a:solidFill>
          <a:ln w="19050">
            <a:solidFill>
              <a:srgbClr val="009688"/>
            </a:solidFill>
            <a:prstDash val="solid"/>
          </a:ln>
        </p:spPr>
      </p:sp>
      <p:sp>
        <p:nvSpPr>
          <p:cNvPr id="8" name="Text 5"/>
          <p:cNvSpPr/>
          <p:nvPr/>
        </p:nvSpPr>
        <p:spPr>
          <a:xfrm>
            <a:off x="777240" y="6080760"/>
            <a:ext cx="10634472" cy="493776"/>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Antipatrón: ignorar todos los avisos porque molestan. Mejor 10 reglas bien elegidas que 200 que nadie lee.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SonarQube for IDE (antes SonarLint)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4 — Analizadores de código</a:t>
            </a:r>
            <a:endParaRPr lang="en-US" sz="1100" dirty="0"/>
          </a:p>
        </p:txBody>
      </p:sp>
      <p:sp>
        <p:nvSpPr>
          <p:cNvPr id="5" name="Shape 3"/>
          <p:cNvSpPr/>
          <p:nvPr/>
        </p:nvSpPr>
        <p:spPr>
          <a:xfrm>
            <a:off x="548640" y="868680"/>
            <a:ext cx="11091672" cy="82296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67665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SonarQube for IDE (renombrado en 2024, antes llamado SonarLint) es el plugin de análisis estático más completo para IntelliJ. Es gratuito, open-source, y funciona directamente en el editor sin ningún servidor.</a:t>
            </a:r>
            <a:endParaRPr lang="en-US" sz="1500" dirty="0"/>
          </a:p>
        </p:txBody>
      </p:sp>
      <p:sp>
        <p:nvSpPr>
          <p:cNvPr id="7" name="Text 5"/>
          <p:cNvSpPr/>
          <p:nvPr/>
        </p:nvSpPr>
        <p:spPr>
          <a:xfrm>
            <a:off x="548640" y="1874520"/>
            <a:ext cx="11091672" cy="59436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Lo que lo diferencia de las inspecciones de IntelliJ: por cada aviso muestra POR QUÉ es un problema, qué riesgo tiene y cómo corregirlo — no solo un mensaje críptico.</a:t>
            </a:r>
            <a:endParaRPr lang="en-US" sz="1500" dirty="0"/>
          </a:p>
        </p:txBody>
      </p:sp>
      <p:sp>
        <p:nvSpPr>
          <p:cNvPr id="8" name="Shape 6"/>
          <p:cNvSpPr/>
          <p:nvPr/>
        </p:nvSpPr>
        <p:spPr>
          <a:xfrm>
            <a:off x="548640" y="2651760"/>
            <a:ext cx="11091672" cy="438912"/>
          </a:xfrm>
          <a:prstGeom prst="rect">
            <a:avLst/>
          </a:prstGeom>
          <a:solidFill>
            <a:srgbClr val="3F51B5"/>
          </a:solidFill>
          <a:ln w="12700">
            <a:solidFill>
              <a:srgbClr val="3F51B5"/>
            </a:solidFill>
            <a:prstDash val="solid"/>
          </a:ln>
        </p:spPr>
      </p:sp>
      <p:sp>
        <p:nvSpPr>
          <p:cNvPr id="9" name="Text 7"/>
          <p:cNvSpPr/>
          <p:nvPr/>
        </p:nvSpPr>
        <p:spPr>
          <a:xfrm>
            <a:off x="731520" y="2651760"/>
            <a:ext cx="10725912" cy="438912"/>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Dos modos de uso</a:t>
            </a:r>
            <a:endParaRPr lang="en-US" sz="1700" dirty="0"/>
          </a:p>
        </p:txBody>
      </p:sp>
      <p:sp>
        <p:nvSpPr>
          <p:cNvPr id="10" name="Shape 8"/>
          <p:cNvSpPr/>
          <p:nvPr/>
        </p:nvSpPr>
        <p:spPr>
          <a:xfrm>
            <a:off x="548640" y="3227832"/>
            <a:ext cx="5431536" cy="2331720"/>
          </a:xfrm>
          <a:prstGeom prst="roundRect">
            <a:avLst/>
          </a:prstGeom>
          <a:solidFill>
            <a:srgbClr val="E8EAF6"/>
          </a:solidFill>
          <a:ln w="15240">
            <a:solidFill>
              <a:srgbClr val="3F51B5"/>
            </a:solidFill>
            <a:prstDash val="solid"/>
          </a:ln>
        </p:spPr>
      </p:sp>
      <p:sp>
        <p:nvSpPr>
          <p:cNvPr id="11" name="Text 9"/>
          <p:cNvSpPr/>
          <p:nvPr/>
        </p:nvSpPr>
        <p:spPr>
          <a:xfrm>
            <a:off x="685800" y="3337560"/>
            <a:ext cx="5157216" cy="384048"/>
          </a:xfrm>
          <a:prstGeom prst="rect">
            <a:avLst/>
          </a:prstGeom>
          <a:noFill/>
          <a:ln/>
        </p:spPr>
        <p:txBody>
          <a:bodyPr wrap="square" rtlCol="0" anchor="ctr"/>
          <a:lstStyle/>
          <a:p>
            <a:pPr indent="0" marL="0">
              <a:buNone/>
            </a:pPr>
            <a:r>
              <a:rPr lang="en-US" sz="1400" b="1" dirty="0">
                <a:solidFill>
                  <a:srgbClr val="303F9F"/>
                </a:solidFill>
                <a:latin typeface="Arial" pitchFamily="34" charset="0"/>
                <a:ea typeface="Arial" pitchFamily="34" charset="-122"/>
                <a:cs typeface="Arial" pitchFamily="34" charset="-120"/>
              </a:rPr>
              <a:t>Standalone Mode — en clase</a:t>
            </a:r>
            <a:endParaRPr lang="en-US" sz="1400" dirty="0"/>
          </a:p>
        </p:txBody>
      </p:sp>
      <p:sp>
        <p:nvSpPr>
          <p:cNvPr id="12" name="Text 10"/>
          <p:cNvSpPr/>
          <p:nvPr/>
        </p:nvSpPr>
        <p:spPr>
          <a:xfrm>
            <a:off x="685800" y="3758184"/>
            <a:ext cx="5157216" cy="1645920"/>
          </a:xfrm>
          <a:prstGeom prst="rect">
            <a:avLst/>
          </a:prstGeom>
          <a:noFill/>
          <a:ln/>
        </p:spPr>
        <p:txBody>
          <a:bodyPr wrap="square" rtlCol="0" anchor="t"/>
          <a:lstStyle/>
          <a:p>
            <a:pPr indent="0" marL="0">
              <a:buNone/>
            </a:pPr>
            <a:r>
              <a:rPr lang="en-US" sz="1300" dirty="0">
                <a:solidFill>
                  <a:srgbClr val="212121"/>
                </a:solidFill>
                <a:latin typeface="Arial" pitchFamily="34" charset="0"/>
                <a:ea typeface="Arial" pitchFamily="34" charset="-122"/>
                <a:cs typeface="Arial" pitchFamily="34" charset="-120"/>
              </a:rPr>
              <a:t>Funciona sin conectarse a ningún servidor.</a:t>
            </a:r>
            <a:endParaRPr lang="en-US" sz="1300" dirty="0"/>
          </a:p>
          <a:p>
            <a:pPr indent="0" marL="0">
              <a:buNone/>
            </a:pP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 Detecta bugs, malas prácticas y seguridad</a:t>
            </a: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  en más de 20 lenguajes</a:t>
            </a: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 Avisos en el panel inferior y el editor</a:t>
            </a: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 Completamente gratuito, sin cuenta</a:t>
            </a:r>
            <a:endParaRPr lang="en-US" sz="1300" dirty="0"/>
          </a:p>
        </p:txBody>
      </p:sp>
      <p:sp>
        <p:nvSpPr>
          <p:cNvPr id="13" name="Shape 11"/>
          <p:cNvSpPr/>
          <p:nvPr/>
        </p:nvSpPr>
        <p:spPr>
          <a:xfrm>
            <a:off x="6208776" y="3227832"/>
            <a:ext cx="5431536" cy="2331720"/>
          </a:xfrm>
          <a:prstGeom prst="roundRect">
            <a:avLst/>
          </a:prstGeom>
          <a:solidFill>
            <a:srgbClr val="E0F2F1"/>
          </a:solidFill>
          <a:ln w="15240">
            <a:solidFill>
              <a:srgbClr val="009688"/>
            </a:solidFill>
            <a:prstDash val="solid"/>
          </a:ln>
        </p:spPr>
      </p:sp>
      <p:sp>
        <p:nvSpPr>
          <p:cNvPr id="14" name="Text 12"/>
          <p:cNvSpPr/>
          <p:nvPr/>
        </p:nvSpPr>
        <p:spPr>
          <a:xfrm>
            <a:off x="6345936" y="3337560"/>
            <a:ext cx="5157216" cy="384048"/>
          </a:xfrm>
          <a:prstGeom prst="rect">
            <a:avLst/>
          </a:prstGeom>
          <a:noFill/>
          <a:ln/>
        </p:spPr>
        <p:txBody>
          <a:bodyPr wrap="square" rtlCol="0" anchor="ctr"/>
          <a:lstStyle/>
          <a:p>
            <a:pPr indent="0" marL="0">
              <a:buNone/>
            </a:pPr>
            <a:r>
              <a:rPr lang="en-US" sz="1400" b="1" dirty="0">
                <a:solidFill>
                  <a:srgbClr val="00695C"/>
                </a:solidFill>
                <a:latin typeface="Arial" pitchFamily="34" charset="0"/>
                <a:ea typeface="Arial" pitchFamily="34" charset="-122"/>
                <a:cs typeface="Arial" pitchFamily="34" charset="-120"/>
              </a:rPr>
              <a:t>Connected Mode — en empresa</a:t>
            </a:r>
            <a:endParaRPr lang="en-US" sz="1400" dirty="0"/>
          </a:p>
        </p:txBody>
      </p:sp>
      <p:sp>
        <p:nvSpPr>
          <p:cNvPr id="15" name="Text 13"/>
          <p:cNvSpPr/>
          <p:nvPr/>
        </p:nvSpPr>
        <p:spPr>
          <a:xfrm>
            <a:off x="6345936" y="3758184"/>
            <a:ext cx="5157216" cy="1645920"/>
          </a:xfrm>
          <a:prstGeom prst="rect">
            <a:avLst/>
          </a:prstGeom>
          <a:noFill/>
          <a:ln/>
        </p:spPr>
        <p:txBody>
          <a:bodyPr wrap="square" rtlCol="0" anchor="t"/>
          <a:lstStyle/>
          <a:p>
            <a:pPr indent="0" marL="0">
              <a:buNone/>
            </a:pPr>
            <a:r>
              <a:rPr lang="en-US" sz="1300" dirty="0">
                <a:solidFill>
                  <a:srgbClr val="212121"/>
                </a:solidFill>
                <a:latin typeface="Arial" pitchFamily="34" charset="0"/>
                <a:ea typeface="Arial" pitchFamily="34" charset="-122"/>
                <a:cs typeface="Arial" pitchFamily="34" charset="-120"/>
              </a:rPr>
              <a:t>Se conecta a un servidor SonarQube del equipo.</a:t>
            </a:r>
            <a:endParaRPr lang="en-US" sz="1300" dirty="0"/>
          </a:p>
          <a:p>
            <a:pPr indent="0" marL="0">
              <a:buNone/>
            </a:pP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 Todos comparten las mismas reglas del servidor</a:t>
            </a: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 El IDE sincroniza reglas y exclusiones</a:t>
            </a: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  automáticamente</a:t>
            </a: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 Los avisos del IDE coinciden con el CI/CD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SonarQube for IDE — flujo e instalación</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4 — Analizadores de código</a:t>
            </a:r>
            <a:endParaRPr lang="en-US" sz="1100" dirty="0"/>
          </a:p>
        </p:txBody>
      </p:sp>
      <p:sp>
        <p:nvSpPr>
          <p:cNvPr id="5" name="Shape 3"/>
          <p:cNvSpPr/>
          <p:nvPr/>
        </p:nvSpPr>
        <p:spPr>
          <a:xfrm>
            <a:off x="548640" y="868680"/>
            <a:ext cx="11091672" cy="438912"/>
          </a:xfrm>
          <a:prstGeom prst="rect">
            <a:avLst/>
          </a:prstGeom>
          <a:solidFill>
            <a:srgbClr val="3F51B5"/>
          </a:solidFill>
          <a:ln w="12700">
            <a:solidFill>
              <a:srgbClr val="3F51B5"/>
            </a:solidFill>
            <a:prstDash val="solid"/>
          </a:ln>
        </p:spPr>
      </p:sp>
      <p:sp>
        <p:nvSpPr>
          <p:cNvPr id="6" name="Text 4"/>
          <p:cNvSpPr/>
          <p:nvPr/>
        </p:nvSpPr>
        <p:spPr>
          <a:xfrm>
            <a:off x="731520" y="868680"/>
            <a:ext cx="10725912" cy="438912"/>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Flujo en Standalone Mode</a:t>
            </a:r>
            <a:endParaRPr lang="en-US" sz="1700" dirty="0"/>
          </a:p>
        </p:txBody>
      </p:sp>
      <p:sp>
        <p:nvSpPr>
          <p:cNvPr id="7" name="Shape 5"/>
          <p:cNvSpPr/>
          <p:nvPr/>
        </p:nvSpPr>
        <p:spPr>
          <a:xfrm>
            <a:off x="548640" y="1490472"/>
            <a:ext cx="1581912" cy="960120"/>
          </a:xfrm>
          <a:prstGeom prst="roundRect">
            <a:avLst/>
          </a:prstGeom>
          <a:solidFill>
            <a:srgbClr val="E8EAF6"/>
          </a:solidFill>
          <a:ln w="15875">
            <a:solidFill>
              <a:srgbClr val="3F51B5"/>
            </a:solidFill>
            <a:prstDash val="solid"/>
          </a:ln>
        </p:spPr>
      </p:sp>
      <p:sp>
        <p:nvSpPr>
          <p:cNvPr id="8" name="Text 6"/>
          <p:cNvSpPr/>
          <p:nvPr/>
        </p:nvSpPr>
        <p:spPr>
          <a:xfrm>
            <a:off x="594360" y="1536192"/>
            <a:ext cx="1490472" cy="86868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Instalar plugin</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SonarQube for IDE</a:t>
            </a:r>
            <a:endParaRPr lang="en-US" sz="1200" dirty="0"/>
          </a:p>
        </p:txBody>
      </p:sp>
      <p:sp>
        <p:nvSpPr>
          <p:cNvPr id="9" name="Text 7"/>
          <p:cNvSpPr/>
          <p:nvPr/>
        </p:nvSpPr>
        <p:spPr>
          <a:xfrm>
            <a:off x="2084832" y="1490472"/>
            <a:ext cx="411480" cy="96012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2450592" y="1490472"/>
            <a:ext cx="1581912" cy="960120"/>
          </a:xfrm>
          <a:prstGeom prst="roundRect">
            <a:avLst/>
          </a:prstGeom>
          <a:solidFill>
            <a:srgbClr val="E8EAF6"/>
          </a:solidFill>
          <a:ln w="15875">
            <a:solidFill>
              <a:srgbClr val="3F51B5"/>
            </a:solidFill>
            <a:prstDash val="solid"/>
          </a:ln>
        </p:spPr>
      </p:sp>
      <p:sp>
        <p:nvSpPr>
          <p:cNvPr id="11" name="Text 9"/>
          <p:cNvSpPr/>
          <p:nvPr/>
        </p:nvSpPr>
        <p:spPr>
          <a:xfrm>
            <a:off x="2496312" y="1536192"/>
            <a:ext cx="1490472" cy="86868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Abrir un</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archivo .java</a:t>
            </a:r>
            <a:endParaRPr lang="en-US" sz="1200" dirty="0"/>
          </a:p>
        </p:txBody>
      </p:sp>
      <p:sp>
        <p:nvSpPr>
          <p:cNvPr id="12" name="Text 10"/>
          <p:cNvSpPr/>
          <p:nvPr/>
        </p:nvSpPr>
        <p:spPr>
          <a:xfrm>
            <a:off x="3986784" y="1490472"/>
            <a:ext cx="411480" cy="96012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4352544" y="1490472"/>
            <a:ext cx="1581912" cy="960120"/>
          </a:xfrm>
          <a:prstGeom prst="roundRect">
            <a:avLst/>
          </a:prstGeom>
          <a:solidFill>
            <a:srgbClr val="E8EAF6"/>
          </a:solidFill>
          <a:ln w="15875">
            <a:solidFill>
              <a:srgbClr val="3F51B5"/>
            </a:solidFill>
            <a:prstDash val="solid"/>
          </a:ln>
        </p:spPr>
      </p:sp>
      <p:sp>
        <p:nvSpPr>
          <p:cNvPr id="14" name="Text 12"/>
          <p:cNvSpPr/>
          <p:nvPr/>
        </p:nvSpPr>
        <p:spPr>
          <a:xfrm>
            <a:off x="4398264" y="1536192"/>
            <a:ext cx="1490472" cy="86868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Avisos subrayados</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en el editor</a:t>
            </a:r>
            <a:endParaRPr lang="en-US" sz="1200" dirty="0"/>
          </a:p>
        </p:txBody>
      </p:sp>
      <p:sp>
        <p:nvSpPr>
          <p:cNvPr id="15" name="Text 13"/>
          <p:cNvSpPr/>
          <p:nvPr/>
        </p:nvSpPr>
        <p:spPr>
          <a:xfrm>
            <a:off x="5888736" y="1490472"/>
            <a:ext cx="411480" cy="96012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6254496" y="1490472"/>
            <a:ext cx="1581912" cy="960120"/>
          </a:xfrm>
          <a:prstGeom prst="roundRect">
            <a:avLst/>
          </a:prstGeom>
          <a:solidFill>
            <a:srgbClr val="E8EAF6"/>
          </a:solidFill>
          <a:ln w="15875">
            <a:solidFill>
              <a:srgbClr val="3F51B5"/>
            </a:solidFill>
            <a:prstDash val="solid"/>
          </a:ln>
        </p:spPr>
      </p:sp>
      <p:sp>
        <p:nvSpPr>
          <p:cNvPr id="17" name="Text 15"/>
          <p:cNvSpPr/>
          <p:nvPr/>
        </p:nvSpPr>
        <p:spPr>
          <a:xfrm>
            <a:off x="6300216" y="1536192"/>
            <a:ext cx="1490472" cy="86868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Panel inferior</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muestra el aviso</a:t>
            </a:r>
            <a:endParaRPr lang="en-US" sz="1200" dirty="0"/>
          </a:p>
        </p:txBody>
      </p:sp>
      <p:sp>
        <p:nvSpPr>
          <p:cNvPr id="18" name="Text 16"/>
          <p:cNvSpPr/>
          <p:nvPr/>
        </p:nvSpPr>
        <p:spPr>
          <a:xfrm>
            <a:off x="7790688" y="1490472"/>
            <a:ext cx="411480" cy="96012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8156448" y="1490472"/>
            <a:ext cx="1581912" cy="960120"/>
          </a:xfrm>
          <a:prstGeom prst="roundRect">
            <a:avLst/>
          </a:prstGeom>
          <a:solidFill>
            <a:srgbClr val="E8EAF6"/>
          </a:solidFill>
          <a:ln w="15875">
            <a:solidFill>
              <a:srgbClr val="3F51B5"/>
            </a:solidFill>
            <a:prstDash val="solid"/>
          </a:ln>
        </p:spPr>
      </p:sp>
      <p:sp>
        <p:nvSpPr>
          <p:cNvPr id="20" name="Text 18"/>
          <p:cNvSpPr/>
          <p:nvPr/>
        </p:nvSpPr>
        <p:spPr>
          <a:xfrm>
            <a:off x="8202168" y="1536192"/>
            <a:ext cx="1490472" cy="86868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Leer explicación</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del problema</a:t>
            </a:r>
            <a:endParaRPr lang="en-US" sz="1200" dirty="0"/>
          </a:p>
        </p:txBody>
      </p:sp>
      <p:sp>
        <p:nvSpPr>
          <p:cNvPr id="21" name="Text 19"/>
          <p:cNvSpPr/>
          <p:nvPr/>
        </p:nvSpPr>
        <p:spPr>
          <a:xfrm>
            <a:off x="9692640" y="1490472"/>
            <a:ext cx="411480" cy="96012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22" name="Shape 20"/>
          <p:cNvSpPr/>
          <p:nvPr/>
        </p:nvSpPr>
        <p:spPr>
          <a:xfrm>
            <a:off x="10058400" y="1490472"/>
            <a:ext cx="1581912" cy="960120"/>
          </a:xfrm>
          <a:prstGeom prst="roundRect">
            <a:avLst/>
          </a:prstGeom>
          <a:solidFill>
            <a:srgbClr val="E8EAF6"/>
          </a:solidFill>
          <a:ln w="15875">
            <a:solidFill>
              <a:srgbClr val="3F51B5"/>
            </a:solidFill>
            <a:prstDash val="solid"/>
          </a:ln>
        </p:spPr>
      </p:sp>
      <p:sp>
        <p:nvSpPr>
          <p:cNvPr id="23" name="Text 21"/>
          <p:cNvSpPr/>
          <p:nvPr/>
        </p:nvSpPr>
        <p:spPr>
          <a:xfrm>
            <a:off x="10104120" y="1536192"/>
            <a:ext cx="1490472" cy="86868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¿Tiene sentido?</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Corregir o justificar</a:t>
            </a:r>
            <a:endParaRPr lang="en-US" sz="1200" dirty="0"/>
          </a:p>
        </p:txBody>
      </p:sp>
      <p:sp>
        <p:nvSpPr>
          <p:cNvPr id="24" name="Shape 22"/>
          <p:cNvSpPr/>
          <p:nvPr/>
        </p:nvSpPr>
        <p:spPr>
          <a:xfrm>
            <a:off x="548640" y="2770632"/>
            <a:ext cx="11091672" cy="438912"/>
          </a:xfrm>
          <a:prstGeom prst="rect">
            <a:avLst/>
          </a:prstGeom>
          <a:solidFill>
            <a:srgbClr val="3F51B5"/>
          </a:solidFill>
          <a:ln w="12700">
            <a:solidFill>
              <a:srgbClr val="3F51B5"/>
            </a:solidFill>
            <a:prstDash val="solid"/>
          </a:ln>
        </p:spPr>
      </p:sp>
      <p:sp>
        <p:nvSpPr>
          <p:cNvPr id="25" name="Text 23"/>
          <p:cNvSpPr/>
          <p:nvPr/>
        </p:nvSpPr>
        <p:spPr>
          <a:xfrm>
            <a:off x="731520" y="2770632"/>
            <a:ext cx="10725912" cy="438912"/>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Cómo instalar el plugin</a:t>
            </a:r>
            <a:endParaRPr lang="en-US" sz="1700" dirty="0"/>
          </a:p>
        </p:txBody>
      </p:sp>
      <p:sp>
        <p:nvSpPr>
          <p:cNvPr id="26" name="Shape 24"/>
          <p:cNvSpPr/>
          <p:nvPr/>
        </p:nvSpPr>
        <p:spPr>
          <a:xfrm>
            <a:off x="548640" y="3392424"/>
            <a:ext cx="2532888" cy="1005840"/>
          </a:xfrm>
          <a:prstGeom prst="roundRect">
            <a:avLst/>
          </a:prstGeom>
          <a:solidFill>
            <a:srgbClr val="E8EAF6"/>
          </a:solidFill>
          <a:ln w="15875">
            <a:solidFill>
              <a:srgbClr val="3F51B5"/>
            </a:solidFill>
            <a:prstDash val="solid"/>
          </a:ln>
        </p:spPr>
      </p:sp>
      <p:sp>
        <p:nvSpPr>
          <p:cNvPr id="27" name="Text 25"/>
          <p:cNvSpPr/>
          <p:nvPr/>
        </p:nvSpPr>
        <p:spPr>
          <a:xfrm>
            <a:off x="594360" y="3438144"/>
            <a:ext cx="2441448" cy="91440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File → Settings</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 Plugins</a:t>
            </a:r>
            <a:endParaRPr lang="en-US" sz="1300" dirty="0"/>
          </a:p>
        </p:txBody>
      </p:sp>
      <p:sp>
        <p:nvSpPr>
          <p:cNvPr id="28" name="Text 26"/>
          <p:cNvSpPr/>
          <p:nvPr/>
        </p:nvSpPr>
        <p:spPr>
          <a:xfrm>
            <a:off x="3035808" y="3392424"/>
            <a:ext cx="411480" cy="100584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29" name="Shape 27"/>
          <p:cNvSpPr/>
          <p:nvPr/>
        </p:nvSpPr>
        <p:spPr>
          <a:xfrm>
            <a:off x="3401568" y="3392424"/>
            <a:ext cx="2532888" cy="1005840"/>
          </a:xfrm>
          <a:prstGeom prst="roundRect">
            <a:avLst/>
          </a:prstGeom>
          <a:solidFill>
            <a:srgbClr val="E8EAF6"/>
          </a:solidFill>
          <a:ln w="15875">
            <a:solidFill>
              <a:srgbClr val="3F51B5"/>
            </a:solidFill>
            <a:prstDash val="solid"/>
          </a:ln>
        </p:spPr>
      </p:sp>
      <p:sp>
        <p:nvSpPr>
          <p:cNvPr id="30" name="Text 28"/>
          <p:cNvSpPr/>
          <p:nvPr/>
        </p:nvSpPr>
        <p:spPr>
          <a:xfrm>
            <a:off x="3447288" y="3438144"/>
            <a:ext cx="2441448" cy="91440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Buscar</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"SonarQube for IDE"</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en Marketplace</a:t>
            </a:r>
            <a:endParaRPr lang="en-US" sz="1300" dirty="0"/>
          </a:p>
        </p:txBody>
      </p:sp>
      <p:sp>
        <p:nvSpPr>
          <p:cNvPr id="31" name="Text 29"/>
          <p:cNvSpPr/>
          <p:nvPr/>
        </p:nvSpPr>
        <p:spPr>
          <a:xfrm>
            <a:off x="5888736" y="3392424"/>
            <a:ext cx="411480" cy="100584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32" name="Shape 30"/>
          <p:cNvSpPr/>
          <p:nvPr/>
        </p:nvSpPr>
        <p:spPr>
          <a:xfrm>
            <a:off x="6254496" y="3392424"/>
            <a:ext cx="2532888" cy="1005840"/>
          </a:xfrm>
          <a:prstGeom prst="roundRect">
            <a:avLst/>
          </a:prstGeom>
          <a:solidFill>
            <a:srgbClr val="E8EAF6"/>
          </a:solidFill>
          <a:ln w="15875">
            <a:solidFill>
              <a:srgbClr val="3F51B5"/>
            </a:solidFill>
            <a:prstDash val="solid"/>
          </a:ln>
        </p:spPr>
      </p:sp>
      <p:sp>
        <p:nvSpPr>
          <p:cNvPr id="33" name="Text 31"/>
          <p:cNvSpPr/>
          <p:nvPr/>
        </p:nvSpPr>
        <p:spPr>
          <a:xfrm>
            <a:off x="6300216" y="3438144"/>
            <a:ext cx="2441448" cy="91440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Instalar</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y reiniciar el IDE</a:t>
            </a:r>
            <a:endParaRPr lang="en-US" sz="1300" dirty="0"/>
          </a:p>
        </p:txBody>
      </p:sp>
      <p:sp>
        <p:nvSpPr>
          <p:cNvPr id="34" name="Text 32"/>
          <p:cNvSpPr/>
          <p:nvPr/>
        </p:nvSpPr>
        <p:spPr>
          <a:xfrm>
            <a:off x="8741664" y="3392424"/>
            <a:ext cx="411480" cy="100584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35" name="Shape 33"/>
          <p:cNvSpPr/>
          <p:nvPr/>
        </p:nvSpPr>
        <p:spPr>
          <a:xfrm>
            <a:off x="9107424" y="3392424"/>
            <a:ext cx="2532888" cy="1005840"/>
          </a:xfrm>
          <a:prstGeom prst="roundRect">
            <a:avLst/>
          </a:prstGeom>
          <a:solidFill>
            <a:srgbClr val="E8EAF6"/>
          </a:solidFill>
          <a:ln w="15875">
            <a:solidFill>
              <a:srgbClr val="3F51B5"/>
            </a:solidFill>
            <a:prstDash val="solid"/>
          </a:ln>
        </p:spPr>
      </p:sp>
      <p:sp>
        <p:nvSpPr>
          <p:cNvPr id="36" name="Text 34"/>
          <p:cNvSpPr/>
          <p:nvPr/>
        </p:nvSpPr>
        <p:spPr>
          <a:xfrm>
            <a:off x="9153144" y="3438144"/>
            <a:ext cx="2441448" cy="91440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Se activa solo:</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abre cualquier .java</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y verás los avisos</a:t>
            </a:r>
            <a:endParaRPr lang="en-US" sz="1300" dirty="0"/>
          </a:p>
        </p:txBody>
      </p:sp>
      <p:sp>
        <p:nvSpPr>
          <p:cNvPr id="37" name="Shape 35"/>
          <p:cNvSpPr/>
          <p:nvPr/>
        </p:nvSpPr>
        <p:spPr>
          <a:xfrm>
            <a:off x="548640" y="4672584"/>
            <a:ext cx="11091672" cy="640080"/>
          </a:xfrm>
          <a:prstGeom prst="roundRect">
            <a:avLst/>
          </a:prstGeom>
          <a:solidFill>
            <a:srgbClr val="E0F2F1"/>
          </a:solidFill>
          <a:ln w="19050">
            <a:solidFill>
              <a:srgbClr val="009688"/>
            </a:solidFill>
            <a:prstDash val="solid"/>
          </a:ln>
        </p:spPr>
      </p:sp>
      <p:sp>
        <p:nvSpPr>
          <p:cNvPr id="38" name="Text 36"/>
          <p:cNvSpPr/>
          <p:nvPr/>
        </p:nvSpPr>
        <p:spPr>
          <a:xfrm>
            <a:off x="777240" y="4745736"/>
            <a:ext cx="10634472" cy="493776"/>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¿Ves 'SonarLint' en tutoriales de internet? Es el mismo plugin, renombrado en 2024. Las instrucciones siguen siendo válidas.</a:t>
            </a:r>
            <a:endParaRPr lang="en-US" sz="1400" dirty="0"/>
          </a:p>
        </p:txBody>
      </p:sp>
      <p:sp>
        <p:nvSpPr>
          <p:cNvPr id="39" name="Shape 37"/>
          <p:cNvSpPr/>
          <p:nvPr/>
        </p:nvSpPr>
        <p:spPr>
          <a:xfrm>
            <a:off x="548640" y="5495544"/>
            <a:ext cx="11091672" cy="640080"/>
          </a:xfrm>
          <a:prstGeom prst="roundRect">
            <a:avLst/>
          </a:prstGeom>
          <a:solidFill>
            <a:srgbClr val="E0F2F1"/>
          </a:solidFill>
          <a:ln w="19050">
            <a:solidFill>
              <a:srgbClr val="009688"/>
            </a:solidFill>
            <a:prstDash val="solid"/>
          </a:ln>
        </p:spPr>
      </p:sp>
      <p:sp>
        <p:nvSpPr>
          <p:cNvPr id="40" name="Text 38"/>
          <p:cNvSpPr/>
          <p:nvPr/>
        </p:nvSpPr>
        <p:spPr>
          <a:xfrm>
            <a:off x="777240" y="5568696"/>
            <a:ext cx="10634472" cy="493776"/>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Connected Mode: File → Settings → Tools → SonarQube for IDE → Add connection. Necesitas URL del servidor y token de acceso.</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Cómo gestionar los avisos sin agobiarte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4 — Analizadores de código</a:t>
            </a:r>
            <a:endParaRPr lang="en-US" sz="1100" dirty="0"/>
          </a:p>
        </p:txBody>
      </p:sp>
      <p:sp>
        <p:nvSpPr>
          <p:cNvPr id="5" name="Text 3"/>
          <p:cNvSpPr/>
          <p:nvPr/>
        </p:nvSpPr>
        <p:spPr>
          <a:xfrm>
            <a:off x="548640" y="868680"/>
            <a:ext cx="11091672" cy="50292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Cuando abres un proyecto y el analizador muestra 47 avisos, la reacción natural es ignorarlos todos. Hay una forma mejor:</a:t>
            </a:r>
            <a:endParaRPr lang="en-US" sz="1500" dirty="0"/>
          </a:p>
        </p:txBody>
      </p:sp>
      <p:sp>
        <p:nvSpPr>
          <p:cNvPr id="6" name="Shape 4"/>
          <p:cNvSpPr/>
          <p:nvPr/>
        </p:nvSpPr>
        <p:spPr>
          <a:xfrm>
            <a:off x="548640" y="1645920"/>
            <a:ext cx="475488" cy="475488"/>
          </a:xfrm>
          <a:prstGeom prst="ellipse">
            <a:avLst/>
          </a:prstGeom>
          <a:solidFill>
            <a:srgbClr val="3F51B5"/>
          </a:solidFill>
          <a:ln w="12700">
            <a:solidFill>
              <a:srgbClr val="3F51B5"/>
            </a:solidFill>
            <a:prstDash val="solid"/>
          </a:ln>
        </p:spPr>
      </p:sp>
      <p:sp>
        <p:nvSpPr>
          <p:cNvPr id="7" name="Text 5"/>
          <p:cNvSpPr/>
          <p:nvPr/>
        </p:nvSpPr>
        <p:spPr>
          <a:xfrm>
            <a:off x="548640" y="1645920"/>
            <a:ext cx="475488" cy="47548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143000" y="1627632"/>
            <a:ext cx="10497312" cy="320040"/>
          </a:xfrm>
          <a:prstGeom prst="rect">
            <a:avLst/>
          </a:prstGeom>
          <a:noFill/>
          <a:ln/>
        </p:spPr>
        <p:txBody>
          <a:bodyPr wrap="square" rtlCol="0" anchor="ctr"/>
          <a:lstStyle/>
          <a:p>
            <a:pPr indent="0" marL="0">
              <a:buNone/>
            </a:pPr>
            <a:r>
              <a:rPr lang="en-US" sz="1400" b="1" dirty="0">
                <a:solidFill>
                  <a:srgbClr val="212121"/>
                </a:solidFill>
                <a:latin typeface="Arial" pitchFamily="34" charset="0"/>
                <a:ea typeface="Arial" pitchFamily="34" charset="-122"/>
                <a:cs typeface="Arial" pitchFamily="34" charset="-120"/>
              </a:rPr>
              <a:t>Clasifica por severidad, no por orden de aparición</a:t>
            </a:r>
            <a:endParaRPr lang="en-US" sz="1400" dirty="0"/>
          </a:p>
        </p:txBody>
      </p:sp>
      <p:sp>
        <p:nvSpPr>
          <p:cNvPr id="9" name="Text 7"/>
          <p:cNvSpPr/>
          <p:nvPr/>
        </p:nvSpPr>
        <p:spPr>
          <a:xfrm>
            <a:off x="1143000" y="1965960"/>
            <a:ext cx="10497312" cy="621792"/>
          </a:xfrm>
          <a:prstGeom prst="rect">
            <a:avLst/>
          </a:prstGeom>
          <a:noFill/>
          <a:ln/>
        </p:spPr>
        <p:txBody>
          <a:bodyPr wrap="square" rtlCol="0" anchor="t"/>
          <a:lstStyle/>
          <a:p>
            <a:pPr indent="0" marL="0">
              <a:buNone/>
            </a:pPr>
            <a:r>
              <a:rPr lang="en-US" sz="1300" dirty="0">
                <a:solidFill>
                  <a:srgbClr val="212121"/>
                </a:solidFill>
                <a:latin typeface="Arial" pitchFamily="34" charset="0"/>
                <a:ea typeface="Arial" pitchFamily="34" charset="-122"/>
                <a:cs typeface="Arial" pitchFamily="34" charset="-120"/>
              </a:rPr>
              <a:t>Empieza por errores probables (rojo), luego warnings (amarillo), deja el estilo para el final. Un NPE potencial es más urgente que una línea de 85 caracteres.</a:t>
            </a:r>
            <a:endParaRPr lang="en-US" sz="1300" dirty="0"/>
          </a:p>
        </p:txBody>
      </p:sp>
      <p:sp>
        <p:nvSpPr>
          <p:cNvPr id="10" name="Shape 8"/>
          <p:cNvSpPr/>
          <p:nvPr/>
        </p:nvSpPr>
        <p:spPr>
          <a:xfrm>
            <a:off x="548640" y="2720340"/>
            <a:ext cx="11091672" cy="0"/>
          </a:xfrm>
          <a:prstGeom prst="line">
            <a:avLst/>
          </a:prstGeom>
          <a:noFill/>
          <a:ln w="9525">
            <a:solidFill>
              <a:srgbClr val="EEEEEE"/>
            </a:solidFill>
            <a:prstDash val="solid"/>
          </a:ln>
        </p:spPr>
      </p:sp>
      <p:sp>
        <p:nvSpPr>
          <p:cNvPr id="11" name="Shape 9"/>
          <p:cNvSpPr/>
          <p:nvPr/>
        </p:nvSpPr>
        <p:spPr>
          <a:xfrm>
            <a:off x="548640" y="2880360"/>
            <a:ext cx="475488" cy="475488"/>
          </a:xfrm>
          <a:prstGeom prst="ellipse">
            <a:avLst/>
          </a:prstGeom>
          <a:solidFill>
            <a:srgbClr val="3F51B5"/>
          </a:solidFill>
          <a:ln w="12700">
            <a:solidFill>
              <a:srgbClr val="3F51B5"/>
            </a:solidFill>
            <a:prstDash val="solid"/>
          </a:ln>
        </p:spPr>
      </p:sp>
      <p:sp>
        <p:nvSpPr>
          <p:cNvPr id="12" name="Text 10"/>
          <p:cNvSpPr/>
          <p:nvPr/>
        </p:nvSpPr>
        <p:spPr>
          <a:xfrm>
            <a:off x="548640" y="2880360"/>
            <a:ext cx="475488" cy="47548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1143000" y="2862072"/>
            <a:ext cx="10497312" cy="320040"/>
          </a:xfrm>
          <a:prstGeom prst="rect">
            <a:avLst/>
          </a:prstGeom>
          <a:noFill/>
          <a:ln/>
        </p:spPr>
        <p:txBody>
          <a:bodyPr wrap="square" rtlCol="0" anchor="ctr"/>
          <a:lstStyle/>
          <a:p>
            <a:pPr indent="0" marL="0">
              <a:buNone/>
            </a:pPr>
            <a:r>
              <a:rPr lang="en-US" sz="1400" b="1" dirty="0">
                <a:solidFill>
                  <a:srgbClr val="212121"/>
                </a:solidFill>
                <a:latin typeface="Arial" pitchFamily="34" charset="0"/>
                <a:ea typeface="Arial" pitchFamily="34" charset="-122"/>
                <a:cs typeface="Arial" pitchFamily="34" charset="-120"/>
              </a:rPr>
              <a:t>Distingue 'el código está mal' de 'la regla no aplica aquí'</a:t>
            </a:r>
            <a:endParaRPr lang="en-US" sz="1400" dirty="0"/>
          </a:p>
        </p:txBody>
      </p:sp>
      <p:sp>
        <p:nvSpPr>
          <p:cNvPr id="14" name="Text 12"/>
          <p:cNvSpPr/>
          <p:nvPr/>
        </p:nvSpPr>
        <p:spPr>
          <a:xfrm>
            <a:off x="1143000" y="3200400"/>
            <a:ext cx="10497312" cy="621792"/>
          </a:xfrm>
          <a:prstGeom prst="rect">
            <a:avLst/>
          </a:prstGeom>
          <a:noFill/>
          <a:ln/>
        </p:spPr>
        <p:txBody>
          <a:bodyPr wrap="square" rtlCol="0" anchor="t"/>
          <a:lstStyle/>
          <a:p>
            <a:pPr indent="0" marL="0">
              <a:buNone/>
            </a:pPr>
            <a:r>
              <a:rPr lang="en-US" sz="1300" dirty="0">
                <a:solidFill>
                  <a:srgbClr val="212121"/>
                </a:solidFill>
                <a:latin typeface="Arial" pitchFamily="34" charset="0"/>
                <a:ea typeface="Arial" pitchFamily="34" charset="-122"/>
                <a:cs typeface="Arial" pitchFamily="34" charset="-120"/>
              </a:rPr>
              <a:t>No todos los avisos son correcciones obligatorias. Si en tu contexto concreto no es un problema real, desactiva la regla o márcalo como Won't fix con justificación.</a:t>
            </a:r>
            <a:endParaRPr lang="en-US" sz="1300" dirty="0"/>
          </a:p>
        </p:txBody>
      </p:sp>
      <p:sp>
        <p:nvSpPr>
          <p:cNvPr id="15" name="Shape 13"/>
          <p:cNvSpPr/>
          <p:nvPr/>
        </p:nvSpPr>
        <p:spPr>
          <a:xfrm>
            <a:off x="548640" y="3954780"/>
            <a:ext cx="11091672" cy="0"/>
          </a:xfrm>
          <a:prstGeom prst="line">
            <a:avLst/>
          </a:prstGeom>
          <a:noFill/>
          <a:ln w="9525">
            <a:solidFill>
              <a:srgbClr val="EEEEEE"/>
            </a:solidFill>
            <a:prstDash val="solid"/>
          </a:ln>
        </p:spPr>
      </p:sp>
      <p:sp>
        <p:nvSpPr>
          <p:cNvPr id="16" name="Shape 14"/>
          <p:cNvSpPr/>
          <p:nvPr/>
        </p:nvSpPr>
        <p:spPr>
          <a:xfrm>
            <a:off x="548640" y="4114800"/>
            <a:ext cx="475488" cy="475488"/>
          </a:xfrm>
          <a:prstGeom prst="ellipse">
            <a:avLst/>
          </a:prstGeom>
          <a:solidFill>
            <a:srgbClr val="3F51B5"/>
          </a:solidFill>
          <a:ln w="12700">
            <a:solidFill>
              <a:srgbClr val="3F51B5"/>
            </a:solidFill>
            <a:prstDash val="solid"/>
          </a:ln>
        </p:spPr>
      </p:sp>
      <p:sp>
        <p:nvSpPr>
          <p:cNvPr id="17" name="Text 15"/>
          <p:cNvSpPr/>
          <p:nvPr/>
        </p:nvSpPr>
        <p:spPr>
          <a:xfrm>
            <a:off x="548640" y="4114800"/>
            <a:ext cx="475488" cy="47548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p:nvPr/>
        </p:nvSpPr>
        <p:spPr>
          <a:xfrm>
            <a:off x="1143000" y="4096512"/>
            <a:ext cx="10497312" cy="320040"/>
          </a:xfrm>
          <a:prstGeom prst="rect">
            <a:avLst/>
          </a:prstGeom>
          <a:noFill/>
          <a:ln/>
        </p:spPr>
        <p:txBody>
          <a:bodyPr wrap="square" rtlCol="0" anchor="ctr"/>
          <a:lstStyle/>
          <a:p>
            <a:pPr indent="0" marL="0">
              <a:buNone/>
            </a:pPr>
            <a:r>
              <a:rPr lang="en-US" sz="1400" b="1" dirty="0">
                <a:solidFill>
                  <a:srgbClr val="212121"/>
                </a:solidFill>
                <a:latin typeface="Arial" pitchFamily="34" charset="0"/>
                <a:ea typeface="Arial" pitchFamily="34" charset="-122"/>
                <a:cs typeface="Arial" pitchFamily="34" charset="-120"/>
              </a:rPr>
              <a:t>Reduce el ruido desde el principio</a:t>
            </a:r>
            <a:endParaRPr lang="en-US" sz="1400" dirty="0"/>
          </a:p>
        </p:txBody>
      </p:sp>
      <p:sp>
        <p:nvSpPr>
          <p:cNvPr id="19" name="Text 17"/>
          <p:cNvSpPr/>
          <p:nvPr/>
        </p:nvSpPr>
        <p:spPr>
          <a:xfrm>
            <a:off x="1143000" y="4434840"/>
            <a:ext cx="10497312" cy="621792"/>
          </a:xfrm>
          <a:prstGeom prst="rect">
            <a:avLst/>
          </a:prstGeom>
          <a:noFill/>
          <a:ln/>
        </p:spPr>
        <p:txBody>
          <a:bodyPr wrap="square" rtlCol="0" anchor="t"/>
          <a:lstStyle/>
          <a:p>
            <a:pPr indent="0" marL="0">
              <a:buNone/>
            </a:pPr>
            <a:r>
              <a:rPr lang="en-US" sz="1300" dirty="0">
                <a:solidFill>
                  <a:srgbClr val="212121"/>
                </a:solidFill>
                <a:latin typeface="Arial" pitchFamily="34" charset="0"/>
                <a:ea typeface="Arial" pitchFamily="34" charset="-122"/>
                <a:cs typeface="Arial" pitchFamily="34" charset="-120"/>
              </a:rPr>
              <a:t>Excluye target/, build/ y código generado. Si el analizador avisa de 30 problemas en código que no tocas, estás perdiendo la señal entre el ruido.</a:t>
            </a:r>
            <a:endParaRPr lang="en-US" sz="1300" dirty="0"/>
          </a:p>
        </p:txBody>
      </p:sp>
      <p:sp>
        <p:nvSpPr>
          <p:cNvPr id="20" name="Shape 18"/>
          <p:cNvSpPr/>
          <p:nvPr/>
        </p:nvSpPr>
        <p:spPr>
          <a:xfrm>
            <a:off x="548640" y="5189220"/>
            <a:ext cx="11091672" cy="0"/>
          </a:xfrm>
          <a:prstGeom prst="line">
            <a:avLst/>
          </a:prstGeom>
          <a:noFill/>
          <a:ln w="9525">
            <a:solidFill>
              <a:srgbClr val="EEEEEE"/>
            </a:solidFill>
            <a:prstDash val="solid"/>
          </a:ln>
        </p:spPr>
      </p:sp>
      <p:sp>
        <p:nvSpPr>
          <p:cNvPr id="21" name="Shape 19"/>
          <p:cNvSpPr/>
          <p:nvPr/>
        </p:nvSpPr>
        <p:spPr>
          <a:xfrm>
            <a:off x="548640" y="5349240"/>
            <a:ext cx="475488" cy="475488"/>
          </a:xfrm>
          <a:prstGeom prst="ellipse">
            <a:avLst/>
          </a:prstGeom>
          <a:solidFill>
            <a:srgbClr val="3F51B5"/>
          </a:solidFill>
          <a:ln w="12700">
            <a:solidFill>
              <a:srgbClr val="3F51B5"/>
            </a:solidFill>
            <a:prstDash val="solid"/>
          </a:ln>
        </p:spPr>
      </p:sp>
      <p:sp>
        <p:nvSpPr>
          <p:cNvPr id="22" name="Text 20"/>
          <p:cNvSpPr/>
          <p:nvPr/>
        </p:nvSpPr>
        <p:spPr>
          <a:xfrm>
            <a:off x="548640" y="5349240"/>
            <a:ext cx="475488" cy="47548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3" name="Text 21"/>
          <p:cNvSpPr/>
          <p:nvPr/>
        </p:nvSpPr>
        <p:spPr>
          <a:xfrm>
            <a:off x="1143000" y="5330952"/>
            <a:ext cx="10497312" cy="320040"/>
          </a:xfrm>
          <a:prstGeom prst="rect">
            <a:avLst/>
          </a:prstGeom>
          <a:noFill/>
          <a:ln/>
        </p:spPr>
        <p:txBody>
          <a:bodyPr wrap="square" rtlCol="0" anchor="ctr"/>
          <a:lstStyle/>
          <a:p>
            <a:pPr indent="0" marL="0">
              <a:buNone/>
            </a:pPr>
            <a:r>
              <a:rPr lang="en-US" sz="1400" b="1" dirty="0">
                <a:solidFill>
                  <a:srgbClr val="212121"/>
                </a:solidFill>
                <a:latin typeface="Arial" pitchFamily="34" charset="0"/>
                <a:ea typeface="Arial" pitchFamily="34" charset="-122"/>
                <a:cs typeface="Arial" pitchFamily="34" charset="-120"/>
              </a:rPr>
              <a:t>Acuerda las reglas en equipo</a:t>
            </a:r>
            <a:endParaRPr lang="en-US" sz="1400" dirty="0"/>
          </a:p>
        </p:txBody>
      </p:sp>
      <p:sp>
        <p:nvSpPr>
          <p:cNvPr id="24" name="Text 22"/>
          <p:cNvSpPr/>
          <p:nvPr/>
        </p:nvSpPr>
        <p:spPr>
          <a:xfrm>
            <a:off x="1143000" y="5669280"/>
            <a:ext cx="10497312" cy="621792"/>
          </a:xfrm>
          <a:prstGeom prst="rect">
            <a:avLst/>
          </a:prstGeom>
          <a:noFill/>
          <a:ln/>
        </p:spPr>
        <p:txBody>
          <a:bodyPr wrap="square" rtlCol="0" anchor="t"/>
          <a:lstStyle/>
          <a:p>
            <a:pPr indent="0" marL="0">
              <a:buNone/>
            </a:pPr>
            <a:r>
              <a:rPr lang="en-US" sz="1300" dirty="0">
                <a:solidFill>
                  <a:srgbClr val="212121"/>
                </a:solidFill>
                <a:latin typeface="Arial" pitchFamily="34" charset="0"/>
                <a:ea typeface="Arial" pitchFamily="34" charset="-122"/>
                <a:cs typeface="Arial" pitchFamily="34" charset="-120"/>
              </a:rPr>
              <a:t>Pon la configuración en el repositorio. Así nadie se sorprende cuando el CI rechaza un merge que en su IDE parecía limpio.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Entornos de Desarrollo</dc:creator>
  <cp:lastModifiedBy>Entornos de Desarrollo</cp:lastModifiedBy>
  <cp:revision>1</cp:revision>
  <dcterms:created xsi:type="dcterms:W3CDTF">2026-06-26T16:57:56Z</dcterms:created>
  <dcterms:modified xsi:type="dcterms:W3CDTF">2026-06-26T16:57:56Z</dcterms:modified>
</cp:coreProperties>
</file>
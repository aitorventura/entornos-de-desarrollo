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72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1: DESARROLLO DE SOFTWARE</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1. Concepto de programa informático</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Definición y propósito  ·  Tipos de programas  ·  Programas y componentes del sistema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1.1 Definición y propósito</a:t>
            </a:r>
            <a:endParaRPr lang="en-US" sz="2600" dirty="0"/>
          </a:p>
        </p:txBody>
      </p:sp>
      <p:sp>
        <p:nvSpPr>
          <p:cNvPr id="4" name="Shape 2"/>
          <p:cNvSpPr/>
          <p:nvPr/>
        </p:nvSpPr>
        <p:spPr>
          <a:xfrm>
            <a:off x="548640" y="1005840"/>
            <a:ext cx="11091672" cy="86868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1051560"/>
            <a:ext cx="10634472" cy="77724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Un programa informático es un conjunto ORDENADO de instrucciones que, al ejecutarse en un ordenador, TRANSFORMA datos de entrada en resultados útiles para resolver un problema concreto.</a:t>
            </a:r>
            <a:endParaRPr lang="en-US" sz="1700" dirty="0"/>
          </a:p>
        </p:txBody>
      </p:sp>
      <p:sp>
        <p:nvSpPr>
          <p:cNvPr id="6" name="Shape 4"/>
          <p:cNvSpPr/>
          <p:nvPr/>
        </p:nvSpPr>
        <p:spPr>
          <a:xfrm>
            <a:off x="548640" y="214884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214884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Las tres palabras clave de la definición</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724912"/>
          <a:ext cx="11091672" cy="2633472"/>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65836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Palabra clave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significa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58368">
                <a:tc>
                  <a:txBody>
                    <a:bodyPr/>
                    <a:lstStyle/>
                    <a:p>
                      <a:pPr marL="0" indent="0">
                        <a:buNone/>
                      </a:pPr>
                      <a:r>
                        <a:rPr lang="en-US" sz="1400" dirty="0">
                          <a:solidFill>
                            <a:srgbClr val="212121"/>
                          </a:solidFill>
                          <a:latin typeface="Arial" pitchFamily="34" charset="0"/>
                          <a:ea typeface="Arial" pitchFamily="34" charset="-122"/>
                          <a:cs typeface="Arial" pitchFamily="34" charset="-120"/>
                        </a:rPr>
                        <a:t>Conjunto de instrucciones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No es un único comando: es una secuencia de pasos, cada uno diciéndole al ordenador qué hacer. Puede haber decenas o millones.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dirty="0">
                          <a:solidFill>
                            <a:srgbClr val="212121"/>
                          </a:solidFill>
                          <a:latin typeface="Arial" pitchFamily="34" charset="0"/>
                          <a:ea typeface="Arial" pitchFamily="34" charset="-122"/>
                          <a:cs typeface="Arial" pitchFamily="34" charset="-120"/>
                        </a:rPr>
                        <a:t>Ordenado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orden importa: si calculas la media antes de sumar las notas, el resultado es incorrecto. Gran parte de la dificultad de programar está en pensar la secuencia correcta.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400" dirty="0">
                          <a:solidFill>
                            <a:srgbClr val="212121"/>
                          </a:solidFill>
                          <a:latin typeface="Arial" pitchFamily="34" charset="0"/>
                          <a:ea typeface="Arial" pitchFamily="34" charset="-122"/>
                          <a:cs typeface="Arial" pitchFamily="34" charset="-120"/>
                        </a:rPr>
                        <a:t>Transforma entradas en salidas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Todo programa recibe algo, hace algo con ello y devuelve algo. Sin excepción.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548640" y="534924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10" name="Text 7"/>
          <p:cNvSpPr/>
          <p:nvPr/>
        </p:nvSpPr>
        <p:spPr>
          <a:xfrm>
            <a:off x="777240" y="5394960"/>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Antes de escribir código, hazte siempre tres preguntas: ¿Qué datos recibo? ¿Qué tengo que hacer con ellos? ¿Qué resultado tengo que producir?</a:t>
            </a:r>
            <a:endParaRPr lang="en-US" sz="1500" dirty="0"/>
          </a:p>
        </p:txBody>
      </p:sp>
      <p:sp>
        <p:nvSpPr>
          <p:cNvPr id="11"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modelo Entrada → Proceso → Salida</a:t>
            </a:r>
            <a:endParaRPr lang="en-US" sz="2600" dirty="0"/>
          </a:p>
        </p:txBody>
      </p:sp>
      <p:sp>
        <p:nvSpPr>
          <p:cNvPr id="4" name="Shape 2"/>
          <p:cNvSpPr/>
          <p:nvPr/>
        </p:nvSpPr>
        <p:spPr>
          <a:xfrm>
            <a:off x="548640" y="960120"/>
            <a:ext cx="3422904" cy="868680"/>
          </a:xfrm>
          <a:prstGeom prst="roundRect">
            <a:avLst/>
          </a:prstGeom>
          <a:solidFill>
            <a:srgbClr val="E8EAF6"/>
          </a:solidFill>
          <a:ln w="15875">
            <a:solidFill>
              <a:srgbClr val="3F51B5"/>
            </a:solidFill>
            <a:prstDash val="solid"/>
          </a:ln>
        </p:spPr>
        <p:txBody>
          <a:bodyPr/>
          <a:lstStyle/>
          <a:p>
            <a:endParaRPr lang="es-ES"/>
          </a:p>
        </p:txBody>
      </p:sp>
      <p:sp>
        <p:nvSpPr>
          <p:cNvPr id="5" name="Text 3"/>
          <p:cNvSpPr/>
          <p:nvPr/>
        </p:nvSpPr>
        <p:spPr>
          <a:xfrm>
            <a:off x="594360" y="1005840"/>
            <a:ext cx="3331464" cy="7772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ENTRADA</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(datos, eventos)</a:t>
            </a:r>
            <a:endParaRPr lang="en-US" sz="1500" dirty="0"/>
          </a:p>
        </p:txBody>
      </p:sp>
      <p:sp>
        <p:nvSpPr>
          <p:cNvPr id="6" name="Text 4"/>
          <p:cNvSpPr/>
          <p:nvPr/>
        </p:nvSpPr>
        <p:spPr>
          <a:xfrm>
            <a:off x="3925824" y="960120"/>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4383024" y="960120"/>
            <a:ext cx="3422904" cy="868680"/>
          </a:xfrm>
          <a:prstGeom prst="roundRect">
            <a:avLst/>
          </a:prstGeom>
          <a:solidFill>
            <a:srgbClr val="E8EAF6"/>
          </a:solidFill>
          <a:ln w="15875">
            <a:solidFill>
              <a:srgbClr val="3F51B5"/>
            </a:solidFill>
            <a:prstDash val="solid"/>
          </a:ln>
        </p:spPr>
        <p:txBody>
          <a:bodyPr/>
          <a:lstStyle/>
          <a:p>
            <a:endParaRPr lang="es-ES"/>
          </a:p>
        </p:txBody>
      </p:sp>
      <p:sp>
        <p:nvSpPr>
          <p:cNvPr id="8" name="Text 6"/>
          <p:cNvSpPr/>
          <p:nvPr/>
        </p:nvSpPr>
        <p:spPr>
          <a:xfrm>
            <a:off x="4428744" y="1005840"/>
            <a:ext cx="3331464" cy="7772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PROCESO</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(instrucciones)</a:t>
            </a:r>
            <a:endParaRPr lang="en-US" sz="1500" dirty="0"/>
          </a:p>
        </p:txBody>
      </p:sp>
      <p:sp>
        <p:nvSpPr>
          <p:cNvPr id="9" name="Text 7"/>
          <p:cNvSpPr/>
          <p:nvPr/>
        </p:nvSpPr>
        <p:spPr>
          <a:xfrm>
            <a:off x="7760208" y="960120"/>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8217408" y="960120"/>
            <a:ext cx="3422904" cy="868680"/>
          </a:xfrm>
          <a:prstGeom prst="roundRect">
            <a:avLst/>
          </a:prstGeom>
          <a:solidFill>
            <a:srgbClr val="E8EAF6"/>
          </a:solidFill>
          <a:ln w="15875">
            <a:solidFill>
              <a:srgbClr val="3F51B5"/>
            </a:solidFill>
            <a:prstDash val="solid"/>
          </a:ln>
        </p:spPr>
        <p:txBody>
          <a:bodyPr/>
          <a:lstStyle/>
          <a:p>
            <a:endParaRPr lang="es-ES"/>
          </a:p>
        </p:txBody>
      </p:sp>
      <p:sp>
        <p:nvSpPr>
          <p:cNvPr id="11" name="Text 9"/>
          <p:cNvSpPr/>
          <p:nvPr/>
        </p:nvSpPr>
        <p:spPr>
          <a:xfrm>
            <a:off x="8263128" y="1005840"/>
            <a:ext cx="3331464" cy="77724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SALIDA</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(resultados)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278343181"/>
              </p:ext>
            </p:extLst>
          </p:nvPr>
        </p:nvGraphicFramePr>
        <p:xfrm>
          <a:off x="548640" y="2103120"/>
          <a:ext cx="11091672" cy="2714276"/>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127456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Entrada — lo que llega de fuera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Proceso — la lógica del programa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Salida — lo que produce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1439714">
                <a:tc>
                  <a:txBody>
                    <a:bodyPr/>
                    <a:lstStyle/>
                    <a:p>
                      <a:pPr marL="0" indent="0">
                        <a:buNone/>
                      </a:pPr>
                      <a:r>
                        <a:rPr lang="en-US" sz="1300" dirty="0">
                          <a:solidFill>
                            <a:srgbClr val="212121"/>
                          </a:solidFill>
                          <a:latin typeface="Arial" pitchFamily="34" charset="0"/>
                          <a:ea typeface="Arial" pitchFamily="34" charset="-122"/>
                          <a:cs typeface="Arial" pitchFamily="34" charset="-120"/>
                        </a:rPr>
                        <a:t>Lo que el usuario escribe en el teclado</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 archivo leído del disco</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 clic o un toque en pantalla</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Una señal de un sensor</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Una respuesta de una API externa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Cálculos matemáticos</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Comparaciones y decisiones (if, switch)</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Bucles y repeticiones</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Consultas a una base de datos</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Llamadas a otros programas o servicios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 número o mensaje en pantalla</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 archivo guardado en disco</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Una petición enviada a otro sistema</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Encender un LED o mover un motor</a:t>
                      </a:r>
                      <a:endParaRPr lang="en-US" sz="1300" dirty="0">
                        <a:latin typeface="Arial" charset="0"/>
                        <a:ea typeface="Arial" charset="0"/>
                        <a:cs typeface="Arial" charset="0"/>
                      </a:endParaRPr>
                    </a:p>
                    <a:p>
                      <a:pPr marL="0" indent="0">
                        <a:buNone/>
                      </a:pPr>
                      <a:r>
                        <a:rPr lang="en-US" sz="1300" dirty="0">
                          <a:solidFill>
                            <a:srgbClr val="212121"/>
                          </a:solidFill>
                          <a:latin typeface="Arial" pitchFamily="34" charset="0"/>
                          <a:ea typeface="Arial" pitchFamily="34" charset="-122"/>
                          <a:cs typeface="Arial" pitchFamily="34" charset="-120"/>
                        </a:rPr>
                        <a:t>Una página web devuelta al navegador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3" name="Shape 10"/>
          <p:cNvSpPr/>
          <p:nvPr/>
        </p:nvSpPr>
        <p:spPr>
          <a:xfrm>
            <a:off x="365760" y="4846787"/>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14" name="Text 11"/>
          <p:cNvSpPr/>
          <p:nvPr/>
        </p:nvSpPr>
        <p:spPr>
          <a:xfrm>
            <a:off x="734568" y="4892514"/>
            <a:ext cx="10634472" cy="82296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Ejemplo — calcular la nota media:  Entrada → notas 6, 7, 8, 5, 9   ·   Proceso → sumar (35) y dividir entre 5   ·   Salida → "La nota media es 7,0".  Si mañana las notas cambian, la entrada cambia pero el proceso (el código) es el mismo. El programa no inventa sus datos: los recibe.</a:t>
            </a:r>
            <a:endParaRPr lang="en-US" sz="1400" dirty="0"/>
          </a:p>
        </p:txBody>
      </p:sp>
      <p:sp>
        <p:nvSpPr>
          <p:cNvPr id="15" name="Text 12"/>
          <p:cNvSpPr/>
          <p:nvPr/>
        </p:nvSpPr>
        <p:spPr>
          <a:xfrm>
            <a:off x="548640" y="5912806"/>
            <a:ext cx="11091672" cy="457200"/>
          </a:xfrm>
          <a:prstGeom prst="rect">
            <a:avLst/>
          </a:prstGeom>
          <a:noFill/>
          <a:ln/>
        </p:spPr>
        <p:txBody>
          <a:bodyPr wrap="square" rtlCol="0" anchor="t"/>
          <a:lstStyle/>
          <a:p>
            <a:pPr marL="0" indent="0">
              <a:buNone/>
            </a:pPr>
            <a:r>
              <a:rPr lang="en-US" sz="1400" dirty="0">
                <a:solidFill>
                  <a:srgbClr val="757575"/>
                </a:solidFill>
                <a:latin typeface="Arial" pitchFamily="34" charset="0"/>
                <a:ea typeface="Arial" pitchFamily="34" charset="-122"/>
                <a:cs typeface="Arial" pitchFamily="34" charset="-120"/>
              </a:rPr>
              <a:t>La salida puede ser para el usuario, para otro programa o para un dispositivo físico.</a:t>
            </a:r>
            <a:endParaRPr lang="en-US" sz="1400" dirty="0"/>
          </a:p>
        </p:txBody>
      </p:sp>
      <p:sp>
        <p:nvSpPr>
          <p:cNvPr id="16" name="Text 1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Algoritmo vs. programa</a:t>
            </a:r>
            <a:endParaRPr lang="en-US" sz="2600" dirty="0"/>
          </a:p>
        </p:txBody>
      </p:sp>
      <p:sp>
        <p:nvSpPr>
          <p:cNvPr id="4" name="Text 2"/>
          <p:cNvSpPr/>
          <p:nvPr/>
        </p:nvSpPr>
        <p:spPr>
          <a:xfrm>
            <a:off x="548640" y="960120"/>
            <a:ext cx="11091672" cy="54864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Antes de escribir un programa hay que diseñar el algoritmo: el procedimiento lógico que resuelve el problema, sin preocuparse todavía del lenguaje de programación.</a:t>
            </a:r>
            <a:endParaRPr lang="en-US" sz="1600" dirty="0"/>
          </a:p>
        </p:txBody>
      </p:sp>
      <p:sp>
        <p:nvSpPr>
          <p:cNvPr id="5" name="Shape 3"/>
          <p:cNvSpPr/>
          <p:nvPr/>
        </p:nvSpPr>
        <p:spPr>
          <a:xfrm>
            <a:off x="548640" y="1600200"/>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6" name="Text 4"/>
          <p:cNvSpPr/>
          <p:nvPr/>
        </p:nvSpPr>
        <p:spPr>
          <a:xfrm>
            <a:off x="594360" y="1645920"/>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Problema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a resolver</a:t>
            </a:r>
            <a:endParaRPr lang="en-US" sz="1300" dirty="0"/>
          </a:p>
        </p:txBody>
      </p:sp>
      <p:sp>
        <p:nvSpPr>
          <p:cNvPr id="7" name="Text 5"/>
          <p:cNvSpPr/>
          <p:nvPr/>
        </p:nvSpPr>
        <p:spPr>
          <a:xfrm>
            <a:off x="2967228" y="1600200"/>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3424428" y="1600200"/>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9" name="Text 7"/>
          <p:cNvSpPr/>
          <p:nvPr/>
        </p:nvSpPr>
        <p:spPr>
          <a:xfrm>
            <a:off x="3470148" y="1645920"/>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Algoritmo</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(idea, independiente del lenguaje)</a:t>
            </a:r>
            <a:endParaRPr lang="en-US" sz="1300" dirty="0"/>
          </a:p>
        </p:txBody>
      </p:sp>
      <p:sp>
        <p:nvSpPr>
          <p:cNvPr id="10" name="Text 8"/>
          <p:cNvSpPr/>
          <p:nvPr/>
        </p:nvSpPr>
        <p:spPr>
          <a:xfrm>
            <a:off x="5843016" y="1600200"/>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6300216" y="1600200"/>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12" name="Text 10"/>
          <p:cNvSpPr/>
          <p:nvPr/>
        </p:nvSpPr>
        <p:spPr>
          <a:xfrm>
            <a:off x="6345936" y="1645920"/>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Programa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(código en Java, Python…)</a:t>
            </a:r>
            <a:endParaRPr lang="en-US" sz="1300" dirty="0"/>
          </a:p>
        </p:txBody>
      </p:sp>
      <p:sp>
        <p:nvSpPr>
          <p:cNvPr id="13" name="Text 11"/>
          <p:cNvSpPr/>
          <p:nvPr/>
        </p:nvSpPr>
        <p:spPr>
          <a:xfrm>
            <a:off x="8718804" y="1600200"/>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9176004" y="1600200"/>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15" name="Text 13"/>
          <p:cNvSpPr/>
          <p:nvPr/>
        </p:nvSpPr>
        <p:spPr>
          <a:xfrm>
            <a:off x="9221724" y="1645920"/>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Ejecución</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en el ordenador</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1673" cy="2194560"/>
        </p:xfrm>
        <a:graphic>
          <a:graphicData uri="http://schemas.openxmlformats.org/drawingml/2006/table">
            <a:tbl>
              <a:tblPr/>
              <a:tblGrid>
                <a:gridCol w="2883835">
                  <a:extLst>
                    <a:ext uri="{9D8B030D-6E8A-4147-A177-3AD203B41FA5}">
                      <a16:colId xmlns:a16="http://schemas.microsoft.com/office/drawing/2014/main" val="20000"/>
                    </a:ext>
                  </a:extLst>
                </a:gridCol>
                <a:gridCol w="4103919">
                  <a:extLst>
                    <a:ext uri="{9D8B030D-6E8A-4147-A177-3AD203B41FA5}">
                      <a16:colId xmlns:a16="http://schemas.microsoft.com/office/drawing/2014/main" val="20001"/>
                    </a:ext>
                  </a:extLst>
                </a:gridCol>
                <a:gridCol w="4103919">
                  <a:extLst>
                    <a:ext uri="{9D8B030D-6E8A-4147-A177-3AD203B41FA5}">
                      <a16:colId xmlns:a16="http://schemas.microsoft.com/office/drawing/2014/main" val="20002"/>
                    </a:ext>
                  </a:extLst>
                </a:gridCol>
              </a:tblGrid>
              <a:tr h="438912">
                <a:tc>
                  <a:txBody>
                    <a:bodyPr/>
                    <a:lstStyle/>
                    <a:p>
                      <a:pPr marL="0" indent="0" algn="ctr">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Algoritmo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Programa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38912">
                <a:tc>
                  <a:txBody>
                    <a:bodyPr/>
                    <a:lstStyle/>
                    <a:p>
                      <a:pPr marL="0" indent="0">
                        <a:buNone/>
                      </a:pPr>
                      <a:r>
                        <a:rPr lang="en-US" sz="1400" b="1" dirty="0">
                          <a:solidFill>
                            <a:srgbClr val="212121"/>
                          </a:solidFill>
                          <a:latin typeface="Arial" pitchFamily="34" charset="0"/>
                          <a:ea typeface="Arial" pitchFamily="34" charset="-122"/>
                          <a:cs typeface="Arial" pitchFamily="34" charset="-120"/>
                        </a:rPr>
                        <a:t>Qué 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procedimiento lógico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traducción a un lenguaje concreto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400" b="1" dirty="0">
                          <a:solidFill>
                            <a:srgbClr val="212121"/>
                          </a:solidFill>
                          <a:latin typeface="Arial" pitchFamily="34" charset="0"/>
                          <a:ea typeface="Arial" pitchFamily="34" charset="-122"/>
                          <a:cs typeface="Arial" pitchFamily="34" charset="-120"/>
                        </a:rPr>
                        <a:t>Depende del lenguaje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Sí</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38912">
                <a:tc>
                  <a:txBody>
                    <a:bodyPr/>
                    <a:lstStyle/>
                    <a:p>
                      <a:pPr marL="0" indent="0">
                        <a:buNone/>
                      </a:pPr>
                      <a:r>
                        <a:rPr lang="en-US" sz="1400" b="1" dirty="0">
                          <a:solidFill>
                            <a:srgbClr val="212121"/>
                          </a:solidFill>
                          <a:latin typeface="Arial" pitchFamily="34" charset="0"/>
                          <a:ea typeface="Arial" pitchFamily="34" charset="-122"/>
                          <a:cs typeface="Arial" pitchFamily="34" charset="-120"/>
                        </a:rPr>
                        <a:t>El ordenador lo ejecuta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No directamente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Sí</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400" b="1" dirty="0">
                          <a:solidFill>
                            <a:srgbClr val="212121"/>
                          </a:solidFill>
                          <a:latin typeface="Arial" pitchFamily="34" charset="0"/>
                          <a:ea typeface="Arial" pitchFamily="34" charset="-122"/>
                          <a:cs typeface="Arial" pitchFamily="34" charset="-120"/>
                        </a:rPr>
                        <a:t>Ejemplo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"Recorre la lista y quédate con el mayor"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código Java que lo implementa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17" name="Shape 14"/>
          <p:cNvSpPr/>
          <p:nvPr/>
        </p:nvSpPr>
        <p:spPr>
          <a:xfrm>
            <a:off x="594360" y="4949893"/>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18" name="Text 15"/>
          <p:cNvSpPr/>
          <p:nvPr/>
        </p:nvSpPr>
        <p:spPr>
          <a:xfrm>
            <a:off x="777240" y="4995613"/>
            <a:ext cx="10634472" cy="59436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Analogía: la receta de un pastel es el ALGORITMO (los pasos son los mismos en cualquier idioma u horno). El texto concreto escrito en español para un horno de gas sería el PROGRAMA.</a:t>
            </a:r>
            <a:endParaRPr lang="en-US" sz="1400" dirty="0"/>
          </a:p>
        </p:txBody>
      </p:sp>
      <p:sp>
        <p:nvSpPr>
          <p:cNvPr id="19" name="Shape 16"/>
          <p:cNvSpPr/>
          <p:nvPr/>
        </p:nvSpPr>
        <p:spPr>
          <a:xfrm>
            <a:off x="548640" y="5772853"/>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20" name="Text 17"/>
          <p:cNvSpPr/>
          <p:nvPr/>
        </p:nvSpPr>
        <p:spPr>
          <a:xfrm>
            <a:off x="777240" y="5818573"/>
            <a:ext cx="10634472" cy="64008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Dos tipos de bug muy diferentes: el error puede estar en el ALGORITMO (la lógica es incorrecta) o en la IMPLEMENTACIÓN (la lógica es correcta pero está mal escrita). Se depuran de forma distinta — distinguirlos ahorra horas.</a:t>
            </a:r>
            <a:endParaRPr lang="en-US" sz="1400" dirty="0"/>
          </a:p>
        </p:txBody>
      </p:sp>
      <p:sp>
        <p:nvSpPr>
          <p:cNvPr id="21" name="Text 1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Ejemplo: encontrar el máximo de una lista</a:t>
            </a:r>
            <a:endParaRPr lang="en-US" sz="2600" dirty="0"/>
          </a:p>
        </p:txBody>
      </p:sp>
      <p:sp>
        <p:nvSpPr>
          <p:cNvPr id="4" name="Shape 2"/>
          <p:cNvSpPr/>
          <p:nvPr/>
        </p:nvSpPr>
        <p:spPr>
          <a:xfrm>
            <a:off x="548640" y="96012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601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El algoritmo (independiente del lenguaje)</a:t>
            </a:r>
            <a:endParaRPr lang="en-US" sz="1700" dirty="0"/>
          </a:p>
        </p:txBody>
      </p:sp>
      <p:sp>
        <p:nvSpPr>
          <p:cNvPr id="6" name="Text 4"/>
          <p:cNvSpPr/>
          <p:nvPr/>
        </p:nvSpPr>
        <p:spPr>
          <a:xfrm>
            <a:off x="548639" y="1508760"/>
            <a:ext cx="11064241" cy="155448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Toma el primer elemento y guárdalo como "candidato a máximo".</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Recorre el resto de la lista de izquierda a derecha.</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Por cada elemento: ¿es mayor que el candidato actual? Sí → nuevo candidato. No → sigue.</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Al terminar, el candidato es el máximo. Funciona porque en todo momento el candidato es el mayor de los elementos vistos.</a:t>
            </a:r>
            <a:endParaRPr lang="en-US" sz="1400" dirty="0"/>
          </a:p>
        </p:txBody>
      </p:sp>
      <p:sp>
        <p:nvSpPr>
          <p:cNvPr id="7" name="Shape 5"/>
          <p:cNvSpPr/>
          <p:nvPr/>
        </p:nvSpPr>
        <p:spPr>
          <a:xfrm>
            <a:off x="548640" y="2862630"/>
            <a:ext cx="11091672" cy="438912"/>
          </a:xfrm>
          <a:prstGeom prst="rect">
            <a:avLst/>
          </a:prstGeom>
          <a:solidFill>
            <a:srgbClr val="3F51B5"/>
          </a:solidFill>
          <a:ln w="12700">
            <a:solidFill>
              <a:srgbClr val="3F51B5"/>
            </a:solidFill>
            <a:prstDash val="solid"/>
          </a:ln>
        </p:spPr>
        <p:txBody>
          <a:bodyPr/>
          <a:lstStyle/>
          <a:p>
            <a:endParaRPr lang="es-ES"/>
          </a:p>
        </p:txBody>
      </p:sp>
      <p:sp>
        <p:nvSpPr>
          <p:cNvPr id="8" name="Text 6"/>
          <p:cNvSpPr/>
          <p:nvPr/>
        </p:nvSpPr>
        <p:spPr>
          <a:xfrm>
            <a:off x="731520" y="286263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El programa en Java (cada paso del algoritmo = una línea)</a:t>
            </a:r>
            <a:endParaRPr lang="en-US" sz="1700" dirty="0"/>
          </a:p>
        </p:txBody>
      </p:sp>
      <p:sp>
        <p:nvSpPr>
          <p:cNvPr id="9" name="Shape 7"/>
          <p:cNvSpPr/>
          <p:nvPr/>
        </p:nvSpPr>
        <p:spPr>
          <a:xfrm>
            <a:off x="548640" y="3336621"/>
            <a:ext cx="9938968" cy="2774930"/>
          </a:xfrm>
          <a:prstGeom prst="rect">
            <a:avLst/>
          </a:prstGeom>
          <a:solidFill>
            <a:srgbClr val="ECEFF1"/>
          </a:solidFill>
          <a:ln w="12700">
            <a:solidFill>
              <a:srgbClr val="EEEEEE"/>
            </a:solidFill>
            <a:prstDash val="solid"/>
          </a:ln>
        </p:spPr>
        <p:txBody>
          <a:bodyPr/>
          <a:lstStyle/>
          <a:p>
            <a:endParaRPr lang="es-ES"/>
          </a:p>
        </p:txBody>
      </p:sp>
      <p:sp>
        <p:nvSpPr>
          <p:cNvPr id="10" name="Shape 8"/>
          <p:cNvSpPr/>
          <p:nvPr/>
        </p:nvSpPr>
        <p:spPr>
          <a:xfrm>
            <a:off x="548639" y="3336621"/>
            <a:ext cx="104621" cy="2774930"/>
          </a:xfrm>
          <a:prstGeom prst="rect">
            <a:avLst/>
          </a:prstGeom>
          <a:solidFill>
            <a:srgbClr val="009688"/>
          </a:solidFill>
          <a:ln w="12700">
            <a:solidFill>
              <a:srgbClr val="009688"/>
            </a:solidFill>
            <a:prstDash val="solid"/>
          </a:ln>
        </p:spPr>
        <p:txBody>
          <a:bodyPr/>
          <a:lstStyle/>
          <a:p>
            <a:endParaRPr lang="es-ES"/>
          </a:p>
        </p:txBody>
      </p:sp>
      <p:sp>
        <p:nvSpPr>
          <p:cNvPr id="11" name="Text 9"/>
          <p:cNvSpPr/>
          <p:nvPr/>
        </p:nvSpPr>
        <p:spPr>
          <a:xfrm>
            <a:off x="777240" y="3428061"/>
            <a:ext cx="9350476" cy="256938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public class MaximoLista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public static int maximo(int[] a)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int max = a[0];                      // candidato inicial: el primero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for (int i = 1; i &lt; a.length; i++) { // recorremos desde el segundo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if (a[i] &gt; max) {                  // ¿supera al candidato actual?</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max = a[i];                      // sí → nuevo candidato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return max;                          // devolvemos el mayor</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
        <p:nvSpPr>
          <p:cNvPr id="12" name="Text 10"/>
          <p:cNvSpPr/>
          <p:nvPr/>
        </p:nvSpPr>
        <p:spPr>
          <a:xfrm>
            <a:off x="7772400" y="7772400"/>
            <a:ext cx="3840480" cy="3931920"/>
          </a:xfrm>
          <a:prstGeom prst="rect">
            <a:avLst/>
          </a:prstGeom>
          <a:noFill/>
          <a:ln/>
        </p:spPr>
        <p:txBody>
          <a:bodyPr wrap="square" rtlCol="0" anchor="t"/>
          <a:lstStyle/>
          <a:p>
            <a:pPr marL="0" indent="0">
              <a:buNone/>
            </a:pPr>
            <a:r>
              <a:rPr lang="en-US" sz="1400" dirty="0">
                <a:solidFill>
                  <a:srgbClr val="212121"/>
                </a:solidFill>
                <a:latin typeface="Arial" pitchFamily="34" charset="0"/>
                <a:ea typeface="Arial" pitchFamily="34" charset="-122"/>
                <a:cs typeface="Arial" pitchFamily="34" charset="-120"/>
              </a:rPr>
              <a:t>Correspondencia directa:</a:t>
            </a:r>
            <a:endParaRPr lang="en-US" sz="1400" dirty="0"/>
          </a:p>
          <a:p>
            <a:pPr marL="0" indent="0">
              <a:buNone/>
            </a:pPr>
            <a:endParaRPr lang="en-US" sz="1400" dirty="0"/>
          </a:p>
          <a:p>
            <a:pPr marL="0" indent="0">
              <a:buNone/>
            </a:pPr>
            <a:r>
              <a:rPr lang="en-US" sz="1400" dirty="0">
                <a:solidFill>
                  <a:srgbClr val="212121"/>
                </a:solidFill>
                <a:latin typeface="Arial" pitchFamily="34" charset="0"/>
                <a:ea typeface="Arial" pitchFamily="34" charset="-122"/>
                <a:cs typeface="Arial" pitchFamily="34" charset="-120"/>
              </a:rPr>
              <a:t>el "candidato" es max</a:t>
            </a:r>
            <a:endParaRPr lang="en-US" sz="1400" dirty="0"/>
          </a:p>
          <a:p>
            <a:pPr marL="0" indent="0">
              <a:buNone/>
            </a:pPr>
            <a:endParaRPr lang="en-US" sz="1400" dirty="0"/>
          </a:p>
          <a:p>
            <a:pPr marL="0" indent="0">
              <a:buNone/>
            </a:pPr>
            <a:r>
              <a:rPr lang="en-US" sz="1400" dirty="0">
                <a:solidFill>
                  <a:srgbClr val="212121"/>
                </a:solidFill>
                <a:latin typeface="Arial" pitchFamily="34" charset="0"/>
                <a:ea typeface="Arial" pitchFamily="34" charset="-122"/>
                <a:cs typeface="Arial" pitchFamily="34" charset="-120"/>
              </a:rPr>
              <a:t>el "recorrer" es el for</a:t>
            </a:r>
            <a:endParaRPr lang="en-US" sz="1400" dirty="0"/>
          </a:p>
          <a:p>
            <a:pPr marL="0" indent="0">
              <a:buNone/>
            </a:pPr>
            <a:endParaRPr lang="en-US" sz="1400" dirty="0"/>
          </a:p>
          <a:p>
            <a:pPr marL="0" indent="0">
              <a:buNone/>
            </a:pPr>
            <a:r>
              <a:rPr lang="en-US" sz="1400" dirty="0">
                <a:solidFill>
                  <a:srgbClr val="212121"/>
                </a:solidFill>
                <a:latin typeface="Arial" pitchFamily="34" charset="0"/>
                <a:ea typeface="Arial" pitchFamily="34" charset="-122"/>
                <a:cs typeface="Arial" pitchFamily="34" charset="-120"/>
              </a:rPr>
              <a:t>la "comparación" es el if</a:t>
            </a:r>
            <a:endParaRPr lang="en-US" sz="1400" dirty="0"/>
          </a:p>
          <a:p>
            <a:pPr marL="0" indent="0">
              <a:buNone/>
            </a:pPr>
            <a:endParaRPr lang="en-US" sz="1400" dirty="0"/>
          </a:p>
          <a:p>
            <a:pPr marL="0" indent="0">
              <a:buNone/>
            </a:pPr>
            <a:r>
              <a:rPr lang="en-US" sz="1400" dirty="0">
                <a:solidFill>
                  <a:srgbClr val="212121"/>
                </a:solidFill>
                <a:latin typeface="Arial" pitchFamily="34" charset="0"/>
                <a:ea typeface="Arial" pitchFamily="34" charset="-122"/>
                <a:cs typeface="Arial" pitchFamily="34" charset="-120"/>
              </a:rPr>
              <a:t>la "sustitución" es max = a[i]</a:t>
            </a:r>
            <a:endParaRPr lang="en-US" sz="1400" dirty="0"/>
          </a:p>
        </p:txBody>
      </p:sp>
      <p:sp>
        <p:nvSpPr>
          <p:cNvPr id="13" name="Text 11"/>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Tres errores de concepto frecuentes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4937760"/>
        </p:xfrm>
        <a:graphic>
          <a:graphicData uri="http://schemas.openxmlformats.org/drawingml/2006/table">
            <a:tbl>
              <a:tblPr/>
              <a:tblGrid>
                <a:gridCol w="3549335">
                  <a:extLst>
                    <a:ext uri="{9D8B030D-6E8A-4147-A177-3AD203B41FA5}">
                      <a16:colId xmlns:a16="http://schemas.microsoft.com/office/drawing/2014/main" val="20000"/>
                    </a:ext>
                  </a:extLst>
                </a:gridCol>
                <a:gridCol w="7542337">
                  <a:extLst>
                    <a:ext uri="{9D8B030D-6E8A-4147-A177-3AD203B41FA5}">
                      <a16:colId xmlns:a16="http://schemas.microsoft.com/office/drawing/2014/main" val="20001"/>
                    </a:ext>
                  </a:extLst>
                </a:gridCol>
              </a:tblGrid>
              <a:tr h="12344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Error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Por qué es un error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1234440">
                <a:tc>
                  <a:txBody>
                    <a:bodyPr/>
                    <a:lstStyle/>
                    <a:p>
                      <a:pPr marL="0" indent="0">
                        <a:buNone/>
                      </a:pPr>
                      <a:r>
                        <a:rPr lang="en-US" sz="1500" dirty="0">
                          <a:solidFill>
                            <a:srgbClr val="212121"/>
                          </a:solidFill>
                          <a:latin typeface="Arial" pitchFamily="34" charset="0"/>
                          <a:ea typeface="Arial" pitchFamily="34" charset="-122"/>
                          <a:cs typeface="Arial" pitchFamily="34" charset="-120"/>
                        </a:rPr>
                        <a:t>Confundir datos de entrada con configuración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Los datos de entrada cambian en cada ejecución (las notas de cada alumno). La configuración son ajustes fijos del programa (el idioma, el número máximo de intentos). Mezclarlos hace el código confuso y difícil de mantener.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34440">
                <a:tc>
                  <a:txBody>
                    <a:bodyPr/>
                    <a:lstStyle/>
                    <a:p>
                      <a:pPr marL="0" indent="0">
                        <a:buNone/>
                      </a:pPr>
                      <a:r>
                        <a:rPr lang="en-US" sz="1500" dirty="0">
                          <a:solidFill>
                            <a:srgbClr val="212121"/>
                          </a:solidFill>
                          <a:latin typeface="Arial" pitchFamily="34" charset="0"/>
                          <a:ea typeface="Arial" pitchFamily="34" charset="-122"/>
                          <a:cs typeface="Arial" pitchFamily="34" charset="-120"/>
                        </a:rPr>
                        <a:t>Creer que un programa necesita interfaz gráfica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Muchos programas funcionan solo en consola, como scripts o en segundo plano. Durante el módulo escribirás muchos sin ventanas — no son "menos programas".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234440">
                <a:tc>
                  <a:txBody>
                    <a:bodyPr/>
                    <a:lstStyle/>
                    <a:p>
                      <a:pPr marL="0" indent="0">
                        <a:buNone/>
                      </a:pPr>
                      <a:r>
                        <a:rPr lang="en-US" sz="1500" dirty="0">
                          <a:solidFill>
                            <a:srgbClr val="212121"/>
                          </a:solidFill>
                          <a:latin typeface="Arial" pitchFamily="34" charset="0"/>
                          <a:ea typeface="Arial" pitchFamily="34" charset="-122"/>
                          <a:cs typeface="Arial" pitchFamily="34" charset="-120"/>
                        </a:rPr>
                        <a:t>Pensar que el programa controla el hardware directamente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Cuando tu código hace System.out.println no habla con el monitor: llama al sistema operativo, que gestiona los dispositivos. El programa trabaja sobre una capa de abstracción que ofrece el SO.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1.2 Tipos de programas — programas de sistema</a:t>
            </a:r>
            <a:endParaRPr lang="en-US" sz="2600" dirty="0"/>
          </a:p>
        </p:txBody>
      </p:sp>
      <p:sp>
        <p:nvSpPr>
          <p:cNvPr id="4" name="Text 2"/>
          <p:cNvSpPr/>
          <p:nvPr/>
        </p:nvSpPr>
        <p:spPr>
          <a:xfrm>
            <a:off x="548640" y="960120"/>
            <a:ext cx="11091672" cy="77724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Son el software más cercano al hardware. Gestionan los recursos físicos del ordenador y dan una plataforma estable para que se ejecute todo lo demás. El ejemplo más importante es el sistema operativo (Windows, Linux, macOS): es lo primero que se carga al encender.</a:t>
            </a:r>
            <a:endParaRPr lang="en-US" sz="1600" dirty="0"/>
          </a:p>
        </p:txBody>
      </p:sp>
      <p:sp>
        <p:nvSpPr>
          <p:cNvPr id="5" name="Shape 3"/>
          <p:cNvSpPr/>
          <p:nvPr/>
        </p:nvSpPr>
        <p:spPr>
          <a:xfrm>
            <a:off x="548640" y="1828800"/>
            <a:ext cx="11091672" cy="438912"/>
          </a:xfrm>
          <a:prstGeom prst="rect">
            <a:avLst/>
          </a:prstGeom>
          <a:solidFill>
            <a:srgbClr val="3F51B5"/>
          </a:solidFill>
          <a:ln w="12700">
            <a:solidFill>
              <a:srgbClr val="3F51B5"/>
            </a:solidFill>
            <a:prstDash val="solid"/>
          </a:ln>
        </p:spPr>
        <p:txBody>
          <a:bodyPr/>
          <a:lstStyle/>
          <a:p>
            <a:endParaRPr lang="es-ES"/>
          </a:p>
        </p:txBody>
      </p:sp>
      <p:sp>
        <p:nvSpPr>
          <p:cNvPr id="6" name="Text 4"/>
          <p:cNvSpPr/>
          <p:nvPr/>
        </p:nvSpPr>
        <p:spPr>
          <a:xfrm>
            <a:off x="731520" y="18288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Qué hace el sistema operativo</a:t>
            </a:r>
            <a:endParaRPr lang="en-US" sz="1700" dirty="0"/>
          </a:p>
        </p:txBody>
      </p:sp>
      <p:sp>
        <p:nvSpPr>
          <p:cNvPr id="7" name="Text 5"/>
          <p:cNvSpPr/>
          <p:nvPr/>
        </p:nvSpPr>
        <p:spPr>
          <a:xfrm>
            <a:off x="548640" y="2377440"/>
            <a:ext cx="5486400" cy="178308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Detecta el hardware disponible y lo carga en memoria.</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Decide qué proceso tiene acceso a la CPU en cada momento.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Administra la RAM para que varios programas la usen sin pisarse.</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Controla el acceso al disco.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Ofrece una API de llamadas al sistema que el resto del software usa.</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2713256638"/>
              </p:ext>
            </p:extLst>
          </p:nvPr>
        </p:nvGraphicFramePr>
        <p:xfrm>
          <a:off x="6062473" y="2349447"/>
          <a:ext cx="5577839" cy="2063934"/>
        </p:xfrm>
        <a:graphic>
          <a:graphicData uri="http://schemas.openxmlformats.org/drawingml/2006/table">
            <a:tbl>
              <a:tblPr/>
              <a:tblGrid>
                <a:gridCol w="1227125">
                  <a:extLst>
                    <a:ext uri="{9D8B030D-6E8A-4147-A177-3AD203B41FA5}">
                      <a16:colId xmlns:a16="http://schemas.microsoft.com/office/drawing/2014/main" val="20000"/>
                    </a:ext>
                  </a:extLst>
                </a:gridCol>
                <a:gridCol w="4350714">
                  <a:extLst>
                    <a:ext uri="{9D8B030D-6E8A-4147-A177-3AD203B41FA5}">
                      <a16:colId xmlns:a16="http://schemas.microsoft.com/office/drawing/2014/main" val="20001"/>
                    </a:ext>
                  </a:extLst>
                </a:gridCol>
              </a:tblGrid>
              <a:tr h="68797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Capa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87978">
                <a:tc>
                  <a:txBody>
                    <a:bodyPr/>
                    <a:lstStyle/>
                    <a:p>
                      <a:pPr marL="0" indent="0">
                        <a:buNone/>
                      </a:pPr>
                      <a:r>
                        <a:rPr lang="en-US" sz="1300" dirty="0">
                          <a:solidFill>
                            <a:srgbClr val="212121"/>
                          </a:solidFill>
                          <a:latin typeface="Arial" pitchFamily="34" charset="0"/>
                          <a:ea typeface="Arial" pitchFamily="34" charset="-122"/>
                          <a:cs typeface="Arial" pitchFamily="34" charset="-120"/>
                        </a:rPr>
                        <a:t>Drivers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Traducen instrucciones genéricas del SO a comandos del dispositivo concreto. Sin el driver, el SO no puede hablar con la impresora.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7978">
                <a:tc>
                  <a:txBody>
                    <a:bodyPr/>
                    <a:lstStyle/>
                    <a:p>
                      <a:pPr marL="0" indent="0">
                        <a:buNone/>
                      </a:pPr>
                      <a:r>
                        <a:rPr lang="en-US" sz="1300" dirty="0">
                          <a:solidFill>
                            <a:srgbClr val="212121"/>
                          </a:solidFill>
                          <a:latin typeface="Arial" pitchFamily="34" charset="0"/>
                          <a:ea typeface="Arial" pitchFamily="34" charset="-122"/>
                          <a:cs typeface="Arial" pitchFamily="34" charset="-120"/>
                        </a:rPr>
                        <a:t>Firmware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Software grabado dentro del propio hardware (BIOS/UEFI, router, SSD). Viene de fábrica; actualizarlo es delicado.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
        <p:nvSpPr>
          <p:cNvPr id="9" name="Shape 6"/>
          <p:cNvSpPr/>
          <p:nvPr/>
        </p:nvSpPr>
        <p:spPr>
          <a:xfrm>
            <a:off x="548640" y="4854719"/>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10" name="Text 7"/>
          <p:cNvSpPr/>
          <p:nvPr/>
        </p:nvSpPr>
        <p:spPr>
          <a:xfrm>
            <a:off x="566928" y="4837553"/>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Hardware</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(CPU, RAM, disco, red)</a:t>
            </a:r>
            <a:endParaRPr lang="en-US" sz="1300" dirty="0"/>
          </a:p>
        </p:txBody>
      </p:sp>
      <p:sp>
        <p:nvSpPr>
          <p:cNvPr id="11" name="Text 8"/>
          <p:cNvSpPr/>
          <p:nvPr/>
        </p:nvSpPr>
        <p:spPr>
          <a:xfrm>
            <a:off x="2967228" y="4854719"/>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2" name="Shape 9"/>
          <p:cNvSpPr/>
          <p:nvPr/>
        </p:nvSpPr>
        <p:spPr>
          <a:xfrm>
            <a:off x="3424428" y="4854719"/>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13" name="Text 10"/>
          <p:cNvSpPr/>
          <p:nvPr/>
        </p:nvSpPr>
        <p:spPr>
          <a:xfrm>
            <a:off x="3401568" y="4892603"/>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Drivers</a:t>
            </a:r>
            <a:endParaRPr lang="en-US" sz="1300" dirty="0"/>
          </a:p>
        </p:txBody>
      </p:sp>
      <p:sp>
        <p:nvSpPr>
          <p:cNvPr id="14" name="Text 11"/>
          <p:cNvSpPr/>
          <p:nvPr/>
        </p:nvSpPr>
        <p:spPr>
          <a:xfrm>
            <a:off x="5843016" y="4854719"/>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5" name="Shape 12"/>
          <p:cNvSpPr/>
          <p:nvPr/>
        </p:nvSpPr>
        <p:spPr>
          <a:xfrm>
            <a:off x="6300216" y="4854719"/>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16" name="Text 13"/>
          <p:cNvSpPr/>
          <p:nvPr/>
        </p:nvSpPr>
        <p:spPr>
          <a:xfrm>
            <a:off x="6345936" y="4887938"/>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Sistema operativo</a:t>
            </a:r>
            <a:endParaRPr lang="en-US" sz="1300" dirty="0"/>
          </a:p>
        </p:txBody>
      </p:sp>
      <p:sp>
        <p:nvSpPr>
          <p:cNvPr id="17" name="Text 14"/>
          <p:cNvSpPr/>
          <p:nvPr/>
        </p:nvSpPr>
        <p:spPr>
          <a:xfrm>
            <a:off x="8718804" y="4854719"/>
            <a:ext cx="502920" cy="8686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8" name="Shape 15"/>
          <p:cNvSpPr/>
          <p:nvPr/>
        </p:nvSpPr>
        <p:spPr>
          <a:xfrm>
            <a:off x="9217152" y="4842218"/>
            <a:ext cx="2464308" cy="868680"/>
          </a:xfrm>
          <a:prstGeom prst="roundRect">
            <a:avLst/>
          </a:prstGeom>
          <a:solidFill>
            <a:srgbClr val="E8EAF6"/>
          </a:solidFill>
          <a:ln w="15875">
            <a:solidFill>
              <a:srgbClr val="3F51B5"/>
            </a:solidFill>
            <a:prstDash val="solid"/>
          </a:ln>
        </p:spPr>
        <p:txBody>
          <a:bodyPr/>
          <a:lstStyle/>
          <a:p>
            <a:endParaRPr lang="es-ES"/>
          </a:p>
        </p:txBody>
      </p:sp>
      <p:sp>
        <p:nvSpPr>
          <p:cNvPr id="19" name="Text 16"/>
          <p:cNvSpPr/>
          <p:nvPr/>
        </p:nvSpPr>
        <p:spPr>
          <a:xfrm>
            <a:off x="9221724" y="4900439"/>
            <a:ext cx="2372868" cy="77724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Aplicaciones</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(Chrome, Word, tu programa)</a:t>
            </a:r>
            <a:endParaRPr lang="en-US" sz="1300" dirty="0"/>
          </a:p>
        </p:txBody>
      </p:sp>
      <p:sp>
        <p:nvSpPr>
          <p:cNvPr id="20" name="Shape 17"/>
          <p:cNvSpPr/>
          <p:nvPr/>
        </p:nvSpPr>
        <p:spPr>
          <a:xfrm>
            <a:off x="548640" y="5857763"/>
            <a:ext cx="11091672" cy="640080"/>
          </a:xfrm>
          <a:prstGeom prst="roundRect">
            <a:avLst/>
          </a:prstGeom>
          <a:solidFill>
            <a:srgbClr val="E0F2F1"/>
          </a:solidFill>
          <a:ln w="19050">
            <a:solidFill>
              <a:srgbClr val="009688"/>
            </a:solidFill>
            <a:prstDash val="solid"/>
          </a:ln>
        </p:spPr>
        <p:txBody>
          <a:bodyPr/>
          <a:lstStyle/>
          <a:p>
            <a:endParaRPr lang="es-ES"/>
          </a:p>
        </p:txBody>
      </p:sp>
      <p:sp>
        <p:nvSpPr>
          <p:cNvPr id="21" name="Text 18"/>
          <p:cNvSpPr/>
          <p:nvPr/>
        </p:nvSpPr>
        <p:spPr>
          <a:xfrm>
            <a:off x="777240" y="5912811"/>
            <a:ext cx="10634472" cy="54864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El usuario final casi nunca interactúa directamente con los programas de sistema: están ahí para que todo lo demás funcione.</a:t>
            </a:r>
            <a:endParaRPr lang="en-US" sz="1400" dirty="0"/>
          </a:p>
        </p:txBody>
      </p:sp>
      <p:sp>
        <p:nvSpPr>
          <p:cNvPr id="22" name="Text 19"/>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1.2 Tipos de programas — aplicaciones</a:t>
            </a:r>
            <a:endParaRPr lang="en-US" sz="2600" dirty="0"/>
          </a:p>
        </p:txBody>
      </p:sp>
      <p:sp>
        <p:nvSpPr>
          <p:cNvPr id="4" name="Text 2"/>
          <p:cNvSpPr/>
          <p:nvPr/>
        </p:nvSpPr>
        <p:spPr>
          <a:xfrm>
            <a:off x="548640" y="960120"/>
            <a:ext cx="11091672" cy="64008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Las aplicaciones son los programas que el usuario usa directamente para hacer algo concreto: escribir, navegar, editar fotos, jugar, gestionar una empresa. Hay tres subtipos con implicaciones técnicas distintas: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667471772"/>
              </p:ext>
            </p:extLst>
          </p:nvPr>
        </p:nvGraphicFramePr>
        <p:xfrm>
          <a:off x="548640" y="1828800"/>
          <a:ext cx="11091672" cy="3565227"/>
        </p:xfrm>
        <a:graphic>
          <a:graphicData uri="http://schemas.openxmlformats.org/drawingml/2006/table">
            <a:tbl>
              <a:tblPr/>
              <a:tblGrid>
                <a:gridCol w="1220084">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2772918">
                  <a:extLst>
                    <a:ext uri="{9D8B030D-6E8A-4147-A177-3AD203B41FA5}">
                      <a16:colId xmlns:a16="http://schemas.microsoft.com/office/drawing/2014/main" val="20003"/>
                    </a:ext>
                  </a:extLst>
                </a:gridCol>
                <a:gridCol w="2107418">
                  <a:extLst>
                    <a:ext uri="{9D8B030D-6E8A-4147-A177-3AD203B41FA5}">
                      <a16:colId xmlns:a16="http://schemas.microsoft.com/office/drawing/2014/main" val="20004"/>
                    </a:ext>
                  </a:extLst>
                </a:gridCol>
              </a:tblGrid>
              <a:tr h="410547">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Subtipo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Dónde se ejecuta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Ventajas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Limitaciones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1051560">
                <a:tc>
                  <a:txBody>
                    <a:bodyPr/>
                    <a:lstStyle/>
                    <a:p>
                      <a:pPr marL="0" indent="0">
                        <a:buNone/>
                      </a:pPr>
                      <a:r>
                        <a:rPr lang="en-US" sz="1300" dirty="0">
                          <a:solidFill>
                            <a:srgbClr val="212121"/>
                          </a:solidFill>
                          <a:latin typeface="Arial" pitchFamily="34" charset="0"/>
                          <a:ea typeface="Arial" pitchFamily="34" charset="-122"/>
                          <a:cs typeface="Arial" pitchFamily="34" charset="-120"/>
                        </a:rPr>
                        <a:t>Escritorio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Instalada en el ordenador, ejecución local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Acceso al sistema de archivos · usa todo el hardware · funciona sin internet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Hay que instalarla y actualizarla en cada equipo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Word, IntelliJ, Photoshop, VLC, Minecraft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1560">
                <a:tc>
                  <a:txBody>
                    <a:bodyPr/>
                    <a:lstStyle/>
                    <a:p>
                      <a:pPr marL="0" indent="0">
                        <a:buNone/>
                      </a:pPr>
                      <a:r>
                        <a:rPr lang="en-US" sz="1300" dirty="0">
                          <a:solidFill>
                            <a:srgbClr val="212121"/>
                          </a:solidFill>
                          <a:latin typeface="Arial" pitchFamily="34" charset="0"/>
                          <a:ea typeface="Arial" pitchFamily="34" charset="-122"/>
                          <a:cs typeface="Arial" pitchFamily="34" charset="-120"/>
                        </a:rPr>
                        <a:t>Web</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En un servidor; el usuario accede con el navegador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Accesible desde cualquier dispositivo · sin instalación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Requiere internet · sin acceso al disco local del usuario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Gmail, GitHub, campus virtual, tiendas online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051560">
                <a:tc>
                  <a:txBody>
                    <a:bodyPr/>
                    <a:lstStyle/>
                    <a:p>
                      <a:pPr marL="0" indent="0">
                        <a:buNone/>
                      </a:pPr>
                      <a:r>
                        <a:rPr lang="en-US" sz="1300" dirty="0">
                          <a:solidFill>
                            <a:srgbClr val="212121"/>
                          </a:solidFill>
                          <a:latin typeface="Arial" pitchFamily="34" charset="0"/>
                          <a:ea typeface="Arial" pitchFamily="34" charset="-122"/>
                          <a:cs typeface="Arial" pitchFamily="34" charset="-120"/>
                        </a:rPr>
                        <a:t>Móvil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En smartphones o tablets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Acceso a sensores (GPS, cámara) · notificaciones push</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Pantalla pequeña · recursos limitados · publicación en tienda (Play Store / App Store)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Instagram, Google Maps, la app del banco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578778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842832"/>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DAW → desarrollarás principalmente aplicaciones WEB.   </a:t>
            </a:r>
          </a:p>
          <a:p>
            <a:pPr marL="0" indent="0">
              <a:buNone/>
            </a:pPr>
            <a:r>
              <a:rPr lang="en-US" sz="1500" dirty="0">
                <a:solidFill>
                  <a:srgbClr val="212121"/>
                </a:solidFill>
                <a:latin typeface="Arial" pitchFamily="34" charset="0"/>
                <a:ea typeface="Arial" pitchFamily="34" charset="-122"/>
                <a:cs typeface="Arial" pitchFamily="34" charset="-120"/>
              </a:rPr>
              <a:t>DAM → tu foco serán las aplicaciones MÓVILES.   </a:t>
            </a:r>
          </a:p>
          <a:p>
            <a:pPr marL="0" indent="0">
              <a:buNone/>
            </a:pPr>
            <a:r>
              <a:rPr lang="en-US" sz="1500" dirty="0">
                <a:solidFill>
                  <a:srgbClr val="212121"/>
                </a:solidFill>
                <a:latin typeface="Arial" pitchFamily="34" charset="0"/>
                <a:ea typeface="Arial" pitchFamily="34" charset="-122"/>
                <a:cs typeface="Arial" pitchFamily="34" charset="-120"/>
              </a:rPr>
              <a:t>Las diferencias entre tipos tienen consecuencias técnicas reales en cómo las diseñas.</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1.2 Tipos de programas — utilidades y servicios</a:t>
            </a:r>
            <a:endParaRPr lang="en-US" sz="2600" dirty="0"/>
          </a:p>
        </p:txBody>
      </p:sp>
      <p:sp>
        <p:nvSpPr>
          <p:cNvPr id="4" name="Shape 2"/>
          <p:cNvSpPr/>
          <p:nvPr/>
        </p:nvSpPr>
        <p:spPr>
          <a:xfrm>
            <a:off x="548640" y="96012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601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Utilidades: cuidar o configurar el sistema, no hacer el trabajo del día a día</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487354149"/>
              </p:ext>
            </p:extLst>
          </p:nvPr>
        </p:nvGraphicFramePr>
        <p:xfrm>
          <a:off x="548640" y="1508760"/>
          <a:ext cx="7330128" cy="2003660"/>
        </p:xfrm>
        <a:graphic>
          <a:graphicData uri="http://schemas.openxmlformats.org/drawingml/2006/table">
            <a:tbl>
              <a:tblPr/>
              <a:tblGrid>
                <a:gridCol w="2932051">
                  <a:extLst>
                    <a:ext uri="{9D8B030D-6E8A-4147-A177-3AD203B41FA5}">
                      <a16:colId xmlns:a16="http://schemas.microsoft.com/office/drawing/2014/main" val="20000"/>
                    </a:ext>
                  </a:extLst>
                </a:gridCol>
                <a:gridCol w="4398077">
                  <a:extLst>
                    <a:ext uri="{9D8B030D-6E8A-4147-A177-3AD203B41FA5}">
                      <a16:colId xmlns:a16="http://schemas.microsoft.com/office/drawing/2014/main" val="20001"/>
                    </a:ext>
                  </a:extLst>
                </a:gridCol>
              </a:tblGrid>
              <a:tr h="378995">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Utilidad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Para qué sirve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04261">
                <a:tc>
                  <a:txBody>
                    <a:bodyPr/>
                    <a:lstStyle/>
                    <a:p>
                      <a:pPr marL="0" indent="0">
                        <a:buNone/>
                      </a:pPr>
                      <a:r>
                        <a:rPr lang="en-US" sz="1300" dirty="0">
                          <a:solidFill>
                            <a:srgbClr val="212121"/>
                          </a:solidFill>
                          <a:latin typeface="Arial" pitchFamily="34" charset="0"/>
                          <a:ea typeface="Arial" pitchFamily="34" charset="-122"/>
                          <a:cs typeface="Arial" pitchFamily="34" charset="-120"/>
                        </a:rPr>
                        <a:t>Antivirus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Ver el estado del sistema, configurar análisis, eliminar amenazas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8995">
                <a:tc>
                  <a:txBody>
                    <a:bodyPr/>
                    <a:lstStyle/>
                    <a:p>
                      <a:pPr marL="0" indent="0">
                        <a:buNone/>
                      </a:pPr>
                      <a:r>
                        <a:rPr lang="en-US" sz="1300" dirty="0">
                          <a:solidFill>
                            <a:srgbClr val="212121"/>
                          </a:solidFill>
                          <a:latin typeface="Arial" pitchFamily="34" charset="0"/>
                          <a:ea typeface="Arial" pitchFamily="34" charset="-122"/>
                          <a:cs typeface="Arial" pitchFamily="34" charset="-120"/>
                        </a:rPr>
                        <a:t>WinRAR / 7-Zip</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Comprimir y descomprimir archivos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78995">
                <a:tc>
                  <a:txBody>
                    <a:bodyPr/>
                    <a:lstStyle/>
                    <a:p>
                      <a:pPr marL="0" indent="0">
                        <a:buNone/>
                      </a:pPr>
                      <a:r>
                        <a:rPr lang="en-US" sz="1300" dirty="0">
                          <a:solidFill>
                            <a:srgbClr val="212121"/>
                          </a:solidFill>
                          <a:latin typeface="Arial" pitchFamily="34" charset="0"/>
                          <a:ea typeface="Arial" pitchFamily="34" charset="-122"/>
                          <a:cs typeface="Arial" pitchFamily="34" charset="-120"/>
                        </a:rPr>
                        <a:t>Administrador de Tareas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Ver procesos activos y consumo de recursos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8995">
                <a:tc>
                  <a:txBody>
                    <a:bodyPr/>
                    <a:lstStyle/>
                    <a:p>
                      <a:pPr marL="0" indent="0">
                        <a:buNone/>
                      </a:pPr>
                      <a:r>
                        <a:rPr lang="en-US" sz="1300" dirty="0">
                          <a:solidFill>
                            <a:srgbClr val="212121"/>
                          </a:solidFill>
                          <a:latin typeface="Arial" pitchFamily="34" charset="0"/>
                          <a:ea typeface="Arial" pitchFamily="34" charset="-122"/>
                          <a:cs typeface="Arial" pitchFamily="34" charset="-120"/>
                        </a:rPr>
                        <a:t>GParted / CCleaner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Reorganizar particiones · limpiar archivos temporales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Text 4"/>
          <p:cNvSpPr/>
          <p:nvPr/>
        </p:nvSpPr>
        <p:spPr>
          <a:xfrm>
            <a:off x="8061648" y="1554480"/>
            <a:ext cx="3596951" cy="914400"/>
          </a:xfrm>
          <a:prstGeom prst="rect">
            <a:avLst/>
          </a:prstGeom>
          <a:noFill/>
          <a:ln/>
        </p:spPr>
        <p:txBody>
          <a:bodyPr wrap="square" rtlCol="0" anchor="t"/>
          <a:lstStyle/>
          <a:p>
            <a:pPr marL="0" indent="0">
              <a:buNone/>
            </a:pPr>
            <a:r>
              <a:rPr lang="en-US" sz="1400" dirty="0">
                <a:solidFill>
                  <a:srgbClr val="212121"/>
                </a:solidFill>
                <a:latin typeface="Arial" pitchFamily="34" charset="0"/>
                <a:ea typeface="Arial" pitchFamily="34" charset="-122"/>
                <a:cs typeface="Arial" pitchFamily="34" charset="-120"/>
              </a:rPr>
              <a:t>La línea aplicación/utilidad no siempre es nítida. La diferencia está en el propósito: ¿hacer el trabajo, o cuidar el sistema?</a:t>
            </a:r>
            <a:endParaRPr lang="en-US" sz="1400" dirty="0"/>
          </a:p>
        </p:txBody>
      </p:sp>
      <p:sp>
        <p:nvSpPr>
          <p:cNvPr id="8" name="Shape 5"/>
          <p:cNvSpPr/>
          <p:nvPr/>
        </p:nvSpPr>
        <p:spPr>
          <a:xfrm>
            <a:off x="548640" y="3664130"/>
            <a:ext cx="11091672" cy="438912"/>
          </a:xfrm>
          <a:prstGeom prst="rect">
            <a:avLst/>
          </a:prstGeom>
          <a:solidFill>
            <a:srgbClr val="3F51B5"/>
          </a:solidFill>
          <a:ln w="12700">
            <a:solidFill>
              <a:srgbClr val="3F51B5"/>
            </a:solidFill>
            <a:prstDash val="solid"/>
          </a:ln>
        </p:spPr>
        <p:txBody>
          <a:bodyPr/>
          <a:lstStyle/>
          <a:p>
            <a:endParaRPr lang="es-ES"/>
          </a:p>
        </p:txBody>
      </p:sp>
      <p:sp>
        <p:nvSpPr>
          <p:cNvPr id="9" name="Text 6"/>
          <p:cNvSpPr/>
          <p:nvPr/>
        </p:nvSpPr>
        <p:spPr>
          <a:xfrm>
            <a:off x="731520" y="3624568"/>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Servicios: programas en segundo plano, sin interfaz, esperando peticiones</a:t>
            </a:r>
            <a:endParaRPr lang="en-US" sz="1700" dirty="0"/>
          </a:p>
        </p:txBody>
      </p:sp>
      <p:sp>
        <p:nvSpPr>
          <p:cNvPr id="6" name="Text 7"/>
          <p:cNvSpPr/>
          <p:nvPr/>
        </p:nvSpPr>
        <p:spPr>
          <a:xfrm>
            <a:off x="548640" y="4287414"/>
            <a:ext cx="11091672" cy="1188720"/>
          </a:xfrm>
          <a:prstGeom prst="rect">
            <a:avLst/>
          </a:prstGeom>
          <a:noFill/>
          <a:ln/>
        </p:spPr>
        <p:txBody>
          <a:bodyPr wrap="square" rtlCol="0" anchor="t"/>
          <a:lstStyle/>
          <a:p>
            <a:pPr marL="0" indent="0">
              <a:buNone/>
            </a:pPr>
            <a:r>
              <a:rPr lang="en-US" sz="1400" dirty="0">
                <a:solidFill>
                  <a:srgbClr val="212121"/>
                </a:solidFill>
                <a:latin typeface="Arial" pitchFamily="34" charset="0"/>
                <a:ea typeface="Arial" pitchFamily="34" charset="-122"/>
                <a:cs typeface="Arial" pitchFamily="34" charset="-120"/>
              </a:rPr>
              <a:t>No los abres tú: los inicia el SO al arrancar. Ejemplo — XAMPP instala Apache (el servidor web más usado del mundo), MySQL y PHP. Apache escucha en el puerto 80: el navegador pide GET http://localhost → Apache lee el archivo del disco → devuelve HTTP 200 + HTML. MySQL responde consultas en el puerto 3306. Un puerto es como una puerta numerada: cada servicio escucha en un número concreto para que el SO sepa a quién entregar cada petición.</a:t>
            </a:r>
            <a:endParaRPr lang="en-US" sz="1400" dirty="0"/>
          </a:p>
        </p:txBody>
      </p:sp>
      <p:sp>
        <p:nvSpPr>
          <p:cNvPr id="11" name="Shape 8"/>
          <p:cNvSpPr/>
          <p:nvPr/>
        </p:nvSpPr>
        <p:spPr>
          <a:xfrm>
            <a:off x="548640" y="5363235"/>
            <a:ext cx="11091672" cy="868680"/>
          </a:xfrm>
          <a:prstGeom prst="roundRect">
            <a:avLst/>
          </a:prstGeom>
          <a:solidFill>
            <a:srgbClr val="E0F2F1"/>
          </a:solidFill>
          <a:ln w="19050">
            <a:solidFill>
              <a:srgbClr val="009688"/>
            </a:solidFill>
            <a:prstDash val="solid"/>
          </a:ln>
        </p:spPr>
        <p:txBody>
          <a:bodyPr/>
          <a:lstStyle/>
          <a:p>
            <a:endParaRPr lang="es-ES"/>
          </a:p>
        </p:txBody>
      </p:sp>
      <p:sp>
        <p:nvSpPr>
          <p:cNvPr id="12" name="Text 9"/>
          <p:cNvSpPr/>
          <p:nvPr/>
        </p:nvSpPr>
        <p:spPr>
          <a:xfrm>
            <a:off x="777240" y="5408955"/>
            <a:ext cx="10634472" cy="77724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Relevancia DAW/DAM: tus aplicaciones web se desplegarán como servicios. Tu código lo ejecuta un servidor que recibe peticiones HTTP las 24 horas, no un usuario haciendo doble clic. Compruébalo: Administrador de Tareas → pestaña Servicios → decenas de procesos activos sin que abras nada.</a:t>
            </a:r>
            <a:endParaRPr lang="en-US" sz="1400" dirty="0"/>
          </a:p>
        </p:txBody>
      </p:sp>
      <p:sp>
        <p:nvSpPr>
          <p:cNvPr id="13" name="Text 10"/>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Resumen de los cuatro tipos</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4572000"/>
        </p:xfrm>
        <a:graphic>
          <a:graphicData uri="http://schemas.openxmlformats.org/drawingml/2006/table">
            <a:tbl>
              <a:tblPr/>
              <a:tblGrid>
                <a:gridCol w="1441917">
                  <a:extLst>
                    <a:ext uri="{9D8B030D-6E8A-4147-A177-3AD203B41FA5}">
                      <a16:colId xmlns:a16="http://schemas.microsoft.com/office/drawing/2014/main" val="20000"/>
                    </a:ext>
                  </a:extLst>
                </a:gridCol>
                <a:gridCol w="3549335">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3327502">
                  <a:extLst>
                    <a:ext uri="{9D8B030D-6E8A-4147-A177-3AD203B41FA5}">
                      <a16:colId xmlns:a16="http://schemas.microsoft.com/office/drawing/2014/main" val="20003"/>
                    </a:ext>
                  </a:extLst>
                </a:gridCol>
              </a:tblGrid>
              <a:tr h="9144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Tipo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Para qué sirve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¿Quién lo usa?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914400">
                <a:tc>
                  <a:txBody>
                    <a:bodyPr/>
                    <a:lstStyle/>
                    <a:p>
                      <a:pPr marL="0" indent="0">
                        <a:buNone/>
                      </a:pPr>
                      <a:r>
                        <a:rPr lang="en-US" sz="1600" b="1" dirty="0">
                          <a:solidFill>
                            <a:srgbClr val="212121"/>
                          </a:solidFill>
                          <a:latin typeface="Arial" pitchFamily="34" charset="0"/>
                          <a:ea typeface="Arial" pitchFamily="34" charset="-122"/>
                          <a:cs typeface="Arial" pitchFamily="34" charset="-120"/>
                        </a:rPr>
                        <a:t>Sistema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Gestiona el hardware y los recursos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El propio SO y otros programas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Windows, driver de la gráfica, BIOS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600" b="1" dirty="0">
                          <a:solidFill>
                            <a:srgbClr val="212121"/>
                          </a:solidFill>
                          <a:latin typeface="Arial" pitchFamily="34" charset="0"/>
                          <a:ea typeface="Arial" pitchFamily="34" charset="-122"/>
                          <a:cs typeface="Arial" pitchFamily="34" charset="-120"/>
                        </a:rPr>
                        <a:t>Aplicación</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Permite al usuario realizar tareas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El usuario final</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Chrome, Word, IntelliJ, Gmail</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14400">
                <a:tc>
                  <a:txBody>
                    <a:bodyPr/>
                    <a:lstStyle/>
                    <a:p>
                      <a:pPr marL="0" indent="0">
                        <a:buNone/>
                      </a:pPr>
                      <a:r>
                        <a:rPr lang="en-US" sz="1600" b="1" dirty="0">
                          <a:solidFill>
                            <a:srgbClr val="212121"/>
                          </a:solidFill>
                          <a:latin typeface="Arial" pitchFamily="34" charset="0"/>
                          <a:ea typeface="Arial" pitchFamily="34" charset="-122"/>
                          <a:cs typeface="Arial" pitchFamily="34" charset="-120"/>
                        </a:rPr>
                        <a:t>Utilidad</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Mantenimiento y configuración del sistema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El técnico o usuario avanzado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Antivirus, WinRAR, Administrador de Tareas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buNone/>
                      </a:pPr>
                      <a:r>
                        <a:rPr lang="en-US" sz="1600" b="1" dirty="0">
                          <a:solidFill>
                            <a:srgbClr val="212121"/>
                          </a:solidFill>
                          <a:latin typeface="Arial" pitchFamily="34" charset="0"/>
                          <a:ea typeface="Arial" pitchFamily="34" charset="-122"/>
                          <a:cs typeface="Arial" pitchFamily="34" charset="-120"/>
                        </a:rPr>
                        <a:t>Servicio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Atiende peticiones en segundo plano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Otros programas o equipos remotos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Apache, MySQL, Windows Update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1.3 Componentes del sistema — CPU (el procesador)</a:t>
            </a:r>
            <a:endParaRPr lang="en-US" sz="2600" dirty="0"/>
          </a:p>
        </p:txBody>
      </p:sp>
      <p:sp>
        <p:nvSpPr>
          <p:cNvPr id="4" name="Shape 2"/>
          <p:cNvSpPr/>
          <p:nvPr/>
        </p:nvSpPr>
        <p:spPr>
          <a:xfrm>
            <a:off x="548640" y="96012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100584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Principio clave: un programa NO accede directamente al hardware. Si tu código quiere leer un archivo, hace una petición al SO, que es quien tiene el control real y actúa de árbitro entre todos los programas.</a:t>
            </a:r>
            <a:endParaRPr lang="en-US" sz="1500" dirty="0"/>
          </a:p>
        </p:txBody>
      </p:sp>
      <p:sp>
        <p:nvSpPr>
          <p:cNvPr id="6" name="Text 4"/>
          <p:cNvSpPr/>
          <p:nvPr/>
        </p:nvSpPr>
        <p:spPr>
          <a:xfrm>
            <a:off x="548640" y="1920240"/>
            <a:ext cx="11091672" cy="59436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La CPU ejecuta físicamente las instrucciones: cuando tu código recorre un bucle o evalúa un if, es la CPU quien lo hace a nivel de circuitos. Trabaja con un ciclo que se repite sin parar:</a:t>
            </a:r>
            <a:endParaRPr lang="en-US" sz="1500" dirty="0"/>
          </a:p>
        </p:txBody>
      </p:sp>
      <p:sp>
        <p:nvSpPr>
          <p:cNvPr id="7" name="Shape 5"/>
          <p:cNvSpPr/>
          <p:nvPr/>
        </p:nvSpPr>
        <p:spPr>
          <a:xfrm>
            <a:off x="548640" y="2606040"/>
            <a:ext cx="3422904" cy="822960"/>
          </a:xfrm>
          <a:prstGeom prst="roundRect">
            <a:avLst/>
          </a:prstGeom>
          <a:solidFill>
            <a:srgbClr val="E8EAF6"/>
          </a:solidFill>
          <a:ln w="15875">
            <a:solidFill>
              <a:srgbClr val="3F51B5"/>
            </a:solidFill>
            <a:prstDash val="solid"/>
          </a:ln>
        </p:spPr>
        <p:txBody>
          <a:bodyPr/>
          <a:lstStyle/>
          <a:p>
            <a:endParaRPr lang="es-ES"/>
          </a:p>
        </p:txBody>
      </p:sp>
      <p:sp>
        <p:nvSpPr>
          <p:cNvPr id="8" name="Text 6"/>
          <p:cNvSpPr/>
          <p:nvPr/>
        </p:nvSpPr>
        <p:spPr>
          <a:xfrm>
            <a:off x="594360" y="2651760"/>
            <a:ext cx="3331464" cy="7315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Leer instrucción</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de la RAM</a:t>
            </a:r>
            <a:endParaRPr lang="en-US" sz="1400" dirty="0"/>
          </a:p>
        </p:txBody>
      </p:sp>
      <p:sp>
        <p:nvSpPr>
          <p:cNvPr id="9" name="Text 7"/>
          <p:cNvSpPr/>
          <p:nvPr/>
        </p:nvSpPr>
        <p:spPr>
          <a:xfrm>
            <a:off x="3925824" y="2606040"/>
            <a:ext cx="502920" cy="8229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4383024" y="2606040"/>
            <a:ext cx="3422904" cy="822960"/>
          </a:xfrm>
          <a:prstGeom prst="roundRect">
            <a:avLst/>
          </a:prstGeom>
          <a:solidFill>
            <a:srgbClr val="E8EAF6"/>
          </a:solidFill>
          <a:ln w="15875">
            <a:solidFill>
              <a:srgbClr val="3F51B5"/>
            </a:solidFill>
            <a:prstDash val="solid"/>
          </a:ln>
        </p:spPr>
        <p:txBody>
          <a:bodyPr/>
          <a:lstStyle/>
          <a:p>
            <a:endParaRPr lang="es-ES"/>
          </a:p>
        </p:txBody>
      </p:sp>
      <p:sp>
        <p:nvSpPr>
          <p:cNvPr id="11" name="Text 9"/>
          <p:cNvSpPr/>
          <p:nvPr/>
        </p:nvSpPr>
        <p:spPr>
          <a:xfrm>
            <a:off x="4428744" y="2651760"/>
            <a:ext cx="3331464" cy="7315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Decodificar</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(¿qué hay que hacer?)</a:t>
            </a:r>
            <a:endParaRPr lang="en-US" sz="1400" dirty="0"/>
          </a:p>
        </p:txBody>
      </p:sp>
      <p:sp>
        <p:nvSpPr>
          <p:cNvPr id="12" name="Text 10"/>
          <p:cNvSpPr/>
          <p:nvPr/>
        </p:nvSpPr>
        <p:spPr>
          <a:xfrm>
            <a:off x="7760208" y="2606040"/>
            <a:ext cx="502920" cy="8229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3" name="Shape 11"/>
          <p:cNvSpPr/>
          <p:nvPr/>
        </p:nvSpPr>
        <p:spPr>
          <a:xfrm>
            <a:off x="8217408" y="2606040"/>
            <a:ext cx="3422904" cy="822960"/>
          </a:xfrm>
          <a:prstGeom prst="roundRect">
            <a:avLst/>
          </a:prstGeom>
          <a:solidFill>
            <a:srgbClr val="E8EAF6"/>
          </a:solidFill>
          <a:ln w="15875">
            <a:solidFill>
              <a:srgbClr val="3F51B5"/>
            </a:solidFill>
            <a:prstDash val="solid"/>
          </a:ln>
        </p:spPr>
        <p:txBody>
          <a:bodyPr/>
          <a:lstStyle/>
          <a:p>
            <a:endParaRPr lang="es-ES"/>
          </a:p>
        </p:txBody>
      </p:sp>
      <p:sp>
        <p:nvSpPr>
          <p:cNvPr id="14" name="Text 12"/>
          <p:cNvSpPr/>
          <p:nvPr/>
        </p:nvSpPr>
        <p:spPr>
          <a:xfrm>
            <a:off x="8263128" y="2651760"/>
            <a:ext cx="3331464" cy="73152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Ejecutar</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(realiza la operación)</a:t>
            </a:r>
            <a:endParaRPr lang="en-US" sz="1400" dirty="0"/>
          </a:p>
        </p:txBody>
      </p:sp>
      <p:sp>
        <p:nvSpPr>
          <p:cNvPr id="15" name="Text 13"/>
          <p:cNvSpPr/>
          <p:nvPr/>
        </p:nvSpPr>
        <p:spPr>
          <a:xfrm>
            <a:off x="548640" y="3657600"/>
            <a:ext cx="11091672" cy="146304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Un procesador a 3 GHz realiza 3.000 millones de ciclos por segundo.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Núcleos: varias CPUs independientes en el mismo chip. 8 núcleos = 8 tareas a la vez de verdad.</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Hilo: una "línea de montaje" de instrucciones que avanza de forma independiente. Si el programa solo tiene un hilo, usa un único núcleo aunque haya 8.</a:t>
            </a:r>
            <a:endParaRPr lang="en-US" sz="1500" dirty="0"/>
          </a:p>
        </p:txBody>
      </p:sp>
      <p:sp>
        <p:nvSpPr>
          <p:cNvPr id="16" name="Shape 14"/>
          <p:cNvSpPr/>
          <p:nvPr/>
        </p:nvSpPr>
        <p:spPr>
          <a:xfrm>
            <a:off x="548640" y="5349240"/>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17" name="Text 15"/>
          <p:cNvSpPr/>
          <p:nvPr/>
        </p:nvSpPr>
        <p:spPr>
          <a:xfrm>
            <a:off x="777240" y="5394960"/>
            <a:ext cx="10634472" cy="82296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Consecuencia práctica: cada programa arranca con un hilo principal que gestiona la interfaz. Si pones ahí una operación pesada (recorrer un millón de registros, descargar un archivo grande), la app se CONGELA. La solución es moverla a un hilo secundario (programación concurrente, en módulos posteriores).</a:t>
            </a:r>
            <a:endParaRPr lang="en-US" sz="1400" dirty="0"/>
          </a:p>
        </p:txBody>
      </p:sp>
      <p:sp>
        <p:nvSpPr>
          <p:cNvPr id="18" name="Text 1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1.3 Componentes del sistema — memoria RAM</a:t>
            </a:r>
            <a:endParaRPr lang="en-US" sz="2600" dirty="0"/>
          </a:p>
        </p:txBody>
      </p:sp>
      <p:sp>
        <p:nvSpPr>
          <p:cNvPr id="4" name="Text 2"/>
          <p:cNvSpPr/>
          <p:nvPr/>
        </p:nvSpPr>
        <p:spPr>
          <a:xfrm>
            <a:off x="548640" y="960120"/>
            <a:ext cx="11091672" cy="91440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La RAM almacena el programa y sus datos MIENTRAS se ejecuta. El SO copia el programa del disco a la RAM, y la CPU trabaja con la RAM porque acceder a ella es mucho más rápido que al disco. Es VOLÁTIL: al apagar el ordenador, todo desaparece — guardar algo permanente exige escribirlo en disco explícitamente.</a:t>
            </a:r>
            <a:endParaRPr lang="en-US" sz="1600" dirty="0"/>
          </a:p>
        </p:txBody>
      </p:sp>
      <p:sp>
        <p:nvSpPr>
          <p:cNvPr id="5" name="Shape 3"/>
          <p:cNvSpPr/>
          <p:nvPr/>
        </p:nvSpPr>
        <p:spPr>
          <a:xfrm>
            <a:off x="548640" y="2057400"/>
            <a:ext cx="11091672" cy="438912"/>
          </a:xfrm>
          <a:prstGeom prst="rect">
            <a:avLst/>
          </a:prstGeom>
          <a:solidFill>
            <a:srgbClr val="3F51B5"/>
          </a:solidFill>
          <a:ln w="12700">
            <a:solidFill>
              <a:srgbClr val="3F51B5"/>
            </a:solidFill>
            <a:prstDash val="solid"/>
          </a:ln>
        </p:spPr>
        <p:txBody>
          <a:bodyPr/>
          <a:lstStyle/>
          <a:p>
            <a:endParaRPr lang="es-ES"/>
          </a:p>
        </p:txBody>
      </p:sp>
      <p:sp>
        <p:nvSpPr>
          <p:cNvPr id="6" name="Text 4"/>
          <p:cNvSpPr/>
          <p:nvPr/>
        </p:nvSpPr>
        <p:spPr>
          <a:xfrm>
            <a:off x="731520" y="20574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Analogía: la mesa de trabajo</a:t>
            </a:r>
            <a:endParaRPr lang="en-US" sz="1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633472"/>
          <a:ext cx="11091672" cy="1828800"/>
        </p:xfrm>
        <a:graphic>
          <a:graphicData uri="http://schemas.openxmlformats.org/drawingml/2006/table">
            <a:tbl>
              <a:tblPr/>
              <a:tblGrid>
                <a:gridCol w="6655003">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tblGrid>
              <a:tr h="4572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Analogía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Informática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212121"/>
                          </a:solidFill>
                          <a:latin typeface="Arial" pitchFamily="34" charset="0"/>
                          <a:ea typeface="Arial" pitchFamily="34" charset="-122"/>
                          <a:cs typeface="Arial" pitchFamily="34" charset="-120"/>
                        </a:rPr>
                        <a:t>Cajón — donde guardas todo al terminar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Disco duro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212121"/>
                          </a:solidFill>
                          <a:latin typeface="Arial" pitchFamily="34" charset="0"/>
                          <a:ea typeface="Arial" pitchFamily="34" charset="-122"/>
                          <a:cs typeface="Arial" pitchFamily="34" charset="-120"/>
                        </a:rPr>
                        <a:t>Mesa — donde tienes lo que usas ahora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RAM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212121"/>
                          </a:solidFill>
                          <a:latin typeface="Arial" pitchFamily="34" charset="0"/>
                          <a:ea typeface="Arial" pitchFamily="34" charset="-122"/>
                          <a:cs typeface="Arial" pitchFamily="34" charset="-120"/>
                        </a:rPr>
                        <a:t>Documentos sobre la mesa — lo que procesas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Datos en memoria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p:nvPr/>
        </p:nvSpPr>
        <p:spPr>
          <a:xfrm>
            <a:off x="548640" y="4766080"/>
            <a:ext cx="11091672" cy="68580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Cuanto más grande la mesa (más RAM), más cosas abiertas a la vez. Cuando la mesa se llena, el SO usa el disco como RAM extra (memoria virtual): posible, pero muy lento — es cuando el ordenador va "a tirones".</a:t>
            </a:r>
            <a:endParaRPr lang="en-US" sz="1500" dirty="0"/>
          </a:p>
        </p:txBody>
      </p:sp>
      <p:sp>
        <p:nvSpPr>
          <p:cNvPr id="9" name="Shape 6"/>
          <p:cNvSpPr/>
          <p:nvPr/>
        </p:nvSpPr>
        <p:spPr>
          <a:xfrm>
            <a:off x="548640" y="5549848"/>
            <a:ext cx="11091672" cy="960120"/>
          </a:xfrm>
          <a:prstGeom prst="roundRect">
            <a:avLst/>
          </a:prstGeom>
          <a:solidFill>
            <a:srgbClr val="E0F2F1"/>
          </a:solidFill>
          <a:ln w="19050">
            <a:solidFill>
              <a:srgbClr val="009688"/>
            </a:solidFill>
            <a:prstDash val="solid"/>
          </a:ln>
        </p:spPr>
        <p:txBody>
          <a:bodyPr/>
          <a:lstStyle/>
          <a:p>
            <a:endParaRPr lang="es-ES"/>
          </a:p>
        </p:txBody>
      </p:sp>
      <p:sp>
        <p:nvSpPr>
          <p:cNvPr id="10" name="Text 7"/>
          <p:cNvSpPr/>
          <p:nvPr/>
        </p:nvSpPr>
        <p:spPr>
          <a:xfrm>
            <a:off x="777240" y="5595568"/>
            <a:ext cx="10634472" cy="86868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Consecuencia práctica: cada objeto creado con new en Java vive en el heap, una zona de memoria que reserva la JVM (Java Virtual Machine, el programa que ejecuta tu código Java). Si cargas un millón de registros sin pensar, puedes consumir gigabytes; si superas la memoria disponible → OutOfMemoryError y el programa termina.</a:t>
            </a:r>
            <a:endParaRPr lang="en-US" sz="1400" dirty="0"/>
          </a:p>
        </p:txBody>
      </p:sp>
      <p:sp>
        <p:nvSpPr>
          <p:cNvPr id="11"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1.3 Componentes del sistema — almacenamiento y E/S</a:t>
            </a:r>
            <a:endParaRPr lang="en-US" sz="2600" dirty="0"/>
          </a:p>
        </p:txBody>
      </p:sp>
      <p:sp>
        <p:nvSpPr>
          <p:cNvPr id="4" name="Shape 2"/>
          <p:cNvSpPr/>
          <p:nvPr/>
        </p:nvSpPr>
        <p:spPr>
          <a:xfrm>
            <a:off x="548640" y="96012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601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El disco: información permanente (código, .class, BD, configuración, logs)</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1" cy="1920240"/>
        </p:xfrm>
        <a:graphic>
          <a:graphicData uri="http://schemas.openxmlformats.org/drawingml/2006/table">
            <a:tbl>
              <a:tblPr/>
              <a:tblGrid>
                <a:gridCol w="2218334">
                  <a:extLst>
                    <a:ext uri="{9D8B030D-6E8A-4147-A177-3AD203B41FA5}">
                      <a16:colId xmlns:a16="http://schemas.microsoft.com/office/drawing/2014/main" val="20000"/>
                    </a:ext>
                  </a:extLst>
                </a:gridCol>
                <a:gridCol w="3105668">
                  <a:extLst>
                    <a:ext uri="{9D8B030D-6E8A-4147-A177-3AD203B41FA5}">
                      <a16:colId xmlns:a16="http://schemas.microsoft.com/office/drawing/2014/main" val="20001"/>
                    </a:ext>
                  </a:extLst>
                </a:gridCol>
                <a:gridCol w="2662001">
                  <a:extLst>
                    <a:ext uri="{9D8B030D-6E8A-4147-A177-3AD203B41FA5}">
                      <a16:colId xmlns:a16="http://schemas.microsoft.com/office/drawing/2014/main" val="20002"/>
                    </a:ext>
                  </a:extLst>
                </a:gridCol>
                <a:gridCol w="3105668">
                  <a:extLst>
                    <a:ext uri="{9D8B030D-6E8A-4147-A177-3AD203B41FA5}">
                      <a16:colId xmlns:a16="http://schemas.microsoft.com/office/drawing/2014/main" val="20003"/>
                    </a:ext>
                  </a:extLst>
                </a:gridCol>
              </a:tblGrid>
              <a:tr h="384048">
                <a:tc>
                  <a:txBody>
                    <a:bodyPr/>
                    <a:lstStyle/>
                    <a:p>
                      <a:pPr marL="0" indent="0" algn="ctr">
                        <a:buNone/>
                      </a:pP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HDD (mecánico)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SSD SATA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SSD NVMe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rgbClr val="212121"/>
                          </a:solidFill>
                          <a:latin typeface="Arial" pitchFamily="34" charset="0"/>
                          <a:ea typeface="Arial" pitchFamily="34" charset="-122"/>
                          <a:cs typeface="Arial" pitchFamily="34" charset="-120"/>
                        </a:rPr>
                        <a:t>Tecnología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Platos giratorios + cabezal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Chips flash (SATA)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Chips flash (PCIe, más rápido)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212121"/>
                          </a:solidFill>
                          <a:latin typeface="Arial" pitchFamily="34" charset="0"/>
                          <a:ea typeface="Arial" pitchFamily="34" charset="-122"/>
                          <a:cs typeface="Arial" pitchFamily="34" charset="-120"/>
                        </a:rPr>
                        <a:t>Velocidad lectura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~100–150 MB/s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~500 MB/s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~3.000–7.000 MB/s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8404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Arranque del SO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30–60 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10–15 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5–10 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00" b="1" dirty="0">
                          <a:solidFill>
                            <a:srgbClr val="212121"/>
                          </a:solidFill>
                          <a:latin typeface="Arial" pitchFamily="34" charset="0"/>
                          <a:ea typeface="Arial" pitchFamily="34" charset="-122"/>
                          <a:cs typeface="Arial" pitchFamily="34" charset="-120"/>
                        </a:rPr>
                        <a:t>Precio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Barato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Medio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Más caro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Shape 4"/>
          <p:cNvSpPr/>
          <p:nvPr/>
        </p:nvSpPr>
        <p:spPr>
          <a:xfrm>
            <a:off x="580364" y="3355848"/>
            <a:ext cx="11091672" cy="438912"/>
          </a:xfrm>
          <a:prstGeom prst="rect">
            <a:avLst/>
          </a:prstGeom>
          <a:solidFill>
            <a:srgbClr val="3F51B5"/>
          </a:solidFill>
          <a:ln w="12700">
            <a:solidFill>
              <a:srgbClr val="3F51B5"/>
            </a:solidFill>
            <a:prstDash val="solid"/>
          </a:ln>
        </p:spPr>
        <p:txBody>
          <a:bodyPr/>
          <a:lstStyle/>
          <a:p>
            <a:endParaRPr lang="es-ES"/>
          </a:p>
        </p:txBody>
      </p:sp>
      <p:sp>
        <p:nvSpPr>
          <p:cNvPr id="8" name="Text 5"/>
          <p:cNvSpPr/>
          <p:nvPr/>
        </p:nvSpPr>
        <p:spPr>
          <a:xfrm>
            <a:off x="731520" y="333756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E/S: comunicación con el mundo exterior — y es LENTA (E/S bloqueante)</a:t>
            </a:r>
            <a:endParaRPr lang="en-US" sz="17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3886200"/>
          <a:ext cx="11091672" cy="2057400"/>
        </p:xfrm>
        <a:graphic>
          <a:graphicData uri="http://schemas.openxmlformats.org/drawingml/2006/table">
            <a:tbl>
              <a:tblPr/>
              <a:tblGrid>
                <a:gridCol w="4658502">
                  <a:extLst>
                    <a:ext uri="{9D8B030D-6E8A-4147-A177-3AD203B41FA5}">
                      <a16:colId xmlns:a16="http://schemas.microsoft.com/office/drawing/2014/main" val="20000"/>
                    </a:ext>
                  </a:extLst>
                </a:gridCol>
                <a:gridCol w="6433170">
                  <a:extLst>
                    <a:ext uri="{9D8B030D-6E8A-4147-A177-3AD203B41FA5}">
                      <a16:colId xmlns:a16="http://schemas.microsoft.com/office/drawing/2014/main" val="20001"/>
                    </a:ext>
                  </a:extLst>
                </a:gridCol>
              </a:tblGrid>
              <a:tr h="41148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Operación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Tiempo aproximado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212121"/>
                          </a:solidFill>
                          <a:latin typeface="Arial" pitchFamily="34" charset="0"/>
                          <a:ea typeface="Arial" pitchFamily="34" charset="-122"/>
                          <a:cs typeface="Arial" pitchFamily="34" charset="-120"/>
                        </a:rPr>
                        <a:t>Acceder a la RAM</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~100 nanosegundos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rgbClr val="212121"/>
                          </a:solidFill>
                          <a:latin typeface="Arial" pitchFamily="34" charset="0"/>
                          <a:ea typeface="Arial" pitchFamily="34" charset="-122"/>
                          <a:cs typeface="Arial" pitchFamily="34" charset="-120"/>
                        </a:rPr>
                        <a:t>Leer del SSD / del HDD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~100 microsegundos (1.000× más lento) / ~10 ms (100.000×)</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rgbClr val="212121"/>
                          </a:solidFill>
                          <a:latin typeface="Arial" pitchFamily="34" charset="0"/>
                          <a:ea typeface="Arial" pitchFamily="34" charset="-122"/>
                          <a:cs typeface="Arial" pitchFamily="34" charset="-120"/>
                        </a:rPr>
                        <a:t>Respuesta de red local / servidor remoto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~1 ms / 50–200 ms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dirty="0">
                          <a:solidFill>
                            <a:srgbClr val="212121"/>
                          </a:solidFill>
                          <a:latin typeface="Arial" pitchFamily="34" charset="0"/>
                          <a:ea typeface="Arial" pitchFamily="34" charset="-122"/>
                          <a:cs typeface="Arial" pitchFamily="34" charset="-120"/>
                        </a:rPr>
                        <a:t>Esperar a que el usuario escriba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Segundos o más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12"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1.3 Componentes del sistema — red</a:t>
            </a:r>
            <a:endParaRPr lang="en-US" sz="2600" dirty="0"/>
          </a:p>
        </p:txBody>
      </p:sp>
      <p:sp>
        <p:nvSpPr>
          <p:cNvPr id="4" name="Text 2"/>
          <p:cNvSpPr/>
          <p:nvPr/>
        </p:nvSpPr>
        <p:spPr>
          <a:xfrm>
            <a:off x="548640" y="960120"/>
            <a:ext cx="11091672" cy="8229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La red conecta el programa con otros equipos. Para un desarrollador web es el componente más relevante después de CPU y RAM: el navegador envía una petición HTTP al servidor, este la procesa (quizá consultando la base de datos) y devuelve la respuesta — en menos de 100 ms si todo va bien.</a:t>
            </a:r>
            <a:endParaRPr lang="en-US" sz="1600" dirty="0"/>
          </a:p>
        </p:txBody>
      </p:sp>
      <p:sp>
        <p:nvSpPr>
          <p:cNvPr id="5" name="Shape 3"/>
          <p:cNvSpPr/>
          <p:nvPr/>
        </p:nvSpPr>
        <p:spPr>
          <a:xfrm>
            <a:off x="548640" y="1920240"/>
            <a:ext cx="11091672" cy="438912"/>
          </a:xfrm>
          <a:prstGeom prst="rect">
            <a:avLst/>
          </a:prstGeom>
          <a:solidFill>
            <a:srgbClr val="3F51B5"/>
          </a:solidFill>
          <a:ln w="12700">
            <a:solidFill>
              <a:srgbClr val="3F51B5"/>
            </a:solidFill>
            <a:prstDash val="solid"/>
          </a:ln>
        </p:spPr>
        <p:txBody>
          <a:bodyPr/>
          <a:lstStyle/>
          <a:p>
            <a:endParaRPr lang="es-ES"/>
          </a:p>
        </p:txBody>
      </p:sp>
      <p:sp>
        <p:nvSpPr>
          <p:cNvPr id="6" name="Text 4"/>
          <p:cNvSpPr/>
          <p:nvPr/>
        </p:nvSpPr>
        <p:spPr>
          <a:xfrm>
            <a:off x="731520" y="192024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Latencia: el tiempo que tarda un dato en ir de un punto a otro</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2194560"/>
        </p:xfrm>
        <a:graphic>
          <a:graphicData uri="http://schemas.openxmlformats.org/drawingml/2006/table">
            <a:tbl>
              <a:tblPr/>
              <a:tblGrid>
                <a:gridCol w="8318754">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tblGrid>
              <a:tr h="43891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Trayecto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Latencia típica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212121"/>
                          </a:solidFill>
                          <a:latin typeface="Arial" pitchFamily="34" charset="0"/>
                          <a:ea typeface="Arial" pitchFamily="34" charset="-122"/>
                          <a:cs typeface="Arial" pitchFamily="34" charset="-120"/>
                        </a:rPr>
                        <a:t>Dentro de la misma máquina (localhost, el nombre con el que el SO se refiere a sí mismo)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&lt; 1 ms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rgbClr val="212121"/>
                          </a:solidFill>
                          <a:latin typeface="Arial" pitchFamily="34" charset="0"/>
                          <a:ea typeface="Arial" pitchFamily="34" charset="-122"/>
                          <a:cs typeface="Arial" pitchFamily="34" charset="-120"/>
                        </a:rPr>
                        <a:t>Servidor en el mismo datacenter (edificio con cientos de servidores)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1–5 ms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38912">
                <a:tc>
                  <a:txBody>
                    <a:bodyPr/>
                    <a:lstStyle/>
                    <a:p>
                      <a:pPr marL="0" indent="0">
                        <a:buNone/>
                      </a:pPr>
                      <a:r>
                        <a:rPr lang="en-US" sz="1400" dirty="0">
                          <a:solidFill>
                            <a:srgbClr val="212121"/>
                          </a:solidFill>
                          <a:latin typeface="Arial" pitchFamily="34" charset="0"/>
                          <a:ea typeface="Arial" pitchFamily="34" charset="-122"/>
                          <a:cs typeface="Arial" pitchFamily="34" charset="-120"/>
                        </a:rPr>
                        <a:t>Servidor en otro país (Europa–USA)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80–150 ms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400" dirty="0">
                          <a:solidFill>
                            <a:srgbClr val="212121"/>
                          </a:solidFill>
                          <a:latin typeface="Arial" pitchFamily="34" charset="0"/>
                          <a:ea typeface="Arial" pitchFamily="34" charset="-122"/>
                          <a:cs typeface="Arial" pitchFamily="34" charset="-120"/>
                        </a:rPr>
                        <a:t>Servidor en otro continente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200–400 ms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8" name="Shape 5"/>
          <p:cNvSpPr/>
          <p:nvPr/>
        </p:nvSpPr>
        <p:spPr>
          <a:xfrm>
            <a:off x="548640" y="4929360"/>
            <a:ext cx="11091672" cy="640080"/>
          </a:xfrm>
          <a:prstGeom prst="roundRect">
            <a:avLst/>
          </a:prstGeom>
          <a:solidFill>
            <a:srgbClr val="E0F2F1"/>
          </a:solidFill>
          <a:ln w="19050">
            <a:solidFill>
              <a:srgbClr val="009688"/>
            </a:solidFill>
            <a:prstDash val="solid"/>
          </a:ln>
        </p:spPr>
        <p:txBody>
          <a:bodyPr/>
          <a:lstStyle/>
          <a:p>
            <a:endParaRPr lang="es-ES"/>
          </a:p>
        </p:txBody>
      </p:sp>
      <p:sp>
        <p:nvSpPr>
          <p:cNvPr id="9" name="Text 6"/>
          <p:cNvSpPr/>
          <p:nvPr/>
        </p:nvSpPr>
        <p:spPr>
          <a:xfrm>
            <a:off x="777240" y="4975080"/>
            <a:ext cx="10634472" cy="54864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50 llamadas de red en serie × 100 ms = 5 segundos para construir una página. Inaceptable en una aplicación web.</a:t>
            </a:r>
            <a:endParaRPr lang="en-US" sz="1500" dirty="0"/>
          </a:p>
        </p:txBody>
      </p:sp>
      <p:sp>
        <p:nvSpPr>
          <p:cNvPr id="10" name="Text 7"/>
          <p:cNvSpPr/>
          <p:nvPr/>
        </p:nvSpPr>
        <p:spPr>
          <a:xfrm>
            <a:off x="548640" y="5687003"/>
            <a:ext cx="11091672" cy="100584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Fiabilidad: a diferencia de la CPU o la RAM, la red falla de forma intermitente e impredecible (servidor caído, conexión interrumpida, petición que no llega). Todo el código que usa la red debe gestionar errores: ¿qué hago si no hay respuesta en 5 segundos? ¿Qué muestro si el servidor está caído?</a:t>
            </a:r>
            <a:endParaRPr lang="en-US" sz="1500" dirty="0"/>
          </a:p>
        </p:txBody>
      </p:sp>
      <p:sp>
        <p:nvSpPr>
          <p:cNvPr id="11"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ocurre cuando ejecutas un programa?</a:t>
            </a:r>
            <a:endParaRPr lang="en-US" sz="2600" dirty="0"/>
          </a:p>
        </p:txBody>
      </p:sp>
      <p:sp>
        <p:nvSpPr>
          <p:cNvPr id="4" name="Text 2"/>
          <p:cNvSpPr/>
          <p:nvPr/>
        </p:nvSpPr>
        <p:spPr>
          <a:xfrm>
            <a:off x="548640" y="960120"/>
            <a:ext cx="11091672" cy="45720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Al escribir  java MediaNotas  en la terminal, todos los componentes entran en juego:</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712464"/>
        </p:xfrm>
        <a:graphic>
          <a:graphicData uri="http://schemas.openxmlformats.org/drawingml/2006/table">
            <a:tbl>
              <a:tblPr/>
              <a:tblGrid>
                <a:gridCol w="887334">
                  <a:extLst>
                    <a:ext uri="{9D8B030D-6E8A-4147-A177-3AD203B41FA5}">
                      <a16:colId xmlns:a16="http://schemas.microsoft.com/office/drawing/2014/main" val="20000"/>
                    </a:ext>
                  </a:extLst>
                </a:gridCol>
                <a:gridCol w="1996501">
                  <a:extLst>
                    <a:ext uri="{9D8B030D-6E8A-4147-A177-3AD203B41FA5}">
                      <a16:colId xmlns:a16="http://schemas.microsoft.com/office/drawing/2014/main" val="20001"/>
                    </a:ext>
                  </a:extLst>
                </a:gridCol>
                <a:gridCol w="8207837">
                  <a:extLst>
                    <a:ext uri="{9D8B030D-6E8A-4147-A177-3AD203B41FA5}">
                      <a16:colId xmlns:a16="http://schemas.microsoft.com/office/drawing/2014/main" val="20002"/>
                    </a:ext>
                  </a:extLst>
                </a:gridCol>
              </a:tblGrid>
              <a:tr h="53035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Paso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Componente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ocurre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30352">
                <a:tc>
                  <a:txBody>
                    <a:bodyPr/>
                    <a:lstStyle/>
                    <a:p>
                      <a:pPr marL="0" indent="0">
                        <a:buNone/>
                      </a:pPr>
                      <a:r>
                        <a:rPr lang="en-US" sz="1400" dirty="0">
                          <a:solidFill>
                            <a:srgbClr val="212121"/>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Disco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SO localiza MediaNotas.class y lo copia a la RAM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400" dirty="0">
                          <a:solidFill>
                            <a:srgbClr val="21212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RAM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programa y sus datos quedan cargados en memoria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30352">
                <a:tc>
                  <a:txBody>
                    <a:bodyPr/>
                    <a:lstStyle/>
                    <a:p>
                      <a:pPr marL="0" indent="0">
                        <a:buNone/>
                      </a:pPr>
                      <a:r>
                        <a:rPr lang="en-US" sz="1400" dirty="0">
                          <a:solidFill>
                            <a:srgbClr val="212121"/>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CPU</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JVM (el programa que interpreta el bytecode de Java) ejecuta instrucción a instrucción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400" dirty="0">
                          <a:solidFill>
                            <a:srgbClr val="21212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E/S (entrada)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Scanner espera a que escribas en el teclado; la CPU queda bloqueada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30352">
                <a:tc>
                  <a:txBody>
                    <a:bodyPr/>
                    <a:lstStyle/>
                    <a:p>
                      <a:pPr marL="0" indent="0">
                        <a:buNone/>
                      </a:pPr>
                      <a:r>
                        <a:rPr lang="en-US" sz="1400" dirty="0">
                          <a:solidFill>
                            <a:srgbClr val="212121"/>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CPU</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Calcula la media con los datos recibidos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buNone/>
                      </a:pPr>
                      <a:r>
                        <a:rPr lang="en-US" sz="1400" dirty="0">
                          <a:solidFill>
                            <a:srgbClr val="212121"/>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E/S (salida)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System.out.println envía el resultado al monitor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5391231"/>
            <a:ext cx="11091672" cy="86868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436951"/>
            <a:ext cx="10634472" cy="777240"/>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Compruébalo: abre el Administrador de Tareas con el navegador abierto. Verás cientos de MB de RAM (pestañas en memoria), CPU intermitente (renderizado y JavaScript) y actividad de red en cada carga — todo gestionado por el SO en tiempo real.</a:t>
            </a:r>
            <a:endParaRPr lang="en-US" sz="14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1. Concepto de programa informático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2783</Words>
  <Application>Microsoft Office PowerPoint</Application>
  <PresentationFormat>Panorámica</PresentationFormat>
  <Paragraphs>323</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VENTURA EDO, AITOR</cp:lastModifiedBy>
  <cp:revision>2</cp:revision>
  <dcterms:created xsi:type="dcterms:W3CDTF">2026-06-13T00:03:29Z</dcterms:created>
  <dcterms:modified xsi:type="dcterms:W3CDTF">2026-06-13T07:26:02Z</dcterms:modified>
</cp:coreProperties>
</file>
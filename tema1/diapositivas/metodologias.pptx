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49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1: DESARROLLO DE SOFTWARE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Manifiesto Ágil  ·  Scrum  ·  Kanban  ·  XP  ·  Lean  ·  Tableros digitales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son y por qué surgieron?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metodologías ágiles son una forma moderna de organizar el trabajo en equipo. Objetivo: entregar valor al usuario rápidamente, adaptarse al cambio y mejorar continuamente mediante ciclos cortos y retroalimentación constante. No son reglas rígidas: son una forma de pensar — priorizas lo que aporta valor, lo entregas pronto, ves qué funciona y ajustas el rumbo.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10634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surgieron? Antes de los 2000 dominaba la cascada: análisis completo → diseño completo → implementación → pruebas. El cliente no veía nada hasta el final, los requisitos cambiaban pero el plan no, y los proyectos entregaban tarde, con más coste y sin resolver lo que se necesitaba. En 2001 un grupo de desarrolladores redactó el MANIFIESTO ÁGIL como alternativa.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ágil: de idea a entrega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889150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94360" y="4023360"/>
            <a:ext cx="179771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92070" y="39776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49270" y="3977640"/>
            <a:ext cx="1889150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894990" y="4023360"/>
            <a:ext cx="179771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(historia + criterios)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2701" y="39776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49901" y="3977640"/>
            <a:ext cx="1889150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195621" y="4023360"/>
            <a:ext cx="179771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(lote pequeño)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93331" y="39776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50531" y="3977640"/>
            <a:ext cx="1889150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496251" y="4023360"/>
            <a:ext cx="179771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(software funcionando)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93962" y="39776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751162" y="3977640"/>
            <a:ext cx="1889150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9796882" y="4023360"/>
            <a:ext cx="179771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y aprender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¿ajustar? vuelta a refinar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vuelta comprueba si vamos bien antes de avanzar demasiado: descubrir un problema en la segunda iteración hace poco daño; descubrirlo en el mes diez es enorme.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Manifiesto Ágil — los cuatro valores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valor compara dos cosas que importan, pero indica cuál pesa más cuando hay que elegir: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88620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3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valora más…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…que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la práctica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Personas e interacciones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Procesos y herramientas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Reuniones diarias breves, trabajo en parejas, decisiones tomadas por quien está más cerca del problema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funcionando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exhaustiva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Demos frecuentes al cliente, entregas pequeñas pero reales, medir el progreso por lo que funciona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Colaboración con el cliente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Negociación de contratos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cliente participa, ayuda a definir criterios de aceptación y ve el producto en cada iteración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 al cambio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Seguir un 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Re-priorizar según lo aprendido en cada entrega: no es un fallo, es el sistema funcionando bien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76072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del ciclo: un equipo desarrolla una app de recetas. Primera iteración (2 semanas): pantalla principal y buscador. Los usuarios prefieren filtrar por ingredientes que ya tienen → la siguiente iteración prioriza ese filtro. Con seis meses de desarrollo a ciegas, ese descubrimiento habría llegado tardísimo.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Los 12 principios del Manifiesto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doce principios desarrollan los cuatro valores. Se agrupan en tres ideas: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1365"/>
              </p:ext>
            </p:extLst>
          </p:nvPr>
        </p:nvGraphicFramePr>
        <p:xfrm>
          <a:off x="548640" y="1417320"/>
          <a:ext cx="11091672" cy="493776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2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Principios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 temprana y frecuente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1, 3, 7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Satisfacer al cliente con entregas </a:t>
                      </a:r>
                      <a:r>
                        <a:rPr lang="en-US" sz="1300" dirty="0" err="1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tempranas</a:t>
                      </a: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entregar software funcionando a menudo (semanas, no meses)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medir el progreso por software funcionando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Colaboración y aprendizaje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2, 4, 6, 11, 12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Aceptar cambios incluso </a:t>
                      </a:r>
                      <a:r>
                        <a:rPr lang="en-US" sz="1300" dirty="0" err="1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tarde</a:t>
                      </a: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negocio y desarrollo trabajan juntos a </a:t>
                      </a:r>
                      <a:r>
                        <a:rPr lang="en-US" sz="1300" dirty="0" err="1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diario</a:t>
                      </a: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la conversación cara a cara es lo más </a:t>
                      </a:r>
                      <a:r>
                        <a:rPr lang="en-US" sz="1300" dirty="0" err="1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eficiente</a:t>
                      </a: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los mejores equipos son </a:t>
                      </a:r>
                      <a:r>
                        <a:rPr lang="en-US" sz="1300" dirty="0" err="1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autoorganizados</a:t>
                      </a:r>
                      <a:endParaRPr lang="en-US" sz="1300" dirty="0">
                        <a:solidFill>
                          <a:srgbClr val="212121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el equipo reflexiona periódicamente y ajusta su comportamiento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 y ritmo sostenible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5, 8, 9, 10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Personas motivadas y confianza en </a:t>
                      </a:r>
                      <a:r>
                        <a:rPr lang="en-US" sz="1300" dirty="0" err="1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ellas</a:t>
                      </a: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ritmo sostenible </a:t>
                      </a:r>
                      <a:r>
                        <a:rPr lang="en-US" sz="1300" dirty="0" err="1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indefinidamente</a:t>
                      </a: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atención continua a la excelencia técnica y al buen </a:t>
                      </a:r>
                      <a:r>
                        <a:rPr lang="en-US" sz="1300" dirty="0" err="1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diseño</a:t>
                      </a: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simplicidad: maximizar el trabajo NO hecho es esencial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Scrum — roles y artefactos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25616"/>
            <a:ext cx="11091672" cy="71323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51361" y="919579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es el marco ágil más utilizado. Organiza el trabajo en SPRINTS (iteraciones de longitud fija, normalmente 2 semanas) con un objetivo claro. Al final de cada sprint hay algo entregable: no un diseño ni un documento, sino SOFTWARE QUE FUNCIONA.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2219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782219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roles — añadir más jerarquía rompe la autoorganización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280725"/>
              </p:ext>
            </p:extLst>
          </p:nvPr>
        </p:nvGraphicFramePr>
        <p:xfrm>
          <a:off x="548640" y="2287729"/>
          <a:ext cx="11091672" cy="1644187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2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 principal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Owner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 QUÉ se construye y en QUÉ ORDEN según el valor que aporta al usuario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Scrum Master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Facilita el proceso, elimina obstáculos y ayuda al equipo a mejorar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de desarrollo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 CÓMO se construye; multidisciplinar y autoorganizado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0690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artefactos — las "listas" que mantiene el equipo</a:t>
            </a:r>
            <a:endParaRPr lang="en-US" sz="17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853940"/>
              </p:ext>
            </p:extLst>
          </p:nvPr>
        </p:nvGraphicFramePr>
        <p:xfrm>
          <a:off x="548640" y="4617720"/>
          <a:ext cx="11091672" cy="1620213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3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Artefacto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Backlog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lo que se quiere construir, ordenado por valor. Nunca está terminado: se ajusta según lo aprendido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Backlog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el equipo se compromete a hacer este sprint, más el objetivo del sprint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resultado del sprint: algo que funciona y que el cliente podría usar si se publicara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Scrum — eventos y Definition of Done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301752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Duración típica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semanas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Contenedor de todo lo demás; tiene un objetivo concreto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Planning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4 horas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equipo elige qué hará este sprint y cómo lo abordará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Scrum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minutos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Sincronización diaria: qué hice ayer, qué haré hoy, qué me bloquea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Review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 horas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al cliente: mostrar lo construido y recoger feedback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Retrospectiva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1,5 horas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equipo mejora CÓMO trabaja, no qué construye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38588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77240" y="4290778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Daily NO es un reporte al jefe: es una sincronización entre compañeros para coordinarse y detectar bloqueos. Si alguien lleva dos días bloqueado, el Daily es el momento de pedirlo.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548640" y="5185336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31520" y="5185336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(DoD) — qué significa "terminado de verdad"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5733976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acuerdo del equipo que evita el "yo lo he hecho pero no está integrado/probado/documentado". DoD típico de clase: código integrado en la rama principal · pruebas automáticas en verde · revisión de otro compañero · documentación mínima actualizada. Si no cumple el DoD, no cuenta como terminado en la Review.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Kanban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no usa iteraciones fijas: gestiona un FLUJO CONTINUO — cuando terminas una tarea, empiezas la siguiente. Útil cuando el trabajo llega de forma irregular o hay que cambiar prioridades sin esperar al siguiente sprint. El nombre viene del japonés "tarjeta visual": Toyota usaba tarjetas físicas para controlar el trabajo en cada fase de la cadena de montaje.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96018"/>
            <a:ext cx="2464308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841738"/>
            <a:ext cx="23728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hacer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67228" y="1796018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4428" y="1796018"/>
            <a:ext cx="2464308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470148" y="1841738"/>
            <a:ext cx="23728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(WIP 3)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43016" y="1796018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00216" y="1796018"/>
            <a:ext cx="2464308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345936" y="1841738"/>
            <a:ext cx="23728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/ QA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(WIP 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18804" y="1796018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76004" y="1796018"/>
            <a:ext cx="2464308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221724" y="1841738"/>
            <a:ext cx="23728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262207"/>
              </p:ext>
            </p:extLst>
          </p:nvPr>
        </p:nvGraphicFramePr>
        <p:xfrm>
          <a:off x="548640" y="2801858"/>
          <a:ext cx="11091672" cy="2852928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Visualizar el flujo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el equipo ve el proceso completo: pendiente, en marcha, bloqueado. Si "Revisión" está llena, el equipo pausa tareas nuevas y ayuda a revisar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Políticas claras por columna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Reglas explícitas para avanzar: "pasa a Revisión solo con pruebas unitarias completas". Sin reglas, "En curso" significa cosas distintas para cada persona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Limitar el WIP (Work In Progress)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 de tareas activas por columna: con WIP 3, no se empieza una cuarta hasta terminar alguna. Terminar antes de empezar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568328"/>
              </p:ext>
            </p:extLst>
          </p:nvPr>
        </p:nvGraphicFramePr>
        <p:xfrm>
          <a:off x="548640" y="5133578"/>
          <a:ext cx="11091672" cy="146304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3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mide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total desde que se pide algo hasta que está Hecho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desde que se EMPIEZA una tarea hasta que se termina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de tareas completadas por semana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548640" y="6439441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XP (Extreme Programming)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se centra en la EXCELENCIA TÉCNICA: mientras Scrum organiza el equipo y el trabajo, XP se ocupa de cómo escribir el código. Si las prácticas técnicas son sólidas, el equipo puede cambiar el código con confianza y a cualquier ritmo.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66344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Práctica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qué consiste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TDD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Primero la prueba que falla, luego el código mínimo para que pase, luego mejorar el diseño sin romper nada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 programming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 personas, un teclado: driver (teclea) + navigator (piensa el diseño y detecta errores). Roles alternados cada 15-20 min. Errores detectados al momento; el conocimiento se distribuye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Refactorización continua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Mejorar el código sin cambiar su comportamiento (renombrar, eliminar duplicados, simplificar), en pasos pequeños tras pasar las pruebas. Las pruebas son la red de seguridad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 continua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Commits pequeños y frecuentes; en cada integración se compila, prueba y analiza. Las ramas longevas son el enemigo: cuanto más vive una rama, más difícil es integrarla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Propiedad colectiva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código es del equipo, no de quien lo escribió: cualquiera puede mejorar cualquier parte. Requiere estándares compartidos; el formateador y el linter son los árbitros del estilo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XP — el ciclo TDD con ejemplo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422904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333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una prueba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falla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25824" y="10058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3024" y="1005840"/>
            <a:ext cx="3422904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428744" y="1051560"/>
            <a:ext cx="333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mínimo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pase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60208" y="10058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17408" y="1005840"/>
            <a:ext cx="3422904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63128" y="1051560"/>
            <a:ext cx="333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el diseño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romper nada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6949440" cy="4023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73152" cy="40233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2286000"/>
            <a:ext cx="6537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RED: el test falla porque la clase no existe aún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totalConIVA()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assertEquals(121.0, Precio.conIVA(100.0, 0.21));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GREEN: implementación mínima para que pase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Precio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double conIVA(double base, double iva)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base * (1 + iva);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REFACTOR: añadimos redondeo sin romper el 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conIVA(double base, double iva)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Math.round(base * (1 + iva) * 100.0) / 100.0;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777240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se repite cada pocos minutos.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 terminar tienes el código y las pruebas a la vez.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diseño tiende a ser más simple: solo escribes lo que la prueba necesita.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Cambias con confianza: si rompes algo, una prueba se pone roja.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Lean Software Development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1" y="96012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adapta al software los principios de fabricación de Toyota: identificar qué aporta valor al cliente y eliminar lo demás. En software, "desperdicio" es tiempo y esfuerzo que no llegan al usuario: cada vez que algo tarda, se espera, se repite o se construye sin que nadie lo pida.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055523"/>
              </p:ext>
            </p:extLst>
          </p:nvPr>
        </p:nvGraphicFramePr>
        <p:xfrm>
          <a:off x="548640" y="1512216"/>
          <a:ext cx="11091672" cy="3064962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la práctica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4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Eliminar desperdicio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Quitar burocracia, aprobaciones innecesarias, funciones que nadie usa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 desde el origen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Detectar y corregir cuanto antes; pruebas automatizadas desde el primer día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Aprender rápido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Entregas pequeñas + retroalimentación real → ajustar antes de invertir demasiado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Decidir tarde, entregar pronto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decisiones irreversibles antes de tener información; entregar algo pequeño que dé datos reales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Respetar a las personas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Equipos con autonomía y confianza encuentran mejores soluciones que los microdirigidos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Optimizar el sistema completo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optimices solo "tu parte": importa el tiempo total desde que se pide hasta que llega al usuario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81399"/>
              </p:ext>
            </p:extLst>
          </p:nvPr>
        </p:nvGraphicFramePr>
        <p:xfrm>
          <a:off x="548640" y="4665164"/>
          <a:ext cx="11091671" cy="187452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Desperdicio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manifiesta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reducirlo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Trabajo a medias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Ramas abiertas semanas, funciones a medias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Commits frecuentes, entregas pequeñas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Funcionalidad extra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Construir "por si acaso" sin que nadie lo pida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lo que está en el backlog priorizado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Esperar aprobación, otro módulo, el entorno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Automatizar, políticas claras, entornos self-service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Defectos y retrabajo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Bugs que vuelven, código que se reescribe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TDD, revisiones de código, pruebas automáticas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Cambios de tarea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Seis tareas "en curso" a la vez por persona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Limitar el WIP; terminar antes de empezar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51586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 Herramientas: tableros digitales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264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tablero digitaliza el flujo de Kanban o Scrum y lo hace accesible a todo el equipo, en remoto y desde cualquier dispositivo: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113235"/>
              </p:ext>
            </p:extLst>
          </p:nvPr>
        </p:nvGraphicFramePr>
        <p:xfrm>
          <a:off x="548640" y="1417320"/>
          <a:ext cx="11091672" cy="2680228"/>
        </p:xfrm>
        <a:graphic>
          <a:graphicData uri="http://schemas.openxmlformats.org/drawingml/2006/table">
            <a:tbl>
              <a:tblPr/>
              <a:tblGrid>
                <a:gridCol w="1441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3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1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Curva de aprendizaje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9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estándar profesional: flujos a medida, permisos por rol, tareas conectadas con versiones del 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Equipos medianos/grandes con procesos formales o trazabilidad tarea-versión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Alta: potente pero compleja de configurar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4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Trello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Tablero muy sencillo de listas y tarjetas, con checklists, fechas límite y adjuntos. Sin configuración inicial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Proyectos pequeños, equipos que empiezan con Kanban, trabajos de 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Mínima: en diez minutos funciona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Projects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Integrado en GitHub: cada tarjeta se vincula a un issue (tarea o bug del repositorio) o a una pull 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ya usas GitHub para el código: misma plataforma para código y tareas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 si ya conoces GitHub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90887"/>
            <a:ext cx="11091672" cy="3329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31520" y="4190887"/>
            <a:ext cx="10725912" cy="332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de columna (sin reglas escritas, cada persona interpreta el tablero a su manera)</a:t>
            </a:r>
            <a:endParaRPr lang="en-US" sz="17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041444"/>
              </p:ext>
            </p:extLst>
          </p:nvPr>
        </p:nvGraphicFramePr>
        <p:xfrm>
          <a:off x="548640" y="4525419"/>
          <a:ext cx="11091672" cy="1645920"/>
        </p:xfrm>
        <a:graphic>
          <a:graphicData uri="http://schemas.openxmlformats.org/drawingml/2006/table">
            <a:tbl>
              <a:tblPr/>
              <a:tblGrid>
                <a:gridCol w="1663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7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 para entrar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curso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Hay capacidad libre y la tarea está bien descrita (se sabe qué hacer y cuándo estará terminada)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/ QA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código está hecho, las pruebas pasan y hay una Pull Request abierta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Hecho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PR está fusionada, la tarea cumple el DoD y está desplegada o lista para serlo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897019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777240" y="5942739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semanal del tablero (15 min): ¿tarjetas atascadas? ¿columnas desbordadas? Una acción de mejora por semana basta. WIP habitual: una tarea activa por persona.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Metodologías ágiles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2163</Words>
  <Application>Microsoft Office PowerPoint</Application>
  <PresentationFormat>Panorámica</PresentationFormat>
  <Paragraphs>267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2026-06-13T00:03:29Z</dcterms:created>
  <dcterms:modified xsi:type="dcterms:W3CDTF">2026-06-13T08:08:42Z</dcterms:modified>
</cp:coreProperties>
</file>
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03F9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109167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0BE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ENTORNOS DE DESARROLLO  —  TEMA 4: OPTIMIZACIÓN Y DOCUMENTACIÓN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1371600"/>
            <a:ext cx="11091672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Colaboración y Gestión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Proyectos en GitHub</a:t>
            </a:r>
            <a:endParaRPr lang="en-US" sz="4400" dirty="0"/>
          </a:p>
        </p:txBody>
      </p:sp>
      <p:sp>
        <p:nvSpPr>
          <p:cNvPr id="4" name="Shape 2"/>
          <p:cNvSpPr/>
          <p:nvPr/>
        </p:nvSpPr>
        <p:spPr>
          <a:xfrm>
            <a:off x="0" y="5120640"/>
            <a:ext cx="12188952" cy="914400"/>
          </a:xfrm>
          <a:prstGeom prst="rect">
            <a:avLst/>
          </a:prstGeom>
          <a:solidFill>
            <a:srgbClr val="009688"/>
          </a:solidFill>
          <a:ln w="12700">
            <a:solidFill>
              <a:srgbClr val="0096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5120640"/>
            <a:ext cx="1109167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Tema 4 — Optimización y Documentación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303F9F"/>
          </a:solidFill>
          <a:ln w="12700">
            <a:solidFill>
              <a:srgbClr val="303F9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 Colaboración y Gestión de Proyectos en GitHub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Entornos de Desarrollo · Tema 4 · Colaboración en GitHub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868680"/>
            <a:ext cx="11091672" cy="822960"/>
          </a:xfrm>
          <a:prstGeom prst="roundRect">
            <a:avLst/>
          </a:prstGeom>
          <a:solidFill>
            <a:srgbClr val="E0F2F1"/>
          </a:solidFill>
          <a:ln w="19050">
            <a:solidFill>
              <a:srgbClr val="0096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960120"/>
            <a:ext cx="106344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 y GitHub no son solo una herramienta para guardar código: son la base sobre la que se organiza el trabajo en equipo en la mayoría de empresas de software.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548640" y="1874520"/>
            <a:ext cx="11091672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este apartado veremos cómo contribuir a proyectos ajenos y cómo gestionar el trabajo dentro de un equipo usando las herramientas que GitHub pone a disposición.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48640" y="2880360"/>
            <a:ext cx="11091672" cy="438912"/>
          </a:xfrm>
          <a:prstGeom prst="rect">
            <a:avLst/>
          </a:prstGeom>
          <a:solidFill>
            <a:srgbClr val="3F51B5"/>
          </a:solidFill>
          <a:ln w="12700">
            <a:solidFill>
              <a:srgbClr val="3F51B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2880360"/>
            <a:ext cx="10725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Contenidos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548640" y="3547872"/>
            <a:ext cx="2498598" cy="1097280"/>
          </a:xfrm>
          <a:prstGeom prst="roundRect">
            <a:avLst/>
          </a:prstGeom>
          <a:solidFill>
            <a:srgbClr val="E8EAF6"/>
          </a:solidFill>
          <a:ln w="15875">
            <a:solidFill>
              <a:srgbClr val="3F51B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3593592"/>
            <a:ext cx="2407158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🍴 Forks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028950" y="3547872"/>
            <a:ext cx="402336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F51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3412998" y="3547872"/>
            <a:ext cx="2498598" cy="1097280"/>
          </a:xfrm>
          <a:prstGeom prst="roundRect">
            <a:avLst/>
          </a:prstGeom>
          <a:solidFill>
            <a:srgbClr val="E8EAF6"/>
          </a:solidFill>
          <a:ln w="15875">
            <a:solidFill>
              <a:srgbClr val="3F51B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58718" y="3593592"/>
            <a:ext cx="2407158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📩 Pull Requests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5893308" y="3547872"/>
            <a:ext cx="402336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F51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6277356" y="3547872"/>
            <a:ext cx="2498598" cy="1097280"/>
          </a:xfrm>
          <a:prstGeom prst="roundRect">
            <a:avLst/>
          </a:prstGeom>
          <a:solidFill>
            <a:srgbClr val="E8EAF6"/>
          </a:solidFill>
          <a:ln w="15875">
            <a:solidFill>
              <a:srgbClr val="3F51B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23076" y="3593592"/>
            <a:ext cx="2407158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🎫 Issues y Projects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757666" y="3547872"/>
            <a:ext cx="402336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F51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9141714" y="3547872"/>
            <a:ext cx="2498598" cy="1097280"/>
          </a:xfrm>
          <a:prstGeom prst="roundRect">
            <a:avLst/>
          </a:prstGeom>
          <a:solidFill>
            <a:srgbClr val="E8EAF6"/>
          </a:solidFill>
          <a:ln w="15875">
            <a:solidFill>
              <a:srgbClr val="3F51B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187434" y="3593592"/>
            <a:ext cx="2407158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🔒 Protección de ramas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303F9F"/>
          </a:solidFill>
          <a:ln w="12700">
            <a:solidFill>
              <a:srgbClr val="303F9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Forks (Bifurcaciones)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Entornos de Desarrollo · Tema 4 · Colaboración en GitHub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868680"/>
            <a:ext cx="11091672" cy="868680"/>
          </a:xfrm>
          <a:prstGeom prst="roundRect">
            <a:avLst/>
          </a:prstGeom>
          <a:solidFill>
            <a:srgbClr val="E0F2F1"/>
          </a:solidFill>
          <a:ln w="19050">
            <a:solidFill>
              <a:srgbClr val="0096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960120"/>
            <a:ext cx="1063447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Fork es una copia de un repositorio ajeno que GitHub crea dentro de tu propia cuenta. La diferencia respecto a un clon: el fork vive en el servidor, bajo tu usuario, y tú tienes control total sobre él.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1920240"/>
            <a:ext cx="11091672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caso típico: encuentras un proyecto que te interesa mejorar, pero no eres colaborador y no puedes hacer push directamente. Pulsas el botón «Fork» y GitHub copia todo el repositorio bajo tu cuenta en cuestión de segundos.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40" y="2834640"/>
            <a:ext cx="11091672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partir de ahí puedes clonar tu copia, crear ramas, modificar lo que quieras y hacer push sin afectar en absoluto al proyecto original. GitHub mantiene la referencia al origen, lo que facilita proponer tus cambios de vuelta al autor mediante una Pull Request.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8640" y="3840480"/>
            <a:ext cx="11091672" cy="868680"/>
          </a:xfrm>
          <a:prstGeom prst="roundRect">
            <a:avLst/>
          </a:prstGeom>
          <a:solidFill>
            <a:srgbClr val="FFF8E1"/>
          </a:solidFill>
          <a:ln w="19050">
            <a:solidFill>
              <a:srgbClr val="F57F1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3931920"/>
            <a:ext cx="1063447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¿Fork o clone directo?  Clona si ya eres colaborador con permisos de escritura. Haz un fork cuando quieras contribuir a un proyecto ajeno: tu fork actúa como puerta de entrada para proponer cambios mediante Pull Request.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303F9F"/>
          </a:solidFill>
          <a:ln w="12700">
            <a:solidFill>
              <a:srgbClr val="303F9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Forks — Botón Fork en GitHub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Entornos de Desarrollo · Tema 4 · Colaboración en GitHub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868680"/>
            <a:ext cx="11091672" cy="685800"/>
          </a:xfrm>
          <a:prstGeom prst="roundRect">
            <a:avLst/>
          </a:prstGeom>
          <a:solidFill>
            <a:srgbClr val="E0F2F1"/>
          </a:solidFill>
          <a:ln w="19050">
            <a:solidFill>
              <a:srgbClr val="0096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960120"/>
            <a:ext cx="1063447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Botón Fork en la esquina superior derecha de un repositorio ajeno. Al pulsarlo, GitHub crea la copia bajo tu cuenta en segundos.</a:t>
            </a:r>
            <a:endParaRPr lang="en-US" sz="16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223932"/>
            <a:ext cx="11091672" cy="359885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303F9F"/>
          </a:solidFill>
          <a:ln w="12700">
            <a:solidFill>
              <a:srgbClr val="303F9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Forks — Pantalla de creación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Entornos de Desarrollo · Tema 4 · Colaboración en GitHub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868680"/>
            <a:ext cx="11091672" cy="685800"/>
          </a:xfrm>
          <a:prstGeom prst="roundRect">
            <a:avLst/>
          </a:prstGeom>
          <a:solidFill>
            <a:srgbClr val="E0F2F1"/>
          </a:solidFill>
          <a:ln w="19050">
            <a:solidFill>
              <a:srgbClr val="0096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960120"/>
            <a:ext cx="1063447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Pantalla de creación del fork: se elige bajo qué cuenta o organización se crea la copia.</a:t>
            </a:r>
            <a:endParaRPr lang="en-US" sz="16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79298" y="1691640"/>
            <a:ext cx="6230356" cy="466344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303F9F"/>
          </a:solidFill>
          <a:ln w="12700">
            <a:solidFill>
              <a:srgbClr val="303F9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Sincronización del Fork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Entornos de Desarrollo · Tema 4 · Colaboración en GitHub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11091672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 el tiempo, el repositorio original seguirá recibiendo commits. GitHub ofrece el botón Sync fork en la página principal de tu fork para traer esos cambios sin tener que hacerlo a mano.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1783080"/>
            <a:ext cx="11091672" cy="438912"/>
          </a:xfrm>
          <a:prstGeom prst="rect">
            <a:avLst/>
          </a:prstGeom>
          <a:solidFill>
            <a:srgbClr val="3F51B5"/>
          </a:solidFill>
          <a:ln w="12700">
            <a:solidFill>
              <a:srgbClr val="3F51B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783080"/>
            <a:ext cx="10725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¿Qué es upstream?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548640" y="2404872"/>
            <a:ext cx="11091672" cy="822960"/>
          </a:xfrm>
          <a:prstGeom prst="roundRect">
            <a:avLst/>
          </a:prstGeom>
          <a:solidFill>
            <a:srgbClr val="E0F2F1"/>
          </a:solidFill>
          <a:ln w="19050">
            <a:solidFill>
              <a:srgbClr val="0096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2496312"/>
            <a:ext cx="106344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upstream es el repositorio original del que proviene tu fork. Tu copia es origin; el proyecto del que la hiciste es upstream. Al sincronizar, traes los cambios de upstream a tu origin.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48640" y="3502152"/>
            <a:ext cx="11091672" cy="438912"/>
          </a:xfrm>
          <a:prstGeom prst="rect">
            <a:avLst/>
          </a:prstGeom>
          <a:solidFill>
            <a:srgbClr val="3F51B5"/>
          </a:solidFill>
          <a:ln w="12700">
            <a:solidFill>
              <a:srgbClr val="3F51B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3502152"/>
            <a:ext cx="10725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Conflictos al sincronizar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548640" y="4123944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 el repositorio original y el tuyo han avanzado por separado, la sincronización puede generar conflictos que tendrás que resolver igual que con un git pull con cambios divergentes. Conviene sincronizar antes de empezar a trabajar en una nueva funcionalidad, no después.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303F9F"/>
          </a:solidFill>
          <a:ln w="12700">
            <a:solidFill>
              <a:srgbClr val="303F9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Pull Requests (PRs)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Entornos de Desarrollo · Tema 4 · Colaboración en GitHub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868680"/>
            <a:ext cx="11091672" cy="822960"/>
          </a:xfrm>
          <a:prstGeom prst="roundRect">
            <a:avLst/>
          </a:prstGeom>
          <a:solidFill>
            <a:srgbClr val="E0F2F1"/>
          </a:solidFill>
          <a:ln w="19050">
            <a:solidFill>
              <a:srgbClr val="0096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960120"/>
            <a:ext cx="106344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Una Pull Request es una propuesta formal para integrar los commits de una rama en otra. Le estás diciendo al equipo: «He hecho estos cambios en esta rama; ¿los revisáis y los integráis en main?»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1874520"/>
            <a:ext cx="11091672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 el mecanismo estándar en la industria: tanto para contribuir a proyectos de terceros (desde un fork) como para trabajar en equipo dentro del mismo repositorio (desde una rama propia hacia main).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48640" y="2834640"/>
            <a:ext cx="11091672" cy="438912"/>
          </a:xfrm>
          <a:prstGeom prst="rect">
            <a:avLst/>
          </a:prstGeom>
          <a:solidFill>
            <a:srgbClr val="3F51B5"/>
          </a:solidFill>
          <a:ln w="12700">
            <a:solidFill>
              <a:srgbClr val="3F51B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2834640"/>
            <a:ext cx="10725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¿Cuándo se usa?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548640" y="3456432"/>
            <a:ext cx="11091672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Contribuir a un proyecto ajeno donde no tienes permisos directos (vía fork).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Trabajar en equipo en el mismo repositorio: cada desarrollador trabaja en su rama y pide revisión antes de tocar main.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Documentar y revisar los cambios antes de que lleguen a la rama principal.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303F9F"/>
          </a:solidFill>
          <a:ln w="12700">
            <a:solidFill>
              <a:srgbClr val="303F9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Pull Requests — Flujo completo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Entornos de Desarrollo · Tema 4 · Colaboración en GitHub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868680"/>
            <a:ext cx="11091672" cy="438912"/>
          </a:xfrm>
          <a:prstGeom prst="rect">
            <a:avLst/>
          </a:prstGeom>
          <a:solidFill>
            <a:srgbClr val="3F51B5"/>
          </a:solidFill>
          <a:ln w="12700">
            <a:solidFill>
              <a:srgbClr val="3F51B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868680"/>
            <a:ext cx="10725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 fork al merge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548640" y="1581912"/>
            <a:ext cx="1543812" cy="1188720"/>
          </a:xfrm>
          <a:prstGeom prst="roundRect">
            <a:avLst/>
          </a:prstGeom>
          <a:solidFill>
            <a:srgbClr val="E8EAF6"/>
          </a:solidFill>
          <a:ln w="15875">
            <a:solidFill>
              <a:srgbClr val="3F51B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1627632"/>
            <a:ext cx="145237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original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074164" y="1581912"/>
            <a:ext cx="402336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F51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2458212" y="1581912"/>
            <a:ext cx="1543812" cy="1188720"/>
          </a:xfrm>
          <a:prstGeom prst="roundRect">
            <a:avLst/>
          </a:prstGeom>
          <a:solidFill>
            <a:srgbClr val="E8EAF6"/>
          </a:solidFill>
          <a:ln w="15875">
            <a:solidFill>
              <a:srgbClr val="3F51B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503932" y="1627632"/>
            <a:ext cx="145237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Fork en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983736" y="1581912"/>
            <a:ext cx="402336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F51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4367784" y="1581912"/>
            <a:ext cx="1543812" cy="1188720"/>
          </a:xfrm>
          <a:prstGeom prst="roundRect">
            <a:avLst/>
          </a:prstGeom>
          <a:solidFill>
            <a:srgbClr val="E8EAF6"/>
          </a:solidFill>
          <a:ln w="15875">
            <a:solidFill>
              <a:srgbClr val="3F51B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413504" y="1627632"/>
            <a:ext cx="145237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Clonar +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rama local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893308" y="1581912"/>
            <a:ext cx="402336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F51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6277356" y="1581912"/>
            <a:ext cx="1543812" cy="1188720"/>
          </a:xfrm>
          <a:prstGeom prst="roundRect">
            <a:avLst/>
          </a:prstGeom>
          <a:solidFill>
            <a:srgbClr val="E8EAF6"/>
          </a:solidFill>
          <a:ln w="15875">
            <a:solidFill>
              <a:srgbClr val="3F51B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23076" y="1627632"/>
            <a:ext cx="145237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Commits +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 push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802880" y="1581912"/>
            <a:ext cx="402336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F51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8186928" y="1581912"/>
            <a:ext cx="1543812" cy="1188720"/>
          </a:xfrm>
          <a:prstGeom prst="roundRect">
            <a:avLst/>
          </a:prstGeom>
          <a:solidFill>
            <a:srgbClr val="E8EAF6"/>
          </a:solidFill>
          <a:ln w="15875">
            <a:solidFill>
              <a:srgbClr val="3F51B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32648" y="1627632"/>
            <a:ext cx="145237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Pull Request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Revisión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9712452" y="1581912"/>
            <a:ext cx="402336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F51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10096500" y="1581912"/>
            <a:ext cx="1543812" cy="1188720"/>
          </a:xfrm>
          <a:prstGeom prst="roundRect">
            <a:avLst/>
          </a:prstGeom>
          <a:solidFill>
            <a:srgbClr val="E8EAF6"/>
          </a:solidFill>
          <a:ln w="15875">
            <a:solidFill>
              <a:srgbClr val="3F51B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142220" y="1627632"/>
            <a:ext cx="145237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Merge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main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48640" y="3090672"/>
            <a:ext cx="11091672" cy="777240"/>
          </a:xfrm>
          <a:prstGeom prst="roundRect">
            <a:avLst/>
          </a:prstGeom>
          <a:solidFill>
            <a:srgbClr val="FFF8E1"/>
          </a:solidFill>
          <a:ln w="19050">
            <a:solidFill>
              <a:srgbClr val="F57F1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77240" y="3182112"/>
            <a:ext cx="1063447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 el revisor pide cambios: se añaden commits en la misma rama y se hace push. La PR se actualiza automáticamente; no hace falta abrir una nueva.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548640" y="4142232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proceso puede tener varias rondas: el autor corrige, el revisor revisa de nuevo... hasta que se aprueba o se decide cerrar la PR sin fusionar.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303F9F"/>
          </a:solidFill>
          <a:ln w="12700">
            <a:solidFill>
              <a:srgbClr val="303F9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Abrir una Pull Request — Selectores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Entornos de Desarrollo · Tema 4 · Colaboración en GitHub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Cuando subes una rama nueva con git push, GitHub muestra el botón «Compare &amp; pull request». Al pulsarlo llegas al formulario donde configuras cuatro selectores:</a:t>
            </a:r>
            <a:endParaRPr lang="en-US" sz="16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11091672" cy="914400"/>
        </p:xfrm>
        <a:graphic>
          <a:graphicData uri="http://schemas.openxmlformats.org/drawingml/2006/table">
            <a:tbl>
              <a:tblPr/>
              <a:tblGrid>
                <a:gridCol w="2440168"/>
                <a:gridCol w="4880336"/>
                <a:gridCol w="3771168"/>
              </a:tblGrid>
              <a:tr h="6583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Selector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51B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Qué indica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51B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Ejemplo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51B5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Base repository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Dónde va a ir el código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torvalds/linux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Base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 rama de destino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main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Head repository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Desde dónde ofreces los cambios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tu-usuario/linux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Compare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 rama con tus commits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arreglo-bug-red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48640" y="5212080"/>
            <a:ext cx="11091672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 la PR es dentro del mismo repositorio (sin fork), base y head son el mismo repositorio y solo cambian las ramas. Además de los selectores, escribe un título claro y una descripción que explique qué problema resuelve el cambio.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303F9F"/>
          </a:solidFill>
          <a:ln w="12700">
            <a:solidFill>
              <a:srgbClr val="303F9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Pull Requests — Aviso de nueva rama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Entornos de Desarrollo · Tema 4 · Colaboración en GitHub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868680"/>
            <a:ext cx="11091672" cy="685800"/>
          </a:xfrm>
          <a:prstGeom prst="roundRect">
            <a:avLst/>
          </a:prstGeom>
          <a:solidFill>
            <a:srgbClr val="E0F2F1"/>
          </a:solidFill>
          <a:ln w="19050">
            <a:solidFill>
              <a:srgbClr val="0096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960120"/>
            <a:ext cx="1063447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Aviso que aparece en el repositorio justo después de hacer push de una rama nueva, con el botón «Compare &amp; pull request» para crear la PR directamente.</a:t>
            </a:r>
            <a:endParaRPr lang="en-US" sz="16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154187"/>
            <a:ext cx="11091672" cy="3738346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303F9F"/>
          </a:solidFill>
          <a:ln w="12700">
            <a:solidFill>
              <a:srgbClr val="303F9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Pull Requests — Formulario de apertura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Entornos de Desarrollo · Tema 4 · Colaboración en GitHub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868680"/>
            <a:ext cx="11091672" cy="685800"/>
          </a:xfrm>
          <a:prstGeom prst="roundRect">
            <a:avLst/>
          </a:prstGeom>
          <a:solidFill>
            <a:srgbClr val="E0F2F1"/>
          </a:solidFill>
          <a:ln w="19050">
            <a:solidFill>
              <a:srgbClr val="0096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960120"/>
            <a:ext cx="1063447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Formulario de apertura de la PR con los cuatro selectores de rama y el campo de descripción.</a:t>
            </a:r>
            <a:endParaRPr lang="en-US" sz="16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00724" y="1691640"/>
            <a:ext cx="9387505" cy="466344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303F9F"/>
          </a:solidFill>
          <a:ln w="12700">
            <a:solidFill>
              <a:srgbClr val="303F9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Pull Requests — PR abierta para revisión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Entornos de Desarrollo · Tema 4 · Colaboración en GitHub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868680"/>
            <a:ext cx="11091672" cy="685800"/>
          </a:xfrm>
          <a:prstGeom prst="roundRect">
            <a:avLst/>
          </a:prstGeom>
          <a:solidFill>
            <a:srgbClr val="E0F2F1"/>
          </a:solidFill>
          <a:ln w="19050">
            <a:solidFill>
              <a:srgbClr val="0096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960120"/>
            <a:ext cx="1063447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PR ya abierta, donde el equipo puede revisar el código línea a línea, dejar comentarios y aprobar los cambios.</a:t>
            </a:r>
            <a:endParaRPr lang="en-US" sz="16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15242" y="1691640"/>
            <a:ext cx="8958468" cy="466344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303F9F"/>
          </a:solidFill>
          <a:ln w="12700">
            <a:solidFill>
              <a:srgbClr val="303F9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Pull Requests — Confirmar Merge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Entornos de Desarrollo · Tema 4 · Colaboración en GitHub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868680"/>
            <a:ext cx="11091672" cy="685800"/>
          </a:xfrm>
          <a:prstGeom prst="roundRect">
            <a:avLst/>
          </a:prstGeom>
          <a:solidFill>
            <a:srgbClr val="E0F2F1"/>
          </a:solidFill>
          <a:ln w="19050">
            <a:solidFill>
              <a:srgbClr val="0096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960120"/>
            <a:ext cx="1063447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botón «Merge pull request» que activa el administrador una vez el equipo ha dado el visto bueno.</a:t>
            </a:r>
            <a:endParaRPr lang="en-US" sz="16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5990" y="1691640"/>
            <a:ext cx="10156972" cy="466344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303F9F"/>
          </a:solidFill>
          <a:ln w="12700">
            <a:solidFill>
              <a:srgbClr val="303F9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Pull Requests — Fusión completada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Entornos de Desarrollo · Tema 4 · Colaboración en GitHub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868680"/>
            <a:ext cx="11091672" cy="685800"/>
          </a:xfrm>
          <a:prstGeom prst="roundRect">
            <a:avLst/>
          </a:prstGeom>
          <a:solidFill>
            <a:srgbClr val="E0F2F1"/>
          </a:solidFill>
          <a:ln w="19050">
            <a:solidFill>
              <a:srgbClr val="0096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960120"/>
            <a:ext cx="1063447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PR en estado «Merged» (etiqueta morada), confirmando que los cambios han pasado a la rama principal.</a:t>
            </a:r>
            <a:endParaRPr lang="en-US" sz="16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625720"/>
            <a:ext cx="11091672" cy="279528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303F9F"/>
          </a:solidFill>
          <a:ln w="12700">
            <a:solidFill>
              <a:srgbClr val="303F9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Pull Requests — Detalles importantes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Entornos de Desarrollo · Tema 4 · Colaboración en GitHub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868680"/>
            <a:ext cx="11091672" cy="438912"/>
          </a:xfrm>
          <a:prstGeom prst="rect">
            <a:avLst/>
          </a:prstGeom>
          <a:solidFill>
            <a:srgbClr val="3F51B5"/>
          </a:solidFill>
          <a:ln w="12700">
            <a:solidFill>
              <a:srgbClr val="3F51B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868680"/>
            <a:ext cx="10725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 desde el mismo repo vs desde un Fork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548640" y="1490472"/>
            <a:ext cx="11091672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 la PR viene de una rama del mismo repositorio, los selectores «Base repository» y «Head repository» son iguales. Si contribuyes desde un fork, apuntan a repositorios distintos: el del autor original y el tuyo respectivamente.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48640" y="2542032"/>
            <a:ext cx="11091672" cy="438912"/>
          </a:xfrm>
          <a:prstGeom prst="rect">
            <a:avLst/>
          </a:prstGeom>
          <a:solidFill>
            <a:srgbClr val="3F51B5"/>
          </a:solidFill>
          <a:ln w="12700">
            <a:solidFill>
              <a:srgbClr val="3F51B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2542032"/>
            <a:ext cx="10725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Cerrar Issues automáticamente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548640" y="3163824"/>
            <a:ext cx="11091672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 en la descripción de tu PR escribes Closes #10, GitHub cierra automáticamente el Issue #10 en el momento en que se aprueba el merge. Esto evita trabajo de gestión manual.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48640" y="4032504"/>
            <a:ext cx="11091672" cy="868680"/>
          </a:xfrm>
          <a:prstGeom prst="rect">
            <a:avLst/>
          </a:prstGeom>
          <a:solidFill>
            <a:srgbClr val="ECEFF1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48640" y="4032504"/>
            <a:ext cx="73152" cy="868680"/>
          </a:xfrm>
          <a:prstGeom prst="rect">
            <a:avLst/>
          </a:prstGeom>
          <a:solidFill>
            <a:srgbClr val="009688"/>
          </a:solidFill>
          <a:ln w="12700">
            <a:solidFill>
              <a:srgbClr val="0096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" y="4142232"/>
            <a:ext cx="10680192" cy="6492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Closes #10    ← cierra el Issue #10 al fusionar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Fixes #10     ← equivalente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Resolves #10  ← equivalente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548640" y="5084064"/>
            <a:ext cx="1109167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Queda así un historial claro de qué PR resolvió qué problema.</a:t>
            </a:r>
            <a:endParaRPr lang="en-US" sz="15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303F9F"/>
          </a:solidFill>
          <a:ln w="12700">
            <a:solidFill>
              <a:srgbClr val="303F9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Gestión del proyecto: Issues y Projects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Entornos de Desarrollo · Tema 4 · Colaboración en GitHub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11091672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Además del código, GitHub ofrece herramientas integradas para organizar el trabajo del equipo.</a:t>
            </a:r>
            <a:endParaRPr lang="en-US" sz="15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11091672" cy="914400"/>
        </p:xfrm>
        <a:graphic>
          <a:graphicData uri="http://schemas.openxmlformats.org/drawingml/2006/table">
            <a:tbl>
              <a:tblPr/>
              <a:tblGrid>
                <a:gridCol w="2440168"/>
                <a:gridCol w="4325752"/>
                <a:gridCol w="4325752"/>
              </a:tblGrid>
              <a:tr h="8046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51B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Issues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51B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Projects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51B5"/>
                    </a:solidFill>
                  </a:tcPr>
                </a:tc>
              </a:tr>
              <a:tr h="8046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Para qué sirve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Registrar tareas, errores o propuestas de mejora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Visualizar y priorizar el trabajo del equipo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046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Unidad de trabajo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Un ticket por tarea o bug, con su hilo de conversación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Tablero con columnas: To Do, In Progress, Done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8046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Integración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 cierran automáticamente con Closes #N en PRs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Las tarjetas enlazan a Issues y PRs; se mueven solas al fusionar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046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Cuándo usarlo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Siempre que hay algo por hacer o un bug que reportar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Cuando el equipo necesita ver el estado global del proyecto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48640" y="5669280"/>
            <a:ext cx="11091672" cy="731520"/>
          </a:xfrm>
          <a:prstGeom prst="roundRect">
            <a:avLst/>
          </a:prstGeom>
          <a:solidFill>
            <a:srgbClr val="E0F2F1"/>
          </a:solidFill>
          <a:ln w="19050">
            <a:solidFill>
              <a:srgbClr val="00968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77240" y="5760720"/>
            <a:ext cx="106344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Issue puede tener: responsables (Assignees), etiquetas de colores (Labels: bug, enhancement, documentation...) y fechas de entrega (Milestones).</a:t>
            </a:r>
            <a:endParaRPr lang="en-US" sz="1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303F9F"/>
          </a:solidFill>
          <a:ln w="12700">
            <a:solidFill>
              <a:srgbClr val="303F9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Otras herramientas del repositorio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Entornos de Desarrollo · Tema 4 · Colaboración en GitHub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868680"/>
            <a:ext cx="11091672" cy="438912"/>
          </a:xfrm>
          <a:prstGeom prst="rect">
            <a:avLst/>
          </a:prstGeom>
          <a:solidFill>
            <a:srgbClr val="3F51B5"/>
          </a:solidFill>
          <a:ln w="12700">
            <a:solidFill>
              <a:srgbClr val="3F51B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868680"/>
            <a:ext cx="10725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Wiki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548640" y="1490472"/>
            <a:ext cx="11091672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Espacio de documentación con estructura de páginas. Ideal para manuales de uso, guías para nuevos colaboradores o FAQs. Mantiene el README.md limpio y navegable.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48640" y="2496312"/>
            <a:ext cx="11091672" cy="438912"/>
          </a:xfrm>
          <a:prstGeom prst="rect">
            <a:avLst/>
          </a:prstGeom>
          <a:solidFill>
            <a:srgbClr val="3F51B5"/>
          </a:solidFill>
          <a:ln w="12700">
            <a:solidFill>
              <a:srgbClr val="3F51B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2496312"/>
            <a:ext cx="10725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 Actions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548640" y="3118104"/>
            <a:ext cx="11091672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Permite automatizar tareas que se ejecutan en respuesta a eventos del repositorio: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48640" y="3666744"/>
            <a:ext cx="11091672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Pasar tests automáticamente cuando alguien abre una PR.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Desplegar la aplicación cuando se fusiona en main.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Generar documentación automáticamente tras cada push.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48640" y="4946904"/>
            <a:ext cx="11091672" cy="640080"/>
          </a:xfrm>
          <a:prstGeom prst="roundRect">
            <a:avLst/>
          </a:prstGeom>
          <a:solidFill>
            <a:srgbClr val="E0F2F1"/>
          </a:solidFill>
          <a:ln w="19050">
            <a:solidFill>
              <a:srgbClr val="0096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" y="5038344"/>
            <a:ext cx="106344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 Actions se verá en detalle en la sección 9: Integración continua con GitHub Actions.</a:t>
            </a:r>
            <a:endParaRPr lang="en-US" sz="15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303F9F"/>
          </a:solidFill>
          <a:ln w="12700">
            <a:solidFill>
              <a:srgbClr val="303F9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Protecciones de ramas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Entornos de Desarrollo · Tema 4 · Colaboración en GitHub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868680"/>
            <a:ext cx="11091672" cy="868680"/>
          </a:xfrm>
          <a:prstGeom prst="roundRect">
            <a:avLst/>
          </a:prstGeom>
          <a:solidFill>
            <a:srgbClr val="E0F2F1"/>
          </a:solidFill>
          <a:ln w="19050">
            <a:solidFill>
              <a:srgbClr val="0096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960120"/>
            <a:ext cx="1063447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Cuando varias personas hacen PRs hacia main, conviene blindar esa rama para evitar que alguien suba código directamente sin revisión. En Settings → Rules los administradores configuran las reglas.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2011680"/>
            <a:ext cx="11091672" cy="438912"/>
          </a:xfrm>
          <a:prstGeom prst="rect">
            <a:avLst/>
          </a:prstGeom>
          <a:solidFill>
            <a:srgbClr val="3F51B5"/>
          </a:solidFill>
          <a:ln w="12700">
            <a:solidFill>
              <a:srgbClr val="3F51B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2011680"/>
            <a:ext cx="10725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Reglas que se pueden activar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548640" y="2679192"/>
            <a:ext cx="11091672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Todo el código debe entrar por PR — el push directo a main queda bloqueado.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 menos un compañero tiene que revisar y aprobar el código antes del merge.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 tests automatizados deben pasar antes de que el botón de merge se active.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48640" y="4187952"/>
            <a:ext cx="11091672" cy="731520"/>
          </a:xfrm>
          <a:prstGeom prst="roundRect">
            <a:avLst/>
          </a:prstGeom>
          <a:solidFill>
            <a:srgbClr val="FFF8E1"/>
          </a:solidFill>
          <a:ln w="19050">
            <a:solidFill>
              <a:srgbClr val="F57F1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4279392"/>
            <a:ext cx="106344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Esto no es burocracia: es lo que impide que un error de un miembro del equipo rompa el proyecto para todos los demás.</a:t>
            </a:r>
            <a:endParaRPr lang="en-US" sz="16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303F9F"/>
          </a:solidFill>
          <a:ln w="12700">
            <a:solidFill>
              <a:srgbClr val="303F9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Ideas clave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Entornos de Desarrollo · Tema 4 · Colaboración en GitHub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11091672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Fork: copia de un repositorio ajeno bajo tu cuenta. Tú tienes control total; el original no se toca.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Sync fork: sincroniza tu fork con los nuevos commits del repositorio original (upstream).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Pull Request: propuesta formal para integrar una rama en otra. Pasa por revisión del equipo antes del merge.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Closes #10 en la descripción de una PR cierra el Issue #10 automáticamente al hacer merge.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Issues: sistema de seguimiento de tareas y errores. Cada tarea es un ticket numerado.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Projects: tablero visual que agrupa Issues y PRs por estado (To Do / In Progress / Done).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Branch protection: reglas que obligan a usar PRs y pasar tests antes de tocar main.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Entornos de Desarrollo</dc:creator>
  <cp:lastModifiedBy>Entornos de Desarrollo</cp:lastModifiedBy>
  <cp:revision>1</cp:revision>
  <dcterms:created xsi:type="dcterms:W3CDTF">2026-06-29T18:43:47Z</dcterms:created>
  <dcterms:modified xsi:type="dcterms:W3CDTF">2026-06-29T18:43:47Z</dcterms:modified>
</cp:coreProperties>
</file>
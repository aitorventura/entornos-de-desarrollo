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4"/>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82" d="100"/>
          <a:sy n="82" d="100"/>
        </p:scale>
        <p:origin x="691"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91086112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303F9F"/>
        </a:solidFill>
        <a:effectLst/>
      </p:bgPr>
    </p:bg>
    <p:spTree>
      <p:nvGrpSpPr>
        <p:cNvPr id="1" name=""/>
        <p:cNvGrpSpPr/>
        <p:nvPr/>
      </p:nvGrpSpPr>
      <p:grpSpPr>
        <a:xfrm>
          <a:off x="0" y="0"/>
          <a:ext cx="0" cy="0"/>
          <a:chOff x="0" y="0"/>
          <a:chExt cx="0" cy="0"/>
        </a:xfrm>
      </p:grpSpPr>
      <p:sp>
        <p:nvSpPr>
          <p:cNvPr id="2" name="Text 0"/>
          <p:cNvSpPr/>
          <p:nvPr/>
        </p:nvSpPr>
        <p:spPr>
          <a:xfrm>
            <a:off x="548640" y="502920"/>
            <a:ext cx="11091672" cy="411480"/>
          </a:xfrm>
          <a:prstGeom prst="rect">
            <a:avLst/>
          </a:prstGeom>
          <a:noFill/>
          <a:ln/>
        </p:spPr>
        <p:txBody>
          <a:bodyPr wrap="square" rtlCol="0" anchor="ctr"/>
          <a:lstStyle/>
          <a:p>
            <a:pPr marL="0" indent="0">
              <a:buNone/>
            </a:pPr>
            <a:r>
              <a:rPr lang="en-US" sz="1400" dirty="0">
                <a:solidFill>
                  <a:srgbClr val="B0BEC5"/>
                </a:solidFill>
                <a:latin typeface="Arial" pitchFamily="34" charset="0"/>
                <a:ea typeface="Arial" pitchFamily="34" charset="-122"/>
                <a:cs typeface="Arial" pitchFamily="34" charset="-120"/>
              </a:rPr>
              <a:t>ENTORNOS DE DESARROLLO  —  TEMA 4: OPTIMIZACIÓN Y DOCUMENTACIÓN</a:t>
            </a:r>
            <a:endParaRPr lang="en-US" sz="1400" dirty="0"/>
          </a:p>
        </p:txBody>
      </p:sp>
      <p:sp>
        <p:nvSpPr>
          <p:cNvPr id="3" name="Text 1"/>
          <p:cNvSpPr/>
          <p:nvPr/>
        </p:nvSpPr>
        <p:spPr>
          <a:xfrm>
            <a:off x="548640" y="1280160"/>
            <a:ext cx="11091672" cy="2560320"/>
          </a:xfrm>
          <a:prstGeom prst="rect">
            <a:avLst/>
          </a:prstGeom>
          <a:noFill/>
          <a:ln/>
        </p:spPr>
        <p:txBody>
          <a:bodyPr wrap="square" rtlCol="0" anchor="ctr"/>
          <a:lstStyle/>
          <a:p>
            <a:pPr marL="0" indent="0" algn="l">
              <a:buNone/>
            </a:pPr>
            <a:r>
              <a:rPr lang="en-US" sz="4400" b="1" dirty="0">
                <a:solidFill>
                  <a:srgbClr val="FFFFFF"/>
                </a:solidFill>
                <a:latin typeface="Arial" pitchFamily="34" charset="0"/>
                <a:ea typeface="Arial" pitchFamily="34" charset="-122"/>
                <a:cs typeface="Arial" pitchFamily="34" charset="-120"/>
              </a:rPr>
              <a:t>Integración Continua</a:t>
            </a:r>
            <a:endParaRPr lang="en-US" sz="4400" dirty="0"/>
          </a:p>
          <a:p>
            <a:pPr marL="0" indent="0" algn="l">
              <a:buNone/>
            </a:pPr>
            <a:r>
              <a:rPr lang="en-US" sz="4400" b="1" dirty="0">
                <a:solidFill>
                  <a:srgbClr val="FFFFFF"/>
                </a:solidFill>
                <a:latin typeface="Arial" pitchFamily="34" charset="0"/>
                <a:ea typeface="Arial" pitchFamily="34" charset="-122"/>
                <a:cs typeface="Arial" pitchFamily="34" charset="-120"/>
              </a:rPr>
              <a:t>con GitHub Actions</a:t>
            </a:r>
            <a:endParaRPr lang="en-US" sz="4400" dirty="0"/>
          </a:p>
        </p:txBody>
      </p:sp>
      <p:sp>
        <p:nvSpPr>
          <p:cNvPr id="4" name="Shape 2"/>
          <p:cNvSpPr/>
          <p:nvPr/>
        </p:nvSpPr>
        <p:spPr>
          <a:xfrm>
            <a:off x="0" y="5120640"/>
            <a:ext cx="12188952" cy="914400"/>
          </a:xfrm>
          <a:prstGeom prst="rect">
            <a:avLst/>
          </a:prstGeom>
          <a:solidFill>
            <a:srgbClr val="009688"/>
          </a:solidFill>
          <a:ln w="12700">
            <a:solidFill>
              <a:srgbClr val="009688"/>
            </a:solidFill>
            <a:prstDash val="solid"/>
          </a:ln>
        </p:spPr>
        <p:txBody>
          <a:bodyPr/>
          <a:lstStyle/>
          <a:p>
            <a:endParaRPr lang="es-ES"/>
          </a:p>
        </p:txBody>
      </p:sp>
      <p:sp>
        <p:nvSpPr>
          <p:cNvPr id="5" name="Text 3"/>
          <p:cNvSpPr/>
          <p:nvPr/>
        </p:nvSpPr>
        <p:spPr>
          <a:xfrm>
            <a:off x="548640" y="5120640"/>
            <a:ext cx="11091672" cy="914400"/>
          </a:xfrm>
          <a:prstGeom prst="rect">
            <a:avLst/>
          </a:prstGeom>
          <a:noFill/>
          <a:ln/>
        </p:spPr>
        <p:txBody>
          <a:bodyPr wrap="square" rtlCol="0" anchor="ctr"/>
          <a:lstStyle/>
          <a:p>
            <a:pPr marL="0" indent="0">
              <a:buNone/>
            </a:pPr>
            <a:r>
              <a:rPr lang="en-US" sz="2000" i="1" dirty="0">
                <a:solidFill>
                  <a:srgbClr val="FFFFFF"/>
                </a:solidFill>
                <a:latin typeface="Arial" pitchFamily="34" charset="0"/>
                <a:ea typeface="Arial" pitchFamily="34" charset="-122"/>
                <a:cs typeface="Arial" pitchFamily="34" charset="-120"/>
              </a:rPr>
              <a:t>CI, workflows, jobs, steps y Actions</a:t>
            </a:r>
            <a:endParaRPr lang="en-US" sz="2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Shape 0"/>
          <p:cNvSpPr/>
          <p:nvPr/>
        </p:nvSpPr>
        <p:spPr>
          <a:xfrm>
            <a:off x="0" y="0"/>
            <a:ext cx="12188952" cy="777240"/>
          </a:xfrm>
          <a:prstGeom prst="rect">
            <a:avLst/>
          </a:prstGeom>
          <a:solidFill>
            <a:srgbClr val="303F9F"/>
          </a:solidFill>
          <a:ln w="12700">
            <a:solidFill>
              <a:srgbClr val="303F9F"/>
            </a:solidFill>
            <a:prstDash val="solid"/>
          </a:ln>
        </p:spPr>
        <p:txBody>
          <a:bodyPr/>
          <a:lstStyle/>
          <a:p>
            <a:endParaRPr lang="es-ES"/>
          </a:p>
        </p:txBody>
      </p:sp>
      <p:sp>
        <p:nvSpPr>
          <p:cNvPr id="3" name="Text 1"/>
          <p:cNvSpPr/>
          <p:nvPr/>
        </p:nvSpPr>
        <p:spPr>
          <a:xfrm>
            <a:off x="365760" y="0"/>
            <a:ext cx="11457432" cy="777240"/>
          </a:xfrm>
          <a:prstGeom prst="rect">
            <a:avLst/>
          </a:prstGeom>
          <a:noFill/>
          <a:ln/>
        </p:spPr>
        <p:txBody>
          <a:bodyPr wrap="square" rtlCol="0" anchor="ctr"/>
          <a:lstStyle/>
          <a:p>
            <a:pPr marL="0" indent="0">
              <a:buNone/>
            </a:pPr>
            <a:r>
              <a:rPr lang="en-US" sz="2200" b="1" dirty="0">
                <a:solidFill>
                  <a:srgbClr val="FFFFFF"/>
                </a:solidFill>
                <a:latin typeface="Arial" pitchFamily="34" charset="0"/>
                <a:ea typeface="Arial" pitchFamily="34" charset="-122"/>
                <a:cs typeface="Arial" pitchFamily="34" charset="-120"/>
              </a:rPr>
              <a:t>9.1 — ¿Qué problema resuelve la integración continua?</a:t>
            </a:r>
            <a:endParaRPr lang="en-US" sz="2200" dirty="0"/>
          </a:p>
        </p:txBody>
      </p:sp>
      <p:sp>
        <p:nvSpPr>
          <p:cNvPr id="4" name="Text 2"/>
          <p:cNvSpPr/>
          <p:nvPr/>
        </p:nvSpPr>
        <p:spPr>
          <a:xfrm>
            <a:off x="548640" y="6473952"/>
            <a:ext cx="11091672" cy="292608"/>
          </a:xfrm>
          <a:prstGeom prst="rect">
            <a:avLst/>
          </a:prstGeom>
          <a:noFill/>
          <a:ln/>
        </p:spPr>
        <p:txBody>
          <a:bodyPr wrap="square" rtlCol="0" anchor="ctr"/>
          <a:lstStyle/>
          <a:p>
            <a:pPr marL="0" indent="0" algn="r">
              <a:buNone/>
            </a:pPr>
            <a:r>
              <a:rPr lang="en-US" sz="1100" dirty="0">
                <a:solidFill>
                  <a:srgbClr val="757575"/>
                </a:solidFill>
                <a:latin typeface="Arial" pitchFamily="34" charset="0"/>
                <a:ea typeface="Arial" pitchFamily="34" charset="-122"/>
                <a:cs typeface="Arial" pitchFamily="34" charset="-120"/>
              </a:rPr>
              <a:t>Entornos de Desarrollo — Tema 4 — Integración Continua con GitHub Actions</a:t>
            </a:r>
            <a:endParaRPr lang="en-US" sz="1100" dirty="0"/>
          </a:p>
        </p:txBody>
      </p:sp>
      <p:sp>
        <p:nvSpPr>
          <p:cNvPr id="5" name="Shape 3"/>
          <p:cNvSpPr/>
          <p:nvPr/>
        </p:nvSpPr>
        <p:spPr>
          <a:xfrm>
            <a:off x="548640" y="1325880"/>
            <a:ext cx="11091672" cy="1005840"/>
          </a:xfrm>
          <a:prstGeom prst="roundRect">
            <a:avLst/>
          </a:prstGeom>
          <a:solidFill>
            <a:srgbClr val="E0F2F1"/>
          </a:solidFill>
          <a:ln w="19050">
            <a:solidFill>
              <a:srgbClr val="009688"/>
            </a:solidFill>
            <a:prstDash val="solid"/>
          </a:ln>
        </p:spPr>
        <p:txBody>
          <a:bodyPr/>
          <a:lstStyle/>
          <a:p>
            <a:endParaRPr lang="es-ES"/>
          </a:p>
        </p:txBody>
      </p:sp>
      <p:sp>
        <p:nvSpPr>
          <p:cNvPr id="6" name="Text 4"/>
          <p:cNvSpPr/>
          <p:nvPr/>
        </p:nvSpPr>
        <p:spPr>
          <a:xfrm>
            <a:off x="777240" y="1399032"/>
            <a:ext cx="10634472" cy="859536"/>
          </a:xfrm>
          <a:prstGeom prst="rect">
            <a:avLst/>
          </a:prstGeom>
          <a:noFill/>
          <a:ln/>
        </p:spPr>
        <p:txBody>
          <a:bodyPr wrap="square" rtlCol="0" anchor="ctr"/>
          <a:lstStyle/>
          <a:p>
            <a:pPr marL="0" indent="0">
              <a:buNone/>
            </a:pPr>
            <a:r>
              <a:rPr lang="en-US" sz="1600" dirty="0">
                <a:solidFill>
                  <a:srgbClr val="212121"/>
                </a:solidFill>
                <a:latin typeface="Arial" pitchFamily="34" charset="0"/>
                <a:ea typeface="Arial" pitchFamily="34" charset="-122"/>
                <a:cs typeface="Arial" pitchFamily="34" charset="-120"/>
              </a:rPr>
              <a:t>Sin CI: cuatro personas trabajan en el mismo repositorio. Cada una hace merge cuando termina. Nadie sabe si el código del compañero rompe los tests que otro escribió la semana pasada. El error se descubre días después — o en producción.</a:t>
            </a:r>
            <a:endParaRPr lang="en-US" sz="1600" dirty="0"/>
          </a:p>
        </p:txBody>
      </p:sp>
      <p:sp>
        <p:nvSpPr>
          <p:cNvPr id="7" name="Shape 5"/>
          <p:cNvSpPr/>
          <p:nvPr/>
        </p:nvSpPr>
        <p:spPr>
          <a:xfrm>
            <a:off x="548640" y="2560320"/>
            <a:ext cx="11091672" cy="438912"/>
          </a:xfrm>
          <a:prstGeom prst="rect">
            <a:avLst/>
          </a:prstGeom>
          <a:solidFill>
            <a:srgbClr val="3F51B5"/>
          </a:solidFill>
          <a:ln w="12700">
            <a:solidFill>
              <a:srgbClr val="3F51B5"/>
            </a:solidFill>
            <a:prstDash val="solid"/>
          </a:ln>
        </p:spPr>
        <p:txBody>
          <a:bodyPr/>
          <a:lstStyle/>
          <a:p>
            <a:endParaRPr lang="es-ES"/>
          </a:p>
        </p:txBody>
      </p:sp>
      <p:sp>
        <p:nvSpPr>
          <p:cNvPr id="8" name="Text 6"/>
          <p:cNvSpPr/>
          <p:nvPr/>
        </p:nvSpPr>
        <p:spPr>
          <a:xfrm>
            <a:off x="731520" y="2560320"/>
            <a:ext cx="10725912" cy="438912"/>
          </a:xfrm>
          <a:prstGeom prst="rect">
            <a:avLst/>
          </a:prstGeom>
          <a:noFill/>
          <a:ln/>
        </p:spPr>
        <p:txBody>
          <a:bodyPr wrap="square" rtlCol="0" anchor="ctr"/>
          <a:lstStyle/>
          <a:p>
            <a:pPr marL="0" indent="0">
              <a:buNone/>
            </a:pPr>
            <a:r>
              <a:rPr lang="en-US" sz="1700" b="1" dirty="0">
                <a:solidFill>
                  <a:srgbClr val="FFFFFF"/>
                </a:solidFill>
                <a:latin typeface="Arial" pitchFamily="34" charset="0"/>
                <a:ea typeface="Arial" pitchFamily="34" charset="-122"/>
                <a:cs typeface="Arial" pitchFamily="34" charset="-120"/>
              </a:rPr>
              <a:t>Con integración continua (CI)</a:t>
            </a:r>
            <a:endParaRPr lang="en-US" sz="1700" dirty="0"/>
          </a:p>
        </p:txBody>
      </p:sp>
      <p:sp>
        <p:nvSpPr>
          <p:cNvPr id="9" name="Shape 7"/>
          <p:cNvSpPr/>
          <p:nvPr/>
        </p:nvSpPr>
        <p:spPr>
          <a:xfrm>
            <a:off x="548640" y="3182112"/>
            <a:ext cx="11091672" cy="914400"/>
          </a:xfrm>
          <a:prstGeom prst="roundRect">
            <a:avLst/>
          </a:prstGeom>
          <a:solidFill>
            <a:srgbClr val="E0F2F1"/>
          </a:solidFill>
          <a:ln w="19050">
            <a:solidFill>
              <a:srgbClr val="009688"/>
            </a:solidFill>
            <a:prstDash val="solid"/>
          </a:ln>
        </p:spPr>
        <p:txBody>
          <a:bodyPr/>
          <a:lstStyle/>
          <a:p>
            <a:endParaRPr lang="es-ES"/>
          </a:p>
        </p:txBody>
      </p:sp>
      <p:sp>
        <p:nvSpPr>
          <p:cNvPr id="10" name="Text 8"/>
          <p:cNvSpPr/>
          <p:nvPr/>
        </p:nvSpPr>
        <p:spPr>
          <a:xfrm>
            <a:off x="777240" y="3255264"/>
            <a:ext cx="10634472" cy="768096"/>
          </a:xfrm>
          <a:prstGeom prst="rect">
            <a:avLst/>
          </a:prstGeom>
          <a:noFill/>
          <a:ln/>
        </p:spPr>
        <p:txBody>
          <a:bodyPr wrap="square" rtlCol="0" anchor="ctr"/>
          <a:lstStyle/>
          <a:p>
            <a:pPr marL="0" indent="0">
              <a:buNone/>
            </a:pPr>
            <a:r>
              <a:rPr lang="en-US" sz="1600" dirty="0">
                <a:solidFill>
                  <a:srgbClr val="212121"/>
                </a:solidFill>
                <a:latin typeface="Arial" pitchFamily="34" charset="0"/>
                <a:ea typeface="Arial" pitchFamily="34" charset="-122"/>
                <a:cs typeface="Arial" pitchFamily="34" charset="-120"/>
              </a:rPr>
              <a:t>La CI ejecuta comprobaciones automáticas (compilar, tests, estilo) cada vez que alguien propone un cambio. Si algo falla, el sistema avisa antes de que el código llegue a main.</a:t>
            </a:r>
            <a:endParaRPr lang="en-US" sz="1600" dirty="0"/>
          </a:p>
        </p:txBody>
      </p:sp>
      <p:sp>
        <p:nvSpPr>
          <p:cNvPr id="11" name="Shape 9"/>
          <p:cNvSpPr/>
          <p:nvPr/>
        </p:nvSpPr>
        <p:spPr>
          <a:xfrm>
            <a:off x="548640" y="4416552"/>
            <a:ext cx="2498598" cy="960120"/>
          </a:xfrm>
          <a:prstGeom prst="roundRect">
            <a:avLst/>
          </a:prstGeom>
          <a:solidFill>
            <a:srgbClr val="E8EAF6"/>
          </a:solidFill>
          <a:ln w="15875">
            <a:solidFill>
              <a:srgbClr val="3F51B5"/>
            </a:solidFill>
            <a:prstDash val="solid"/>
          </a:ln>
        </p:spPr>
        <p:txBody>
          <a:bodyPr/>
          <a:lstStyle/>
          <a:p>
            <a:endParaRPr lang="es-ES"/>
          </a:p>
        </p:txBody>
      </p:sp>
      <p:sp>
        <p:nvSpPr>
          <p:cNvPr id="12" name="Text 10"/>
          <p:cNvSpPr/>
          <p:nvPr/>
        </p:nvSpPr>
        <p:spPr>
          <a:xfrm>
            <a:off x="594360" y="4462272"/>
            <a:ext cx="2407158" cy="868680"/>
          </a:xfrm>
          <a:prstGeom prst="rect">
            <a:avLst/>
          </a:prstGeom>
          <a:noFill/>
          <a:ln/>
        </p:spPr>
        <p:txBody>
          <a:bodyPr wrap="square" rtlCol="0" anchor="ctr"/>
          <a:lstStyle/>
          <a:p>
            <a:pPr marL="0" indent="0" algn="ctr">
              <a:buNone/>
            </a:pPr>
            <a:r>
              <a:rPr lang="en-US" sz="1400" dirty="0">
                <a:solidFill>
                  <a:srgbClr val="212121"/>
                </a:solidFill>
                <a:latin typeface="Arial" pitchFamily="34" charset="0"/>
                <a:ea typeface="Arial" pitchFamily="34" charset="-122"/>
                <a:cs typeface="Arial" pitchFamily="34" charset="-120"/>
              </a:rPr>
              <a:t>git push / PR</a:t>
            </a:r>
            <a:endParaRPr lang="en-US" sz="1400" dirty="0"/>
          </a:p>
        </p:txBody>
      </p:sp>
      <p:sp>
        <p:nvSpPr>
          <p:cNvPr id="13" name="Text 11"/>
          <p:cNvSpPr/>
          <p:nvPr/>
        </p:nvSpPr>
        <p:spPr>
          <a:xfrm>
            <a:off x="3001518" y="4416552"/>
            <a:ext cx="457200" cy="960120"/>
          </a:xfrm>
          <a:prstGeom prst="rect">
            <a:avLst/>
          </a:prstGeom>
          <a:noFill/>
          <a:ln/>
        </p:spPr>
        <p:txBody>
          <a:bodyPr wrap="square" rtlCol="0" anchor="ctr"/>
          <a:lstStyle/>
          <a:p>
            <a:pPr marL="0" indent="0" algn="ctr">
              <a:buNone/>
            </a:pPr>
            <a:r>
              <a:rPr lang="en-US" sz="2200" b="1" dirty="0">
                <a:solidFill>
                  <a:srgbClr val="3F51B5"/>
                </a:solidFill>
                <a:latin typeface="Arial" pitchFamily="34" charset="0"/>
                <a:ea typeface="Arial" pitchFamily="34" charset="-122"/>
                <a:cs typeface="Arial" pitchFamily="34" charset="-120"/>
              </a:rPr>
              <a:t>→</a:t>
            </a:r>
            <a:endParaRPr lang="en-US" sz="2200" dirty="0"/>
          </a:p>
        </p:txBody>
      </p:sp>
      <p:sp>
        <p:nvSpPr>
          <p:cNvPr id="14" name="Shape 12"/>
          <p:cNvSpPr/>
          <p:nvPr/>
        </p:nvSpPr>
        <p:spPr>
          <a:xfrm>
            <a:off x="3412998" y="4416552"/>
            <a:ext cx="2498598" cy="960120"/>
          </a:xfrm>
          <a:prstGeom prst="roundRect">
            <a:avLst/>
          </a:prstGeom>
          <a:solidFill>
            <a:srgbClr val="E8EAF6"/>
          </a:solidFill>
          <a:ln w="15875">
            <a:solidFill>
              <a:srgbClr val="3F51B5"/>
            </a:solidFill>
            <a:prstDash val="solid"/>
          </a:ln>
        </p:spPr>
        <p:txBody>
          <a:bodyPr/>
          <a:lstStyle/>
          <a:p>
            <a:endParaRPr lang="es-ES"/>
          </a:p>
        </p:txBody>
      </p:sp>
      <p:sp>
        <p:nvSpPr>
          <p:cNvPr id="15" name="Text 13"/>
          <p:cNvSpPr/>
          <p:nvPr/>
        </p:nvSpPr>
        <p:spPr>
          <a:xfrm>
            <a:off x="3458718" y="4462272"/>
            <a:ext cx="2407158" cy="868680"/>
          </a:xfrm>
          <a:prstGeom prst="rect">
            <a:avLst/>
          </a:prstGeom>
          <a:noFill/>
          <a:ln/>
        </p:spPr>
        <p:txBody>
          <a:bodyPr wrap="square" rtlCol="0" anchor="ctr"/>
          <a:lstStyle/>
          <a:p>
            <a:pPr marL="0" indent="0" algn="ctr">
              <a:buNone/>
            </a:pPr>
            <a:r>
              <a:rPr lang="en-US" sz="1400" dirty="0">
                <a:solidFill>
                  <a:srgbClr val="212121"/>
                </a:solidFill>
                <a:latin typeface="Arial" pitchFamily="34" charset="0"/>
                <a:ea typeface="Arial" pitchFamily="34" charset="-122"/>
                <a:cs typeface="Arial" pitchFamily="34" charset="-120"/>
              </a:rPr>
              <a:t>GitHub Actions</a:t>
            </a:r>
            <a:endParaRPr lang="en-US" sz="1400" dirty="0"/>
          </a:p>
        </p:txBody>
      </p:sp>
      <p:sp>
        <p:nvSpPr>
          <p:cNvPr id="16" name="Text 14"/>
          <p:cNvSpPr/>
          <p:nvPr/>
        </p:nvSpPr>
        <p:spPr>
          <a:xfrm>
            <a:off x="5865876" y="4416552"/>
            <a:ext cx="457200" cy="960120"/>
          </a:xfrm>
          <a:prstGeom prst="rect">
            <a:avLst/>
          </a:prstGeom>
          <a:noFill/>
          <a:ln/>
        </p:spPr>
        <p:txBody>
          <a:bodyPr wrap="square" rtlCol="0" anchor="ctr"/>
          <a:lstStyle/>
          <a:p>
            <a:pPr marL="0" indent="0" algn="ctr">
              <a:buNone/>
            </a:pPr>
            <a:r>
              <a:rPr lang="en-US" sz="2200" b="1" dirty="0">
                <a:solidFill>
                  <a:srgbClr val="3F51B5"/>
                </a:solidFill>
                <a:latin typeface="Arial" pitchFamily="34" charset="0"/>
                <a:ea typeface="Arial" pitchFamily="34" charset="-122"/>
                <a:cs typeface="Arial" pitchFamily="34" charset="-120"/>
              </a:rPr>
              <a:t>→</a:t>
            </a:r>
            <a:endParaRPr lang="en-US" sz="2200" dirty="0"/>
          </a:p>
        </p:txBody>
      </p:sp>
      <p:sp>
        <p:nvSpPr>
          <p:cNvPr id="17" name="Shape 15"/>
          <p:cNvSpPr/>
          <p:nvPr/>
        </p:nvSpPr>
        <p:spPr>
          <a:xfrm>
            <a:off x="6277356" y="4416552"/>
            <a:ext cx="2498598" cy="960120"/>
          </a:xfrm>
          <a:prstGeom prst="roundRect">
            <a:avLst/>
          </a:prstGeom>
          <a:solidFill>
            <a:srgbClr val="E8EAF6"/>
          </a:solidFill>
          <a:ln w="15875">
            <a:solidFill>
              <a:srgbClr val="3F51B5"/>
            </a:solidFill>
            <a:prstDash val="solid"/>
          </a:ln>
        </p:spPr>
        <p:txBody>
          <a:bodyPr/>
          <a:lstStyle/>
          <a:p>
            <a:endParaRPr lang="es-ES"/>
          </a:p>
        </p:txBody>
      </p:sp>
      <p:sp>
        <p:nvSpPr>
          <p:cNvPr id="18" name="Text 16"/>
          <p:cNvSpPr/>
          <p:nvPr/>
        </p:nvSpPr>
        <p:spPr>
          <a:xfrm>
            <a:off x="6323076" y="4462272"/>
            <a:ext cx="2407158" cy="868680"/>
          </a:xfrm>
          <a:prstGeom prst="rect">
            <a:avLst/>
          </a:prstGeom>
          <a:noFill/>
          <a:ln/>
        </p:spPr>
        <p:txBody>
          <a:bodyPr wrap="square" rtlCol="0" anchor="ctr"/>
          <a:lstStyle/>
          <a:p>
            <a:pPr marL="0" indent="0" algn="ctr">
              <a:buNone/>
            </a:pPr>
            <a:r>
              <a:rPr lang="en-US" sz="1400" dirty="0">
                <a:solidFill>
                  <a:srgbClr val="212121"/>
                </a:solidFill>
                <a:latin typeface="Arial" pitchFamily="34" charset="0"/>
                <a:ea typeface="Arial" pitchFamily="34" charset="-122"/>
                <a:cs typeface="Arial" pitchFamily="34" charset="-120"/>
              </a:rPr>
              <a:t>¿Pasan los tests?</a:t>
            </a:r>
            <a:endParaRPr lang="en-US" sz="1400" dirty="0"/>
          </a:p>
        </p:txBody>
      </p:sp>
      <p:sp>
        <p:nvSpPr>
          <p:cNvPr id="19" name="Text 17"/>
          <p:cNvSpPr/>
          <p:nvPr/>
        </p:nvSpPr>
        <p:spPr>
          <a:xfrm>
            <a:off x="8730234" y="4416552"/>
            <a:ext cx="457200" cy="960120"/>
          </a:xfrm>
          <a:prstGeom prst="rect">
            <a:avLst/>
          </a:prstGeom>
          <a:noFill/>
          <a:ln/>
        </p:spPr>
        <p:txBody>
          <a:bodyPr wrap="square" rtlCol="0" anchor="ctr"/>
          <a:lstStyle/>
          <a:p>
            <a:pPr marL="0" indent="0" algn="ctr">
              <a:buNone/>
            </a:pPr>
            <a:r>
              <a:rPr lang="en-US" sz="2200" b="1" dirty="0">
                <a:solidFill>
                  <a:srgbClr val="3F51B5"/>
                </a:solidFill>
                <a:latin typeface="Arial" pitchFamily="34" charset="0"/>
                <a:ea typeface="Arial" pitchFamily="34" charset="-122"/>
                <a:cs typeface="Arial" pitchFamily="34" charset="-120"/>
              </a:rPr>
              <a:t>→</a:t>
            </a:r>
            <a:endParaRPr lang="en-US" sz="2200" dirty="0"/>
          </a:p>
        </p:txBody>
      </p:sp>
      <p:sp>
        <p:nvSpPr>
          <p:cNvPr id="20" name="Shape 18"/>
          <p:cNvSpPr/>
          <p:nvPr/>
        </p:nvSpPr>
        <p:spPr>
          <a:xfrm>
            <a:off x="9141714" y="4416552"/>
            <a:ext cx="2498598" cy="960120"/>
          </a:xfrm>
          <a:prstGeom prst="roundRect">
            <a:avLst/>
          </a:prstGeom>
          <a:solidFill>
            <a:srgbClr val="E8EAF6"/>
          </a:solidFill>
          <a:ln w="15875">
            <a:solidFill>
              <a:srgbClr val="3F51B5"/>
            </a:solidFill>
            <a:prstDash val="solid"/>
          </a:ln>
        </p:spPr>
        <p:txBody>
          <a:bodyPr/>
          <a:lstStyle/>
          <a:p>
            <a:endParaRPr lang="es-ES"/>
          </a:p>
        </p:txBody>
      </p:sp>
      <p:sp>
        <p:nvSpPr>
          <p:cNvPr id="21" name="Text 19"/>
          <p:cNvSpPr/>
          <p:nvPr/>
        </p:nvSpPr>
        <p:spPr>
          <a:xfrm>
            <a:off x="9187434" y="4462272"/>
            <a:ext cx="2407158" cy="868680"/>
          </a:xfrm>
          <a:prstGeom prst="rect">
            <a:avLst/>
          </a:prstGeom>
          <a:noFill/>
          <a:ln/>
        </p:spPr>
        <p:txBody>
          <a:bodyPr wrap="square" rtlCol="0" anchor="ctr"/>
          <a:lstStyle/>
          <a:p>
            <a:pPr marL="0" indent="0" algn="ctr">
              <a:buNone/>
            </a:pPr>
            <a:r>
              <a:rPr lang="en-US" sz="1400" dirty="0">
                <a:solidFill>
                  <a:srgbClr val="212121"/>
                </a:solidFill>
                <a:latin typeface="Arial" pitchFamily="34" charset="0"/>
                <a:ea typeface="Arial" pitchFamily="34" charset="-122"/>
                <a:cs typeface="Arial" pitchFamily="34" charset="-120"/>
              </a:rPr>
              <a:t>Merge permitido</a:t>
            </a:r>
            <a:endParaRPr lang="en-US" sz="1400" dirty="0"/>
          </a:p>
          <a:p>
            <a:pPr marL="0" indent="0" algn="ctr">
              <a:buNone/>
            </a:pPr>
            <a:r>
              <a:rPr lang="en-US" sz="1400" dirty="0">
                <a:solidFill>
                  <a:srgbClr val="212121"/>
                </a:solidFill>
                <a:latin typeface="Arial" pitchFamily="34" charset="0"/>
                <a:ea typeface="Arial" pitchFamily="34" charset="-122"/>
                <a:cs typeface="Arial" pitchFamily="34" charset="-120"/>
              </a:rPr>
              <a:t>o bloqueado</a:t>
            </a:r>
            <a:endParaRPr lang="en-US" sz="14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Shape 0"/>
          <p:cNvSpPr/>
          <p:nvPr/>
        </p:nvSpPr>
        <p:spPr>
          <a:xfrm>
            <a:off x="0" y="0"/>
            <a:ext cx="12188952" cy="777240"/>
          </a:xfrm>
          <a:prstGeom prst="rect">
            <a:avLst/>
          </a:prstGeom>
          <a:solidFill>
            <a:srgbClr val="303F9F"/>
          </a:solidFill>
          <a:ln w="12700">
            <a:solidFill>
              <a:srgbClr val="303F9F"/>
            </a:solidFill>
            <a:prstDash val="solid"/>
          </a:ln>
        </p:spPr>
        <p:txBody>
          <a:bodyPr/>
          <a:lstStyle/>
          <a:p>
            <a:endParaRPr lang="es-ES"/>
          </a:p>
        </p:txBody>
      </p:sp>
      <p:sp>
        <p:nvSpPr>
          <p:cNvPr id="3" name="Text 1"/>
          <p:cNvSpPr/>
          <p:nvPr/>
        </p:nvSpPr>
        <p:spPr>
          <a:xfrm>
            <a:off x="365760" y="0"/>
            <a:ext cx="11457432" cy="777240"/>
          </a:xfrm>
          <a:prstGeom prst="rect">
            <a:avLst/>
          </a:prstGeom>
          <a:noFill/>
          <a:ln/>
        </p:spPr>
        <p:txBody>
          <a:bodyPr wrap="square" rtlCol="0" anchor="ctr"/>
          <a:lstStyle/>
          <a:p>
            <a:pPr marL="0" indent="0">
              <a:buNone/>
            </a:pPr>
            <a:r>
              <a:rPr lang="en-US" sz="2200" b="1" dirty="0">
                <a:solidFill>
                  <a:srgbClr val="FFFFFF"/>
                </a:solidFill>
                <a:latin typeface="Arial" pitchFamily="34" charset="0"/>
                <a:ea typeface="Arial" pitchFamily="34" charset="-122"/>
                <a:cs typeface="Arial" pitchFamily="34" charset="-120"/>
              </a:rPr>
              <a:t>9.1 — Ventaja clave y ejemplo de este apartado</a:t>
            </a:r>
            <a:endParaRPr lang="en-US" sz="2200" dirty="0"/>
          </a:p>
        </p:txBody>
      </p:sp>
      <p:sp>
        <p:nvSpPr>
          <p:cNvPr id="4" name="Text 2"/>
          <p:cNvSpPr/>
          <p:nvPr/>
        </p:nvSpPr>
        <p:spPr>
          <a:xfrm>
            <a:off x="548640" y="6473952"/>
            <a:ext cx="11091672" cy="292608"/>
          </a:xfrm>
          <a:prstGeom prst="rect">
            <a:avLst/>
          </a:prstGeom>
          <a:noFill/>
          <a:ln/>
        </p:spPr>
        <p:txBody>
          <a:bodyPr wrap="square" rtlCol="0" anchor="ctr"/>
          <a:lstStyle/>
          <a:p>
            <a:pPr marL="0" indent="0" algn="r">
              <a:buNone/>
            </a:pPr>
            <a:r>
              <a:rPr lang="en-US" sz="1100" dirty="0">
                <a:solidFill>
                  <a:srgbClr val="757575"/>
                </a:solidFill>
                <a:latin typeface="Arial" pitchFamily="34" charset="0"/>
                <a:ea typeface="Arial" pitchFamily="34" charset="-122"/>
                <a:cs typeface="Arial" pitchFamily="34" charset="-120"/>
              </a:rPr>
              <a:t>Entornos de Desarrollo — Tema 4 — Integración Continua con GitHub Actions</a:t>
            </a:r>
            <a:endParaRPr lang="en-US" sz="1100" dirty="0"/>
          </a:p>
        </p:txBody>
      </p:sp>
      <p:sp>
        <p:nvSpPr>
          <p:cNvPr id="5" name="Shape 3"/>
          <p:cNvSpPr/>
          <p:nvPr/>
        </p:nvSpPr>
        <p:spPr>
          <a:xfrm>
            <a:off x="548640" y="1251235"/>
            <a:ext cx="11091672" cy="914400"/>
          </a:xfrm>
          <a:prstGeom prst="roundRect">
            <a:avLst/>
          </a:prstGeom>
          <a:solidFill>
            <a:srgbClr val="E0F2F1"/>
          </a:solidFill>
          <a:ln w="19050">
            <a:solidFill>
              <a:srgbClr val="009688"/>
            </a:solidFill>
            <a:prstDash val="solid"/>
          </a:ln>
        </p:spPr>
        <p:txBody>
          <a:bodyPr/>
          <a:lstStyle/>
          <a:p>
            <a:endParaRPr lang="es-ES"/>
          </a:p>
        </p:txBody>
      </p:sp>
      <p:sp>
        <p:nvSpPr>
          <p:cNvPr id="6" name="Text 4"/>
          <p:cNvSpPr/>
          <p:nvPr/>
        </p:nvSpPr>
        <p:spPr>
          <a:xfrm>
            <a:off x="777240" y="1324387"/>
            <a:ext cx="10634472" cy="768096"/>
          </a:xfrm>
          <a:prstGeom prst="rect">
            <a:avLst/>
          </a:prstGeom>
          <a:noFill/>
          <a:ln/>
        </p:spPr>
        <p:txBody>
          <a:bodyPr wrap="square" rtlCol="0" anchor="ctr"/>
          <a:lstStyle/>
          <a:p>
            <a:pPr marL="0" indent="0">
              <a:buNone/>
            </a:pPr>
            <a:r>
              <a:rPr lang="en-US" sz="1600" dirty="0">
                <a:solidFill>
                  <a:srgbClr val="212121"/>
                </a:solidFill>
                <a:latin typeface="Arial" pitchFamily="34" charset="0"/>
                <a:ea typeface="Arial" pitchFamily="34" charset="-122"/>
                <a:cs typeface="Arial" pitchFamily="34" charset="-120"/>
              </a:rPr>
              <a:t>El equipo puede trabajar más rápido porque confía en que si el pipeline es verde, el código funciona. Sin CI, cada merge es un riesgo. Con CI, es una rutina segura.</a:t>
            </a:r>
            <a:endParaRPr lang="en-US" sz="1600" dirty="0"/>
          </a:p>
        </p:txBody>
      </p:sp>
      <p:sp>
        <p:nvSpPr>
          <p:cNvPr id="7" name="Shape 5"/>
          <p:cNvSpPr/>
          <p:nvPr/>
        </p:nvSpPr>
        <p:spPr>
          <a:xfrm>
            <a:off x="548640" y="2458617"/>
            <a:ext cx="11091672" cy="438912"/>
          </a:xfrm>
          <a:prstGeom prst="rect">
            <a:avLst/>
          </a:prstGeom>
          <a:solidFill>
            <a:srgbClr val="3F51B5"/>
          </a:solidFill>
          <a:ln w="12700">
            <a:solidFill>
              <a:srgbClr val="3F51B5"/>
            </a:solidFill>
            <a:prstDash val="solid"/>
          </a:ln>
        </p:spPr>
        <p:txBody>
          <a:bodyPr/>
          <a:lstStyle/>
          <a:p>
            <a:endParaRPr lang="es-ES"/>
          </a:p>
        </p:txBody>
      </p:sp>
      <p:sp>
        <p:nvSpPr>
          <p:cNvPr id="8" name="Text 6"/>
          <p:cNvSpPr/>
          <p:nvPr/>
        </p:nvSpPr>
        <p:spPr>
          <a:xfrm>
            <a:off x="731520" y="2458617"/>
            <a:ext cx="10725912" cy="438912"/>
          </a:xfrm>
          <a:prstGeom prst="rect">
            <a:avLst/>
          </a:prstGeom>
          <a:noFill/>
          <a:ln/>
        </p:spPr>
        <p:txBody>
          <a:bodyPr wrap="square" rtlCol="0" anchor="ctr"/>
          <a:lstStyle/>
          <a:p>
            <a:pPr marL="0" indent="0">
              <a:buNone/>
            </a:pPr>
            <a:r>
              <a:rPr lang="en-US" sz="1700" b="1" dirty="0">
                <a:solidFill>
                  <a:srgbClr val="FFFFFF"/>
                </a:solidFill>
                <a:latin typeface="Arial" pitchFamily="34" charset="0"/>
                <a:ea typeface="Arial" pitchFamily="34" charset="-122"/>
                <a:cs typeface="Arial" pitchFamily="34" charset="-120"/>
              </a:rPr>
              <a:t>Ejemplo que usaremos en este apartado</a:t>
            </a:r>
            <a:endParaRPr lang="en-US" sz="1700" dirty="0"/>
          </a:p>
        </p:txBody>
      </p:sp>
      <p:sp>
        <p:nvSpPr>
          <p:cNvPr id="9" name="Text 7"/>
          <p:cNvSpPr/>
          <p:nvPr/>
        </p:nvSpPr>
        <p:spPr>
          <a:xfrm>
            <a:off x="548640" y="3183046"/>
            <a:ext cx="11091672" cy="2286000"/>
          </a:xfrm>
          <a:prstGeom prst="rect">
            <a:avLst/>
          </a:prstGeom>
          <a:noFill/>
          <a:ln/>
        </p:spPr>
        <p:txBody>
          <a:bodyPr wrap="square" rtlCol="0" anchor="t"/>
          <a:lstStyle/>
          <a:p>
            <a:pPr marL="342900" indent="-342900">
              <a:spcAft>
                <a:spcPts val="600"/>
              </a:spcAft>
              <a:buSzPct val="100000"/>
              <a:buChar char="•"/>
            </a:pPr>
            <a:r>
              <a:rPr lang="en-US" sz="2000" dirty="0">
                <a:solidFill>
                  <a:srgbClr val="212121"/>
                </a:solidFill>
                <a:latin typeface="Arial" pitchFamily="34" charset="0"/>
                <a:ea typeface="Arial" pitchFamily="34" charset="-122"/>
                <a:cs typeface="Arial" pitchFamily="34" charset="-120"/>
              </a:rPr>
              <a:t>Clase Calculadora con 4 operaciones: sumar, restar, multiplicar, dividir</a:t>
            </a:r>
            <a:endParaRPr lang="en-US" sz="2000" dirty="0"/>
          </a:p>
          <a:p>
            <a:pPr marL="342900" indent="-342900">
              <a:spcAft>
                <a:spcPts val="600"/>
              </a:spcAft>
              <a:buSzPct val="100000"/>
              <a:buChar char="•"/>
            </a:pPr>
            <a:r>
              <a:rPr lang="en-US" sz="2000" dirty="0">
                <a:solidFill>
                  <a:srgbClr val="212121"/>
                </a:solidFill>
                <a:latin typeface="Arial" pitchFamily="34" charset="0"/>
                <a:ea typeface="Arial" pitchFamily="34" charset="-122"/>
                <a:cs typeface="Arial" pitchFamily="34" charset="-120"/>
              </a:rPr>
              <a:t>5 tests unitarios en CalculadoraTest que verifican cada operación</a:t>
            </a:r>
            <a:endParaRPr lang="en-US" sz="2000" dirty="0"/>
          </a:p>
          <a:p>
            <a:pPr marL="342900" indent="-342900">
              <a:spcAft>
                <a:spcPts val="600"/>
              </a:spcAft>
              <a:buSzPct val="100000"/>
              <a:buChar char="•"/>
            </a:pPr>
            <a:r>
              <a:rPr lang="en-US" sz="2000" dirty="0">
                <a:solidFill>
                  <a:srgbClr val="212121"/>
                </a:solidFill>
                <a:latin typeface="Arial" pitchFamily="34" charset="0"/>
                <a:ea typeface="Arial" pitchFamily="34" charset="-122"/>
                <a:cs typeface="Arial" pitchFamily="34" charset="-120"/>
              </a:rPr>
              <a:t>Workflow de CI que compila y ejecuta los tests automáticamente en cada push a main</a:t>
            </a:r>
            <a:endParaRPr lang="en-US" sz="2000" dirty="0"/>
          </a:p>
          <a:p>
            <a:pPr marL="342900" indent="-342900">
              <a:spcAft>
                <a:spcPts val="600"/>
              </a:spcAft>
              <a:buSzPct val="100000"/>
              <a:buChar char="•"/>
            </a:pPr>
            <a:r>
              <a:rPr lang="en-US" sz="2000" dirty="0">
                <a:solidFill>
                  <a:srgbClr val="212121"/>
                </a:solidFill>
                <a:latin typeface="Arial" pitchFamily="34" charset="0"/>
                <a:ea typeface="Arial" pitchFamily="34" charset="-122"/>
                <a:cs typeface="Arial" pitchFamily="34" charset="-120"/>
              </a:rPr>
              <a:t>Introduciremos un bug deliberado para ver cómo GitHub Actions lo detecta</a:t>
            </a:r>
            <a:endParaRPr lang="en-US" sz="2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Shape 0"/>
          <p:cNvSpPr/>
          <p:nvPr/>
        </p:nvSpPr>
        <p:spPr>
          <a:xfrm>
            <a:off x="0" y="0"/>
            <a:ext cx="12188952" cy="777240"/>
          </a:xfrm>
          <a:prstGeom prst="rect">
            <a:avLst/>
          </a:prstGeom>
          <a:solidFill>
            <a:srgbClr val="303F9F"/>
          </a:solidFill>
          <a:ln w="12700">
            <a:solidFill>
              <a:srgbClr val="303F9F"/>
            </a:solidFill>
            <a:prstDash val="solid"/>
          </a:ln>
        </p:spPr>
        <p:txBody>
          <a:bodyPr/>
          <a:lstStyle/>
          <a:p>
            <a:endParaRPr lang="es-ES"/>
          </a:p>
        </p:txBody>
      </p:sp>
      <p:sp>
        <p:nvSpPr>
          <p:cNvPr id="3" name="Text 1"/>
          <p:cNvSpPr/>
          <p:nvPr/>
        </p:nvSpPr>
        <p:spPr>
          <a:xfrm>
            <a:off x="365760" y="0"/>
            <a:ext cx="11457432" cy="777240"/>
          </a:xfrm>
          <a:prstGeom prst="rect">
            <a:avLst/>
          </a:prstGeom>
          <a:noFill/>
          <a:ln/>
        </p:spPr>
        <p:txBody>
          <a:bodyPr wrap="square" rtlCol="0" anchor="ctr"/>
          <a:lstStyle/>
          <a:p>
            <a:pPr marL="0" indent="0">
              <a:buNone/>
            </a:pPr>
            <a:r>
              <a:rPr lang="en-US" sz="2200" b="1" dirty="0">
                <a:solidFill>
                  <a:srgbClr val="FFFFFF"/>
                </a:solidFill>
                <a:latin typeface="Arial" pitchFamily="34" charset="0"/>
                <a:ea typeface="Arial" pitchFamily="34" charset="-122"/>
                <a:cs typeface="Arial" pitchFamily="34" charset="-120"/>
              </a:rPr>
              <a:t>9.2 — GitHub Actions: eventos que disparan un workflow</a:t>
            </a:r>
            <a:endParaRPr lang="en-US" sz="2200" dirty="0"/>
          </a:p>
        </p:txBody>
      </p:sp>
      <p:sp>
        <p:nvSpPr>
          <p:cNvPr id="4" name="Text 2"/>
          <p:cNvSpPr/>
          <p:nvPr/>
        </p:nvSpPr>
        <p:spPr>
          <a:xfrm>
            <a:off x="548640" y="6473952"/>
            <a:ext cx="11091672" cy="292608"/>
          </a:xfrm>
          <a:prstGeom prst="rect">
            <a:avLst/>
          </a:prstGeom>
          <a:noFill/>
          <a:ln/>
        </p:spPr>
        <p:txBody>
          <a:bodyPr wrap="square" rtlCol="0" anchor="ctr"/>
          <a:lstStyle/>
          <a:p>
            <a:pPr marL="0" indent="0" algn="r">
              <a:buNone/>
            </a:pPr>
            <a:r>
              <a:rPr lang="en-US" sz="1100" dirty="0">
                <a:solidFill>
                  <a:srgbClr val="757575"/>
                </a:solidFill>
                <a:latin typeface="Arial" pitchFamily="34" charset="0"/>
                <a:ea typeface="Arial" pitchFamily="34" charset="-122"/>
                <a:cs typeface="Arial" pitchFamily="34" charset="-120"/>
              </a:rPr>
              <a:t>Entornos de Desarrollo — Tema 4 — Integración Continua con GitHub Actions</a:t>
            </a:r>
            <a:endParaRPr lang="en-US" sz="1100" dirty="0"/>
          </a:p>
        </p:txBody>
      </p:sp>
      <p:sp>
        <p:nvSpPr>
          <p:cNvPr id="5" name="Shape 3"/>
          <p:cNvSpPr/>
          <p:nvPr/>
        </p:nvSpPr>
        <p:spPr>
          <a:xfrm>
            <a:off x="548640" y="1195251"/>
            <a:ext cx="11091672" cy="777240"/>
          </a:xfrm>
          <a:prstGeom prst="roundRect">
            <a:avLst/>
          </a:prstGeom>
          <a:solidFill>
            <a:srgbClr val="E0F2F1"/>
          </a:solidFill>
          <a:ln w="19050">
            <a:solidFill>
              <a:srgbClr val="009688"/>
            </a:solidFill>
            <a:prstDash val="solid"/>
          </a:ln>
        </p:spPr>
        <p:txBody>
          <a:bodyPr/>
          <a:lstStyle/>
          <a:p>
            <a:endParaRPr lang="es-ES"/>
          </a:p>
        </p:txBody>
      </p:sp>
      <p:sp>
        <p:nvSpPr>
          <p:cNvPr id="6" name="Text 4"/>
          <p:cNvSpPr/>
          <p:nvPr/>
        </p:nvSpPr>
        <p:spPr>
          <a:xfrm>
            <a:off x="777240" y="1268403"/>
            <a:ext cx="10634472" cy="630936"/>
          </a:xfrm>
          <a:prstGeom prst="rect">
            <a:avLst/>
          </a:prstGeom>
          <a:noFill/>
          <a:ln/>
        </p:spPr>
        <p:txBody>
          <a:bodyPr wrap="square" rtlCol="0" anchor="ctr"/>
          <a:lstStyle/>
          <a:p>
            <a:pPr marL="0" indent="0">
              <a:buNone/>
            </a:pPr>
            <a:r>
              <a:rPr lang="en-US" sz="1600" dirty="0">
                <a:solidFill>
                  <a:srgbClr val="212121"/>
                </a:solidFill>
                <a:latin typeface="Arial" pitchFamily="34" charset="0"/>
                <a:ea typeface="Arial" pitchFamily="34" charset="-122"/>
                <a:cs typeface="Arial" pitchFamily="34" charset="-120"/>
              </a:rPr>
              <a:t>GitHub Actions permite definir workflows que se ejecutan en respuesta a eventos del repositorio, en la nube de GitHub, sin instalar nada en tu máquina.</a:t>
            </a:r>
            <a:endParaRPr lang="en-US" sz="1600" dirty="0"/>
          </a:p>
        </p:txBody>
      </p:sp>
      <p:graphicFrame>
        <p:nvGraphicFramePr>
          <p:cNvPr id="7" name="Table 0"/>
          <p:cNvGraphicFramePr>
            <a:graphicFrameLocks noGrp="1"/>
          </p:cNvGraphicFramePr>
          <p:nvPr>
            <p:extLst>
              <p:ext uri="{D42A27DB-BD31-4B8C-83A1-F6EECF244321}">
                <p14:modId xmlns:p14="http://schemas.microsoft.com/office/powerpoint/2010/main" val="1323412235"/>
              </p:ext>
            </p:extLst>
          </p:nvPr>
        </p:nvGraphicFramePr>
        <p:xfrm>
          <a:off x="548640" y="2201091"/>
          <a:ext cx="11091672" cy="3291840"/>
        </p:xfrm>
        <a:graphic>
          <a:graphicData uri="http://schemas.openxmlformats.org/drawingml/2006/table">
            <a:tbl>
              <a:tblPr/>
              <a:tblGrid>
                <a:gridCol w="3105668">
                  <a:extLst>
                    <a:ext uri="{9D8B030D-6E8A-4147-A177-3AD203B41FA5}">
                      <a16:colId xmlns:a16="http://schemas.microsoft.com/office/drawing/2014/main" val="20000"/>
                    </a:ext>
                  </a:extLst>
                </a:gridCol>
                <a:gridCol w="7986004">
                  <a:extLst>
                    <a:ext uri="{9D8B030D-6E8A-4147-A177-3AD203B41FA5}">
                      <a16:colId xmlns:a16="http://schemas.microsoft.com/office/drawing/2014/main" val="20001"/>
                    </a:ext>
                  </a:extLst>
                </a:gridCol>
              </a:tblGrid>
              <a:tr h="548640">
                <a:tc>
                  <a:txBody>
                    <a:bodyPr/>
                    <a:lstStyle/>
                    <a:p>
                      <a:pPr marL="0" indent="0" algn="ctr">
                        <a:buNone/>
                      </a:pPr>
                      <a:r>
                        <a:rPr lang="en-US" sz="1500" b="1" dirty="0">
                          <a:solidFill>
                            <a:srgbClr val="FFFFFF"/>
                          </a:solidFill>
                          <a:latin typeface="Arial" pitchFamily="34" charset="0"/>
                          <a:ea typeface="Arial" pitchFamily="34" charset="-122"/>
                          <a:cs typeface="Arial" pitchFamily="34" charset="-120"/>
                        </a:rPr>
                        <a:t>Evento</a:t>
                      </a:r>
                      <a:endParaRPr lang="en-US" sz="150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3F51B5"/>
                    </a:solidFill>
                  </a:tcPr>
                </a:tc>
                <a:tc>
                  <a:txBody>
                    <a:bodyPr/>
                    <a:lstStyle/>
                    <a:p>
                      <a:pPr marL="0" indent="0" algn="ctr">
                        <a:buNone/>
                      </a:pPr>
                      <a:r>
                        <a:rPr lang="en-US" sz="1500" b="1" dirty="0">
                          <a:solidFill>
                            <a:srgbClr val="FFFFFF"/>
                          </a:solidFill>
                          <a:latin typeface="Arial" pitchFamily="34" charset="0"/>
                          <a:ea typeface="Arial" pitchFamily="34" charset="-122"/>
                          <a:cs typeface="Arial" pitchFamily="34" charset="-120"/>
                        </a:rPr>
                        <a:t>Cuándo ocurre</a:t>
                      </a:r>
                      <a:endParaRPr lang="en-US" sz="150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3F51B5"/>
                    </a:solidFill>
                  </a:tcPr>
                </a:tc>
                <a:extLst>
                  <a:ext uri="{0D108BD9-81ED-4DB2-BD59-A6C34878D82A}">
                    <a16:rowId xmlns:a16="http://schemas.microsoft.com/office/drawing/2014/main" val="10000"/>
                  </a:ext>
                </a:extLst>
              </a:tr>
              <a:tr h="548640">
                <a:tc>
                  <a:txBody>
                    <a:bodyPr/>
                    <a:lstStyle/>
                    <a:p>
                      <a:pPr marL="0" indent="0">
                        <a:buNone/>
                      </a:pPr>
                      <a:r>
                        <a:rPr lang="en-US" sz="1500" b="1" dirty="0">
                          <a:solidFill>
                            <a:srgbClr val="212121"/>
                          </a:solidFill>
                          <a:latin typeface="Arial" pitchFamily="34" charset="0"/>
                          <a:ea typeface="Arial" pitchFamily="34" charset="-122"/>
                          <a:cs typeface="Arial" pitchFamily="34" charset="-120"/>
                        </a:rPr>
                        <a:t>push</a:t>
                      </a:r>
                      <a:endParaRPr lang="en-US" sz="150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FFFFF"/>
                    </a:solidFill>
                  </a:tcPr>
                </a:tc>
                <a:tc>
                  <a:txBody>
                    <a:bodyPr/>
                    <a:lstStyle/>
                    <a:p>
                      <a:pPr marL="0" indent="0">
                        <a:buNone/>
                      </a:pPr>
                      <a:r>
                        <a:rPr lang="en-US" sz="1500" dirty="0">
                          <a:solidFill>
                            <a:srgbClr val="212121"/>
                          </a:solidFill>
                          <a:latin typeface="Arial" pitchFamily="34" charset="0"/>
                          <a:ea typeface="Arial" pitchFamily="34" charset="-122"/>
                          <a:cs typeface="Arial" pitchFamily="34" charset="-120"/>
                        </a:rPr>
                        <a:t>Alguien sube commits a una rama</a:t>
                      </a:r>
                      <a:endParaRPr lang="en-US" sz="150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548640">
                <a:tc>
                  <a:txBody>
                    <a:bodyPr/>
                    <a:lstStyle/>
                    <a:p>
                      <a:pPr marL="0" indent="0">
                        <a:buNone/>
                      </a:pPr>
                      <a:r>
                        <a:rPr lang="en-US" sz="1500" b="1" dirty="0">
                          <a:solidFill>
                            <a:srgbClr val="212121"/>
                          </a:solidFill>
                          <a:latin typeface="Arial" pitchFamily="34" charset="0"/>
                          <a:ea typeface="Arial" pitchFamily="34" charset="-122"/>
                          <a:cs typeface="Arial" pitchFamily="34" charset="-120"/>
                        </a:rPr>
                        <a:t>pull_request</a:t>
                      </a:r>
                      <a:endParaRPr lang="en-US" sz="150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5F5F5"/>
                    </a:solidFill>
                  </a:tcPr>
                </a:tc>
                <a:tc>
                  <a:txBody>
                    <a:bodyPr/>
                    <a:lstStyle/>
                    <a:p>
                      <a:pPr marL="0" indent="0">
                        <a:buNone/>
                      </a:pPr>
                      <a:r>
                        <a:rPr lang="en-US" sz="1500" dirty="0">
                          <a:solidFill>
                            <a:srgbClr val="212121"/>
                          </a:solidFill>
                          <a:latin typeface="Arial" pitchFamily="34" charset="0"/>
                          <a:ea typeface="Arial" pitchFamily="34" charset="-122"/>
                          <a:cs typeface="Arial" pitchFamily="34" charset="-120"/>
                        </a:rPr>
                        <a:t>Se abre, actualiza o cierra una PR</a:t>
                      </a:r>
                      <a:endParaRPr lang="en-US" sz="150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5F5F5"/>
                    </a:solidFill>
                  </a:tcPr>
                </a:tc>
                <a:extLst>
                  <a:ext uri="{0D108BD9-81ED-4DB2-BD59-A6C34878D82A}">
                    <a16:rowId xmlns:a16="http://schemas.microsoft.com/office/drawing/2014/main" val="10002"/>
                  </a:ext>
                </a:extLst>
              </a:tr>
              <a:tr h="548640">
                <a:tc>
                  <a:txBody>
                    <a:bodyPr/>
                    <a:lstStyle/>
                    <a:p>
                      <a:pPr marL="0" indent="0">
                        <a:buNone/>
                      </a:pPr>
                      <a:r>
                        <a:rPr lang="en-US" sz="1500" b="1" dirty="0">
                          <a:solidFill>
                            <a:srgbClr val="212121"/>
                          </a:solidFill>
                          <a:latin typeface="Arial" pitchFamily="34" charset="0"/>
                          <a:ea typeface="Arial" pitchFamily="34" charset="-122"/>
                          <a:cs typeface="Arial" pitchFamily="34" charset="-120"/>
                        </a:rPr>
                        <a:t>schedule</a:t>
                      </a:r>
                      <a:endParaRPr lang="en-US" sz="150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FFFFF"/>
                    </a:solidFill>
                  </a:tcPr>
                </a:tc>
                <a:tc>
                  <a:txBody>
                    <a:bodyPr/>
                    <a:lstStyle/>
                    <a:p>
                      <a:pPr marL="0" indent="0">
                        <a:buNone/>
                      </a:pPr>
                      <a:r>
                        <a:rPr lang="en-US" sz="1500" dirty="0">
                          <a:solidFill>
                            <a:srgbClr val="212121"/>
                          </a:solidFill>
                          <a:latin typeface="Arial" pitchFamily="34" charset="0"/>
                          <a:ea typeface="Arial" pitchFamily="34" charset="-122"/>
                          <a:cs typeface="Arial" pitchFamily="34" charset="-120"/>
                        </a:rPr>
                        <a:t>Un temporizador (como un cron job)</a:t>
                      </a:r>
                      <a:endParaRPr lang="en-US" sz="150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548640">
                <a:tc>
                  <a:txBody>
                    <a:bodyPr/>
                    <a:lstStyle/>
                    <a:p>
                      <a:pPr marL="0" indent="0">
                        <a:buNone/>
                      </a:pPr>
                      <a:r>
                        <a:rPr lang="en-US" sz="1500" b="1" dirty="0">
                          <a:solidFill>
                            <a:srgbClr val="212121"/>
                          </a:solidFill>
                          <a:latin typeface="Arial" pitchFamily="34" charset="0"/>
                          <a:ea typeface="Arial" pitchFamily="34" charset="-122"/>
                          <a:cs typeface="Arial" pitchFamily="34" charset="-120"/>
                        </a:rPr>
                        <a:t>workflow_dispatch</a:t>
                      </a:r>
                      <a:endParaRPr lang="en-US" sz="150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5F5F5"/>
                    </a:solidFill>
                  </a:tcPr>
                </a:tc>
                <a:tc>
                  <a:txBody>
                    <a:bodyPr/>
                    <a:lstStyle/>
                    <a:p>
                      <a:pPr marL="0" indent="0">
                        <a:buNone/>
                      </a:pPr>
                      <a:r>
                        <a:rPr lang="en-US" sz="1500" dirty="0">
                          <a:solidFill>
                            <a:srgbClr val="212121"/>
                          </a:solidFill>
                          <a:latin typeface="Arial" pitchFamily="34" charset="0"/>
                          <a:ea typeface="Arial" pitchFamily="34" charset="-122"/>
                          <a:cs typeface="Arial" pitchFamily="34" charset="-120"/>
                        </a:rPr>
                        <a:t>El usuario lo activa manualmente desde la web</a:t>
                      </a:r>
                      <a:endParaRPr lang="en-US" sz="150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5F5F5"/>
                    </a:solidFill>
                  </a:tcPr>
                </a:tc>
                <a:extLst>
                  <a:ext uri="{0D108BD9-81ED-4DB2-BD59-A6C34878D82A}">
                    <a16:rowId xmlns:a16="http://schemas.microsoft.com/office/drawing/2014/main" val="10004"/>
                  </a:ext>
                </a:extLst>
              </a:tr>
              <a:tr h="548640">
                <a:tc>
                  <a:txBody>
                    <a:bodyPr/>
                    <a:lstStyle/>
                    <a:p>
                      <a:pPr marL="0" indent="0">
                        <a:buNone/>
                      </a:pPr>
                      <a:r>
                        <a:rPr lang="en-US" sz="1500" b="1" dirty="0">
                          <a:solidFill>
                            <a:srgbClr val="212121"/>
                          </a:solidFill>
                          <a:latin typeface="Arial" pitchFamily="34" charset="0"/>
                          <a:ea typeface="Arial" pitchFamily="34" charset="-122"/>
                          <a:cs typeface="Arial" pitchFamily="34" charset="-120"/>
                        </a:rPr>
                        <a:t>release</a:t>
                      </a:r>
                      <a:endParaRPr lang="en-US" sz="150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FFFFF"/>
                    </a:solidFill>
                  </a:tcPr>
                </a:tc>
                <a:tc>
                  <a:txBody>
                    <a:bodyPr/>
                    <a:lstStyle/>
                    <a:p>
                      <a:pPr marL="0" indent="0">
                        <a:buNone/>
                      </a:pPr>
                      <a:r>
                        <a:rPr lang="en-US" sz="1500" dirty="0">
                          <a:solidFill>
                            <a:srgbClr val="212121"/>
                          </a:solidFill>
                          <a:latin typeface="Arial" pitchFamily="34" charset="0"/>
                          <a:ea typeface="Arial" pitchFamily="34" charset="-122"/>
                          <a:cs typeface="Arial" pitchFamily="34" charset="-120"/>
                        </a:rPr>
                        <a:t>Se publica una nueva versión del proyecto</a:t>
                      </a:r>
                      <a:endParaRPr lang="en-US" sz="150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bl>
          </a:graphicData>
        </a:graphic>
      </p:graphicFrame>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Shape 0"/>
          <p:cNvSpPr/>
          <p:nvPr/>
        </p:nvSpPr>
        <p:spPr>
          <a:xfrm>
            <a:off x="0" y="0"/>
            <a:ext cx="12188952" cy="777240"/>
          </a:xfrm>
          <a:prstGeom prst="rect">
            <a:avLst/>
          </a:prstGeom>
          <a:solidFill>
            <a:srgbClr val="303F9F"/>
          </a:solidFill>
          <a:ln w="12700">
            <a:solidFill>
              <a:srgbClr val="303F9F"/>
            </a:solidFill>
            <a:prstDash val="solid"/>
          </a:ln>
        </p:spPr>
        <p:txBody>
          <a:bodyPr/>
          <a:lstStyle/>
          <a:p>
            <a:endParaRPr lang="es-ES"/>
          </a:p>
        </p:txBody>
      </p:sp>
      <p:sp>
        <p:nvSpPr>
          <p:cNvPr id="3" name="Text 1"/>
          <p:cNvSpPr/>
          <p:nvPr/>
        </p:nvSpPr>
        <p:spPr>
          <a:xfrm>
            <a:off x="365760" y="0"/>
            <a:ext cx="11457432" cy="777240"/>
          </a:xfrm>
          <a:prstGeom prst="rect">
            <a:avLst/>
          </a:prstGeom>
          <a:noFill/>
          <a:ln/>
        </p:spPr>
        <p:txBody>
          <a:bodyPr wrap="square" rtlCol="0" anchor="ctr"/>
          <a:lstStyle/>
          <a:p>
            <a:pPr marL="0" indent="0">
              <a:buNone/>
            </a:pPr>
            <a:r>
              <a:rPr lang="en-US" sz="2200" b="1" dirty="0">
                <a:solidFill>
                  <a:srgbClr val="FFFFFF"/>
                </a:solidFill>
                <a:latin typeface="Arial" pitchFamily="34" charset="0"/>
                <a:ea typeface="Arial" pitchFamily="34" charset="-122"/>
                <a:cs typeface="Arial" pitchFamily="34" charset="-120"/>
              </a:rPr>
              <a:t>9.2 — Conceptos clave de GitHub Actions</a:t>
            </a:r>
            <a:endParaRPr lang="en-US" sz="2200" dirty="0"/>
          </a:p>
        </p:txBody>
      </p:sp>
      <p:sp>
        <p:nvSpPr>
          <p:cNvPr id="4" name="Text 2"/>
          <p:cNvSpPr/>
          <p:nvPr/>
        </p:nvSpPr>
        <p:spPr>
          <a:xfrm>
            <a:off x="548640" y="6473952"/>
            <a:ext cx="11091672" cy="292608"/>
          </a:xfrm>
          <a:prstGeom prst="rect">
            <a:avLst/>
          </a:prstGeom>
          <a:noFill/>
          <a:ln/>
        </p:spPr>
        <p:txBody>
          <a:bodyPr wrap="square" rtlCol="0" anchor="ctr"/>
          <a:lstStyle/>
          <a:p>
            <a:pPr marL="0" indent="0" algn="r">
              <a:buNone/>
            </a:pPr>
            <a:r>
              <a:rPr lang="en-US" sz="1100" dirty="0">
                <a:solidFill>
                  <a:srgbClr val="757575"/>
                </a:solidFill>
                <a:latin typeface="Arial" pitchFamily="34" charset="0"/>
                <a:ea typeface="Arial" pitchFamily="34" charset="-122"/>
                <a:cs typeface="Arial" pitchFamily="34" charset="-120"/>
              </a:rPr>
              <a:t>Entornos de Desarrollo — Tema 4 — Integración Continua con GitHub Actions</a:t>
            </a:r>
            <a:endParaRPr lang="en-US" sz="1100" dirty="0"/>
          </a:p>
        </p:txBody>
      </p:sp>
      <p:graphicFrame>
        <p:nvGraphicFramePr>
          <p:cNvPr id="6" name="Table 0"/>
          <p:cNvGraphicFramePr>
            <a:graphicFrameLocks noGrp="1"/>
          </p:cNvGraphicFramePr>
          <p:nvPr>
            <p:extLst>
              <p:ext uri="{D42A27DB-BD31-4B8C-83A1-F6EECF244321}">
                <p14:modId xmlns:p14="http://schemas.microsoft.com/office/powerpoint/2010/main" val="3055087549"/>
              </p:ext>
            </p:extLst>
          </p:nvPr>
        </p:nvGraphicFramePr>
        <p:xfrm>
          <a:off x="548640" y="1335212"/>
          <a:ext cx="11091672" cy="4160520"/>
        </p:xfrm>
        <a:graphic>
          <a:graphicData uri="http://schemas.openxmlformats.org/drawingml/2006/table">
            <a:tbl>
              <a:tblPr/>
              <a:tblGrid>
                <a:gridCol w="1996501">
                  <a:extLst>
                    <a:ext uri="{9D8B030D-6E8A-4147-A177-3AD203B41FA5}">
                      <a16:colId xmlns:a16="http://schemas.microsoft.com/office/drawing/2014/main" val="20000"/>
                    </a:ext>
                  </a:extLst>
                </a:gridCol>
                <a:gridCol w="9095171">
                  <a:extLst>
                    <a:ext uri="{9D8B030D-6E8A-4147-A177-3AD203B41FA5}">
                      <a16:colId xmlns:a16="http://schemas.microsoft.com/office/drawing/2014/main" val="20001"/>
                    </a:ext>
                  </a:extLst>
                </a:gridCol>
              </a:tblGrid>
              <a:tr h="594360">
                <a:tc>
                  <a:txBody>
                    <a:bodyPr/>
                    <a:lstStyle/>
                    <a:p>
                      <a:pPr marL="0" indent="0" algn="ctr">
                        <a:buNone/>
                      </a:pPr>
                      <a:r>
                        <a:rPr lang="en-US" sz="1500" b="1" dirty="0">
                          <a:solidFill>
                            <a:srgbClr val="FFFFFF"/>
                          </a:solidFill>
                          <a:latin typeface="Arial" pitchFamily="34" charset="0"/>
                          <a:ea typeface="Arial" pitchFamily="34" charset="-122"/>
                          <a:cs typeface="Arial" pitchFamily="34" charset="-120"/>
                        </a:rPr>
                        <a:t>Concepto</a:t>
                      </a:r>
                      <a:endParaRPr lang="en-US" sz="150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3F51B5"/>
                    </a:solidFill>
                  </a:tcPr>
                </a:tc>
                <a:tc>
                  <a:txBody>
                    <a:bodyPr/>
                    <a:lstStyle/>
                    <a:p>
                      <a:pPr marL="0" indent="0" algn="ctr">
                        <a:buNone/>
                      </a:pPr>
                      <a:r>
                        <a:rPr lang="en-US" sz="1500" b="1" dirty="0">
                          <a:solidFill>
                            <a:srgbClr val="FFFFFF"/>
                          </a:solidFill>
                          <a:latin typeface="Arial" pitchFamily="34" charset="0"/>
                          <a:ea typeface="Arial" pitchFamily="34" charset="-122"/>
                          <a:cs typeface="Arial" pitchFamily="34" charset="-120"/>
                        </a:rPr>
                        <a:t>Qué es</a:t>
                      </a:r>
                      <a:endParaRPr lang="en-US" sz="150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3F51B5"/>
                    </a:solidFill>
                  </a:tcPr>
                </a:tc>
                <a:extLst>
                  <a:ext uri="{0D108BD9-81ED-4DB2-BD59-A6C34878D82A}">
                    <a16:rowId xmlns:a16="http://schemas.microsoft.com/office/drawing/2014/main" val="10000"/>
                  </a:ext>
                </a:extLst>
              </a:tr>
              <a:tr h="594360">
                <a:tc>
                  <a:txBody>
                    <a:bodyPr/>
                    <a:lstStyle/>
                    <a:p>
                      <a:pPr marL="0" indent="0">
                        <a:buNone/>
                      </a:pPr>
                      <a:r>
                        <a:rPr lang="en-US" sz="1400" b="1" dirty="0">
                          <a:solidFill>
                            <a:srgbClr val="212121"/>
                          </a:solidFill>
                          <a:latin typeface="Arial" pitchFamily="34" charset="0"/>
                          <a:ea typeface="Arial" pitchFamily="34" charset="-122"/>
                          <a:cs typeface="Arial" pitchFamily="34" charset="-120"/>
                        </a:rPr>
                        <a:t>Workflow</a:t>
                      </a:r>
                      <a:endParaRPr lang="en-US" sz="140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FFFFF"/>
                    </a:solidFill>
                  </a:tcPr>
                </a:tc>
                <a:tc>
                  <a:txBody>
                    <a:bodyPr/>
                    <a:lstStyle/>
                    <a:p>
                      <a:pPr marL="0" indent="0">
                        <a:buNone/>
                      </a:pPr>
                      <a:r>
                        <a:rPr lang="en-US" sz="1400" dirty="0">
                          <a:solidFill>
                            <a:srgbClr val="212121"/>
                          </a:solidFill>
                          <a:latin typeface="Arial" pitchFamily="34" charset="0"/>
                          <a:ea typeface="Arial" pitchFamily="34" charset="-122"/>
                          <a:cs typeface="Arial" pitchFamily="34" charset="-120"/>
                        </a:rPr>
                        <a:t>El fichero YAML que describe qué hacer y cuándo. Vive en .github/workflows/.</a:t>
                      </a:r>
                      <a:endParaRPr lang="en-US" sz="140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594360">
                <a:tc>
                  <a:txBody>
                    <a:bodyPr/>
                    <a:lstStyle/>
                    <a:p>
                      <a:pPr marL="0" indent="0">
                        <a:buNone/>
                      </a:pPr>
                      <a:r>
                        <a:rPr lang="en-US" sz="1400" b="1" dirty="0">
                          <a:solidFill>
                            <a:srgbClr val="212121"/>
                          </a:solidFill>
                          <a:latin typeface="Arial" pitchFamily="34" charset="0"/>
                          <a:ea typeface="Arial" pitchFamily="34" charset="-122"/>
                          <a:cs typeface="Arial" pitchFamily="34" charset="-120"/>
                        </a:rPr>
                        <a:t>Event</a:t>
                      </a:r>
                      <a:endParaRPr lang="en-US" sz="140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5F5F5"/>
                    </a:solidFill>
                  </a:tcPr>
                </a:tc>
                <a:tc>
                  <a:txBody>
                    <a:bodyPr/>
                    <a:lstStyle/>
                    <a:p>
                      <a:pPr marL="0" indent="0">
                        <a:buNone/>
                      </a:pPr>
                      <a:r>
                        <a:rPr lang="en-US" sz="1400" dirty="0">
                          <a:solidFill>
                            <a:srgbClr val="212121"/>
                          </a:solidFill>
                          <a:latin typeface="Arial" pitchFamily="34" charset="0"/>
                          <a:ea typeface="Arial" pitchFamily="34" charset="-122"/>
                          <a:cs typeface="Arial" pitchFamily="34" charset="-120"/>
                        </a:rPr>
                        <a:t>El disparador que pone en marcha el workflow (push, pull_request...).</a:t>
                      </a:r>
                      <a:endParaRPr lang="en-US" sz="140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5F5F5"/>
                    </a:solidFill>
                  </a:tcPr>
                </a:tc>
                <a:extLst>
                  <a:ext uri="{0D108BD9-81ED-4DB2-BD59-A6C34878D82A}">
                    <a16:rowId xmlns:a16="http://schemas.microsoft.com/office/drawing/2014/main" val="10002"/>
                  </a:ext>
                </a:extLst>
              </a:tr>
              <a:tr h="594360">
                <a:tc>
                  <a:txBody>
                    <a:bodyPr/>
                    <a:lstStyle/>
                    <a:p>
                      <a:pPr marL="0" indent="0">
                        <a:buNone/>
                      </a:pPr>
                      <a:r>
                        <a:rPr lang="en-US" sz="1400" b="1" dirty="0">
                          <a:solidFill>
                            <a:srgbClr val="212121"/>
                          </a:solidFill>
                          <a:latin typeface="Arial" pitchFamily="34" charset="0"/>
                          <a:ea typeface="Arial" pitchFamily="34" charset="-122"/>
                          <a:cs typeface="Arial" pitchFamily="34" charset="-120"/>
                        </a:rPr>
                        <a:t>Job</a:t>
                      </a:r>
                      <a:endParaRPr lang="en-US" sz="140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FFFFF"/>
                    </a:solidFill>
                  </a:tcPr>
                </a:tc>
                <a:tc>
                  <a:txBody>
                    <a:bodyPr/>
                    <a:lstStyle/>
                    <a:p>
                      <a:pPr marL="0" indent="0">
                        <a:buNone/>
                      </a:pPr>
                      <a:r>
                        <a:rPr lang="en-US" sz="1400" dirty="0">
                          <a:solidFill>
                            <a:srgbClr val="212121"/>
                          </a:solidFill>
                          <a:latin typeface="Arial" pitchFamily="34" charset="0"/>
                          <a:ea typeface="Arial" pitchFamily="34" charset="-122"/>
                          <a:cs typeface="Arial" pitchFamily="34" charset="-120"/>
                        </a:rPr>
                        <a:t>Un bloque de pasos que se ejecuta en una máquina virtual.</a:t>
                      </a:r>
                      <a:endParaRPr lang="en-US" sz="140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594360">
                <a:tc>
                  <a:txBody>
                    <a:bodyPr/>
                    <a:lstStyle/>
                    <a:p>
                      <a:pPr marL="0" indent="0">
                        <a:buNone/>
                      </a:pPr>
                      <a:r>
                        <a:rPr lang="en-US" sz="1400" b="1" dirty="0">
                          <a:solidFill>
                            <a:srgbClr val="212121"/>
                          </a:solidFill>
                          <a:latin typeface="Arial" pitchFamily="34" charset="0"/>
                          <a:ea typeface="Arial" pitchFamily="34" charset="-122"/>
                          <a:cs typeface="Arial" pitchFamily="34" charset="-120"/>
                        </a:rPr>
                        <a:t>Step</a:t>
                      </a:r>
                      <a:endParaRPr lang="en-US" sz="140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5F5F5"/>
                    </a:solidFill>
                  </a:tcPr>
                </a:tc>
                <a:tc>
                  <a:txBody>
                    <a:bodyPr/>
                    <a:lstStyle/>
                    <a:p>
                      <a:pPr marL="0" indent="0">
                        <a:buNone/>
                      </a:pPr>
                      <a:r>
                        <a:rPr lang="en-US" sz="1400" dirty="0">
                          <a:solidFill>
                            <a:srgbClr val="212121"/>
                          </a:solidFill>
                          <a:latin typeface="Arial" pitchFamily="34" charset="0"/>
                          <a:ea typeface="Arial" pitchFamily="34" charset="-122"/>
                          <a:cs typeface="Arial" pitchFamily="34" charset="-120"/>
                        </a:rPr>
                        <a:t>Una acción concreta dentro de un job: comando de shell o Action del Marketplace.</a:t>
                      </a:r>
                      <a:endParaRPr lang="en-US" sz="140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5F5F5"/>
                    </a:solidFill>
                  </a:tcPr>
                </a:tc>
                <a:extLst>
                  <a:ext uri="{0D108BD9-81ED-4DB2-BD59-A6C34878D82A}">
                    <a16:rowId xmlns:a16="http://schemas.microsoft.com/office/drawing/2014/main" val="10004"/>
                  </a:ext>
                </a:extLst>
              </a:tr>
              <a:tr h="594360">
                <a:tc>
                  <a:txBody>
                    <a:bodyPr/>
                    <a:lstStyle/>
                    <a:p>
                      <a:pPr marL="0" indent="0">
                        <a:buNone/>
                      </a:pPr>
                      <a:r>
                        <a:rPr lang="en-US" sz="1400" b="1" dirty="0">
                          <a:solidFill>
                            <a:srgbClr val="212121"/>
                          </a:solidFill>
                          <a:latin typeface="Arial" pitchFamily="34" charset="0"/>
                          <a:ea typeface="Arial" pitchFamily="34" charset="-122"/>
                          <a:cs typeface="Arial" pitchFamily="34" charset="-120"/>
                        </a:rPr>
                        <a:t>Runner</a:t>
                      </a:r>
                      <a:endParaRPr lang="en-US" sz="140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FFFFF"/>
                    </a:solidFill>
                  </a:tcPr>
                </a:tc>
                <a:tc>
                  <a:txBody>
                    <a:bodyPr/>
                    <a:lstStyle/>
                    <a:p>
                      <a:pPr marL="0" indent="0">
                        <a:buNone/>
                      </a:pPr>
                      <a:r>
                        <a:rPr lang="en-US" sz="1400" dirty="0">
                          <a:solidFill>
                            <a:srgbClr val="212121"/>
                          </a:solidFill>
                          <a:latin typeface="Arial" pitchFamily="34" charset="0"/>
                          <a:ea typeface="Arial" pitchFamily="34" charset="-122"/>
                          <a:cs typeface="Arial" pitchFamily="34" charset="-120"/>
                        </a:rPr>
                        <a:t>La máquina virtual donde corre el job. GitHub ofrece Ubuntu, Windows y macOS.</a:t>
                      </a:r>
                      <a:endParaRPr lang="en-US" sz="140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594360">
                <a:tc>
                  <a:txBody>
                    <a:bodyPr/>
                    <a:lstStyle/>
                    <a:p>
                      <a:pPr marL="0" indent="0">
                        <a:buNone/>
                      </a:pPr>
                      <a:r>
                        <a:rPr lang="en-US" sz="1400" b="1" dirty="0">
                          <a:solidFill>
                            <a:srgbClr val="212121"/>
                          </a:solidFill>
                          <a:latin typeface="Arial" pitchFamily="34" charset="0"/>
                          <a:ea typeface="Arial" pitchFamily="34" charset="-122"/>
                          <a:cs typeface="Arial" pitchFamily="34" charset="-120"/>
                        </a:rPr>
                        <a:t>Action</a:t>
                      </a:r>
                      <a:endParaRPr lang="en-US" sz="140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5F5F5"/>
                    </a:solidFill>
                  </a:tcPr>
                </a:tc>
                <a:tc>
                  <a:txBody>
                    <a:bodyPr/>
                    <a:lstStyle/>
                    <a:p>
                      <a:pPr marL="0" indent="0">
                        <a:buNone/>
                      </a:pPr>
                      <a:r>
                        <a:rPr lang="en-US" sz="1400" dirty="0">
                          <a:solidFill>
                            <a:srgbClr val="212121"/>
                          </a:solidFill>
                          <a:latin typeface="Arial" pitchFamily="34" charset="0"/>
                          <a:ea typeface="Arial" pitchFamily="34" charset="-122"/>
                          <a:cs typeface="Arial" pitchFamily="34" charset="-120"/>
                        </a:rPr>
                        <a:t>Tarea reutilizable publicada en el Marketplace. Se invoca con uses:.</a:t>
                      </a:r>
                      <a:endParaRPr lang="en-US" sz="140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5F5F5"/>
                    </a:solidFill>
                  </a:tcPr>
                </a:tc>
                <a:extLst>
                  <a:ext uri="{0D108BD9-81ED-4DB2-BD59-A6C34878D82A}">
                    <a16:rowId xmlns:a16="http://schemas.microsoft.com/office/drawing/2014/main" val="10006"/>
                  </a:ext>
                </a:extLst>
              </a:tr>
            </a:tbl>
          </a:graphicData>
        </a:graphic>
      </p:graphicFrame>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Shape 0"/>
          <p:cNvSpPr/>
          <p:nvPr/>
        </p:nvSpPr>
        <p:spPr>
          <a:xfrm>
            <a:off x="0" y="0"/>
            <a:ext cx="12188952" cy="777240"/>
          </a:xfrm>
          <a:prstGeom prst="rect">
            <a:avLst/>
          </a:prstGeom>
          <a:solidFill>
            <a:srgbClr val="303F9F"/>
          </a:solidFill>
          <a:ln w="12700">
            <a:solidFill>
              <a:srgbClr val="303F9F"/>
            </a:solidFill>
            <a:prstDash val="solid"/>
          </a:ln>
        </p:spPr>
        <p:txBody>
          <a:bodyPr/>
          <a:lstStyle/>
          <a:p>
            <a:endParaRPr lang="es-ES"/>
          </a:p>
        </p:txBody>
      </p:sp>
      <p:sp>
        <p:nvSpPr>
          <p:cNvPr id="3" name="Text 1"/>
          <p:cNvSpPr/>
          <p:nvPr/>
        </p:nvSpPr>
        <p:spPr>
          <a:xfrm>
            <a:off x="365760" y="0"/>
            <a:ext cx="11457432" cy="777240"/>
          </a:xfrm>
          <a:prstGeom prst="rect">
            <a:avLst/>
          </a:prstGeom>
          <a:noFill/>
          <a:ln/>
        </p:spPr>
        <p:txBody>
          <a:bodyPr wrap="square" rtlCol="0" anchor="ctr"/>
          <a:lstStyle/>
          <a:p>
            <a:pPr marL="0" indent="0">
              <a:buNone/>
            </a:pPr>
            <a:r>
              <a:rPr lang="en-US" sz="2200" b="1" dirty="0">
                <a:solidFill>
                  <a:srgbClr val="FFFFFF"/>
                </a:solidFill>
                <a:latin typeface="Arial" pitchFamily="34" charset="0"/>
                <a:ea typeface="Arial" pitchFamily="34" charset="-122"/>
                <a:cs typeface="Arial" pitchFamily="34" charset="-120"/>
              </a:rPr>
              <a:t>9.2 — Jerarquía: Event → Workflow → Job → Steps</a:t>
            </a:r>
            <a:endParaRPr lang="en-US" sz="2200" dirty="0"/>
          </a:p>
        </p:txBody>
      </p:sp>
      <p:sp>
        <p:nvSpPr>
          <p:cNvPr id="4" name="Text 2"/>
          <p:cNvSpPr/>
          <p:nvPr/>
        </p:nvSpPr>
        <p:spPr>
          <a:xfrm>
            <a:off x="548640" y="6473952"/>
            <a:ext cx="11091672" cy="292608"/>
          </a:xfrm>
          <a:prstGeom prst="rect">
            <a:avLst/>
          </a:prstGeom>
          <a:noFill/>
          <a:ln/>
        </p:spPr>
        <p:txBody>
          <a:bodyPr wrap="square" rtlCol="0" anchor="ctr"/>
          <a:lstStyle/>
          <a:p>
            <a:pPr marL="0" indent="0" algn="r">
              <a:buNone/>
            </a:pPr>
            <a:r>
              <a:rPr lang="en-US" sz="1100" dirty="0">
                <a:solidFill>
                  <a:srgbClr val="757575"/>
                </a:solidFill>
                <a:latin typeface="Arial" pitchFamily="34" charset="0"/>
                <a:ea typeface="Arial" pitchFamily="34" charset="-122"/>
                <a:cs typeface="Arial" pitchFamily="34" charset="-120"/>
              </a:rPr>
              <a:t>Entornos de Desarrollo — Tema 4 — Integración Continua con GitHub Actions</a:t>
            </a:r>
            <a:endParaRPr lang="en-US" sz="1100" dirty="0"/>
          </a:p>
        </p:txBody>
      </p:sp>
      <p:sp>
        <p:nvSpPr>
          <p:cNvPr id="5" name="Shape 3"/>
          <p:cNvSpPr/>
          <p:nvPr/>
        </p:nvSpPr>
        <p:spPr>
          <a:xfrm>
            <a:off x="548640" y="1363203"/>
            <a:ext cx="2498598" cy="1188720"/>
          </a:xfrm>
          <a:prstGeom prst="roundRect">
            <a:avLst/>
          </a:prstGeom>
          <a:solidFill>
            <a:srgbClr val="E8EAF6"/>
          </a:solidFill>
          <a:ln w="15875">
            <a:solidFill>
              <a:srgbClr val="3F51B5"/>
            </a:solidFill>
            <a:prstDash val="solid"/>
          </a:ln>
        </p:spPr>
        <p:txBody>
          <a:bodyPr/>
          <a:lstStyle/>
          <a:p>
            <a:endParaRPr lang="es-ES"/>
          </a:p>
        </p:txBody>
      </p:sp>
      <p:sp>
        <p:nvSpPr>
          <p:cNvPr id="6" name="Text 4"/>
          <p:cNvSpPr/>
          <p:nvPr/>
        </p:nvSpPr>
        <p:spPr>
          <a:xfrm>
            <a:off x="594360" y="1408923"/>
            <a:ext cx="2407158" cy="1097280"/>
          </a:xfrm>
          <a:prstGeom prst="rect">
            <a:avLst/>
          </a:prstGeom>
          <a:noFill/>
          <a:ln/>
        </p:spPr>
        <p:txBody>
          <a:bodyPr wrap="square" rtlCol="0" anchor="ctr"/>
          <a:lstStyle/>
          <a:p>
            <a:pPr marL="0" indent="0" algn="ctr">
              <a:buNone/>
            </a:pPr>
            <a:r>
              <a:rPr lang="en-US" sz="1400" dirty="0">
                <a:solidFill>
                  <a:srgbClr val="212121"/>
                </a:solidFill>
                <a:latin typeface="Arial" pitchFamily="34" charset="0"/>
                <a:ea typeface="Arial" pitchFamily="34" charset="-122"/>
                <a:cs typeface="Arial" pitchFamily="34" charset="-120"/>
              </a:rPr>
              <a:t>Event</a:t>
            </a:r>
            <a:endParaRPr lang="en-US" sz="1400" dirty="0"/>
          </a:p>
          <a:p>
            <a:pPr marL="0" indent="0" algn="ctr">
              <a:buNone/>
            </a:pPr>
            <a:r>
              <a:rPr lang="en-US" sz="1400" dirty="0">
                <a:solidFill>
                  <a:srgbClr val="212121"/>
                </a:solidFill>
                <a:latin typeface="Arial" pitchFamily="34" charset="0"/>
                <a:ea typeface="Arial" pitchFamily="34" charset="-122"/>
                <a:cs typeface="Arial" pitchFamily="34" charset="-120"/>
              </a:rPr>
              <a:t>(push / PR)</a:t>
            </a:r>
            <a:endParaRPr lang="en-US" sz="1400" dirty="0"/>
          </a:p>
        </p:txBody>
      </p:sp>
      <p:sp>
        <p:nvSpPr>
          <p:cNvPr id="7" name="Text 5"/>
          <p:cNvSpPr/>
          <p:nvPr/>
        </p:nvSpPr>
        <p:spPr>
          <a:xfrm>
            <a:off x="3001518" y="1363203"/>
            <a:ext cx="457200" cy="1188720"/>
          </a:xfrm>
          <a:prstGeom prst="rect">
            <a:avLst/>
          </a:prstGeom>
          <a:noFill/>
          <a:ln/>
        </p:spPr>
        <p:txBody>
          <a:bodyPr wrap="square" rtlCol="0" anchor="ctr"/>
          <a:lstStyle/>
          <a:p>
            <a:pPr marL="0" indent="0" algn="ctr">
              <a:buNone/>
            </a:pPr>
            <a:r>
              <a:rPr lang="en-US" sz="2200" b="1" dirty="0">
                <a:solidFill>
                  <a:srgbClr val="3F51B5"/>
                </a:solidFill>
                <a:latin typeface="Arial" pitchFamily="34" charset="0"/>
                <a:ea typeface="Arial" pitchFamily="34" charset="-122"/>
                <a:cs typeface="Arial" pitchFamily="34" charset="-120"/>
              </a:rPr>
              <a:t>→</a:t>
            </a:r>
            <a:endParaRPr lang="en-US" sz="2200" dirty="0"/>
          </a:p>
        </p:txBody>
      </p:sp>
      <p:sp>
        <p:nvSpPr>
          <p:cNvPr id="8" name="Shape 6"/>
          <p:cNvSpPr/>
          <p:nvPr/>
        </p:nvSpPr>
        <p:spPr>
          <a:xfrm>
            <a:off x="3412998" y="1363203"/>
            <a:ext cx="2498598" cy="1188720"/>
          </a:xfrm>
          <a:prstGeom prst="roundRect">
            <a:avLst/>
          </a:prstGeom>
          <a:solidFill>
            <a:srgbClr val="E8EAF6"/>
          </a:solidFill>
          <a:ln w="15875">
            <a:solidFill>
              <a:srgbClr val="3F51B5"/>
            </a:solidFill>
            <a:prstDash val="solid"/>
          </a:ln>
        </p:spPr>
        <p:txBody>
          <a:bodyPr/>
          <a:lstStyle/>
          <a:p>
            <a:endParaRPr lang="es-ES"/>
          </a:p>
        </p:txBody>
      </p:sp>
      <p:sp>
        <p:nvSpPr>
          <p:cNvPr id="9" name="Text 7"/>
          <p:cNvSpPr/>
          <p:nvPr/>
        </p:nvSpPr>
        <p:spPr>
          <a:xfrm>
            <a:off x="3458718" y="1408923"/>
            <a:ext cx="2407158" cy="1097280"/>
          </a:xfrm>
          <a:prstGeom prst="rect">
            <a:avLst/>
          </a:prstGeom>
          <a:noFill/>
          <a:ln/>
        </p:spPr>
        <p:txBody>
          <a:bodyPr wrap="square" rtlCol="0" anchor="ctr"/>
          <a:lstStyle/>
          <a:p>
            <a:pPr marL="0" indent="0" algn="ctr">
              <a:buNone/>
            </a:pPr>
            <a:r>
              <a:rPr lang="en-US" sz="1400" dirty="0">
                <a:solidFill>
                  <a:srgbClr val="212121"/>
                </a:solidFill>
                <a:latin typeface="Arial" pitchFamily="34" charset="0"/>
                <a:ea typeface="Arial" pitchFamily="34" charset="-122"/>
                <a:cs typeface="Arial" pitchFamily="34" charset="-120"/>
              </a:rPr>
              <a:t>Workflow</a:t>
            </a:r>
            <a:endParaRPr lang="en-US" sz="1400" dirty="0"/>
          </a:p>
          <a:p>
            <a:pPr marL="0" indent="0" algn="ctr">
              <a:buNone/>
            </a:pPr>
            <a:r>
              <a:rPr lang="en-US" sz="1400" dirty="0">
                <a:solidFill>
                  <a:srgbClr val="212121"/>
                </a:solidFill>
                <a:latin typeface="Arial" pitchFamily="34" charset="0"/>
                <a:ea typeface="Arial" pitchFamily="34" charset="-122"/>
                <a:cs typeface="Arial" pitchFamily="34" charset="-120"/>
              </a:rPr>
              <a:t>(ci.yml)</a:t>
            </a:r>
            <a:endParaRPr lang="en-US" sz="1400" dirty="0"/>
          </a:p>
        </p:txBody>
      </p:sp>
      <p:sp>
        <p:nvSpPr>
          <p:cNvPr id="10" name="Text 8"/>
          <p:cNvSpPr/>
          <p:nvPr/>
        </p:nvSpPr>
        <p:spPr>
          <a:xfrm>
            <a:off x="5865876" y="1363203"/>
            <a:ext cx="457200" cy="1188720"/>
          </a:xfrm>
          <a:prstGeom prst="rect">
            <a:avLst/>
          </a:prstGeom>
          <a:noFill/>
          <a:ln/>
        </p:spPr>
        <p:txBody>
          <a:bodyPr wrap="square" rtlCol="0" anchor="ctr"/>
          <a:lstStyle/>
          <a:p>
            <a:pPr marL="0" indent="0" algn="ctr">
              <a:buNone/>
            </a:pPr>
            <a:r>
              <a:rPr lang="en-US" sz="2200" b="1" dirty="0">
                <a:solidFill>
                  <a:srgbClr val="3F51B5"/>
                </a:solidFill>
                <a:latin typeface="Arial" pitchFamily="34" charset="0"/>
                <a:ea typeface="Arial" pitchFamily="34" charset="-122"/>
                <a:cs typeface="Arial" pitchFamily="34" charset="-120"/>
              </a:rPr>
              <a:t>→</a:t>
            </a:r>
            <a:endParaRPr lang="en-US" sz="2200" dirty="0"/>
          </a:p>
        </p:txBody>
      </p:sp>
      <p:sp>
        <p:nvSpPr>
          <p:cNvPr id="11" name="Shape 9"/>
          <p:cNvSpPr/>
          <p:nvPr/>
        </p:nvSpPr>
        <p:spPr>
          <a:xfrm>
            <a:off x="6277356" y="1363203"/>
            <a:ext cx="2498598" cy="1188720"/>
          </a:xfrm>
          <a:prstGeom prst="roundRect">
            <a:avLst/>
          </a:prstGeom>
          <a:solidFill>
            <a:srgbClr val="E8EAF6"/>
          </a:solidFill>
          <a:ln w="15875">
            <a:solidFill>
              <a:srgbClr val="3F51B5"/>
            </a:solidFill>
            <a:prstDash val="solid"/>
          </a:ln>
        </p:spPr>
        <p:txBody>
          <a:bodyPr/>
          <a:lstStyle/>
          <a:p>
            <a:endParaRPr lang="es-ES"/>
          </a:p>
        </p:txBody>
      </p:sp>
      <p:sp>
        <p:nvSpPr>
          <p:cNvPr id="12" name="Text 10"/>
          <p:cNvSpPr/>
          <p:nvPr/>
        </p:nvSpPr>
        <p:spPr>
          <a:xfrm>
            <a:off x="6323076" y="1408923"/>
            <a:ext cx="2407158" cy="1097280"/>
          </a:xfrm>
          <a:prstGeom prst="rect">
            <a:avLst/>
          </a:prstGeom>
          <a:noFill/>
          <a:ln/>
        </p:spPr>
        <p:txBody>
          <a:bodyPr wrap="square" rtlCol="0" anchor="ctr"/>
          <a:lstStyle/>
          <a:p>
            <a:pPr marL="0" indent="0" algn="ctr">
              <a:buNone/>
            </a:pPr>
            <a:r>
              <a:rPr lang="en-US" sz="1400" dirty="0">
                <a:solidFill>
                  <a:srgbClr val="212121"/>
                </a:solidFill>
                <a:latin typeface="Arial" pitchFamily="34" charset="0"/>
                <a:ea typeface="Arial" pitchFamily="34" charset="-122"/>
                <a:cs typeface="Arial" pitchFamily="34" charset="-120"/>
              </a:rPr>
              <a:t>Job</a:t>
            </a:r>
            <a:endParaRPr lang="en-US" sz="1400" dirty="0"/>
          </a:p>
          <a:p>
            <a:pPr marL="0" indent="0" algn="ctr">
              <a:buNone/>
            </a:pPr>
            <a:r>
              <a:rPr lang="en-US" sz="1400" dirty="0">
                <a:solidFill>
                  <a:srgbClr val="212121"/>
                </a:solidFill>
                <a:latin typeface="Arial" pitchFamily="34" charset="0"/>
                <a:ea typeface="Arial" pitchFamily="34" charset="-122"/>
                <a:cs typeface="Arial" pitchFamily="34" charset="-120"/>
              </a:rPr>
              <a:t>(build)</a:t>
            </a:r>
            <a:endParaRPr lang="en-US" sz="1400" dirty="0"/>
          </a:p>
        </p:txBody>
      </p:sp>
      <p:sp>
        <p:nvSpPr>
          <p:cNvPr id="13" name="Text 11"/>
          <p:cNvSpPr/>
          <p:nvPr/>
        </p:nvSpPr>
        <p:spPr>
          <a:xfrm>
            <a:off x="8730234" y="1363203"/>
            <a:ext cx="457200" cy="1188720"/>
          </a:xfrm>
          <a:prstGeom prst="rect">
            <a:avLst/>
          </a:prstGeom>
          <a:noFill/>
          <a:ln/>
        </p:spPr>
        <p:txBody>
          <a:bodyPr wrap="square" rtlCol="0" anchor="ctr"/>
          <a:lstStyle/>
          <a:p>
            <a:pPr marL="0" indent="0" algn="ctr">
              <a:buNone/>
            </a:pPr>
            <a:r>
              <a:rPr lang="en-US" sz="2200" b="1" dirty="0">
                <a:solidFill>
                  <a:srgbClr val="3F51B5"/>
                </a:solidFill>
                <a:latin typeface="Arial" pitchFamily="34" charset="0"/>
                <a:ea typeface="Arial" pitchFamily="34" charset="-122"/>
                <a:cs typeface="Arial" pitchFamily="34" charset="-120"/>
              </a:rPr>
              <a:t>→</a:t>
            </a:r>
            <a:endParaRPr lang="en-US" sz="2200" dirty="0"/>
          </a:p>
        </p:txBody>
      </p:sp>
      <p:sp>
        <p:nvSpPr>
          <p:cNvPr id="14" name="Shape 12"/>
          <p:cNvSpPr/>
          <p:nvPr/>
        </p:nvSpPr>
        <p:spPr>
          <a:xfrm>
            <a:off x="9141714" y="1363203"/>
            <a:ext cx="2498598" cy="1188720"/>
          </a:xfrm>
          <a:prstGeom prst="roundRect">
            <a:avLst/>
          </a:prstGeom>
          <a:solidFill>
            <a:srgbClr val="E8EAF6"/>
          </a:solidFill>
          <a:ln w="15875">
            <a:solidFill>
              <a:srgbClr val="3F51B5"/>
            </a:solidFill>
            <a:prstDash val="solid"/>
          </a:ln>
        </p:spPr>
        <p:txBody>
          <a:bodyPr/>
          <a:lstStyle/>
          <a:p>
            <a:endParaRPr lang="es-ES"/>
          </a:p>
        </p:txBody>
      </p:sp>
      <p:sp>
        <p:nvSpPr>
          <p:cNvPr id="15" name="Text 13"/>
          <p:cNvSpPr/>
          <p:nvPr/>
        </p:nvSpPr>
        <p:spPr>
          <a:xfrm>
            <a:off x="9187434" y="1408923"/>
            <a:ext cx="2407158" cy="1097280"/>
          </a:xfrm>
          <a:prstGeom prst="rect">
            <a:avLst/>
          </a:prstGeom>
          <a:noFill/>
          <a:ln/>
        </p:spPr>
        <p:txBody>
          <a:bodyPr wrap="square" rtlCol="0" anchor="ctr"/>
          <a:lstStyle/>
          <a:p>
            <a:pPr marL="0" indent="0" algn="ctr">
              <a:buNone/>
            </a:pPr>
            <a:r>
              <a:rPr lang="en-US" sz="1400" dirty="0">
                <a:solidFill>
                  <a:srgbClr val="212121"/>
                </a:solidFill>
                <a:latin typeface="Arial" pitchFamily="34" charset="0"/>
                <a:ea typeface="Arial" pitchFamily="34" charset="-122"/>
                <a:cs typeface="Arial" pitchFamily="34" charset="-120"/>
              </a:rPr>
              <a:t>Steps</a:t>
            </a:r>
            <a:endParaRPr lang="en-US" sz="1400" dirty="0"/>
          </a:p>
          <a:p>
            <a:pPr marL="0" indent="0" algn="ctr">
              <a:buNone/>
            </a:pPr>
            <a:r>
              <a:rPr lang="en-US" sz="1400" dirty="0">
                <a:solidFill>
                  <a:srgbClr val="212121"/>
                </a:solidFill>
                <a:latin typeface="Arial" pitchFamily="34" charset="0"/>
                <a:ea typeface="Arial" pitchFamily="34" charset="-122"/>
                <a:cs typeface="Arial" pitchFamily="34" charset="-120"/>
              </a:rPr>
              <a:t>(checkout, java,</a:t>
            </a:r>
            <a:endParaRPr lang="en-US" sz="1400" dirty="0"/>
          </a:p>
          <a:p>
            <a:pPr marL="0" indent="0" algn="ctr">
              <a:buNone/>
            </a:pPr>
            <a:r>
              <a:rPr lang="en-US" sz="1400" dirty="0">
                <a:solidFill>
                  <a:srgbClr val="212121"/>
                </a:solidFill>
                <a:latin typeface="Arial" pitchFamily="34" charset="0"/>
                <a:ea typeface="Arial" pitchFamily="34" charset="-122"/>
                <a:cs typeface="Arial" pitchFamily="34" charset="-120"/>
              </a:rPr>
              <a:t>compile, test...)</a:t>
            </a:r>
            <a:endParaRPr lang="en-US" sz="1400" dirty="0"/>
          </a:p>
        </p:txBody>
      </p:sp>
      <p:sp>
        <p:nvSpPr>
          <p:cNvPr id="16" name="Shape 14"/>
          <p:cNvSpPr/>
          <p:nvPr/>
        </p:nvSpPr>
        <p:spPr>
          <a:xfrm>
            <a:off x="548640" y="2871963"/>
            <a:ext cx="11091672" cy="822960"/>
          </a:xfrm>
          <a:prstGeom prst="roundRect">
            <a:avLst/>
          </a:prstGeom>
          <a:solidFill>
            <a:srgbClr val="E0F2F1"/>
          </a:solidFill>
          <a:ln w="19050">
            <a:solidFill>
              <a:srgbClr val="009688"/>
            </a:solidFill>
            <a:prstDash val="solid"/>
          </a:ln>
        </p:spPr>
        <p:txBody>
          <a:bodyPr/>
          <a:lstStyle/>
          <a:p>
            <a:endParaRPr lang="es-ES"/>
          </a:p>
        </p:txBody>
      </p:sp>
      <p:sp>
        <p:nvSpPr>
          <p:cNvPr id="17" name="Text 15"/>
          <p:cNvSpPr/>
          <p:nvPr/>
        </p:nvSpPr>
        <p:spPr>
          <a:xfrm>
            <a:off x="777240" y="2945115"/>
            <a:ext cx="10634472" cy="676656"/>
          </a:xfrm>
          <a:prstGeom prst="rect">
            <a:avLst/>
          </a:prstGeom>
          <a:noFill/>
          <a:ln/>
        </p:spPr>
        <p:txBody>
          <a:bodyPr wrap="square" rtlCol="0" anchor="ctr"/>
          <a:lstStyle/>
          <a:p>
            <a:pPr marL="0" indent="0">
              <a:buNone/>
            </a:pPr>
            <a:r>
              <a:rPr lang="en-US" sz="1600" dirty="0">
                <a:solidFill>
                  <a:srgbClr val="212121"/>
                </a:solidFill>
                <a:latin typeface="Arial" pitchFamily="34" charset="0"/>
                <a:ea typeface="Arial" pitchFamily="34" charset="-122"/>
                <a:cs typeface="Arial" pitchFamily="34" charset="-120"/>
              </a:rPr>
              <a:t>En el proyecto Calculadora: el event es push a main → activa el workflow ci.yml → ejecuta el job build → que tiene 5 steps en orden.</a:t>
            </a:r>
            <a:endParaRPr lang="en-US" sz="1600" dirty="0"/>
          </a:p>
        </p:txBody>
      </p:sp>
      <p:sp>
        <p:nvSpPr>
          <p:cNvPr id="18" name="Text 16"/>
          <p:cNvSpPr/>
          <p:nvPr/>
        </p:nvSpPr>
        <p:spPr>
          <a:xfrm>
            <a:off x="548640" y="3969243"/>
            <a:ext cx="11091672" cy="1645920"/>
          </a:xfrm>
          <a:prstGeom prst="rect">
            <a:avLst/>
          </a:prstGeom>
          <a:noFill/>
          <a:ln/>
        </p:spPr>
        <p:txBody>
          <a:bodyPr wrap="square" rtlCol="0" anchor="t"/>
          <a:lstStyle/>
          <a:p>
            <a:pPr marL="342900" indent="-342900">
              <a:spcAft>
                <a:spcPts val="600"/>
              </a:spcAft>
              <a:buSzPct val="100000"/>
              <a:buChar char="•"/>
            </a:pPr>
            <a:r>
              <a:rPr lang="en-US" sz="2000" dirty="0">
                <a:solidFill>
                  <a:srgbClr val="212121"/>
                </a:solidFill>
                <a:latin typeface="Arial" pitchFamily="34" charset="0"/>
                <a:ea typeface="Arial" pitchFamily="34" charset="-122"/>
                <a:cs typeface="Arial" pitchFamily="34" charset="-120"/>
              </a:rPr>
              <a:t>Un workflow puede tener varios jobs (por defecto se ejecutan en paralelo).</a:t>
            </a:r>
            <a:endParaRPr lang="en-US" sz="2000" dirty="0"/>
          </a:p>
          <a:p>
            <a:pPr marL="342900" indent="-342900">
              <a:spcAft>
                <a:spcPts val="600"/>
              </a:spcAft>
              <a:buSzPct val="100000"/>
              <a:buChar char="•"/>
            </a:pPr>
            <a:r>
              <a:rPr lang="en-US" sz="2000" dirty="0">
                <a:solidFill>
                  <a:srgbClr val="212121"/>
                </a:solidFill>
                <a:latin typeface="Arial" pitchFamily="34" charset="0"/>
                <a:ea typeface="Arial" pitchFamily="34" charset="-122"/>
                <a:cs typeface="Arial" pitchFamily="34" charset="-120"/>
              </a:rPr>
              <a:t>Los steps de un job se ejecutan en orden. Si uno falla, el job se detiene.</a:t>
            </a:r>
            <a:endParaRPr lang="en-US" sz="2000" dirty="0"/>
          </a:p>
          <a:p>
            <a:pPr marL="342900" indent="-342900">
              <a:spcAft>
                <a:spcPts val="600"/>
              </a:spcAft>
              <a:buSzPct val="100000"/>
              <a:buChar char="•"/>
            </a:pPr>
            <a:r>
              <a:rPr lang="en-US" sz="2000" dirty="0">
                <a:solidFill>
                  <a:srgbClr val="212121"/>
                </a:solidFill>
                <a:latin typeface="Arial" pitchFamily="34" charset="0"/>
                <a:ea typeface="Arial" pitchFamily="34" charset="-122"/>
                <a:cs typeface="Arial" pitchFamily="34" charset="-120"/>
              </a:rPr>
              <a:t>El runner es una máquina virtual Ubuntu que arranca vacía en cada ejecución.</a:t>
            </a:r>
            <a:endParaRPr lang="en-US" sz="2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Shape 0"/>
          <p:cNvSpPr/>
          <p:nvPr/>
        </p:nvSpPr>
        <p:spPr>
          <a:xfrm>
            <a:off x="0" y="0"/>
            <a:ext cx="12188952" cy="777240"/>
          </a:xfrm>
          <a:prstGeom prst="rect">
            <a:avLst/>
          </a:prstGeom>
          <a:solidFill>
            <a:srgbClr val="303F9F"/>
          </a:solidFill>
          <a:ln w="12700">
            <a:solidFill>
              <a:srgbClr val="303F9F"/>
            </a:solidFill>
            <a:prstDash val="solid"/>
          </a:ln>
        </p:spPr>
        <p:txBody>
          <a:bodyPr/>
          <a:lstStyle/>
          <a:p>
            <a:endParaRPr lang="es-ES"/>
          </a:p>
        </p:txBody>
      </p:sp>
      <p:sp>
        <p:nvSpPr>
          <p:cNvPr id="3" name="Text 1"/>
          <p:cNvSpPr/>
          <p:nvPr/>
        </p:nvSpPr>
        <p:spPr>
          <a:xfrm>
            <a:off x="365760" y="0"/>
            <a:ext cx="11457432" cy="777240"/>
          </a:xfrm>
          <a:prstGeom prst="rect">
            <a:avLst/>
          </a:prstGeom>
          <a:noFill/>
          <a:ln/>
        </p:spPr>
        <p:txBody>
          <a:bodyPr wrap="square" rtlCol="0" anchor="ctr"/>
          <a:lstStyle/>
          <a:p>
            <a:pPr marL="0" indent="0">
              <a:buNone/>
            </a:pPr>
            <a:r>
              <a:rPr lang="en-US" sz="2200" b="1" dirty="0">
                <a:solidFill>
                  <a:srgbClr val="FFFFFF"/>
                </a:solidFill>
                <a:latin typeface="Arial" pitchFamily="34" charset="0"/>
                <a:ea typeface="Arial" pitchFamily="34" charset="-122"/>
                <a:cs typeface="Arial" pitchFamily="34" charset="-120"/>
              </a:rPr>
              <a:t>9.3 — Dónde va el workflow en el proyecto</a:t>
            </a:r>
            <a:endParaRPr lang="en-US" sz="2200" dirty="0"/>
          </a:p>
        </p:txBody>
      </p:sp>
      <p:sp>
        <p:nvSpPr>
          <p:cNvPr id="4" name="Text 2"/>
          <p:cNvSpPr/>
          <p:nvPr/>
        </p:nvSpPr>
        <p:spPr>
          <a:xfrm>
            <a:off x="548640" y="6473952"/>
            <a:ext cx="11091672" cy="292608"/>
          </a:xfrm>
          <a:prstGeom prst="rect">
            <a:avLst/>
          </a:prstGeom>
          <a:noFill/>
          <a:ln/>
        </p:spPr>
        <p:txBody>
          <a:bodyPr wrap="square" rtlCol="0" anchor="ctr"/>
          <a:lstStyle/>
          <a:p>
            <a:pPr marL="0" indent="0" algn="r">
              <a:buNone/>
            </a:pPr>
            <a:r>
              <a:rPr lang="en-US" sz="1100" dirty="0">
                <a:solidFill>
                  <a:srgbClr val="757575"/>
                </a:solidFill>
                <a:latin typeface="Arial" pitchFamily="34" charset="0"/>
                <a:ea typeface="Arial" pitchFamily="34" charset="-122"/>
                <a:cs typeface="Arial" pitchFamily="34" charset="-120"/>
              </a:rPr>
              <a:t>Entornos de Desarrollo — Tema 4 — Integración Continua con GitHub Actions</a:t>
            </a:r>
            <a:endParaRPr lang="en-US" sz="1100" dirty="0"/>
          </a:p>
        </p:txBody>
      </p:sp>
      <p:sp>
        <p:nvSpPr>
          <p:cNvPr id="5" name="Shape 3"/>
          <p:cNvSpPr/>
          <p:nvPr/>
        </p:nvSpPr>
        <p:spPr>
          <a:xfrm>
            <a:off x="548640" y="1437847"/>
            <a:ext cx="4788896" cy="2834640"/>
          </a:xfrm>
          <a:prstGeom prst="rect">
            <a:avLst/>
          </a:prstGeom>
          <a:solidFill>
            <a:srgbClr val="ECEFF1"/>
          </a:solidFill>
          <a:ln w="12700">
            <a:solidFill>
              <a:srgbClr val="EEEEEE"/>
            </a:solidFill>
            <a:prstDash val="solid"/>
          </a:ln>
        </p:spPr>
        <p:txBody>
          <a:bodyPr/>
          <a:lstStyle/>
          <a:p>
            <a:endParaRPr lang="es-ES" sz="2000" dirty="0"/>
          </a:p>
        </p:txBody>
      </p:sp>
      <p:sp>
        <p:nvSpPr>
          <p:cNvPr id="6" name="Shape 4"/>
          <p:cNvSpPr/>
          <p:nvPr/>
        </p:nvSpPr>
        <p:spPr>
          <a:xfrm>
            <a:off x="548640" y="1437847"/>
            <a:ext cx="73152" cy="2834640"/>
          </a:xfrm>
          <a:prstGeom prst="rect">
            <a:avLst/>
          </a:prstGeom>
          <a:solidFill>
            <a:srgbClr val="009688"/>
          </a:solidFill>
          <a:ln w="12700">
            <a:solidFill>
              <a:srgbClr val="009688"/>
            </a:solidFill>
            <a:prstDash val="solid"/>
          </a:ln>
        </p:spPr>
        <p:txBody>
          <a:bodyPr/>
          <a:lstStyle/>
          <a:p>
            <a:endParaRPr lang="es-ES"/>
          </a:p>
        </p:txBody>
      </p:sp>
      <p:sp>
        <p:nvSpPr>
          <p:cNvPr id="7" name="Text 5"/>
          <p:cNvSpPr/>
          <p:nvPr/>
        </p:nvSpPr>
        <p:spPr>
          <a:xfrm>
            <a:off x="777240" y="1529287"/>
            <a:ext cx="4377416" cy="2651760"/>
          </a:xfrm>
          <a:prstGeom prst="rect">
            <a:avLst/>
          </a:prstGeom>
          <a:noFill/>
          <a:ln/>
        </p:spPr>
        <p:txBody>
          <a:bodyPr wrap="square" rtlCol="0" anchor="t"/>
          <a:lstStyle/>
          <a:p>
            <a:pPr marL="0" indent="0">
              <a:buNone/>
            </a:pPr>
            <a:r>
              <a:rPr lang="en-US" sz="1600" dirty="0">
                <a:solidFill>
                  <a:srgbClr val="263238"/>
                </a:solidFill>
                <a:latin typeface="Courier New" pitchFamily="34" charset="0"/>
                <a:ea typeface="Courier New" pitchFamily="34" charset="-122"/>
                <a:cs typeface="Courier New" pitchFamily="34" charset="-120"/>
              </a:rPr>
              <a:t>mi-proyecto-ci/</a:t>
            </a:r>
            <a:endParaRPr lang="en-US" sz="1600" dirty="0"/>
          </a:p>
          <a:p>
            <a:pPr marL="0" indent="0">
              <a:buNone/>
            </a:pPr>
            <a:r>
              <a:rPr lang="en-US" sz="1600" dirty="0">
                <a:solidFill>
                  <a:srgbClr val="263238"/>
                </a:solidFill>
                <a:latin typeface="Courier New" pitchFamily="34" charset="0"/>
                <a:ea typeface="Courier New" pitchFamily="34" charset="-122"/>
                <a:cs typeface="Courier New" pitchFamily="34" charset="-120"/>
              </a:rPr>
              <a:t>├── .github/</a:t>
            </a:r>
            <a:endParaRPr lang="en-US" sz="1600" dirty="0"/>
          </a:p>
          <a:p>
            <a:pPr marL="0" indent="0">
              <a:buNone/>
            </a:pPr>
            <a:r>
              <a:rPr lang="en-US" sz="1600" dirty="0">
                <a:solidFill>
                  <a:srgbClr val="263238"/>
                </a:solidFill>
                <a:latin typeface="Courier New" pitchFamily="34" charset="0"/>
                <a:ea typeface="Courier New" pitchFamily="34" charset="-122"/>
                <a:cs typeface="Courier New" pitchFamily="34" charset="-120"/>
              </a:rPr>
              <a:t>│   └── workflows/</a:t>
            </a:r>
            <a:endParaRPr lang="en-US" sz="1600" dirty="0"/>
          </a:p>
          <a:p>
            <a:pPr marL="0" indent="0">
              <a:buNone/>
            </a:pPr>
            <a:r>
              <a:rPr lang="en-US" sz="1600" dirty="0">
                <a:solidFill>
                  <a:srgbClr val="263238"/>
                </a:solidFill>
                <a:latin typeface="Courier New" pitchFamily="34" charset="0"/>
                <a:ea typeface="Courier New" pitchFamily="34" charset="-122"/>
                <a:cs typeface="Courier New" pitchFamily="34" charset="-120"/>
              </a:rPr>
              <a:t>│       └── ci.yml</a:t>
            </a:r>
            <a:endParaRPr lang="en-US" sz="1600" dirty="0"/>
          </a:p>
          <a:p>
            <a:pPr marL="0" indent="0">
              <a:buNone/>
            </a:pPr>
            <a:r>
              <a:rPr lang="en-US" sz="1600" dirty="0">
                <a:solidFill>
                  <a:srgbClr val="263238"/>
                </a:solidFill>
                <a:latin typeface="Courier New" pitchFamily="34" charset="0"/>
                <a:ea typeface="Courier New" pitchFamily="34" charset="-122"/>
                <a:cs typeface="Courier New" pitchFamily="34" charset="-120"/>
              </a:rPr>
              <a:t>├── src/</a:t>
            </a:r>
            <a:endParaRPr lang="en-US" sz="1600" dirty="0"/>
          </a:p>
          <a:p>
            <a:pPr marL="0" indent="0">
              <a:buNone/>
            </a:pPr>
            <a:r>
              <a:rPr lang="en-US" sz="1600" dirty="0">
                <a:solidFill>
                  <a:srgbClr val="263238"/>
                </a:solidFill>
                <a:latin typeface="Courier New" pitchFamily="34" charset="0"/>
                <a:ea typeface="Courier New" pitchFamily="34" charset="-122"/>
                <a:cs typeface="Courier New" pitchFamily="34" charset="-120"/>
              </a:rPr>
              <a:t>│   ├── main/java/com/ejemplo/</a:t>
            </a:r>
            <a:endParaRPr lang="en-US" sz="1600" dirty="0"/>
          </a:p>
          <a:p>
            <a:pPr marL="0" indent="0">
              <a:buNone/>
            </a:pPr>
            <a:r>
              <a:rPr lang="en-US" sz="1600" dirty="0">
                <a:solidFill>
                  <a:srgbClr val="263238"/>
                </a:solidFill>
                <a:latin typeface="Courier New" pitchFamily="34" charset="0"/>
                <a:ea typeface="Courier New" pitchFamily="34" charset="-122"/>
                <a:cs typeface="Courier New" pitchFamily="34" charset="-120"/>
              </a:rPr>
              <a:t>│   │   └── Calculadora.java</a:t>
            </a:r>
            <a:endParaRPr lang="en-US" sz="1600" dirty="0"/>
          </a:p>
          <a:p>
            <a:pPr marL="0" indent="0">
              <a:buNone/>
            </a:pPr>
            <a:r>
              <a:rPr lang="en-US" sz="1600" dirty="0">
                <a:solidFill>
                  <a:srgbClr val="263238"/>
                </a:solidFill>
                <a:latin typeface="Courier New" pitchFamily="34" charset="0"/>
                <a:ea typeface="Courier New" pitchFamily="34" charset="-122"/>
                <a:cs typeface="Courier New" pitchFamily="34" charset="-120"/>
              </a:rPr>
              <a:t>│   └── test/java/com/ejemplo/</a:t>
            </a:r>
            <a:endParaRPr lang="en-US" sz="1600" dirty="0"/>
          </a:p>
          <a:p>
            <a:pPr marL="0" indent="0">
              <a:buNone/>
            </a:pPr>
            <a:r>
              <a:rPr lang="en-US" sz="1600" dirty="0">
                <a:solidFill>
                  <a:srgbClr val="263238"/>
                </a:solidFill>
                <a:latin typeface="Courier New" pitchFamily="34" charset="0"/>
                <a:ea typeface="Courier New" pitchFamily="34" charset="-122"/>
                <a:cs typeface="Courier New" pitchFamily="34" charset="-120"/>
              </a:rPr>
              <a:t>│       └── CalculadoraTest.java</a:t>
            </a:r>
            <a:endParaRPr lang="en-US" sz="1600" dirty="0"/>
          </a:p>
          <a:p>
            <a:pPr marL="0" indent="0">
              <a:buNone/>
            </a:pPr>
            <a:r>
              <a:rPr lang="en-US" sz="1600" dirty="0">
                <a:solidFill>
                  <a:srgbClr val="263238"/>
                </a:solidFill>
                <a:latin typeface="Courier New" pitchFamily="34" charset="0"/>
                <a:ea typeface="Courier New" pitchFamily="34" charset="-122"/>
                <a:cs typeface="Courier New" pitchFamily="34" charset="-120"/>
              </a:rPr>
              <a:t>└── pom.xml</a:t>
            </a:r>
            <a:endParaRPr lang="en-US" sz="1600" dirty="0"/>
          </a:p>
        </p:txBody>
      </p:sp>
      <p:sp>
        <p:nvSpPr>
          <p:cNvPr id="8" name="Text 6"/>
          <p:cNvSpPr/>
          <p:nvPr/>
        </p:nvSpPr>
        <p:spPr>
          <a:xfrm>
            <a:off x="5520416" y="1437847"/>
            <a:ext cx="6119896" cy="2834640"/>
          </a:xfrm>
          <a:prstGeom prst="rect">
            <a:avLst/>
          </a:prstGeom>
          <a:noFill/>
          <a:ln/>
        </p:spPr>
        <p:txBody>
          <a:bodyPr wrap="square" rtlCol="0" anchor="t"/>
          <a:lstStyle/>
          <a:p>
            <a:pPr marL="190500" indent="-190500">
              <a:spcAft>
                <a:spcPts val="600"/>
              </a:spcAft>
              <a:buSzPct val="100000"/>
              <a:buChar char="•"/>
            </a:pPr>
            <a:r>
              <a:rPr lang="en-US" sz="1600" dirty="0">
                <a:solidFill>
                  <a:srgbClr val="212121"/>
                </a:solidFill>
                <a:latin typeface="Arial" pitchFamily="34" charset="0"/>
                <a:ea typeface="Arial" pitchFamily="34" charset="-122"/>
                <a:cs typeface="Arial" pitchFamily="34" charset="-120"/>
              </a:rPr>
              <a:t>name  —  nombre visible en el panel Actions</a:t>
            </a:r>
            <a:endParaRPr lang="en-US" sz="1600" dirty="0"/>
          </a:p>
          <a:p>
            <a:pPr marL="190500" indent="-190500">
              <a:spcAft>
                <a:spcPts val="600"/>
              </a:spcAft>
              <a:buSzPct val="100000"/>
              <a:buChar char="•"/>
            </a:pPr>
            <a:r>
              <a:rPr lang="en-US" sz="1600" dirty="0">
                <a:solidFill>
                  <a:srgbClr val="212121"/>
                </a:solidFill>
                <a:latin typeface="Arial" pitchFamily="34" charset="0"/>
                <a:ea typeface="Arial" pitchFamily="34" charset="-122"/>
                <a:cs typeface="Arial" pitchFamily="34" charset="-120"/>
              </a:rPr>
              <a:t>on  —  eventos que activan el workflow</a:t>
            </a:r>
            <a:endParaRPr lang="en-US" sz="1600" dirty="0"/>
          </a:p>
          <a:p>
            <a:pPr marL="190500" indent="-190500">
              <a:spcAft>
                <a:spcPts val="600"/>
              </a:spcAft>
              <a:buSzPct val="100000"/>
              <a:buChar char="•"/>
            </a:pPr>
            <a:r>
              <a:rPr lang="en-US" sz="1600" dirty="0">
                <a:solidFill>
                  <a:srgbClr val="212121"/>
                </a:solidFill>
                <a:latin typeface="Arial" pitchFamily="34" charset="0"/>
                <a:ea typeface="Arial" pitchFamily="34" charset="-122"/>
                <a:cs typeface="Arial" pitchFamily="34" charset="-120"/>
              </a:rPr>
              <a:t>jobs  —  uno o más bloques de trabajo</a:t>
            </a:r>
            <a:endParaRPr lang="en-US" sz="1600" dirty="0"/>
          </a:p>
          <a:p>
            <a:pPr marL="190500" indent="-190500">
              <a:spcAft>
                <a:spcPts val="600"/>
              </a:spcAft>
              <a:buSzPct val="100000"/>
              <a:buChar char="•"/>
            </a:pPr>
            <a:r>
              <a:rPr lang="en-US" sz="1600" dirty="0">
                <a:solidFill>
                  <a:srgbClr val="212121"/>
                </a:solidFill>
                <a:latin typeface="Arial" pitchFamily="34" charset="0"/>
                <a:ea typeface="Arial" pitchFamily="34" charset="-122"/>
                <a:cs typeface="Arial" pitchFamily="34" charset="-120"/>
              </a:rPr>
              <a:t>runs-on  —  tipo de runner (ubuntu-latest)</a:t>
            </a:r>
            <a:endParaRPr lang="en-US" sz="1600" dirty="0"/>
          </a:p>
          <a:p>
            <a:pPr marL="190500" indent="-190500">
              <a:spcAft>
                <a:spcPts val="600"/>
              </a:spcAft>
              <a:buSzPct val="100000"/>
              <a:buChar char="•"/>
            </a:pPr>
            <a:r>
              <a:rPr lang="en-US" sz="1600" dirty="0">
                <a:solidFill>
                  <a:srgbClr val="212121"/>
                </a:solidFill>
                <a:latin typeface="Arial" pitchFamily="34" charset="0"/>
                <a:ea typeface="Arial" pitchFamily="34" charset="-122"/>
                <a:cs typeface="Arial" pitchFamily="34" charset="-120"/>
              </a:rPr>
              <a:t>steps  —  pasos en orden, uno tras otro</a:t>
            </a:r>
            <a:endParaRPr lang="en-US" sz="1600" dirty="0"/>
          </a:p>
          <a:p>
            <a:pPr marL="190500" indent="-190500">
              <a:spcAft>
                <a:spcPts val="600"/>
              </a:spcAft>
              <a:buSzPct val="100000"/>
              <a:buChar char="•"/>
            </a:pPr>
            <a:r>
              <a:rPr lang="en-US" sz="1600" dirty="0">
                <a:solidFill>
                  <a:srgbClr val="212121"/>
                </a:solidFill>
                <a:latin typeface="Arial" pitchFamily="34" charset="0"/>
                <a:ea typeface="Arial" pitchFamily="34" charset="-122"/>
                <a:cs typeface="Arial" pitchFamily="34" charset="-120"/>
              </a:rPr>
              <a:t>uses  —  Action del Marketplace</a:t>
            </a:r>
            <a:endParaRPr lang="en-US" sz="1600" dirty="0"/>
          </a:p>
          <a:p>
            <a:pPr marL="190500" indent="-190500">
              <a:spcAft>
                <a:spcPts val="600"/>
              </a:spcAft>
              <a:buSzPct val="100000"/>
              <a:buChar char="•"/>
            </a:pPr>
            <a:r>
              <a:rPr lang="en-US" sz="1600" dirty="0">
                <a:solidFill>
                  <a:srgbClr val="212121"/>
                </a:solidFill>
                <a:latin typeface="Arial" pitchFamily="34" charset="0"/>
                <a:ea typeface="Arial" pitchFamily="34" charset="-122"/>
                <a:cs typeface="Arial" pitchFamily="34" charset="-120"/>
              </a:rPr>
              <a:t>run  —  comando de shell directo</a:t>
            </a:r>
            <a:endParaRPr lang="en-US" sz="1600" dirty="0"/>
          </a:p>
        </p:txBody>
      </p:sp>
      <p:sp>
        <p:nvSpPr>
          <p:cNvPr id="9" name="Shape 7"/>
          <p:cNvSpPr/>
          <p:nvPr/>
        </p:nvSpPr>
        <p:spPr>
          <a:xfrm>
            <a:off x="548640" y="4501087"/>
            <a:ext cx="11091672" cy="658368"/>
          </a:xfrm>
          <a:prstGeom prst="roundRect">
            <a:avLst/>
          </a:prstGeom>
          <a:solidFill>
            <a:srgbClr val="E0F2F1"/>
          </a:solidFill>
          <a:ln w="19050">
            <a:solidFill>
              <a:srgbClr val="009688"/>
            </a:solidFill>
            <a:prstDash val="solid"/>
          </a:ln>
        </p:spPr>
        <p:txBody>
          <a:bodyPr/>
          <a:lstStyle/>
          <a:p>
            <a:endParaRPr lang="es-ES"/>
          </a:p>
        </p:txBody>
      </p:sp>
      <p:sp>
        <p:nvSpPr>
          <p:cNvPr id="10" name="Text 8"/>
          <p:cNvSpPr/>
          <p:nvPr/>
        </p:nvSpPr>
        <p:spPr>
          <a:xfrm>
            <a:off x="777240" y="4574239"/>
            <a:ext cx="10634472" cy="512064"/>
          </a:xfrm>
          <a:prstGeom prst="rect">
            <a:avLst/>
          </a:prstGeom>
          <a:noFill/>
          <a:ln/>
        </p:spPr>
        <p:txBody>
          <a:bodyPr wrap="square" rtlCol="0" anchor="ctr"/>
          <a:lstStyle/>
          <a:p>
            <a:pPr marL="0" indent="0">
              <a:buNone/>
            </a:pPr>
            <a:r>
              <a:rPr lang="en-US" sz="1500" dirty="0">
                <a:solidFill>
                  <a:srgbClr val="212121"/>
                </a:solidFill>
                <a:latin typeface="Arial" pitchFamily="34" charset="0"/>
                <a:ea typeface="Arial" pitchFamily="34" charset="-122"/>
                <a:cs typeface="Arial" pitchFamily="34" charset="-120"/>
              </a:rPr>
              <a:t>El fichero .github/workflows/ci.yml es suficiente para activar CI en cualquier repositorio de GitHub.</a:t>
            </a:r>
            <a:endParaRPr lang="en-US" sz="15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Shape 0"/>
          <p:cNvSpPr/>
          <p:nvPr/>
        </p:nvSpPr>
        <p:spPr>
          <a:xfrm>
            <a:off x="0" y="0"/>
            <a:ext cx="12188952" cy="777240"/>
          </a:xfrm>
          <a:prstGeom prst="rect">
            <a:avLst/>
          </a:prstGeom>
          <a:solidFill>
            <a:srgbClr val="303F9F"/>
          </a:solidFill>
          <a:ln w="12700">
            <a:solidFill>
              <a:srgbClr val="303F9F"/>
            </a:solidFill>
            <a:prstDash val="solid"/>
          </a:ln>
        </p:spPr>
        <p:txBody>
          <a:bodyPr/>
          <a:lstStyle/>
          <a:p>
            <a:endParaRPr lang="es-ES"/>
          </a:p>
        </p:txBody>
      </p:sp>
      <p:sp>
        <p:nvSpPr>
          <p:cNvPr id="3" name="Text 1"/>
          <p:cNvSpPr/>
          <p:nvPr/>
        </p:nvSpPr>
        <p:spPr>
          <a:xfrm>
            <a:off x="365760" y="0"/>
            <a:ext cx="11457432" cy="777240"/>
          </a:xfrm>
          <a:prstGeom prst="rect">
            <a:avLst/>
          </a:prstGeom>
          <a:noFill/>
          <a:ln/>
        </p:spPr>
        <p:txBody>
          <a:bodyPr wrap="square" rtlCol="0" anchor="ctr"/>
          <a:lstStyle/>
          <a:p>
            <a:pPr marL="0" indent="0">
              <a:buNone/>
            </a:pPr>
            <a:r>
              <a:rPr lang="en-US" sz="2200" b="1" dirty="0">
                <a:solidFill>
                  <a:srgbClr val="FFFFFF"/>
                </a:solidFill>
                <a:latin typeface="Arial" pitchFamily="34" charset="0"/>
                <a:ea typeface="Arial" pitchFamily="34" charset="-122"/>
                <a:cs typeface="Arial" pitchFamily="34" charset="-120"/>
              </a:rPr>
              <a:t>9.3 — El workflow ci.yml: cabecera (name, on, jobs)</a:t>
            </a:r>
            <a:endParaRPr lang="en-US" sz="2200" dirty="0"/>
          </a:p>
        </p:txBody>
      </p:sp>
      <p:sp>
        <p:nvSpPr>
          <p:cNvPr id="4" name="Text 2"/>
          <p:cNvSpPr/>
          <p:nvPr/>
        </p:nvSpPr>
        <p:spPr>
          <a:xfrm>
            <a:off x="548640" y="6473952"/>
            <a:ext cx="11091672" cy="292608"/>
          </a:xfrm>
          <a:prstGeom prst="rect">
            <a:avLst/>
          </a:prstGeom>
          <a:noFill/>
          <a:ln/>
        </p:spPr>
        <p:txBody>
          <a:bodyPr wrap="square" rtlCol="0" anchor="ctr"/>
          <a:lstStyle/>
          <a:p>
            <a:pPr marL="0" indent="0" algn="r">
              <a:buNone/>
            </a:pPr>
            <a:r>
              <a:rPr lang="en-US" sz="1100" dirty="0">
                <a:solidFill>
                  <a:srgbClr val="757575"/>
                </a:solidFill>
                <a:latin typeface="Arial" pitchFamily="34" charset="0"/>
                <a:ea typeface="Arial" pitchFamily="34" charset="-122"/>
                <a:cs typeface="Arial" pitchFamily="34" charset="-120"/>
              </a:rPr>
              <a:t>Entornos de Desarrollo — Tema 4 — Integración Continua con GitHub Actions</a:t>
            </a:r>
            <a:endParaRPr lang="en-US" sz="1100" dirty="0"/>
          </a:p>
        </p:txBody>
      </p:sp>
      <p:sp>
        <p:nvSpPr>
          <p:cNvPr id="5" name="Shape 3"/>
          <p:cNvSpPr/>
          <p:nvPr/>
        </p:nvSpPr>
        <p:spPr>
          <a:xfrm>
            <a:off x="548640" y="1008640"/>
            <a:ext cx="11091672" cy="3199467"/>
          </a:xfrm>
          <a:prstGeom prst="rect">
            <a:avLst/>
          </a:prstGeom>
          <a:solidFill>
            <a:srgbClr val="ECEFF1"/>
          </a:solidFill>
          <a:ln w="12700">
            <a:solidFill>
              <a:srgbClr val="EEEEEE"/>
            </a:solidFill>
            <a:prstDash val="solid"/>
          </a:ln>
        </p:spPr>
        <p:txBody>
          <a:bodyPr/>
          <a:lstStyle/>
          <a:p>
            <a:endParaRPr lang="es-ES"/>
          </a:p>
        </p:txBody>
      </p:sp>
      <p:sp>
        <p:nvSpPr>
          <p:cNvPr id="6" name="Shape 4"/>
          <p:cNvSpPr/>
          <p:nvPr/>
        </p:nvSpPr>
        <p:spPr>
          <a:xfrm>
            <a:off x="548640" y="1027303"/>
            <a:ext cx="73152" cy="3017520"/>
          </a:xfrm>
          <a:prstGeom prst="rect">
            <a:avLst/>
          </a:prstGeom>
          <a:solidFill>
            <a:srgbClr val="009688"/>
          </a:solidFill>
          <a:ln w="12700">
            <a:solidFill>
              <a:srgbClr val="009688"/>
            </a:solidFill>
            <a:prstDash val="solid"/>
          </a:ln>
        </p:spPr>
        <p:txBody>
          <a:bodyPr/>
          <a:lstStyle/>
          <a:p>
            <a:endParaRPr lang="es-ES"/>
          </a:p>
        </p:txBody>
      </p:sp>
      <p:sp>
        <p:nvSpPr>
          <p:cNvPr id="7" name="Text 5"/>
          <p:cNvSpPr/>
          <p:nvPr/>
        </p:nvSpPr>
        <p:spPr>
          <a:xfrm>
            <a:off x="777240" y="1090750"/>
            <a:ext cx="10680192" cy="2834640"/>
          </a:xfrm>
          <a:prstGeom prst="rect">
            <a:avLst/>
          </a:prstGeom>
          <a:noFill/>
          <a:ln/>
        </p:spPr>
        <p:txBody>
          <a:bodyPr wrap="square" rtlCol="0" anchor="t"/>
          <a:lstStyle/>
          <a:p>
            <a:pPr marL="0" indent="0">
              <a:buNone/>
            </a:pPr>
            <a:r>
              <a:rPr lang="en-US" sz="1600" dirty="0">
                <a:solidFill>
                  <a:srgbClr val="263238"/>
                </a:solidFill>
                <a:latin typeface="Courier New" pitchFamily="34" charset="0"/>
                <a:ea typeface="Courier New" pitchFamily="34" charset="-122"/>
                <a:cs typeface="Courier New" pitchFamily="34" charset="-120"/>
              </a:rPr>
              <a:t># .github/workflows/ci.yml</a:t>
            </a:r>
            <a:endParaRPr lang="en-US" sz="1600" dirty="0"/>
          </a:p>
          <a:p>
            <a:pPr marL="0" indent="0">
              <a:buNone/>
            </a:pPr>
            <a:r>
              <a:rPr lang="en-US" sz="1600" dirty="0">
                <a:solidFill>
                  <a:srgbClr val="263238"/>
                </a:solidFill>
                <a:latin typeface="Courier New" pitchFamily="34" charset="0"/>
                <a:ea typeface="Courier New" pitchFamily="34" charset="-122"/>
                <a:cs typeface="Courier New" pitchFamily="34" charset="-120"/>
              </a:rPr>
              <a:t>name: CI — Build y Tests      # nombre en el panel Actions</a:t>
            </a:r>
            <a:endParaRPr lang="en-US" sz="1600" dirty="0"/>
          </a:p>
          <a:p>
            <a:pPr marL="0" indent="0">
              <a:buNone/>
            </a:pPr>
            <a:endParaRPr lang="en-US" sz="1600" dirty="0"/>
          </a:p>
          <a:p>
            <a:pPr marL="0" indent="0">
              <a:buNone/>
            </a:pPr>
            <a:r>
              <a:rPr lang="en-US" sz="1600" dirty="0">
                <a:solidFill>
                  <a:srgbClr val="263238"/>
                </a:solidFill>
                <a:latin typeface="Courier New" pitchFamily="34" charset="0"/>
                <a:ea typeface="Courier New" pitchFamily="34" charset="-122"/>
                <a:cs typeface="Courier New" pitchFamily="34" charset="-120"/>
              </a:rPr>
              <a:t>on:                           # qué eventos lo activan</a:t>
            </a:r>
            <a:endParaRPr lang="en-US" sz="1600" dirty="0"/>
          </a:p>
          <a:p>
            <a:pPr marL="0" indent="0">
              <a:buNone/>
            </a:pPr>
            <a:r>
              <a:rPr lang="en-US" sz="1600" dirty="0">
                <a:solidFill>
                  <a:srgbClr val="263238"/>
                </a:solidFill>
                <a:latin typeface="Courier New" pitchFamily="34" charset="0"/>
                <a:ea typeface="Courier New" pitchFamily="34" charset="-122"/>
                <a:cs typeface="Courier New" pitchFamily="34" charset="-120"/>
              </a:rPr>
              <a:t>  push:</a:t>
            </a:r>
            <a:endParaRPr lang="en-US" sz="1600" dirty="0"/>
          </a:p>
          <a:p>
            <a:pPr marL="0" indent="0">
              <a:buNone/>
            </a:pPr>
            <a:r>
              <a:rPr lang="en-US" sz="1600" dirty="0">
                <a:solidFill>
                  <a:srgbClr val="263238"/>
                </a:solidFill>
                <a:latin typeface="Courier New" pitchFamily="34" charset="0"/>
                <a:ea typeface="Courier New" pitchFamily="34" charset="-122"/>
                <a:cs typeface="Courier New" pitchFamily="34" charset="-120"/>
              </a:rPr>
              <a:t>    branches: [main]          # solo en push a main</a:t>
            </a:r>
            <a:endParaRPr lang="en-US" sz="1600" dirty="0"/>
          </a:p>
          <a:p>
            <a:pPr marL="0" indent="0">
              <a:buNone/>
            </a:pPr>
            <a:r>
              <a:rPr lang="en-US" sz="1600" dirty="0">
                <a:solidFill>
                  <a:srgbClr val="263238"/>
                </a:solidFill>
                <a:latin typeface="Courier New" pitchFamily="34" charset="0"/>
                <a:ea typeface="Courier New" pitchFamily="34" charset="-122"/>
                <a:cs typeface="Courier New" pitchFamily="34" charset="-120"/>
              </a:rPr>
              <a:t>  pull_request:</a:t>
            </a:r>
            <a:endParaRPr lang="en-US" sz="1600" dirty="0"/>
          </a:p>
          <a:p>
            <a:pPr marL="0" indent="0">
              <a:buNone/>
            </a:pPr>
            <a:r>
              <a:rPr lang="en-US" sz="1600" dirty="0">
                <a:solidFill>
                  <a:srgbClr val="263238"/>
                </a:solidFill>
                <a:latin typeface="Courier New" pitchFamily="34" charset="0"/>
                <a:ea typeface="Courier New" pitchFamily="34" charset="-122"/>
                <a:cs typeface="Courier New" pitchFamily="34" charset="-120"/>
              </a:rPr>
              <a:t>    branches: [main]          # en cualquier PR hacia main</a:t>
            </a:r>
            <a:endParaRPr lang="en-US" sz="1600" dirty="0"/>
          </a:p>
          <a:p>
            <a:pPr marL="0" indent="0">
              <a:buNone/>
            </a:pPr>
            <a:endParaRPr lang="en-US" sz="1600" dirty="0"/>
          </a:p>
          <a:p>
            <a:pPr marL="0" indent="0">
              <a:buNone/>
            </a:pPr>
            <a:r>
              <a:rPr lang="en-US" sz="1600" dirty="0">
                <a:solidFill>
                  <a:srgbClr val="263238"/>
                </a:solidFill>
                <a:latin typeface="Courier New" pitchFamily="34" charset="0"/>
                <a:ea typeface="Courier New" pitchFamily="34" charset="-122"/>
                <a:cs typeface="Courier New" pitchFamily="34" charset="-120"/>
              </a:rPr>
              <a:t>jobs:                         # bloques de trabajo</a:t>
            </a:r>
            <a:endParaRPr lang="en-US" sz="1600" dirty="0"/>
          </a:p>
          <a:p>
            <a:pPr marL="0" indent="0">
              <a:buNone/>
            </a:pPr>
            <a:r>
              <a:rPr lang="en-US" sz="1600" dirty="0">
                <a:solidFill>
                  <a:srgbClr val="263238"/>
                </a:solidFill>
                <a:latin typeface="Courier New" pitchFamily="34" charset="0"/>
                <a:ea typeface="Courier New" pitchFamily="34" charset="-122"/>
                <a:cs typeface="Courier New" pitchFamily="34" charset="-120"/>
              </a:rPr>
              <a:t>  build:                      # nombre del job (lo eliges tú)</a:t>
            </a:r>
            <a:endParaRPr lang="en-US" sz="1600" dirty="0"/>
          </a:p>
          <a:p>
            <a:pPr marL="0" indent="0">
              <a:buNone/>
            </a:pPr>
            <a:r>
              <a:rPr lang="en-US" sz="1600" dirty="0">
                <a:solidFill>
                  <a:srgbClr val="263238"/>
                </a:solidFill>
                <a:latin typeface="Courier New" pitchFamily="34" charset="0"/>
                <a:ea typeface="Courier New" pitchFamily="34" charset="-122"/>
                <a:cs typeface="Courier New" pitchFamily="34" charset="-120"/>
              </a:rPr>
              <a:t>    runs-on: ubuntu-latest    # máquina virtual Ubuntu</a:t>
            </a:r>
            <a:endParaRPr lang="en-US" sz="1600" dirty="0"/>
          </a:p>
        </p:txBody>
      </p:sp>
      <p:sp>
        <p:nvSpPr>
          <p:cNvPr id="8" name="Text 6"/>
          <p:cNvSpPr/>
          <p:nvPr/>
        </p:nvSpPr>
        <p:spPr>
          <a:xfrm>
            <a:off x="550164" y="4598126"/>
            <a:ext cx="11091672" cy="1371600"/>
          </a:xfrm>
          <a:prstGeom prst="rect">
            <a:avLst/>
          </a:prstGeom>
          <a:noFill/>
          <a:ln/>
        </p:spPr>
        <p:txBody>
          <a:bodyPr wrap="square" rtlCol="0" anchor="t"/>
          <a:lstStyle/>
          <a:p>
            <a:pPr marL="342900" indent="-342900">
              <a:spcAft>
                <a:spcPts val="600"/>
              </a:spcAft>
              <a:buSzPct val="100000"/>
              <a:buChar char="•"/>
            </a:pPr>
            <a:r>
              <a:rPr lang="en-US" sz="2000" dirty="0">
                <a:solidFill>
                  <a:srgbClr val="212121"/>
                </a:solidFill>
                <a:latin typeface="Arial" pitchFamily="34" charset="0"/>
                <a:ea typeface="Arial" pitchFamily="34" charset="-122"/>
                <a:cs typeface="Arial" pitchFamily="34" charset="-120"/>
              </a:rPr>
              <a:t>El workflow se activa en dos situaciones: push directo a main y apertura de una PR.</a:t>
            </a:r>
            <a:endParaRPr lang="en-US" sz="2000" dirty="0"/>
          </a:p>
          <a:p>
            <a:pPr marL="342900" indent="-342900">
              <a:spcAft>
                <a:spcPts val="600"/>
              </a:spcAft>
              <a:buSzPct val="100000"/>
              <a:buChar char="•"/>
            </a:pPr>
            <a:r>
              <a:rPr lang="en-US" sz="2000" dirty="0">
                <a:solidFill>
                  <a:srgbClr val="212121"/>
                </a:solidFill>
                <a:latin typeface="Arial" pitchFamily="34" charset="0"/>
                <a:ea typeface="Arial" pitchFamily="34" charset="-122"/>
                <a:cs typeface="Arial" pitchFamily="34" charset="-120"/>
              </a:rPr>
              <a:t>runs-on: ubuntu-latest — Linux gratuito, arranca en segundos, parte de cero cada vez.</a:t>
            </a:r>
            <a:endParaRPr lang="en-US" sz="2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Shape 0"/>
          <p:cNvSpPr/>
          <p:nvPr/>
        </p:nvSpPr>
        <p:spPr>
          <a:xfrm>
            <a:off x="0" y="0"/>
            <a:ext cx="12188952" cy="777240"/>
          </a:xfrm>
          <a:prstGeom prst="rect">
            <a:avLst/>
          </a:prstGeom>
          <a:solidFill>
            <a:srgbClr val="303F9F"/>
          </a:solidFill>
          <a:ln w="12700">
            <a:solidFill>
              <a:srgbClr val="303F9F"/>
            </a:solidFill>
            <a:prstDash val="solid"/>
          </a:ln>
        </p:spPr>
        <p:txBody>
          <a:bodyPr/>
          <a:lstStyle/>
          <a:p>
            <a:endParaRPr lang="es-ES"/>
          </a:p>
        </p:txBody>
      </p:sp>
      <p:sp>
        <p:nvSpPr>
          <p:cNvPr id="3" name="Text 1"/>
          <p:cNvSpPr/>
          <p:nvPr/>
        </p:nvSpPr>
        <p:spPr>
          <a:xfrm>
            <a:off x="365760" y="0"/>
            <a:ext cx="11457432" cy="777240"/>
          </a:xfrm>
          <a:prstGeom prst="rect">
            <a:avLst/>
          </a:prstGeom>
          <a:noFill/>
          <a:ln/>
        </p:spPr>
        <p:txBody>
          <a:bodyPr wrap="square" rtlCol="0" anchor="ctr"/>
          <a:lstStyle/>
          <a:p>
            <a:pPr marL="0" indent="0">
              <a:buNone/>
            </a:pPr>
            <a:r>
              <a:rPr lang="en-US" sz="2200" b="1" dirty="0">
                <a:solidFill>
                  <a:srgbClr val="FFFFFF"/>
                </a:solidFill>
                <a:latin typeface="Arial" pitchFamily="34" charset="0"/>
                <a:ea typeface="Arial" pitchFamily="34" charset="-122"/>
                <a:cs typeface="Arial" pitchFamily="34" charset="-120"/>
              </a:rPr>
              <a:t>9.3 — El workflow ci.yml: steps</a:t>
            </a:r>
            <a:endParaRPr lang="en-US" sz="2200" dirty="0"/>
          </a:p>
        </p:txBody>
      </p:sp>
      <p:sp>
        <p:nvSpPr>
          <p:cNvPr id="4" name="Text 2"/>
          <p:cNvSpPr/>
          <p:nvPr/>
        </p:nvSpPr>
        <p:spPr>
          <a:xfrm>
            <a:off x="548640" y="6473952"/>
            <a:ext cx="11091672" cy="292608"/>
          </a:xfrm>
          <a:prstGeom prst="rect">
            <a:avLst/>
          </a:prstGeom>
          <a:noFill/>
          <a:ln/>
        </p:spPr>
        <p:txBody>
          <a:bodyPr wrap="square" rtlCol="0" anchor="ctr"/>
          <a:lstStyle/>
          <a:p>
            <a:pPr marL="0" indent="0" algn="r">
              <a:buNone/>
            </a:pPr>
            <a:r>
              <a:rPr lang="en-US" sz="1100" dirty="0">
                <a:solidFill>
                  <a:srgbClr val="757575"/>
                </a:solidFill>
                <a:latin typeface="Arial" pitchFamily="34" charset="0"/>
                <a:ea typeface="Arial" pitchFamily="34" charset="-122"/>
                <a:cs typeface="Arial" pitchFamily="34" charset="-120"/>
              </a:rPr>
              <a:t>Entornos de Desarrollo — Tema 4 — Integración Continua con GitHub Actions</a:t>
            </a:r>
            <a:endParaRPr lang="en-US" sz="1100" dirty="0"/>
          </a:p>
        </p:txBody>
      </p:sp>
      <p:sp>
        <p:nvSpPr>
          <p:cNvPr id="5" name="Shape 3"/>
          <p:cNvSpPr/>
          <p:nvPr/>
        </p:nvSpPr>
        <p:spPr>
          <a:xfrm>
            <a:off x="548640" y="868680"/>
            <a:ext cx="11091672" cy="5373500"/>
          </a:xfrm>
          <a:prstGeom prst="rect">
            <a:avLst/>
          </a:prstGeom>
          <a:solidFill>
            <a:srgbClr val="ECEFF1"/>
          </a:solidFill>
          <a:ln w="12700">
            <a:solidFill>
              <a:srgbClr val="EEEEEE"/>
            </a:solidFill>
            <a:prstDash val="solid"/>
          </a:ln>
        </p:spPr>
        <p:txBody>
          <a:bodyPr/>
          <a:lstStyle/>
          <a:p>
            <a:endParaRPr lang="es-ES"/>
          </a:p>
        </p:txBody>
      </p:sp>
      <p:sp>
        <p:nvSpPr>
          <p:cNvPr id="6" name="Shape 4"/>
          <p:cNvSpPr/>
          <p:nvPr/>
        </p:nvSpPr>
        <p:spPr>
          <a:xfrm>
            <a:off x="548640" y="868680"/>
            <a:ext cx="73152" cy="5029200"/>
          </a:xfrm>
          <a:prstGeom prst="rect">
            <a:avLst/>
          </a:prstGeom>
          <a:solidFill>
            <a:srgbClr val="009688"/>
          </a:solidFill>
          <a:ln w="12700">
            <a:solidFill>
              <a:srgbClr val="009688"/>
            </a:solidFill>
            <a:prstDash val="solid"/>
          </a:ln>
        </p:spPr>
        <p:txBody>
          <a:bodyPr/>
          <a:lstStyle/>
          <a:p>
            <a:endParaRPr lang="es-ES"/>
          </a:p>
        </p:txBody>
      </p:sp>
      <p:sp>
        <p:nvSpPr>
          <p:cNvPr id="7" name="Text 5"/>
          <p:cNvSpPr/>
          <p:nvPr/>
        </p:nvSpPr>
        <p:spPr>
          <a:xfrm>
            <a:off x="777240" y="960120"/>
            <a:ext cx="10680192" cy="4846320"/>
          </a:xfrm>
          <a:prstGeom prst="rect">
            <a:avLst/>
          </a:prstGeom>
          <a:noFill/>
          <a:ln/>
        </p:spPr>
        <p:txBody>
          <a:bodyPr wrap="square" rtlCol="0" anchor="t"/>
          <a:lstStyle/>
          <a:p>
            <a:pPr marL="0" indent="0">
              <a:buNone/>
            </a:pPr>
            <a:r>
              <a:rPr lang="en-US" sz="1400" dirty="0">
                <a:solidFill>
                  <a:srgbClr val="263238"/>
                </a:solidFill>
                <a:latin typeface="Courier New" pitchFamily="34" charset="0"/>
                <a:ea typeface="Courier New" pitchFamily="34" charset="-122"/>
                <a:cs typeface="Courier New" pitchFamily="34" charset="-120"/>
              </a:rPr>
              <a:t>    steps:</a:t>
            </a:r>
            <a:endParaRPr lang="en-US" sz="1400" dirty="0"/>
          </a:p>
          <a:p>
            <a:pPr marL="0" indent="0">
              <a:buNone/>
            </a:pPr>
            <a:r>
              <a:rPr lang="en-US" sz="1400" dirty="0">
                <a:solidFill>
                  <a:srgbClr val="263238"/>
                </a:solidFill>
                <a:latin typeface="Courier New" pitchFamily="34" charset="0"/>
                <a:ea typeface="Courier New" pitchFamily="34" charset="-122"/>
                <a:cs typeface="Courier New" pitchFamily="34" charset="-120"/>
              </a:rPr>
              <a:t>      - name: Descargar el código fuente</a:t>
            </a:r>
            <a:endParaRPr lang="en-US" sz="1400" dirty="0"/>
          </a:p>
          <a:p>
            <a:pPr marL="0" indent="0">
              <a:buNone/>
            </a:pPr>
            <a:r>
              <a:rPr lang="en-US" sz="1400" dirty="0">
                <a:solidFill>
                  <a:srgbClr val="263238"/>
                </a:solidFill>
                <a:latin typeface="Courier New" pitchFamily="34" charset="0"/>
                <a:ea typeface="Courier New" pitchFamily="34" charset="-122"/>
                <a:cs typeface="Courier New" pitchFamily="34" charset="-120"/>
              </a:rPr>
              <a:t>        uses: actions/checkout@v4</a:t>
            </a:r>
            <a:endParaRPr lang="en-US" sz="1400" dirty="0"/>
          </a:p>
          <a:p>
            <a:pPr marL="0" indent="0">
              <a:buNone/>
            </a:pPr>
            <a:endParaRPr lang="en-US" sz="1400" dirty="0"/>
          </a:p>
          <a:p>
            <a:pPr marL="0" indent="0">
              <a:buNone/>
            </a:pPr>
            <a:r>
              <a:rPr lang="en-US" sz="1400" dirty="0">
                <a:solidFill>
                  <a:srgbClr val="263238"/>
                </a:solidFill>
                <a:latin typeface="Courier New" pitchFamily="34" charset="0"/>
                <a:ea typeface="Courier New" pitchFamily="34" charset="-122"/>
                <a:cs typeface="Courier New" pitchFamily="34" charset="-120"/>
              </a:rPr>
              <a:t>      - name: Instalar Java 21 (Temurin)</a:t>
            </a:r>
            <a:endParaRPr lang="en-US" sz="1400" dirty="0"/>
          </a:p>
          <a:p>
            <a:pPr marL="0" indent="0">
              <a:buNone/>
            </a:pPr>
            <a:r>
              <a:rPr lang="en-US" sz="1400" dirty="0">
                <a:solidFill>
                  <a:srgbClr val="263238"/>
                </a:solidFill>
                <a:latin typeface="Courier New" pitchFamily="34" charset="0"/>
                <a:ea typeface="Courier New" pitchFamily="34" charset="-122"/>
                <a:cs typeface="Courier New" pitchFamily="34" charset="-120"/>
              </a:rPr>
              <a:t>        uses: actions/setup-java@v4</a:t>
            </a:r>
            <a:endParaRPr lang="en-US" sz="1400" dirty="0"/>
          </a:p>
          <a:p>
            <a:pPr marL="0" indent="0">
              <a:buNone/>
            </a:pPr>
            <a:r>
              <a:rPr lang="en-US" sz="1400" dirty="0">
                <a:solidFill>
                  <a:srgbClr val="263238"/>
                </a:solidFill>
                <a:latin typeface="Courier New" pitchFamily="34" charset="0"/>
                <a:ea typeface="Courier New" pitchFamily="34" charset="-122"/>
                <a:cs typeface="Courier New" pitchFamily="34" charset="-120"/>
              </a:rPr>
              <a:t>        with:</a:t>
            </a:r>
            <a:endParaRPr lang="en-US" sz="1400" dirty="0"/>
          </a:p>
          <a:p>
            <a:pPr marL="0" indent="0">
              <a:buNone/>
            </a:pPr>
            <a:r>
              <a:rPr lang="en-US" sz="1400" dirty="0">
                <a:solidFill>
                  <a:srgbClr val="263238"/>
                </a:solidFill>
                <a:latin typeface="Courier New" pitchFamily="34" charset="0"/>
                <a:ea typeface="Courier New" pitchFamily="34" charset="-122"/>
                <a:cs typeface="Courier New" pitchFamily="34" charset="-120"/>
              </a:rPr>
              <a:t>          java-version: '21'</a:t>
            </a:r>
            <a:endParaRPr lang="en-US" sz="1400" dirty="0"/>
          </a:p>
          <a:p>
            <a:pPr marL="0" indent="0">
              <a:buNone/>
            </a:pPr>
            <a:r>
              <a:rPr lang="en-US" sz="1400" dirty="0">
                <a:solidFill>
                  <a:srgbClr val="263238"/>
                </a:solidFill>
                <a:latin typeface="Courier New" pitchFamily="34" charset="0"/>
                <a:ea typeface="Courier New" pitchFamily="34" charset="-122"/>
                <a:cs typeface="Courier New" pitchFamily="34" charset="-120"/>
              </a:rPr>
              <a:t>          distribution: 'temurin'</a:t>
            </a:r>
            <a:endParaRPr lang="en-US" sz="1400" dirty="0"/>
          </a:p>
          <a:p>
            <a:pPr marL="0" indent="0">
              <a:buNone/>
            </a:pPr>
            <a:r>
              <a:rPr lang="en-US" sz="1400" dirty="0">
                <a:solidFill>
                  <a:srgbClr val="263238"/>
                </a:solidFill>
                <a:latin typeface="Courier New" pitchFamily="34" charset="0"/>
                <a:ea typeface="Courier New" pitchFamily="34" charset="-122"/>
                <a:cs typeface="Courier New" pitchFamily="34" charset="-120"/>
              </a:rPr>
              <a:t>          cache: 'maven'</a:t>
            </a:r>
            <a:endParaRPr lang="en-US" sz="1400" dirty="0"/>
          </a:p>
          <a:p>
            <a:pPr marL="0" indent="0">
              <a:buNone/>
            </a:pPr>
            <a:endParaRPr lang="en-US" sz="1400" dirty="0"/>
          </a:p>
          <a:p>
            <a:pPr marL="0" indent="0">
              <a:buNone/>
            </a:pPr>
            <a:r>
              <a:rPr lang="en-US" sz="1400" dirty="0">
                <a:solidFill>
                  <a:srgbClr val="263238"/>
                </a:solidFill>
                <a:latin typeface="Courier New" pitchFamily="34" charset="0"/>
                <a:ea typeface="Courier New" pitchFamily="34" charset="-122"/>
                <a:cs typeface="Courier New" pitchFamily="34" charset="-120"/>
              </a:rPr>
              <a:t>      - name: Compilar el proyecto</a:t>
            </a:r>
            <a:endParaRPr lang="en-US" sz="1400" dirty="0"/>
          </a:p>
          <a:p>
            <a:pPr marL="0" indent="0">
              <a:buNone/>
            </a:pPr>
            <a:r>
              <a:rPr lang="en-US" sz="1400" dirty="0">
                <a:solidFill>
                  <a:srgbClr val="263238"/>
                </a:solidFill>
                <a:latin typeface="Courier New" pitchFamily="34" charset="0"/>
                <a:ea typeface="Courier New" pitchFamily="34" charset="-122"/>
                <a:cs typeface="Courier New" pitchFamily="34" charset="-120"/>
              </a:rPr>
              <a:t>        run: mvn compile -B</a:t>
            </a:r>
            <a:endParaRPr lang="en-US" sz="1400" dirty="0"/>
          </a:p>
          <a:p>
            <a:pPr marL="0" indent="0">
              <a:buNone/>
            </a:pPr>
            <a:endParaRPr lang="en-US" sz="1400" dirty="0"/>
          </a:p>
          <a:p>
            <a:pPr marL="0" indent="0">
              <a:buNone/>
            </a:pPr>
            <a:r>
              <a:rPr lang="en-US" sz="1400" dirty="0">
                <a:solidFill>
                  <a:srgbClr val="263238"/>
                </a:solidFill>
                <a:latin typeface="Courier New" pitchFamily="34" charset="0"/>
                <a:ea typeface="Courier New" pitchFamily="34" charset="-122"/>
                <a:cs typeface="Courier New" pitchFamily="34" charset="-120"/>
              </a:rPr>
              <a:t>      - name: Ejecutar los tests</a:t>
            </a:r>
            <a:endParaRPr lang="en-US" sz="1400" dirty="0"/>
          </a:p>
          <a:p>
            <a:pPr marL="0" indent="0">
              <a:buNone/>
            </a:pPr>
            <a:r>
              <a:rPr lang="en-US" sz="1400" dirty="0">
                <a:solidFill>
                  <a:srgbClr val="263238"/>
                </a:solidFill>
                <a:latin typeface="Courier New" pitchFamily="34" charset="0"/>
                <a:ea typeface="Courier New" pitchFamily="34" charset="-122"/>
                <a:cs typeface="Courier New" pitchFamily="34" charset="-120"/>
              </a:rPr>
              <a:t>        run: mvn test -B</a:t>
            </a:r>
            <a:endParaRPr lang="en-US" sz="1400" dirty="0"/>
          </a:p>
          <a:p>
            <a:pPr marL="0" indent="0">
              <a:buNone/>
            </a:pPr>
            <a:endParaRPr lang="en-US" sz="1400" dirty="0"/>
          </a:p>
          <a:p>
            <a:pPr marL="0" indent="0">
              <a:buNone/>
            </a:pPr>
            <a:r>
              <a:rPr lang="en-US" sz="1400" dirty="0">
                <a:solidFill>
                  <a:srgbClr val="263238"/>
                </a:solidFill>
                <a:latin typeface="Courier New" pitchFamily="34" charset="0"/>
                <a:ea typeface="Courier New" pitchFamily="34" charset="-122"/>
                <a:cs typeface="Courier New" pitchFamily="34" charset="-120"/>
              </a:rPr>
              <a:t>      - name: Guardar el informe de tests</a:t>
            </a:r>
            <a:endParaRPr lang="en-US" sz="1400" dirty="0"/>
          </a:p>
          <a:p>
            <a:pPr marL="0" indent="0">
              <a:buNone/>
            </a:pPr>
            <a:r>
              <a:rPr lang="en-US" sz="1400" dirty="0">
                <a:solidFill>
                  <a:srgbClr val="263238"/>
                </a:solidFill>
                <a:latin typeface="Courier New" pitchFamily="34" charset="0"/>
                <a:ea typeface="Courier New" pitchFamily="34" charset="-122"/>
                <a:cs typeface="Courier New" pitchFamily="34" charset="-120"/>
              </a:rPr>
              <a:t>        if: always()</a:t>
            </a:r>
            <a:endParaRPr lang="en-US" sz="1400" dirty="0"/>
          </a:p>
          <a:p>
            <a:pPr marL="0" indent="0">
              <a:buNone/>
            </a:pPr>
            <a:r>
              <a:rPr lang="en-US" sz="1400" dirty="0">
                <a:solidFill>
                  <a:srgbClr val="263238"/>
                </a:solidFill>
                <a:latin typeface="Courier New" pitchFamily="34" charset="0"/>
                <a:ea typeface="Courier New" pitchFamily="34" charset="-122"/>
                <a:cs typeface="Courier New" pitchFamily="34" charset="-120"/>
              </a:rPr>
              <a:t>        uses: actions/upload-artifact@v4</a:t>
            </a:r>
            <a:endParaRPr lang="en-US" sz="1400" dirty="0"/>
          </a:p>
          <a:p>
            <a:pPr marL="0" indent="0">
              <a:buNone/>
            </a:pPr>
            <a:r>
              <a:rPr lang="en-US" sz="1400" dirty="0">
                <a:solidFill>
                  <a:srgbClr val="263238"/>
                </a:solidFill>
                <a:latin typeface="Courier New" pitchFamily="34" charset="0"/>
                <a:ea typeface="Courier New" pitchFamily="34" charset="-122"/>
                <a:cs typeface="Courier New" pitchFamily="34" charset="-120"/>
              </a:rPr>
              <a:t>        with:</a:t>
            </a:r>
            <a:endParaRPr lang="en-US" sz="1400" dirty="0"/>
          </a:p>
          <a:p>
            <a:pPr marL="0" indent="0">
              <a:buNone/>
            </a:pPr>
            <a:r>
              <a:rPr lang="en-US" sz="1400" dirty="0">
                <a:solidFill>
                  <a:srgbClr val="263238"/>
                </a:solidFill>
                <a:latin typeface="Courier New" pitchFamily="34" charset="0"/>
                <a:ea typeface="Courier New" pitchFamily="34" charset="-122"/>
                <a:cs typeface="Courier New" pitchFamily="34" charset="-120"/>
              </a:rPr>
              <a:t>          name: informe-tests</a:t>
            </a:r>
            <a:endParaRPr lang="en-US" sz="1400" dirty="0"/>
          </a:p>
          <a:p>
            <a:pPr marL="0" indent="0">
              <a:buNone/>
            </a:pPr>
            <a:r>
              <a:rPr lang="en-US" sz="1400" dirty="0">
                <a:solidFill>
                  <a:srgbClr val="263238"/>
                </a:solidFill>
                <a:latin typeface="Courier New" pitchFamily="34" charset="0"/>
                <a:ea typeface="Courier New" pitchFamily="34" charset="-122"/>
                <a:cs typeface="Courier New" pitchFamily="34" charset="-120"/>
              </a:rPr>
              <a:t>          path: target/surefire-reports/</a:t>
            </a:r>
            <a:endParaRPr lang="en-US" sz="14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Shape 0"/>
          <p:cNvSpPr/>
          <p:nvPr/>
        </p:nvSpPr>
        <p:spPr>
          <a:xfrm>
            <a:off x="0" y="0"/>
            <a:ext cx="12188952" cy="777240"/>
          </a:xfrm>
          <a:prstGeom prst="rect">
            <a:avLst/>
          </a:prstGeom>
          <a:solidFill>
            <a:srgbClr val="303F9F"/>
          </a:solidFill>
          <a:ln w="12700">
            <a:solidFill>
              <a:srgbClr val="303F9F"/>
            </a:solidFill>
            <a:prstDash val="solid"/>
          </a:ln>
        </p:spPr>
        <p:txBody>
          <a:bodyPr/>
          <a:lstStyle/>
          <a:p>
            <a:endParaRPr lang="es-ES"/>
          </a:p>
        </p:txBody>
      </p:sp>
      <p:sp>
        <p:nvSpPr>
          <p:cNvPr id="3" name="Text 1"/>
          <p:cNvSpPr/>
          <p:nvPr/>
        </p:nvSpPr>
        <p:spPr>
          <a:xfrm>
            <a:off x="365760" y="0"/>
            <a:ext cx="11457432" cy="777240"/>
          </a:xfrm>
          <a:prstGeom prst="rect">
            <a:avLst/>
          </a:prstGeom>
          <a:noFill/>
          <a:ln/>
        </p:spPr>
        <p:txBody>
          <a:bodyPr wrap="square" rtlCol="0" anchor="ctr"/>
          <a:lstStyle/>
          <a:p>
            <a:pPr marL="0" indent="0">
              <a:buNone/>
            </a:pPr>
            <a:r>
              <a:rPr lang="en-US" sz="2200" b="1" dirty="0">
                <a:solidFill>
                  <a:srgbClr val="FFFFFF"/>
                </a:solidFill>
                <a:latin typeface="Arial" pitchFamily="34" charset="0"/>
                <a:ea typeface="Arial" pitchFamily="34" charset="-122"/>
                <a:cs typeface="Arial" pitchFamily="34" charset="-120"/>
              </a:rPr>
              <a:t>9.4 — El proyecto Calculadora: Calculadora.java</a:t>
            </a:r>
            <a:endParaRPr lang="en-US" sz="2200" dirty="0"/>
          </a:p>
        </p:txBody>
      </p:sp>
      <p:sp>
        <p:nvSpPr>
          <p:cNvPr id="4" name="Text 2"/>
          <p:cNvSpPr/>
          <p:nvPr/>
        </p:nvSpPr>
        <p:spPr>
          <a:xfrm>
            <a:off x="548640" y="6473952"/>
            <a:ext cx="11091672" cy="292608"/>
          </a:xfrm>
          <a:prstGeom prst="rect">
            <a:avLst/>
          </a:prstGeom>
          <a:noFill/>
          <a:ln/>
        </p:spPr>
        <p:txBody>
          <a:bodyPr wrap="square" rtlCol="0" anchor="ctr"/>
          <a:lstStyle/>
          <a:p>
            <a:pPr marL="0" indent="0" algn="r">
              <a:buNone/>
            </a:pPr>
            <a:r>
              <a:rPr lang="en-US" sz="1100" dirty="0">
                <a:solidFill>
                  <a:srgbClr val="757575"/>
                </a:solidFill>
                <a:latin typeface="Arial" pitchFamily="34" charset="0"/>
                <a:ea typeface="Arial" pitchFamily="34" charset="-122"/>
                <a:cs typeface="Arial" pitchFamily="34" charset="-120"/>
              </a:rPr>
              <a:t>Entornos de Desarrollo — Tema 4 — Integración Continua con GitHub Actions</a:t>
            </a:r>
            <a:endParaRPr lang="en-US" sz="1100" dirty="0"/>
          </a:p>
        </p:txBody>
      </p:sp>
      <p:sp>
        <p:nvSpPr>
          <p:cNvPr id="5" name="Shape 3"/>
          <p:cNvSpPr/>
          <p:nvPr/>
        </p:nvSpPr>
        <p:spPr>
          <a:xfrm>
            <a:off x="548640" y="868680"/>
            <a:ext cx="11091672" cy="713232"/>
          </a:xfrm>
          <a:prstGeom prst="roundRect">
            <a:avLst/>
          </a:prstGeom>
          <a:solidFill>
            <a:srgbClr val="E0F2F1"/>
          </a:solidFill>
          <a:ln w="19050">
            <a:solidFill>
              <a:srgbClr val="009688"/>
            </a:solidFill>
            <a:prstDash val="solid"/>
          </a:ln>
        </p:spPr>
        <p:txBody>
          <a:bodyPr/>
          <a:lstStyle/>
          <a:p>
            <a:endParaRPr lang="es-ES"/>
          </a:p>
        </p:txBody>
      </p:sp>
      <p:sp>
        <p:nvSpPr>
          <p:cNvPr id="6" name="Text 4"/>
          <p:cNvSpPr/>
          <p:nvPr/>
        </p:nvSpPr>
        <p:spPr>
          <a:xfrm>
            <a:off x="777240" y="941832"/>
            <a:ext cx="10634472" cy="566928"/>
          </a:xfrm>
          <a:prstGeom prst="rect">
            <a:avLst/>
          </a:prstGeom>
          <a:noFill/>
          <a:ln/>
        </p:spPr>
        <p:txBody>
          <a:bodyPr wrap="square" rtlCol="0" anchor="ctr"/>
          <a:lstStyle/>
          <a:p>
            <a:pPr marL="0" indent="0">
              <a:buNone/>
            </a:pPr>
            <a:r>
              <a:rPr lang="en-US" sz="1500" dirty="0">
                <a:solidFill>
                  <a:srgbClr val="212121"/>
                </a:solidFill>
                <a:latin typeface="Arial" pitchFamily="34" charset="0"/>
                <a:ea typeface="Arial" pitchFamily="34" charset="-122"/>
                <a:cs typeface="Arial" pitchFamily="34" charset="-120"/>
              </a:rPr>
              <a:t>Clase con 4 operaciones. La división lanza una excepción si el divisor es cero, lo que permite testear también el comportamiento de error.</a:t>
            </a:r>
            <a:endParaRPr lang="en-US" sz="1500" dirty="0"/>
          </a:p>
        </p:txBody>
      </p:sp>
      <p:sp>
        <p:nvSpPr>
          <p:cNvPr id="7" name="Shape 5"/>
          <p:cNvSpPr/>
          <p:nvPr/>
        </p:nvSpPr>
        <p:spPr>
          <a:xfrm>
            <a:off x="548640" y="1764792"/>
            <a:ext cx="11091672" cy="3904488"/>
          </a:xfrm>
          <a:prstGeom prst="rect">
            <a:avLst/>
          </a:prstGeom>
          <a:solidFill>
            <a:srgbClr val="ECEFF1"/>
          </a:solidFill>
          <a:ln w="12700">
            <a:solidFill>
              <a:srgbClr val="EEEEEE"/>
            </a:solidFill>
            <a:prstDash val="solid"/>
          </a:ln>
        </p:spPr>
        <p:txBody>
          <a:bodyPr/>
          <a:lstStyle/>
          <a:p>
            <a:endParaRPr lang="es-ES"/>
          </a:p>
        </p:txBody>
      </p:sp>
      <p:sp>
        <p:nvSpPr>
          <p:cNvPr id="8" name="Shape 6"/>
          <p:cNvSpPr/>
          <p:nvPr/>
        </p:nvSpPr>
        <p:spPr>
          <a:xfrm>
            <a:off x="548640" y="1764792"/>
            <a:ext cx="73152" cy="3474720"/>
          </a:xfrm>
          <a:prstGeom prst="rect">
            <a:avLst/>
          </a:prstGeom>
          <a:solidFill>
            <a:srgbClr val="009688"/>
          </a:solidFill>
          <a:ln w="12700">
            <a:solidFill>
              <a:srgbClr val="009688"/>
            </a:solidFill>
            <a:prstDash val="solid"/>
          </a:ln>
        </p:spPr>
        <p:txBody>
          <a:bodyPr/>
          <a:lstStyle/>
          <a:p>
            <a:endParaRPr lang="es-ES"/>
          </a:p>
        </p:txBody>
      </p:sp>
      <p:sp>
        <p:nvSpPr>
          <p:cNvPr id="9" name="Text 7"/>
          <p:cNvSpPr/>
          <p:nvPr/>
        </p:nvSpPr>
        <p:spPr>
          <a:xfrm>
            <a:off x="777240" y="1856232"/>
            <a:ext cx="10680192" cy="3291840"/>
          </a:xfrm>
          <a:prstGeom prst="rect">
            <a:avLst/>
          </a:prstGeom>
          <a:noFill/>
          <a:ln/>
        </p:spPr>
        <p:txBody>
          <a:bodyPr wrap="square" rtlCol="0" anchor="t"/>
          <a:lstStyle/>
          <a:p>
            <a:pPr marL="0" indent="0">
              <a:buNone/>
            </a:pPr>
            <a:r>
              <a:rPr lang="en-US" sz="1600" dirty="0">
                <a:solidFill>
                  <a:srgbClr val="263238"/>
                </a:solidFill>
                <a:latin typeface="Courier New" pitchFamily="34" charset="0"/>
                <a:ea typeface="Courier New" pitchFamily="34" charset="-122"/>
                <a:cs typeface="Courier New" pitchFamily="34" charset="-120"/>
              </a:rPr>
              <a:t>package com.ejemplo;</a:t>
            </a:r>
            <a:endParaRPr lang="en-US" sz="1600" dirty="0"/>
          </a:p>
          <a:p>
            <a:pPr marL="0" indent="0">
              <a:buNone/>
            </a:pPr>
            <a:endParaRPr lang="en-US" sz="1600" dirty="0"/>
          </a:p>
          <a:p>
            <a:pPr marL="0" indent="0">
              <a:buNone/>
            </a:pPr>
            <a:r>
              <a:rPr lang="en-US" sz="1600" dirty="0">
                <a:solidFill>
                  <a:srgbClr val="263238"/>
                </a:solidFill>
                <a:latin typeface="Courier New" pitchFamily="34" charset="0"/>
                <a:ea typeface="Courier New" pitchFamily="34" charset="-122"/>
                <a:cs typeface="Courier New" pitchFamily="34" charset="-120"/>
              </a:rPr>
              <a:t>public class Calculadora {</a:t>
            </a:r>
            <a:endParaRPr lang="en-US" sz="1600" dirty="0"/>
          </a:p>
          <a:p>
            <a:pPr marL="0" indent="0">
              <a:buNone/>
            </a:pPr>
            <a:endParaRPr lang="en-US" sz="1600" dirty="0"/>
          </a:p>
          <a:p>
            <a:pPr marL="0" indent="0">
              <a:buNone/>
            </a:pPr>
            <a:r>
              <a:rPr lang="en-US" sz="1600" dirty="0">
                <a:solidFill>
                  <a:srgbClr val="263238"/>
                </a:solidFill>
                <a:latin typeface="Courier New" pitchFamily="34" charset="0"/>
                <a:ea typeface="Courier New" pitchFamily="34" charset="-122"/>
                <a:cs typeface="Courier New" pitchFamily="34" charset="-120"/>
              </a:rPr>
              <a:t>    public int sumar(int a, int b) { return a + b; }</a:t>
            </a:r>
            <a:endParaRPr lang="en-US" sz="1600" dirty="0"/>
          </a:p>
          <a:p>
            <a:pPr marL="0" indent="0">
              <a:buNone/>
            </a:pPr>
            <a:r>
              <a:rPr lang="en-US" sz="1600" dirty="0">
                <a:solidFill>
                  <a:srgbClr val="263238"/>
                </a:solidFill>
                <a:latin typeface="Courier New" pitchFamily="34" charset="0"/>
                <a:ea typeface="Courier New" pitchFamily="34" charset="-122"/>
                <a:cs typeface="Courier New" pitchFamily="34" charset="-120"/>
              </a:rPr>
              <a:t>    public int restar(int a, int b) { return a - b; }</a:t>
            </a:r>
            <a:endParaRPr lang="en-US" sz="1600" dirty="0"/>
          </a:p>
          <a:p>
            <a:pPr marL="0" indent="0">
              <a:buNone/>
            </a:pPr>
            <a:r>
              <a:rPr lang="en-US" sz="1600" dirty="0">
                <a:solidFill>
                  <a:srgbClr val="263238"/>
                </a:solidFill>
                <a:latin typeface="Courier New" pitchFamily="34" charset="0"/>
                <a:ea typeface="Courier New" pitchFamily="34" charset="-122"/>
                <a:cs typeface="Courier New" pitchFamily="34" charset="-120"/>
              </a:rPr>
              <a:t>    public int multiplicar(int a, int b) { return a * b; }</a:t>
            </a:r>
            <a:endParaRPr lang="en-US" sz="1600" dirty="0"/>
          </a:p>
          <a:p>
            <a:pPr marL="0" indent="0">
              <a:buNone/>
            </a:pPr>
            <a:endParaRPr lang="en-US" sz="1600" dirty="0"/>
          </a:p>
          <a:p>
            <a:pPr marL="0" indent="0">
              <a:buNone/>
            </a:pPr>
            <a:r>
              <a:rPr lang="en-US" sz="1600" dirty="0">
                <a:solidFill>
                  <a:srgbClr val="263238"/>
                </a:solidFill>
                <a:latin typeface="Courier New" pitchFamily="34" charset="0"/>
                <a:ea typeface="Courier New" pitchFamily="34" charset="-122"/>
                <a:cs typeface="Courier New" pitchFamily="34" charset="-120"/>
              </a:rPr>
              <a:t>    public double dividir(double a, double b) {</a:t>
            </a:r>
            <a:endParaRPr lang="en-US" sz="1600" dirty="0"/>
          </a:p>
          <a:p>
            <a:pPr marL="0" indent="0">
              <a:buNone/>
            </a:pPr>
            <a:r>
              <a:rPr lang="en-US" sz="1600" dirty="0">
                <a:solidFill>
                  <a:srgbClr val="263238"/>
                </a:solidFill>
                <a:latin typeface="Courier New" pitchFamily="34" charset="0"/>
                <a:ea typeface="Courier New" pitchFamily="34" charset="-122"/>
                <a:cs typeface="Courier New" pitchFamily="34" charset="-120"/>
              </a:rPr>
              <a:t>        if (b == 0) {</a:t>
            </a:r>
            <a:endParaRPr lang="en-US" sz="1600" dirty="0"/>
          </a:p>
          <a:p>
            <a:pPr marL="0" indent="0">
              <a:buNone/>
            </a:pPr>
            <a:r>
              <a:rPr lang="en-US" sz="1600" dirty="0">
                <a:solidFill>
                  <a:srgbClr val="263238"/>
                </a:solidFill>
                <a:latin typeface="Courier New" pitchFamily="34" charset="0"/>
                <a:ea typeface="Courier New" pitchFamily="34" charset="-122"/>
                <a:cs typeface="Courier New" pitchFamily="34" charset="-120"/>
              </a:rPr>
              <a:t>            throw new IllegalArgumentException("No se puede dividir por cero");</a:t>
            </a:r>
            <a:endParaRPr lang="en-US" sz="1600" dirty="0"/>
          </a:p>
          <a:p>
            <a:pPr marL="0" indent="0">
              <a:buNone/>
            </a:pPr>
            <a:r>
              <a:rPr lang="en-US" sz="1600" dirty="0">
                <a:solidFill>
                  <a:srgbClr val="263238"/>
                </a:solidFill>
                <a:latin typeface="Courier New" pitchFamily="34" charset="0"/>
                <a:ea typeface="Courier New" pitchFamily="34" charset="-122"/>
                <a:cs typeface="Courier New" pitchFamily="34" charset="-120"/>
              </a:rPr>
              <a:t>        }</a:t>
            </a:r>
            <a:endParaRPr lang="en-US" sz="1600" dirty="0"/>
          </a:p>
          <a:p>
            <a:pPr marL="0" indent="0">
              <a:buNone/>
            </a:pPr>
            <a:r>
              <a:rPr lang="en-US" sz="1600" dirty="0">
                <a:solidFill>
                  <a:srgbClr val="263238"/>
                </a:solidFill>
                <a:latin typeface="Courier New" pitchFamily="34" charset="0"/>
                <a:ea typeface="Courier New" pitchFamily="34" charset="-122"/>
                <a:cs typeface="Courier New" pitchFamily="34" charset="-120"/>
              </a:rPr>
              <a:t>        return a / b;</a:t>
            </a:r>
            <a:endParaRPr lang="en-US" sz="1600" dirty="0"/>
          </a:p>
          <a:p>
            <a:pPr marL="0" indent="0">
              <a:buNone/>
            </a:pPr>
            <a:r>
              <a:rPr lang="en-US" sz="1600" dirty="0">
                <a:solidFill>
                  <a:srgbClr val="263238"/>
                </a:solidFill>
                <a:latin typeface="Courier New" pitchFamily="34" charset="0"/>
                <a:ea typeface="Courier New" pitchFamily="34" charset="-122"/>
                <a:cs typeface="Courier New" pitchFamily="34" charset="-120"/>
              </a:rPr>
              <a:t>    }</a:t>
            </a:r>
            <a:endParaRPr lang="en-US" sz="1600" dirty="0"/>
          </a:p>
          <a:p>
            <a:pPr marL="0" indent="0">
              <a:buNone/>
            </a:pPr>
            <a:r>
              <a:rPr lang="en-US" sz="1600" dirty="0">
                <a:solidFill>
                  <a:srgbClr val="263238"/>
                </a:solidFill>
                <a:latin typeface="Courier New" pitchFamily="34" charset="0"/>
                <a:ea typeface="Courier New" pitchFamily="34" charset="-122"/>
                <a:cs typeface="Courier New" pitchFamily="34" charset="-120"/>
              </a:rPr>
              <a:t>}</a:t>
            </a:r>
            <a:endParaRPr lang="en-US" sz="16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Shape 0"/>
          <p:cNvSpPr/>
          <p:nvPr/>
        </p:nvSpPr>
        <p:spPr>
          <a:xfrm>
            <a:off x="0" y="0"/>
            <a:ext cx="12188952" cy="777240"/>
          </a:xfrm>
          <a:prstGeom prst="rect">
            <a:avLst/>
          </a:prstGeom>
          <a:solidFill>
            <a:srgbClr val="303F9F"/>
          </a:solidFill>
          <a:ln w="12700">
            <a:solidFill>
              <a:srgbClr val="303F9F"/>
            </a:solidFill>
            <a:prstDash val="solid"/>
          </a:ln>
        </p:spPr>
        <p:txBody>
          <a:bodyPr/>
          <a:lstStyle/>
          <a:p>
            <a:endParaRPr lang="es-ES"/>
          </a:p>
        </p:txBody>
      </p:sp>
      <p:sp>
        <p:nvSpPr>
          <p:cNvPr id="3" name="Text 1"/>
          <p:cNvSpPr/>
          <p:nvPr/>
        </p:nvSpPr>
        <p:spPr>
          <a:xfrm>
            <a:off x="365760" y="0"/>
            <a:ext cx="11457432" cy="777240"/>
          </a:xfrm>
          <a:prstGeom prst="rect">
            <a:avLst/>
          </a:prstGeom>
          <a:noFill/>
          <a:ln/>
        </p:spPr>
        <p:txBody>
          <a:bodyPr wrap="square" rtlCol="0" anchor="ctr"/>
          <a:lstStyle/>
          <a:p>
            <a:pPr marL="0" indent="0">
              <a:buNone/>
            </a:pPr>
            <a:r>
              <a:rPr lang="en-US" sz="2200" b="1" dirty="0">
                <a:solidFill>
                  <a:srgbClr val="FFFFFF"/>
                </a:solidFill>
                <a:latin typeface="Arial" pitchFamily="34" charset="0"/>
                <a:ea typeface="Arial" pitchFamily="34" charset="-122"/>
                <a:cs typeface="Arial" pitchFamily="34" charset="-120"/>
              </a:rPr>
              <a:t>9.4 — El proyecto Calculadora: CalculadoraTest.java</a:t>
            </a:r>
            <a:endParaRPr lang="en-US" sz="2200" dirty="0"/>
          </a:p>
        </p:txBody>
      </p:sp>
      <p:sp>
        <p:nvSpPr>
          <p:cNvPr id="4" name="Text 2"/>
          <p:cNvSpPr/>
          <p:nvPr/>
        </p:nvSpPr>
        <p:spPr>
          <a:xfrm>
            <a:off x="548640" y="6473952"/>
            <a:ext cx="11091672" cy="292608"/>
          </a:xfrm>
          <a:prstGeom prst="rect">
            <a:avLst/>
          </a:prstGeom>
          <a:noFill/>
          <a:ln/>
        </p:spPr>
        <p:txBody>
          <a:bodyPr wrap="square" rtlCol="0" anchor="ctr"/>
          <a:lstStyle/>
          <a:p>
            <a:pPr marL="0" indent="0" algn="r">
              <a:buNone/>
            </a:pPr>
            <a:r>
              <a:rPr lang="en-US" sz="1100" dirty="0">
                <a:solidFill>
                  <a:srgbClr val="757575"/>
                </a:solidFill>
                <a:latin typeface="Arial" pitchFamily="34" charset="0"/>
                <a:ea typeface="Arial" pitchFamily="34" charset="-122"/>
                <a:cs typeface="Arial" pitchFamily="34" charset="-120"/>
              </a:rPr>
              <a:t>Entornos de Desarrollo — Tema 4 — Integración Continua con GitHub Actions</a:t>
            </a:r>
            <a:endParaRPr lang="en-US" sz="1100" dirty="0"/>
          </a:p>
        </p:txBody>
      </p:sp>
      <p:sp>
        <p:nvSpPr>
          <p:cNvPr id="5" name="Shape 3"/>
          <p:cNvSpPr/>
          <p:nvPr/>
        </p:nvSpPr>
        <p:spPr>
          <a:xfrm>
            <a:off x="548640" y="868680"/>
            <a:ext cx="11091672" cy="685800"/>
          </a:xfrm>
          <a:prstGeom prst="roundRect">
            <a:avLst/>
          </a:prstGeom>
          <a:solidFill>
            <a:srgbClr val="E0F2F1"/>
          </a:solidFill>
          <a:ln w="19050">
            <a:solidFill>
              <a:srgbClr val="009688"/>
            </a:solidFill>
            <a:prstDash val="solid"/>
          </a:ln>
        </p:spPr>
        <p:txBody>
          <a:bodyPr/>
          <a:lstStyle/>
          <a:p>
            <a:endParaRPr lang="es-ES"/>
          </a:p>
        </p:txBody>
      </p:sp>
      <p:sp>
        <p:nvSpPr>
          <p:cNvPr id="6" name="Text 4"/>
          <p:cNvSpPr/>
          <p:nvPr/>
        </p:nvSpPr>
        <p:spPr>
          <a:xfrm>
            <a:off x="777240" y="941832"/>
            <a:ext cx="10634472" cy="539496"/>
          </a:xfrm>
          <a:prstGeom prst="rect">
            <a:avLst/>
          </a:prstGeom>
          <a:noFill/>
          <a:ln/>
        </p:spPr>
        <p:txBody>
          <a:bodyPr wrap="square" rtlCol="0" anchor="ctr"/>
          <a:lstStyle/>
          <a:p>
            <a:pPr marL="0" indent="0">
              <a:buNone/>
            </a:pPr>
            <a:r>
              <a:rPr lang="en-US" sz="1500" dirty="0">
                <a:solidFill>
                  <a:srgbClr val="212121"/>
                </a:solidFill>
                <a:latin typeface="Arial" pitchFamily="34" charset="0"/>
                <a:ea typeface="Arial" pitchFamily="34" charset="-122"/>
                <a:cs typeface="Arial" pitchFamily="34" charset="-120"/>
              </a:rPr>
              <a:t>5 tests con JUnit 5. Cada método @Test comprueba una operación. Maven los ejecuta automáticamente con mvn test.</a:t>
            </a:r>
            <a:endParaRPr lang="en-US" sz="1500" dirty="0"/>
          </a:p>
        </p:txBody>
      </p:sp>
      <p:sp>
        <p:nvSpPr>
          <p:cNvPr id="7" name="Shape 5"/>
          <p:cNvSpPr/>
          <p:nvPr/>
        </p:nvSpPr>
        <p:spPr>
          <a:xfrm>
            <a:off x="548640" y="1737360"/>
            <a:ext cx="11091672" cy="4251960"/>
          </a:xfrm>
          <a:prstGeom prst="rect">
            <a:avLst/>
          </a:prstGeom>
          <a:solidFill>
            <a:srgbClr val="ECEFF1"/>
          </a:solidFill>
          <a:ln w="12700">
            <a:solidFill>
              <a:srgbClr val="EEEEEE"/>
            </a:solidFill>
            <a:prstDash val="solid"/>
          </a:ln>
        </p:spPr>
        <p:txBody>
          <a:bodyPr/>
          <a:lstStyle/>
          <a:p>
            <a:endParaRPr lang="es-ES"/>
          </a:p>
        </p:txBody>
      </p:sp>
      <p:sp>
        <p:nvSpPr>
          <p:cNvPr id="8" name="Shape 6"/>
          <p:cNvSpPr/>
          <p:nvPr/>
        </p:nvSpPr>
        <p:spPr>
          <a:xfrm>
            <a:off x="548640" y="1737360"/>
            <a:ext cx="73152" cy="4206240"/>
          </a:xfrm>
          <a:prstGeom prst="rect">
            <a:avLst/>
          </a:prstGeom>
          <a:solidFill>
            <a:srgbClr val="009688"/>
          </a:solidFill>
          <a:ln w="12700">
            <a:solidFill>
              <a:srgbClr val="009688"/>
            </a:solidFill>
            <a:prstDash val="solid"/>
          </a:ln>
        </p:spPr>
        <p:txBody>
          <a:bodyPr/>
          <a:lstStyle/>
          <a:p>
            <a:endParaRPr lang="es-ES"/>
          </a:p>
        </p:txBody>
      </p:sp>
      <p:sp>
        <p:nvSpPr>
          <p:cNvPr id="9" name="Text 7"/>
          <p:cNvSpPr/>
          <p:nvPr/>
        </p:nvSpPr>
        <p:spPr>
          <a:xfrm>
            <a:off x="777240" y="1828800"/>
            <a:ext cx="10680192" cy="4023360"/>
          </a:xfrm>
          <a:prstGeom prst="rect">
            <a:avLst/>
          </a:prstGeom>
          <a:noFill/>
          <a:ln/>
        </p:spPr>
        <p:txBody>
          <a:bodyPr wrap="square" rtlCol="0" anchor="t"/>
          <a:lstStyle/>
          <a:p>
            <a:pPr marL="0" indent="0">
              <a:buNone/>
            </a:pPr>
            <a:r>
              <a:rPr lang="en-US" sz="1400" dirty="0">
                <a:solidFill>
                  <a:srgbClr val="263238"/>
                </a:solidFill>
                <a:latin typeface="Courier New" pitchFamily="34" charset="0"/>
                <a:ea typeface="Courier New" pitchFamily="34" charset="-122"/>
                <a:cs typeface="Courier New" pitchFamily="34" charset="-120"/>
              </a:rPr>
              <a:t>class CalculadoraTest {</a:t>
            </a:r>
            <a:endParaRPr lang="en-US" sz="1400" dirty="0"/>
          </a:p>
          <a:p>
            <a:pPr marL="0" indent="0">
              <a:buNone/>
            </a:pPr>
            <a:r>
              <a:rPr lang="en-US" sz="1400" dirty="0">
                <a:solidFill>
                  <a:srgbClr val="263238"/>
                </a:solidFill>
                <a:latin typeface="Courier New" pitchFamily="34" charset="0"/>
                <a:ea typeface="Courier New" pitchFamily="34" charset="-122"/>
                <a:cs typeface="Courier New" pitchFamily="34" charset="-120"/>
              </a:rPr>
              <a:t>    private final Calculadora calc = new Calculadora();</a:t>
            </a:r>
            <a:endParaRPr lang="en-US" sz="1400" dirty="0"/>
          </a:p>
          <a:p>
            <a:pPr marL="0" indent="0">
              <a:buNone/>
            </a:pPr>
            <a:endParaRPr lang="en-US" sz="1400" dirty="0"/>
          </a:p>
          <a:p>
            <a:pPr marL="0" indent="0">
              <a:buNone/>
            </a:pPr>
            <a:r>
              <a:rPr lang="en-US" sz="1400" dirty="0">
                <a:solidFill>
                  <a:srgbClr val="263238"/>
                </a:solidFill>
                <a:latin typeface="Courier New" pitchFamily="34" charset="0"/>
                <a:ea typeface="Courier New" pitchFamily="34" charset="-122"/>
                <a:cs typeface="Courier New" pitchFamily="34" charset="-120"/>
              </a:rPr>
              <a:t>    @Test void sumarDosPositivos() {</a:t>
            </a:r>
            <a:endParaRPr lang="en-US" sz="1400" dirty="0"/>
          </a:p>
          <a:p>
            <a:pPr marL="0" indent="0">
              <a:buNone/>
            </a:pPr>
            <a:r>
              <a:rPr lang="en-US" sz="1400" dirty="0">
                <a:solidFill>
                  <a:srgbClr val="263238"/>
                </a:solidFill>
                <a:latin typeface="Courier New" pitchFamily="34" charset="0"/>
                <a:ea typeface="Courier New" pitchFamily="34" charset="-122"/>
                <a:cs typeface="Courier New" pitchFamily="34" charset="-120"/>
              </a:rPr>
              <a:t>        assertEquals(5, calc.sumar(2, 3));</a:t>
            </a:r>
            <a:endParaRPr lang="en-US" sz="1400" dirty="0"/>
          </a:p>
          <a:p>
            <a:pPr marL="0" indent="0">
              <a:buNone/>
            </a:pPr>
            <a:r>
              <a:rPr lang="en-US" sz="1400" dirty="0">
                <a:solidFill>
                  <a:srgbClr val="263238"/>
                </a:solidFill>
                <a:latin typeface="Courier New" pitchFamily="34" charset="0"/>
                <a:ea typeface="Courier New" pitchFamily="34" charset="-122"/>
                <a:cs typeface="Courier New" pitchFamily="34" charset="-120"/>
              </a:rPr>
              <a:t>    }</a:t>
            </a:r>
            <a:endParaRPr lang="en-US" sz="1400" dirty="0"/>
          </a:p>
          <a:p>
            <a:pPr marL="0" indent="0">
              <a:buNone/>
            </a:pPr>
            <a:r>
              <a:rPr lang="en-US" sz="1400" dirty="0">
                <a:solidFill>
                  <a:srgbClr val="263238"/>
                </a:solidFill>
                <a:latin typeface="Courier New" pitchFamily="34" charset="0"/>
                <a:ea typeface="Courier New" pitchFamily="34" charset="-122"/>
                <a:cs typeface="Courier New" pitchFamily="34" charset="-120"/>
              </a:rPr>
              <a:t>    @Test void restarResultadoNegativo() {</a:t>
            </a:r>
            <a:endParaRPr lang="en-US" sz="1400" dirty="0"/>
          </a:p>
          <a:p>
            <a:pPr marL="0" indent="0">
              <a:buNone/>
            </a:pPr>
            <a:r>
              <a:rPr lang="en-US" sz="1400" dirty="0">
                <a:solidFill>
                  <a:srgbClr val="263238"/>
                </a:solidFill>
                <a:latin typeface="Courier New" pitchFamily="34" charset="0"/>
                <a:ea typeface="Courier New" pitchFamily="34" charset="-122"/>
                <a:cs typeface="Courier New" pitchFamily="34" charset="-120"/>
              </a:rPr>
              <a:t>        assertEquals(-1, calc.restar(2, 3));</a:t>
            </a:r>
            <a:endParaRPr lang="en-US" sz="1400" dirty="0"/>
          </a:p>
          <a:p>
            <a:pPr marL="0" indent="0">
              <a:buNone/>
            </a:pPr>
            <a:r>
              <a:rPr lang="en-US" sz="1400" dirty="0">
                <a:solidFill>
                  <a:srgbClr val="263238"/>
                </a:solidFill>
                <a:latin typeface="Courier New" pitchFamily="34" charset="0"/>
                <a:ea typeface="Courier New" pitchFamily="34" charset="-122"/>
                <a:cs typeface="Courier New" pitchFamily="34" charset="-120"/>
              </a:rPr>
              <a:t>    }</a:t>
            </a:r>
            <a:endParaRPr lang="en-US" sz="1400" dirty="0"/>
          </a:p>
          <a:p>
            <a:pPr marL="0" indent="0">
              <a:buNone/>
            </a:pPr>
            <a:r>
              <a:rPr lang="en-US" sz="1400" dirty="0">
                <a:solidFill>
                  <a:srgbClr val="263238"/>
                </a:solidFill>
                <a:latin typeface="Courier New" pitchFamily="34" charset="0"/>
                <a:ea typeface="Courier New" pitchFamily="34" charset="-122"/>
                <a:cs typeface="Courier New" pitchFamily="34" charset="-120"/>
              </a:rPr>
              <a:t>    @Test void multiplicarPorCero() {</a:t>
            </a:r>
            <a:endParaRPr lang="en-US" sz="1400" dirty="0"/>
          </a:p>
          <a:p>
            <a:pPr marL="0" indent="0">
              <a:buNone/>
            </a:pPr>
            <a:r>
              <a:rPr lang="en-US" sz="1400" dirty="0">
                <a:solidFill>
                  <a:srgbClr val="263238"/>
                </a:solidFill>
                <a:latin typeface="Courier New" pitchFamily="34" charset="0"/>
                <a:ea typeface="Courier New" pitchFamily="34" charset="-122"/>
                <a:cs typeface="Courier New" pitchFamily="34" charset="-120"/>
              </a:rPr>
              <a:t>        assertEquals(0, calc.multiplicar(7, 0));</a:t>
            </a:r>
            <a:endParaRPr lang="en-US" sz="1400" dirty="0"/>
          </a:p>
          <a:p>
            <a:pPr marL="0" indent="0">
              <a:buNone/>
            </a:pPr>
            <a:r>
              <a:rPr lang="en-US" sz="1400" dirty="0">
                <a:solidFill>
                  <a:srgbClr val="263238"/>
                </a:solidFill>
                <a:latin typeface="Courier New" pitchFamily="34" charset="0"/>
                <a:ea typeface="Courier New" pitchFamily="34" charset="-122"/>
                <a:cs typeface="Courier New" pitchFamily="34" charset="-120"/>
              </a:rPr>
              <a:t>    }</a:t>
            </a:r>
            <a:endParaRPr lang="en-US" sz="1400" dirty="0"/>
          </a:p>
          <a:p>
            <a:pPr marL="0" indent="0">
              <a:buNone/>
            </a:pPr>
            <a:r>
              <a:rPr lang="en-US" sz="1400" dirty="0">
                <a:solidFill>
                  <a:srgbClr val="263238"/>
                </a:solidFill>
                <a:latin typeface="Courier New" pitchFamily="34" charset="0"/>
                <a:ea typeface="Courier New" pitchFamily="34" charset="-122"/>
                <a:cs typeface="Courier New" pitchFamily="34" charset="-120"/>
              </a:rPr>
              <a:t>    @Test void dividirNormal() {</a:t>
            </a:r>
            <a:endParaRPr lang="en-US" sz="1400" dirty="0"/>
          </a:p>
          <a:p>
            <a:pPr marL="0" indent="0">
              <a:buNone/>
            </a:pPr>
            <a:r>
              <a:rPr lang="en-US" sz="1400" dirty="0">
                <a:solidFill>
                  <a:srgbClr val="263238"/>
                </a:solidFill>
                <a:latin typeface="Courier New" pitchFamily="34" charset="0"/>
                <a:ea typeface="Courier New" pitchFamily="34" charset="-122"/>
                <a:cs typeface="Courier New" pitchFamily="34" charset="-120"/>
              </a:rPr>
              <a:t>        assertEquals(2.5, calc.dividir(5, 2));</a:t>
            </a:r>
            <a:endParaRPr lang="en-US" sz="1400" dirty="0"/>
          </a:p>
          <a:p>
            <a:pPr marL="0" indent="0">
              <a:buNone/>
            </a:pPr>
            <a:r>
              <a:rPr lang="en-US" sz="1400" dirty="0">
                <a:solidFill>
                  <a:srgbClr val="263238"/>
                </a:solidFill>
                <a:latin typeface="Courier New" pitchFamily="34" charset="0"/>
                <a:ea typeface="Courier New" pitchFamily="34" charset="-122"/>
                <a:cs typeface="Courier New" pitchFamily="34" charset="-120"/>
              </a:rPr>
              <a:t>    }</a:t>
            </a:r>
            <a:endParaRPr lang="en-US" sz="1400" dirty="0"/>
          </a:p>
          <a:p>
            <a:pPr marL="0" indent="0">
              <a:buNone/>
            </a:pPr>
            <a:r>
              <a:rPr lang="en-US" sz="1400" dirty="0">
                <a:solidFill>
                  <a:srgbClr val="263238"/>
                </a:solidFill>
                <a:latin typeface="Courier New" pitchFamily="34" charset="0"/>
                <a:ea typeface="Courier New" pitchFamily="34" charset="-122"/>
                <a:cs typeface="Courier New" pitchFamily="34" charset="-120"/>
              </a:rPr>
              <a:t>    @Test void dividirPorCeroLanzaExcepcion() {</a:t>
            </a:r>
            <a:endParaRPr lang="en-US" sz="1400" dirty="0"/>
          </a:p>
          <a:p>
            <a:pPr marL="0" indent="0">
              <a:buNone/>
            </a:pPr>
            <a:r>
              <a:rPr lang="en-US" sz="1400" dirty="0">
                <a:solidFill>
                  <a:srgbClr val="263238"/>
                </a:solidFill>
                <a:latin typeface="Courier New" pitchFamily="34" charset="0"/>
                <a:ea typeface="Courier New" pitchFamily="34" charset="-122"/>
                <a:cs typeface="Courier New" pitchFamily="34" charset="-120"/>
              </a:rPr>
              <a:t>        assertThrows(IllegalArgumentException.class, () -&gt; calc.dividir(10, 0));</a:t>
            </a:r>
            <a:endParaRPr lang="en-US" sz="1400" dirty="0"/>
          </a:p>
          <a:p>
            <a:pPr marL="0" indent="0">
              <a:buNone/>
            </a:pPr>
            <a:r>
              <a:rPr lang="en-US" sz="1400" dirty="0">
                <a:solidFill>
                  <a:srgbClr val="263238"/>
                </a:solidFill>
                <a:latin typeface="Courier New" pitchFamily="34" charset="0"/>
                <a:ea typeface="Courier New" pitchFamily="34" charset="-122"/>
                <a:cs typeface="Courier New" pitchFamily="34" charset="-120"/>
              </a:rPr>
              <a:t>    }</a:t>
            </a:r>
            <a:endParaRPr lang="en-US" sz="1400" dirty="0"/>
          </a:p>
          <a:p>
            <a:pPr marL="0" indent="0">
              <a:buNone/>
            </a:pPr>
            <a:r>
              <a:rPr lang="en-US" sz="1400" dirty="0">
                <a:solidFill>
                  <a:srgbClr val="263238"/>
                </a:solidFill>
                <a:latin typeface="Courier New" pitchFamily="34" charset="0"/>
                <a:ea typeface="Courier New" pitchFamily="34" charset="-122"/>
                <a:cs typeface="Courier New" pitchFamily="34" charset="-120"/>
              </a:rPr>
              <a:t>}</a:t>
            </a:r>
            <a:endParaRPr lang="en-US" sz="14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Shape 0"/>
          <p:cNvSpPr/>
          <p:nvPr/>
        </p:nvSpPr>
        <p:spPr>
          <a:xfrm>
            <a:off x="0" y="0"/>
            <a:ext cx="12188952" cy="777240"/>
          </a:xfrm>
          <a:prstGeom prst="rect">
            <a:avLst/>
          </a:prstGeom>
          <a:solidFill>
            <a:srgbClr val="303F9F"/>
          </a:solidFill>
          <a:ln w="12700">
            <a:solidFill>
              <a:srgbClr val="303F9F"/>
            </a:solidFill>
            <a:prstDash val="solid"/>
          </a:ln>
        </p:spPr>
        <p:txBody>
          <a:bodyPr/>
          <a:lstStyle/>
          <a:p>
            <a:endParaRPr lang="es-ES"/>
          </a:p>
        </p:txBody>
      </p:sp>
      <p:sp>
        <p:nvSpPr>
          <p:cNvPr id="3" name="Text 1"/>
          <p:cNvSpPr/>
          <p:nvPr/>
        </p:nvSpPr>
        <p:spPr>
          <a:xfrm>
            <a:off x="365760" y="0"/>
            <a:ext cx="11457432" cy="777240"/>
          </a:xfrm>
          <a:prstGeom prst="rect">
            <a:avLst/>
          </a:prstGeom>
          <a:noFill/>
          <a:ln/>
        </p:spPr>
        <p:txBody>
          <a:bodyPr wrap="square" rtlCol="0" anchor="ctr"/>
          <a:lstStyle/>
          <a:p>
            <a:pPr marL="0" indent="0">
              <a:buNone/>
            </a:pPr>
            <a:r>
              <a:rPr lang="en-US" sz="2200" b="1" dirty="0">
                <a:solidFill>
                  <a:srgbClr val="FFFFFF"/>
                </a:solidFill>
                <a:latin typeface="Arial" pitchFamily="34" charset="0"/>
                <a:ea typeface="Arial" pitchFamily="34" charset="-122"/>
                <a:cs typeface="Arial" pitchFamily="34" charset="-120"/>
              </a:rPr>
              <a:t>9.4 — Qué hace cada step con la Calculadora</a:t>
            </a:r>
            <a:endParaRPr lang="en-US" sz="2200" dirty="0"/>
          </a:p>
        </p:txBody>
      </p:sp>
      <p:sp>
        <p:nvSpPr>
          <p:cNvPr id="4" name="Text 2"/>
          <p:cNvSpPr/>
          <p:nvPr/>
        </p:nvSpPr>
        <p:spPr>
          <a:xfrm>
            <a:off x="548640" y="6473952"/>
            <a:ext cx="11091672" cy="292608"/>
          </a:xfrm>
          <a:prstGeom prst="rect">
            <a:avLst/>
          </a:prstGeom>
          <a:noFill/>
          <a:ln/>
        </p:spPr>
        <p:txBody>
          <a:bodyPr wrap="square" rtlCol="0" anchor="ctr"/>
          <a:lstStyle/>
          <a:p>
            <a:pPr marL="0" indent="0" algn="r">
              <a:buNone/>
            </a:pPr>
            <a:r>
              <a:rPr lang="en-US" sz="1100" dirty="0">
                <a:solidFill>
                  <a:srgbClr val="757575"/>
                </a:solidFill>
                <a:latin typeface="Arial" pitchFamily="34" charset="0"/>
                <a:ea typeface="Arial" pitchFamily="34" charset="-122"/>
                <a:cs typeface="Arial" pitchFamily="34" charset="-120"/>
              </a:rPr>
              <a:t>Entornos de Desarrollo — Tema 4 — Integración Continua con GitHub Actions</a:t>
            </a:r>
            <a:endParaRPr lang="en-US" sz="1100" dirty="0"/>
          </a:p>
        </p:txBody>
      </p:sp>
      <p:sp>
        <p:nvSpPr>
          <p:cNvPr id="5" name="Text 3"/>
          <p:cNvSpPr/>
          <p:nvPr/>
        </p:nvSpPr>
        <p:spPr>
          <a:xfrm>
            <a:off x="548640" y="1269895"/>
            <a:ext cx="11091672" cy="5029200"/>
          </a:xfrm>
          <a:prstGeom prst="rect">
            <a:avLst/>
          </a:prstGeom>
          <a:noFill/>
          <a:ln/>
        </p:spPr>
        <p:txBody>
          <a:bodyPr wrap="square" rtlCol="0" anchor="t"/>
          <a:lstStyle/>
          <a:p>
            <a:pPr marL="0" indent="0">
              <a:spcAft>
                <a:spcPts val="600"/>
              </a:spcAft>
              <a:buNone/>
            </a:pPr>
            <a:r>
              <a:rPr lang="en-US" sz="2000" b="1" dirty="0">
                <a:solidFill>
                  <a:srgbClr val="212121"/>
                </a:solidFill>
                <a:latin typeface="Arial" pitchFamily="34" charset="0"/>
                <a:ea typeface="Arial" pitchFamily="34" charset="-122"/>
                <a:cs typeface="Arial" pitchFamily="34" charset="-120"/>
              </a:rPr>
              <a:t>Step 1 — checkout@v4</a:t>
            </a:r>
            <a:endParaRPr lang="en-US" sz="2000" dirty="0"/>
          </a:p>
          <a:p>
            <a:pPr marL="762000" lvl="1" indent="-381000">
              <a:spcAft>
                <a:spcPts val="600"/>
              </a:spcAft>
              <a:buSzPct val="100000"/>
              <a:buChar char="•"/>
            </a:pPr>
            <a:r>
              <a:rPr lang="en-US" sz="2000" dirty="0">
                <a:solidFill>
                  <a:srgbClr val="212121"/>
                </a:solidFill>
                <a:latin typeface="Arial" pitchFamily="34" charset="0"/>
                <a:ea typeface="Arial" pitchFamily="34" charset="-122"/>
                <a:cs typeface="Arial" pitchFamily="34" charset="-120"/>
              </a:rPr>
              <a:t>El runner arranca vacío. Clona el repo: descarga Calculadora.java, los tests y el pom.xml.</a:t>
            </a:r>
            <a:endParaRPr lang="en-US" sz="2000" dirty="0"/>
          </a:p>
          <a:p>
            <a:pPr marL="0" indent="0">
              <a:spcAft>
                <a:spcPts val="600"/>
              </a:spcAft>
              <a:buNone/>
            </a:pPr>
            <a:r>
              <a:rPr lang="en-US" sz="2000" b="1" dirty="0">
                <a:solidFill>
                  <a:srgbClr val="212121"/>
                </a:solidFill>
                <a:latin typeface="Arial" pitchFamily="34" charset="0"/>
                <a:ea typeface="Arial" pitchFamily="34" charset="-122"/>
                <a:cs typeface="Arial" pitchFamily="34" charset="-120"/>
              </a:rPr>
              <a:t>Step 2 — setup-java@v4</a:t>
            </a:r>
            <a:endParaRPr lang="en-US" sz="2000" dirty="0"/>
          </a:p>
          <a:p>
            <a:pPr marL="762000" lvl="1" indent="-381000">
              <a:spcAft>
                <a:spcPts val="600"/>
              </a:spcAft>
              <a:buSzPct val="100000"/>
              <a:buChar char="•"/>
            </a:pPr>
            <a:r>
              <a:rPr lang="en-US" sz="2000" dirty="0">
                <a:solidFill>
                  <a:srgbClr val="212121"/>
                </a:solidFill>
                <a:latin typeface="Arial" pitchFamily="34" charset="0"/>
                <a:ea typeface="Arial" pitchFamily="34" charset="-122"/>
                <a:cs typeface="Arial" pitchFamily="34" charset="-120"/>
              </a:rPr>
              <a:t>Instala JDK 21 (Temurin). Cachéa ~/.m2 para no descargar JUnit en cada run.</a:t>
            </a:r>
            <a:endParaRPr lang="en-US" sz="2000" dirty="0"/>
          </a:p>
          <a:p>
            <a:pPr marL="0" indent="0">
              <a:spcAft>
                <a:spcPts val="600"/>
              </a:spcAft>
              <a:buNone/>
            </a:pPr>
            <a:r>
              <a:rPr lang="en-US" sz="2000" b="1" dirty="0">
                <a:solidFill>
                  <a:srgbClr val="212121"/>
                </a:solidFill>
                <a:latin typeface="Arial" pitchFamily="34" charset="0"/>
                <a:ea typeface="Arial" pitchFamily="34" charset="-122"/>
                <a:cs typeface="Arial" pitchFamily="34" charset="-120"/>
              </a:rPr>
              <a:t>Step 3 — mvn compile -B</a:t>
            </a:r>
            <a:endParaRPr lang="en-US" sz="2000" dirty="0"/>
          </a:p>
          <a:p>
            <a:pPr marL="762000" lvl="1" indent="-381000">
              <a:spcAft>
                <a:spcPts val="600"/>
              </a:spcAft>
              <a:buSzPct val="100000"/>
              <a:buChar char="•"/>
            </a:pPr>
            <a:r>
              <a:rPr lang="en-US" sz="2000" dirty="0">
                <a:solidFill>
                  <a:srgbClr val="212121"/>
                </a:solidFill>
                <a:latin typeface="Arial" pitchFamily="34" charset="0"/>
                <a:ea typeface="Arial" pitchFamily="34" charset="-122"/>
                <a:cs typeface="Arial" pitchFamily="34" charset="-120"/>
              </a:rPr>
              <a:t>Compila Calculadora.java y CalculadoraTest.java. Si hay error de sintaxis, el workflow para aquí.</a:t>
            </a:r>
            <a:endParaRPr lang="en-US" sz="2000" dirty="0"/>
          </a:p>
          <a:p>
            <a:pPr marL="0" indent="0">
              <a:spcAft>
                <a:spcPts val="600"/>
              </a:spcAft>
              <a:buNone/>
            </a:pPr>
            <a:r>
              <a:rPr lang="en-US" sz="2000" b="1" dirty="0">
                <a:solidFill>
                  <a:srgbClr val="212121"/>
                </a:solidFill>
                <a:latin typeface="Arial" pitchFamily="34" charset="0"/>
                <a:ea typeface="Arial" pitchFamily="34" charset="-122"/>
                <a:cs typeface="Arial" pitchFamily="34" charset="-120"/>
              </a:rPr>
              <a:t>Step 4 — mvn test -B</a:t>
            </a:r>
            <a:endParaRPr lang="en-US" sz="2000" dirty="0"/>
          </a:p>
          <a:p>
            <a:pPr marL="762000" lvl="1" indent="-381000">
              <a:spcAft>
                <a:spcPts val="600"/>
              </a:spcAft>
              <a:buSzPct val="100000"/>
              <a:buChar char="•"/>
            </a:pPr>
            <a:r>
              <a:rPr lang="en-US" sz="2000" dirty="0">
                <a:solidFill>
                  <a:srgbClr val="212121"/>
                </a:solidFill>
                <a:latin typeface="Arial" pitchFamily="34" charset="0"/>
                <a:ea typeface="Arial" pitchFamily="34" charset="-122"/>
                <a:cs typeface="Arial" pitchFamily="34" charset="-120"/>
              </a:rPr>
              <a:t>Lanza JUnit con los 5 @Test. Si sumar devuelve el valor equivocado, falla aquí.</a:t>
            </a:r>
            <a:endParaRPr lang="en-US" sz="2000" dirty="0"/>
          </a:p>
          <a:p>
            <a:pPr marL="0" indent="0">
              <a:spcAft>
                <a:spcPts val="600"/>
              </a:spcAft>
              <a:buNone/>
            </a:pPr>
            <a:r>
              <a:rPr lang="en-US" sz="2000" b="1" dirty="0">
                <a:solidFill>
                  <a:srgbClr val="212121"/>
                </a:solidFill>
                <a:latin typeface="Arial" pitchFamily="34" charset="0"/>
                <a:ea typeface="Arial" pitchFamily="34" charset="-122"/>
                <a:cs typeface="Arial" pitchFamily="34" charset="-120"/>
              </a:rPr>
              <a:t>Step 5 — upload-artifact  (if: always())</a:t>
            </a:r>
            <a:endParaRPr lang="en-US" sz="2000" dirty="0"/>
          </a:p>
          <a:p>
            <a:pPr marL="762000" lvl="1" indent="-381000">
              <a:spcAft>
                <a:spcPts val="600"/>
              </a:spcAft>
              <a:buSzPct val="100000"/>
              <a:buChar char="•"/>
            </a:pPr>
            <a:r>
              <a:rPr lang="en-US" sz="2000" dirty="0">
                <a:solidFill>
                  <a:srgbClr val="212121"/>
                </a:solidFill>
                <a:latin typeface="Arial" pitchFamily="34" charset="0"/>
                <a:ea typeface="Arial" pitchFamily="34" charset="-122"/>
                <a:cs typeface="Arial" pitchFamily="34" charset="-120"/>
              </a:rPr>
              <a:t>Guarda el informe de Surefire aunque los tests hayan fallado. Sin if:always() el informe se perdería justo cuando más lo necesitas.</a:t>
            </a:r>
            <a:endParaRPr lang="en-US" sz="20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Shape 0"/>
          <p:cNvSpPr/>
          <p:nvPr/>
        </p:nvSpPr>
        <p:spPr>
          <a:xfrm>
            <a:off x="0" y="0"/>
            <a:ext cx="12188952" cy="777240"/>
          </a:xfrm>
          <a:prstGeom prst="rect">
            <a:avLst/>
          </a:prstGeom>
          <a:solidFill>
            <a:srgbClr val="303F9F"/>
          </a:solidFill>
          <a:ln w="12700">
            <a:solidFill>
              <a:srgbClr val="303F9F"/>
            </a:solidFill>
            <a:prstDash val="solid"/>
          </a:ln>
        </p:spPr>
        <p:txBody>
          <a:bodyPr/>
          <a:lstStyle/>
          <a:p>
            <a:endParaRPr lang="es-ES"/>
          </a:p>
        </p:txBody>
      </p:sp>
      <p:sp>
        <p:nvSpPr>
          <p:cNvPr id="3" name="Text 1"/>
          <p:cNvSpPr/>
          <p:nvPr/>
        </p:nvSpPr>
        <p:spPr>
          <a:xfrm>
            <a:off x="365760" y="0"/>
            <a:ext cx="11457432" cy="777240"/>
          </a:xfrm>
          <a:prstGeom prst="rect">
            <a:avLst/>
          </a:prstGeom>
          <a:noFill/>
          <a:ln/>
        </p:spPr>
        <p:txBody>
          <a:bodyPr wrap="square" rtlCol="0" anchor="ctr"/>
          <a:lstStyle/>
          <a:p>
            <a:pPr marL="0" indent="0">
              <a:buNone/>
            </a:pPr>
            <a:r>
              <a:rPr lang="en-US" sz="2200" b="1" dirty="0">
                <a:solidFill>
                  <a:srgbClr val="FFFFFF"/>
                </a:solidFill>
                <a:latin typeface="Arial" pitchFamily="34" charset="0"/>
                <a:ea typeface="Arial" pitchFamily="34" charset="-122"/>
                <a:cs typeface="Arial" pitchFamily="34" charset="-120"/>
              </a:rPr>
              <a:t>9.4 — Primer run en GitHub Actions</a:t>
            </a:r>
            <a:endParaRPr lang="en-US" sz="2200" dirty="0"/>
          </a:p>
        </p:txBody>
      </p:sp>
      <p:sp>
        <p:nvSpPr>
          <p:cNvPr id="4" name="Text 2"/>
          <p:cNvSpPr/>
          <p:nvPr/>
        </p:nvSpPr>
        <p:spPr>
          <a:xfrm>
            <a:off x="548640" y="6473952"/>
            <a:ext cx="11091672" cy="292608"/>
          </a:xfrm>
          <a:prstGeom prst="rect">
            <a:avLst/>
          </a:prstGeom>
          <a:noFill/>
          <a:ln/>
        </p:spPr>
        <p:txBody>
          <a:bodyPr wrap="square" rtlCol="0" anchor="ctr"/>
          <a:lstStyle/>
          <a:p>
            <a:pPr marL="0" indent="0" algn="r">
              <a:buNone/>
            </a:pPr>
            <a:r>
              <a:rPr lang="en-US" sz="1100" dirty="0">
                <a:solidFill>
                  <a:srgbClr val="757575"/>
                </a:solidFill>
                <a:latin typeface="Arial" pitchFamily="34" charset="0"/>
                <a:ea typeface="Arial" pitchFamily="34" charset="-122"/>
                <a:cs typeface="Arial" pitchFamily="34" charset="-120"/>
              </a:rPr>
              <a:t>Entornos de Desarrollo — Tema 4 — Integración Continua con GitHub Actions</a:t>
            </a:r>
            <a:endParaRPr lang="en-US" sz="1100" dirty="0"/>
          </a:p>
        </p:txBody>
      </p:sp>
      <p:sp>
        <p:nvSpPr>
          <p:cNvPr id="5" name="Shape 3"/>
          <p:cNvSpPr/>
          <p:nvPr/>
        </p:nvSpPr>
        <p:spPr>
          <a:xfrm>
            <a:off x="548640" y="868680"/>
            <a:ext cx="11091672" cy="658368"/>
          </a:xfrm>
          <a:prstGeom prst="roundRect">
            <a:avLst/>
          </a:prstGeom>
          <a:solidFill>
            <a:srgbClr val="E0F2F1"/>
          </a:solidFill>
          <a:ln w="19050">
            <a:solidFill>
              <a:srgbClr val="009688"/>
            </a:solidFill>
            <a:prstDash val="solid"/>
          </a:ln>
        </p:spPr>
        <p:txBody>
          <a:bodyPr/>
          <a:lstStyle/>
          <a:p>
            <a:endParaRPr lang="es-ES"/>
          </a:p>
        </p:txBody>
      </p:sp>
      <p:sp>
        <p:nvSpPr>
          <p:cNvPr id="6" name="Text 4"/>
          <p:cNvSpPr/>
          <p:nvPr/>
        </p:nvSpPr>
        <p:spPr>
          <a:xfrm>
            <a:off x="777240" y="941832"/>
            <a:ext cx="10634472" cy="512064"/>
          </a:xfrm>
          <a:prstGeom prst="rect">
            <a:avLst/>
          </a:prstGeom>
          <a:noFill/>
          <a:ln/>
        </p:spPr>
        <p:txBody>
          <a:bodyPr wrap="square" rtlCol="0" anchor="ctr"/>
          <a:lstStyle/>
          <a:p>
            <a:pPr marL="0" indent="0">
              <a:buNone/>
            </a:pPr>
            <a:r>
              <a:rPr lang="en-US" sz="1500" dirty="0">
                <a:solidFill>
                  <a:srgbClr val="212121"/>
                </a:solidFill>
                <a:latin typeface="Arial" pitchFamily="34" charset="0"/>
                <a:ea typeface="Arial" pitchFamily="34" charset="-122"/>
                <a:cs typeface="Arial" pitchFamily="34" charset="-120"/>
              </a:rPr>
              <a:t>Tras el primer push a main, el workflow CI — Build y Tests aparece en la pestaña Actions en segundos.</a:t>
            </a:r>
            <a:endParaRPr lang="en-US" sz="1500" dirty="0"/>
          </a:p>
        </p:txBody>
      </p:sp>
      <p:pic>
        <p:nvPicPr>
          <p:cNvPr id="7" name="Image 0" descr="C:/Users/Aitor/Documents/apuntes-profe/entornos-de-desarrollo/docs/tema4/capturas/actions/panel-actions-primer-run.png"/>
          <p:cNvPicPr>
            <a:picLocks noChangeAspect="1"/>
          </p:cNvPicPr>
          <p:nvPr/>
        </p:nvPicPr>
        <p:blipFill>
          <a:blip r:embed="rId3"/>
          <a:srcRect/>
          <a:stretch/>
        </p:blipFill>
        <p:spPr>
          <a:xfrm>
            <a:off x="2388170" y="1709928"/>
            <a:ext cx="7412611" cy="4690872"/>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Shape 0"/>
          <p:cNvSpPr/>
          <p:nvPr/>
        </p:nvSpPr>
        <p:spPr>
          <a:xfrm>
            <a:off x="0" y="0"/>
            <a:ext cx="12188952" cy="777240"/>
          </a:xfrm>
          <a:prstGeom prst="rect">
            <a:avLst/>
          </a:prstGeom>
          <a:solidFill>
            <a:srgbClr val="303F9F"/>
          </a:solidFill>
          <a:ln w="12700">
            <a:solidFill>
              <a:srgbClr val="303F9F"/>
            </a:solidFill>
            <a:prstDash val="solid"/>
          </a:ln>
        </p:spPr>
        <p:txBody>
          <a:bodyPr/>
          <a:lstStyle/>
          <a:p>
            <a:endParaRPr lang="es-ES"/>
          </a:p>
        </p:txBody>
      </p:sp>
      <p:sp>
        <p:nvSpPr>
          <p:cNvPr id="3" name="Text 1"/>
          <p:cNvSpPr/>
          <p:nvPr/>
        </p:nvSpPr>
        <p:spPr>
          <a:xfrm>
            <a:off x="365760" y="0"/>
            <a:ext cx="11457432" cy="777240"/>
          </a:xfrm>
          <a:prstGeom prst="rect">
            <a:avLst/>
          </a:prstGeom>
          <a:noFill/>
          <a:ln/>
        </p:spPr>
        <p:txBody>
          <a:bodyPr wrap="square" rtlCol="0" anchor="ctr"/>
          <a:lstStyle/>
          <a:p>
            <a:pPr marL="0" indent="0">
              <a:buNone/>
            </a:pPr>
            <a:r>
              <a:rPr lang="en-US" sz="2200" b="1" dirty="0">
                <a:solidFill>
                  <a:srgbClr val="FFFFFF"/>
                </a:solidFill>
                <a:latin typeface="Arial" pitchFamily="34" charset="0"/>
                <a:ea typeface="Arial" pitchFamily="34" charset="-122"/>
                <a:cs typeface="Arial" pitchFamily="34" charset="-120"/>
              </a:rPr>
              <a:t>9.5 — El panel Actions: vista general</a:t>
            </a:r>
            <a:endParaRPr lang="en-US" sz="2200" dirty="0"/>
          </a:p>
        </p:txBody>
      </p:sp>
      <p:sp>
        <p:nvSpPr>
          <p:cNvPr id="4" name="Text 2"/>
          <p:cNvSpPr/>
          <p:nvPr/>
        </p:nvSpPr>
        <p:spPr>
          <a:xfrm>
            <a:off x="548640" y="6473952"/>
            <a:ext cx="11091672" cy="292608"/>
          </a:xfrm>
          <a:prstGeom prst="rect">
            <a:avLst/>
          </a:prstGeom>
          <a:noFill/>
          <a:ln/>
        </p:spPr>
        <p:txBody>
          <a:bodyPr wrap="square" rtlCol="0" anchor="ctr"/>
          <a:lstStyle/>
          <a:p>
            <a:pPr marL="0" indent="0" algn="r">
              <a:buNone/>
            </a:pPr>
            <a:r>
              <a:rPr lang="en-US" sz="1100" dirty="0">
                <a:solidFill>
                  <a:srgbClr val="757575"/>
                </a:solidFill>
                <a:latin typeface="Arial" pitchFamily="34" charset="0"/>
                <a:ea typeface="Arial" pitchFamily="34" charset="-122"/>
                <a:cs typeface="Arial" pitchFamily="34" charset="-120"/>
              </a:rPr>
              <a:t>Entornos de Desarrollo — Tema 4 — Integración Continua con GitHub Actions</a:t>
            </a:r>
            <a:endParaRPr lang="en-US" sz="1100" dirty="0"/>
          </a:p>
        </p:txBody>
      </p:sp>
      <p:sp>
        <p:nvSpPr>
          <p:cNvPr id="5" name="Text 3"/>
          <p:cNvSpPr/>
          <p:nvPr/>
        </p:nvSpPr>
        <p:spPr>
          <a:xfrm>
            <a:off x="794284" y="2576369"/>
            <a:ext cx="4415246" cy="2117116"/>
          </a:xfrm>
          <a:prstGeom prst="rect">
            <a:avLst/>
          </a:prstGeom>
          <a:noFill/>
          <a:ln/>
        </p:spPr>
        <p:txBody>
          <a:bodyPr wrap="square" rtlCol="0" anchor="t"/>
          <a:lstStyle/>
          <a:p>
            <a:pPr marL="342900" indent="-342900">
              <a:spcAft>
                <a:spcPts val="600"/>
              </a:spcAft>
              <a:buSzPct val="100000"/>
              <a:buChar char="•"/>
            </a:pPr>
            <a:r>
              <a:rPr lang="en-US" dirty="0">
                <a:solidFill>
                  <a:srgbClr val="212121"/>
                </a:solidFill>
                <a:latin typeface="Arial" pitchFamily="34" charset="0"/>
                <a:ea typeface="Arial" pitchFamily="34" charset="-122"/>
                <a:cs typeface="Arial" pitchFamily="34" charset="-120"/>
              </a:rPr>
              <a:t>🟠  Naranja (girando) — el workflow está ejecutándose en ese momento</a:t>
            </a:r>
            <a:endParaRPr lang="en-US" dirty="0"/>
          </a:p>
          <a:p>
            <a:pPr marL="342900" indent="-342900">
              <a:spcAft>
                <a:spcPts val="600"/>
              </a:spcAft>
              <a:buSzPct val="100000"/>
              <a:buChar char="•"/>
            </a:pPr>
            <a:r>
              <a:rPr lang="en-US" dirty="0">
                <a:solidFill>
                  <a:srgbClr val="212121"/>
                </a:solidFill>
                <a:latin typeface="Arial" pitchFamily="34" charset="0"/>
                <a:ea typeface="Arial" pitchFamily="34" charset="-122"/>
                <a:cs typeface="Arial" pitchFamily="34" charset="-120"/>
              </a:rPr>
              <a:t>✅  Verde — todos los steps han pasado correctamente</a:t>
            </a:r>
            <a:endParaRPr lang="en-US" dirty="0"/>
          </a:p>
          <a:p>
            <a:pPr marL="342900" indent="-342900">
              <a:spcAft>
                <a:spcPts val="600"/>
              </a:spcAft>
              <a:buSzPct val="100000"/>
              <a:buChar char="•"/>
            </a:pPr>
            <a:r>
              <a:rPr lang="en-US" dirty="0">
                <a:solidFill>
                  <a:srgbClr val="212121"/>
                </a:solidFill>
                <a:latin typeface="Arial" pitchFamily="34" charset="0"/>
                <a:ea typeface="Arial" pitchFamily="34" charset="-122"/>
                <a:cs typeface="Arial" pitchFamily="34" charset="-120"/>
              </a:rPr>
              <a:t>❌  Rojo — algún step ha fallado (tests, compilación o YAML incorrecto)</a:t>
            </a:r>
            <a:endParaRPr lang="en-US" dirty="0"/>
          </a:p>
        </p:txBody>
      </p:sp>
      <p:pic>
        <p:nvPicPr>
          <p:cNvPr id="6" name="Image 0" descr="C:/Users/Aitor/Documents/apuntes-profe/entornos-de-desarrollo/docs/tema4/capturas/actions/panel-actions-lista-runs.png"/>
          <p:cNvPicPr>
            <a:picLocks noChangeAspect="1"/>
          </p:cNvPicPr>
          <p:nvPr/>
        </p:nvPicPr>
        <p:blipFill>
          <a:blip r:embed="rId3"/>
          <a:srcRect/>
          <a:stretch/>
        </p:blipFill>
        <p:spPr>
          <a:xfrm>
            <a:off x="5878285" y="1211580"/>
            <a:ext cx="5388802" cy="4434840"/>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Shape 0"/>
          <p:cNvSpPr/>
          <p:nvPr/>
        </p:nvSpPr>
        <p:spPr>
          <a:xfrm>
            <a:off x="0" y="0"/>
            <a:ext cx="12188952" cy="777240"/>
          </a:xfrm>
          <a:prstGeom prst="rect">
            <a:avLst/>
          </a:prstGeom>
          <a:solidFill>
            <a:srgbClr val="303F9F"/>
          </a:solidFill>
          <a:ln w="12700">
            <a:solidFill>
              <a:srgbClr val="303F9F"/>
            </a:solidFill>
            <a:prstDash val="solid"/>
          </a:ln>
        </p:spPr>
        <p:txBody>
          <a:bodyPr/>
          <a:lstStyle/>
          <a:p>
            <a:endParaRPr lang="es-ES"/>
          </a:p>
        </p:txBody>
      </p:sp>
      <p:sp>
        <p:nvSpPr>
          <p:cNvPr id="3" name="Text 1"/>
          <p:cNvSpPr/>
          <p:nvPr/>
        </p:nvSpPr>
        <p:spPr>
          <a:xfrm>
            <a:off x="365760" y="0"/>
            <a:ext cx="11457432" cy="777240"/>
          </a:xfrm>
          <a:prstGeom prst="rect">
            <a:avLst/>
          </a:prstGeom>
          <a:noFill/>
          <a:ln/>
        </p:spPr>
        <p:txBody>
          <a:bodyPr wrap="square" rtlCol="0" anchor="ctr"/>
          <a:lstStyle/>
          <a:p>
            <a:pPr marL="0" indent="0">
              <a:buNone/>
            </a:pPr>
            <a:r>
              <a:rPr lang="en-US" sz="2200" b="1" dirty="0">
                <a:solidFill>
                  <a:srgbClr val="FFFFFF"/>
                </a:solidFill>
                <a:latin typeface="Arial" pitchFamily="34" charset="0"/>
                <a:ea typeface="Arial" pitchFamily="34" charset="-122"/>
                <a:cs typeface="Arial" pitchFamily="34" charset="-120"/>
              </a:rPr>
              <a:t>9.5 — Vista de un run: el job build</a:t>
            </a:r>
            <a:endParaRPr lang="en-US" sz="2200" dirty="0"/>
          </a:p>
        </p:txBody>
      </p:sp>
      <p:sp>
        <p:nvSpPr>
          <p:cNvPr id="4" name="Text 2"/>
          <p:cNvSpPr/>
          <p:nvPr/>
        </p:nvSpPr>
        <p:spPr>
          <a:xfrm>
            <a:off x="548640" y="6473952"/>
            <a:ext cx="11091672" cy="292608"/>
          </a:xfrm>
          <a:prstGeom prst="rect">
            <a:avLst/>
          </a:prstGeom>
          <a:noFill/>
          <a:ln/>
        </p:spPr>
        <p:txBody>
          <a:bodyPr wrap="square" rtlCol="0" anchor="ctr"/>
          <a:lstStyle/>
          <a:p>
            <a:pPr marL="0" indent="0" algn="r">
              <a:buNone/>
            </a:pPr>
            <a:r>
              <a:rPr lang="en-US" sz="1100" dirty="0">
                <a:solidFill>
                  <a:srgbClr val="757575"/>
                </a:solidFill>
                <a:latin typeface="Arial" pitchFamily="34" charset="0"/>
                <a:ea typeface="Arial" pitchFamily="34" charset="-122"/>
                <a:cs typeface="Arial" pitchFamily="34" charset="-120"/>
              </a:rPr>
              <a:t>Entornos de Desarrollo — Tema 4 — Integración Continua con GitHub Actions</a:t>
            </a:r>
            <a:endParaRPr lang="en-US" sz="1100" dirty="0"/>
          </a:p>
        </p:txBody>
      </p:sp>
      <p:sp>
        <p:nvSpPr>
          <p:cNvPr id="5" name="Shape 3"/>
          <p:cNvSpPr/>
          <p:nvPr/>
        </p:nvSpPr>
        <p:spPr>
          <a:xfrm>
            <a:off x="548640" y="868680"/>
            <a:ext cx="11091672" cy="777240"/>
          </a:xfrm>
          <a:prstGeom prst="roundRect">
            <a:avLst/>
          </a:prstGeom>
          <a:solidFill>
            <a:srgbClr val="E0F2F1"/>
          </a:solidFill>
          <a:ln w="19050">
            <a:solidFill>
              <a:srgbClr val="009688"/>
            </a:solidFill>
            <a:prstDash val="solid"/>
          </a:ln>
        </p:spPr>
        <p:txBody>
          <a:bodyPr/>
          <a:lstStyle/>
          <a:p>
            <a:endParaRPr lang="es-ES"/>
          </a:p>
        </p:txBody>
      </p:sp>
      <p:sp>
        <p:nvSpPr>
          <p:cNvPr id="6" name="Text 4"/>
          <p:cNvSpPr/>
          <p:nvPr/>
        </p:nvSpPr>
        <p:spPr>
          <a:xfrm>
            <a:off x="777240" y="941832"/>
            <a:ext cx="10634472" cy="630936"/>
          </a:xfrm>
          <a:prstGeom prst="rect">
            <a:avLst/>
          </a:prstGeom>
          <a:noFill/>
          <a:ln/>
        </p:spPr>
        <p:txBody>
          <a:bodyPr wrap="square" rtlCol="0" anchor="ctr"/>
          <a:lstStyle/>
          <a:p>
            <a:pPr marL="0" indent="0">
              <a:buNone/>
            </a:pPr>
            <a:r>
              <a:rPr lang="en-US" sz="1500" dirty="0">
                <a:solidFill>
                  <a:srgbClr val="212121"/>
                </a:solidFill>
                <a:latin typeface="Arial" pitchFamily="34" charset="0"/>
                <a:ea typeface="Arial" pitchFamily="34" charset="-122"/>
                <a:cs typeface="Arial" pitchFamily="34" charset="-120"/>
              </a:rPr>
              <a:t>Al hacer clic en un run concreto se ven todos los jobs. En el proyecto Calculadora hay un solo job llamado build con sus 5 steps y la duración de cada uno.</a:t>
            </a:r>
            <a:endParaRPr lang="en-US" sz="1500" dirty="0"/>
          </a:p>
        </p:txBody>
      </p:sp>
      <p:pic>
        <p:nvPicPr>
          <p:cNvPr id="7" name="Image 0" descr="C:/Users/Aitor/Documents/apuntes-profe/entornos-de-desarrollo/docs/tema4/capturas/actions/panel-actions-run-detalle.png"/>
          <p:cNvPicPr>
            <a:picLocks noChangeAspect="1"/>
          </p:cNvPicPr>
          <p:nvPr/>
        </p:nvPicPr>
        <p:blipFill>
          <a:blip r:embed="rId3"/>
          <a:srcRect/>
          <a:stretch/>
        </p:blipFill>
        <p:spPr>
          <a:xfrm>
            <a:off x="2519265" y="1828800"/>
            <a:ext cx="6489814" cy="4572000"/>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Shape 0"/>
          <p:cNvSpPr/>
          <p:nvPr/>
        </p:nvSpPr>
        <p:spPr>
          <a:xfrm>
            <a:off x="0" y="0"/>
            <a:ext cx="12188952" cy="777240"/>
          </a:xfrm>
          <a:prstGeom prst="rect">
            <a:avLst/>
          </a:prstGeom>
          <a:solidFill>
            <a:srgbClr val="303F9F"/>
          </a:solidFill>
          <a:ln w="12700">
            <a:solidFill>
              <a:srgbClr val="303F9F"/>
            </a:solidFill>
            <a:prstDash val="solid"/>
          </a:ln>
        </p:spPr>
        <p:txBody>
          <a:bodyPr/>
          <a:lstStyle/>
          <a:p>
            <a:endParaRPr lang="es-ES"/>
          </a:p>
        </p:txBody>
      </p:sp>
      <p:sp>
        <p:nvSpPr>
          <p:cNvPr id="3" name="Text 1"/>
          <p:cNvSpPr/>
          <p:nvPr/>
        </p:nvSpPr>
        <p:spPr>
          <a:xfrm>
            <a:off x="365760" y="0"/>
            <a:ext cx="11457432" cy="777240"/>
          </a:xfrm>
          <a:prstGeom prst="rect">
            <a:avLst/>
          </a:prstGeom>
          <a:noFill/>
          <a:ln/>
        </p:spPr>
        <p:txBody>
          <a:bodyPr wrap="square" rtlCol="0" anchor="ctr"/>
          <a:lstStyle/>
          <a:p>
            <a:pPr marL="0" indent="0">
              <a:buNone/>
            </a:pPr>
            <a:r>
              <a:rPr lang="en-US" sz="2200" b="1" dirty="0">
                <a:solidFill>
                  <a:srgbClr val="FFFFFF"/>
                </a:solidFill>
                <a:latin typeface="Arial" pitchFamily="34" charset="0"/>
                <a:ea typeface="Arial" pitchFamily="34" charset="-122"/>
                <a:cs typeface="Arial" pitchFamily="34" charset="-120"/>
              </a:rPr>
              <a:t>9.5 — Vista de un step: log de Maven</a:t>
            </a:r>
            <a:endParaRPr lang="en-US" sz="2200" dirty="0"/>
          </a:p>
        </p:txBody>
      </p:sp>
      <p:sp>
        <p:nvSpPr>
          <p:cNvPr id="4" name="Text 2"/>
          <p:cNvSpPr/>
          <p:nvPr/>
        </p:nvSpPr>
        <p:spPr>
          <a:xfrm>
            <a:off x="548640" y="6473952"/>
            <a:ext cx="11091672" cy="292608"/>
          </a:xfrm>
          <a:prstGeom prst="rect">
            <a:avLst/>
          </a:prstGeom>
          <a:noFill/>
          <a:ln/>
        </p:spPr>
        <p:txBody>
          <a:bodyPr wrap="square" rtlCol="0" anchor="ctr"/>
          <a:lstStyle/>
          <a:p>
            <a:pPr marL="0" indent="0" algn="r">
              <a:buNone/>
            </a:pPr>
            <a:r>
              <a:rPr lang="en-US" sz="1100" dirty="0">
                <a:solidFill>
                  <a:srgbClr val="757575"/>
                </a:solidFill>
                <a:latin typeface="Arial" pitchFamily="34" charset="0"/>
                <a:ea typeface="Arial" pitchFamily="34" charset="-122"/>
                <a:cs typeface="Arial" pitchFamily="34" charset="-120"/>
              </a:rPr>
              <a:t>Entornos de Desarrollo — Tema 4 — Integración Continua con GitHub Actions</a:t>
            </a:r>
            <a:endParaRPr lang="en-US" sz="1100" dirty="0"/>
          </a:p>
        </p:txBody>
      </p:sp>
      <p:sp>
        <p:nvSpPr>
          <p:cNvPr id="5" name="Shape 3"/>
          <p:cNvSpPr/>
          <p:nvPr/>
        </p:nvSpPr>
        <p:spPr>
          <a:xfrm>
            <a:off x="548640" y="868680"/>
            <a:ext cx="11091672" cy="777240"/>
          </a:xfrm>
          <a:prstGeom prst="roundRect">
            <a:avLst/>
          </a:prstGeom>
          <a:solidFill>
            <a:srgbClr val="E0F2F1"/>
          </a:solidFill>
          <a:ln w="19050">
            <a:solidFill>
              <a:srgbClr val="009688"/>
            </a:solidFill>
            <a:prstDash val="solid"/>
          </a:ln>
        </p:spPr>
        <p:txBody>
          <a:bodyPr/>
          <a:lstStyle/>
          <a:p>
            <a:endParaRPr lang="es-ES"/>
          </a:p>
        </p:txBody>
      </p:sp>
      <p:sp>
        <p:nvSpPr>
          <p:cNvPr id="6" name="Text 4"/>
          <p:cNvSpPr/>
          <p:nvPr/>
        </p:nvSpPr>
        <p:spPr>
          <a:xfrm>
            <a:off x="777240" y="941832"/>
            <a:ext cx="10634472" cy="630936"/>
          </a:xfrm>
          <a:prstGeom prst="rect">
            <a:avLst/>
          </a:prstGeom>
          <a:noFill/>
          <a:ln/>
        </p:spPr>
        <p:txBody>
          <a:bodyPr wrap="square" rtlCol="0" anchor="ctr"/>
          <a:lstStyle/>
          <a:p>
            <a:pPr marL="0" indent="0">
              <a:buNone/>
            </a:pPr>
            <a:r>
              <a:rPr lang="en-US" sz="1500" dirty="0">
                <a:solidFill>
                  <a:srgbClr val="212121"/>
                </a:solidFill>
                <a:latin typeface="Arial" pitchFamily="34" charset="0"/>
                <a:ea typeface="Arial" pitchFamily="34" charset="-122"/>
                <a:cs typeface="Arial" pitchFamily="34" charset="-120"/>
              </a:rPr>
              <a:t>Al expandir el step "Ejecutar los tests" se ve la salida de Maven: Tests run: 5, Failures: 0. Los 5 tests de CalculadoraTest han pasado.</a:t>
            </a:r>
            <a:endParaRPr lang="en-US" sz="1500" dirty="0"/>
          </a:p>
        </p:txBody>
      </p:sp>
      <p:pic>
        <p:nvPicPr>
          <p:cNvPr id="7" name="Image 0" descr="C:/Users/Aitor/Documents/apuntes-profe/entornos-de-desarrollo/docs/tema4/capturas/actions/panel-actions-step-log.png"/>
          <p:cNvPicPr>
            <a:picLocks noChangeAspect="1"/>
          </p:cNvPicPr>
          <p:nvPr/>
        </p:nvPicPr>
        <p:blipFill>
          <a:blip r:embed="rId3"/>
          <a:srcRect/>
          <a:stretch/>
        </p:blipFill>
        <p:spPr>
          <a:xfrm>
            <a:off x="2108719" y="1737360"/>
            <a:ext cx="7226932" cy="4572000"/>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Shape 0"/>
          <p:cNvSpPr/>
          <p:nvPr/>
        </p:nvSpPr>
        <p:spPr>
          <a:xfrm>
            <a:off x="0" y="0"/>
            <a:ext cx="12188952" cy="777240"/>
          </a:xfrm>
          <a:prstGeom prst="rect">
            <a:avLst/>
          </a:prstGeom>
          <a:solidFill>
            <a:srgbClr val="303F9F"/>
          </a:solidFill>
          <a:ln w="12700">
            <a:solidFill>
              <a:srgbClr val="303F9F"/>
            </a:solidFill>
            <a:prstDash val="solid"/>
          </a:ln>
        </p:spPr>
        <p:txBody>
          <a:bodyPr/>
          <a:lstStyle/>
          <a:p>
            <a:endParaRPr lang="es-ES"/>
          </a:p>
        </p:txBody>
      </p:sp>
      <p:sp>
        <p:nvSpPr>
          <p:cNvPr id="3" name="Text 1"/>
          <p:cNvSpPr/>
          <p:nvPr/>
        </p:nvSpPr>
        <p:spPr>
          <a:xfrm>
            <a:off x="365760" y="0"/>
            <a:ext cx="11457432" cy="777240"/>
          </a:xfrm>
          <a:prstGeom prst="rect">
            <a:avLst/>
          </a:prstGeom>
          <a:noFill/>
          <a:ln/>
        </p:spPr>
        <p:txBody>
          <a:bodyPr wrap="square" rtlCol="0" anchor="ctr"/>
          <a:lstStyle/>
          <a:p>
            <a:pPr marL="0" indent="0">
              <a:buNone/>
            </a:pPr>
            <a:r>
              <a:rPr lang="en-US" sz="2200" b="1" dirty="0">
                <a:solidFill>
                  <a:srgbClr val="FFFFFF"/>
                </a:solidFill>
                <a:latin typeface="Arial" pitchFamily="34" charset="0"/>
                <a:ea typeface="Arial" pitchFamily="34" charset="-122"/>
                <a:cs typeface="Arial" pitchFamily="34" charset="-120"/>
              </a:rPr>
              <a:t>9.6 — Cuando el workflow falla: error en el código</a:t>
            </a:r>
            <a:endParaRPr lang="en-US" sz="2200" dirty="0"/>
          </a:p>
        </p:txBody>
      </p:sp>
      <p:sp>
        <p:nvSpPr>
          <p:cNvPr id="4" name="Text 2"/>
          <p:cNvSpPr/>
          <p:nvPr/>
        </p:nvSpPr>
        <p:spPr>
          <a:xfrm>
            <a:off x="548640" y="6473952"/>
            <a:ext cx="11091672" cy="292608"/>
          </a:xfrm>
          <a:prstGeom prst="rect">
            <a:avLst/>
          </a:prstGeom>
          <a:noFill/>
          <a:ln/>
        </p:spPr>
        <p:txBody>
          <a:bodyPr wrap="square" rtlCol="0" anchor="ctr"/>
          <a:lstStyle/>
          <a:p>
            <a:pPr marL="0" indent="0" algn="r">
              <a:buNone/>
            </a:pPr>
            <a:r>
              <a:rPr lang="en-US" sz="1100" dirty="0">
                <a:solidFill>
                  <a:srgbClr val="757575"/>
                </a:solidFill>
                <a:latin typeface="Arial" pitchFamily="34" charset="0"/>
                <a:ea typeface="Arial" pitchFamily="34" charset="-122"/>
                <a:cs typeface="Arial" pitchFamily="34" charset="-120"/>
              </a:rPr>
              <a:t>Entornos de Desarrollo — Tema 4 — Integración Continua con GitHub Actions</a:t>
            </a:r>
            <a:endParaRPr lang="en-US" sz="1100" dirty="0"/>
          </a:p>
        </p:txBody>
      </p:sp>
      <p:sp>
        <p:nvSpPr>
          <p:cNvPr id="5" name="Shape 3"/>
          <p:cNvSpPr/>
          <p:nvPr/>
        </p:nvSpPr>
        <p:spPr>
          <a:xfrm>
            <a:off x="548640" y="868680"/>
            <a:ext cx="11091672" cy="777240"/>
          </a:xfrm>
          <a:prstGeom prst="roundRect">
            <a:avLst/>
          </a:prstGeom>
          <a:solidFill>
            <a:srgbClr val="E0F2F1"/>
          </a:solidFill>
          <a:ln w="19050">
            <a:solidFill>
              <a:srgbClr val="009688"/>
            </a:solidFill>
            <a:prstDash val="solid"/>
          </a:ln>
        </p:spPr>
        <p:txBody>
          <a:bodyPr/>
          <a:lstStyle/>
          <a:p>
            <a:endParaRPr lang="es-ES"/>
          </a:p>
        </p:txBody>
      </p:sp>
      <p:sp>
        <p:nvSpPr>
          <p:cNvPr id="6" name="Text 4"/>
          <p:cNvSpPr/>
          <p:nvPr/>
        </p:nvSpPr>
        <p:spPr>
          <a:xfrm>
            <a:off x="777240" y="941832"/>
            <a:ext cx="10634472" cy="630936"/>
          </a:xfrm>
          <a:prstGeom prst="rect">
            <a:avLst/>
          </a:prstGeom>
          <a:noFill/>
          <a:ln/>
        </p:spPr>
        <p:txBody>
          <a:bodyPr wrap="square" rtlCol="0" anchor="ctr"/>
          <a:lstStyle/>
          <a:p>
            <a:pPr marL="0" indent="0">
              <a:buNone/>
            </a:pPr>
            <a:r>
              <a:rPr lang="en-US" sz="1500" dirty="0">
                <a:solidFill>
                  <a:srgbClr val="212121"/>
                </a:solidFill>
                <a:latin typeface="Arial" pitchFamily="34" charset="0"/>
                <a:ea typeface="Arial" pitchFamily="34" charset="-122"/>
                <a:cs typeface="Arial" pitchFamily="34" charset="-120"/>
              </a:rPr>
              <a:t>Bug deliberado: cambiamos return a + b por return a - b en sumar(). El test sumarDosPositivos espera 5 pero obtiene -1. GitHub bloquea el merge.</a:t>
            </a:r>
            <a:endParaRPr lang="en-US" sz="1500" dirty="0"/>
          </a:p>
        </p:txBody>
      </p:sp>
      <p:pic>
        <p:nvPicPr>
          <p:cNvPr id="7" name="Image 0" descr="C:/Users/Aitor/Documents/apuntes-profe/entornos-de-desarrollo/docs/tema4/capturas/actions/panel-actions-step-error.png"/>
          <p:cNvPicPr>
            <a:picLocks noChangeAspect="1"/>
          </p:cNvPicPr>
          <p:nvPr/>
        </p:nvPicPr>
        <p:blipFill>
          <a:blip r:embed="rId3"/>
          <a:srcRect/>
          <a:stretch/>
        </p:blipFill>
        <p:spPr>
          <a:xfrm>
            <a:off x="2659224" y="1773936"/>
            <a:ext cx="6359185" cy="4572000"/>
          </a:xfrm>
          <a:prstGeom prst="rect">
            <a:avLst/>
          </a:prstGeom>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Shape 0"/>
          <p:cNvSpPr/>
          <p:nvPr/>
        </p:nvSpPr>
        <p:spPr>
          <a:xfrm>
            <a:off x="0" y="0"/>
            <a:ext cx="12188952" cy="777240"/>
          </a:xfrm>
          <a:prstGeom prst="rect">
            <a:avLst/>
          </a:prstGeom>
          <a:solidFill>
            <a:srgbClr val="303F9F"/>
          </a:solidFill>
          <a:ln w="12700">
            <a:solidFill>
              <a:srgbClr val="303F9F"/>
            </a:solidFill>
            <a:prstDash val="solid"/>
          </a:ln>
        </p:spPr>
        <p:txBody>
          <a:bodyPr/>
          <a:lstStyle/>
          <a:p>
            <a:endParaRPr lang="es-ES"/>
          </a:p>
        </p:txBody>
      </p:sp>
      <p:sp>
        <p:nvSpPr>
          <p:cNvPr id="3" name="Text 1"/>
          <p:cNvSpPr/>
          <p:nvPr/>
        </p:nvSpPr>
        <p:spPr>
          <a:xfrm>
            <a:off x="365760" y="0"/>
            <a:ext cx="11457432" cy="777240"/>
          </a:xfrm>
          <a:prstGeom prst="rect">
            <a:avLst/>
          </a:prstGeom>
          <a:noFill/>
          <a:ln/>
        </p:spPr>
        <p:txBody>
          <a:bodyPr wrap="square" rtlCol="0" anchor="ctr"/>
          <a:lstStyle/>
          <a:p>
            <a:pPr marL="0" indent="0">
              <a:buNone/>
            </a:pPr>
            <a:r>
              <a:rPr lang="en-US" sz="2200" b="1" dirty="0">
                <a:solidFill>
                  <a:srgbClr val="FFFFFF"/>
                </a:solidFill>
                <a:latin typeface="Arial" pitchFamily="34" charset="0"/>
                <a:ea typeface="Arial" pitchFamily="34" charset="-122"/>
                <a:cs typeface="Arial" pitchFamily="34" charset="-120"/>
              </a:rPr>
              <a:t>9.6 — Tres tipos de fallo en un workflow</a:t>
            </a:r>
            <a:endParaRPr lang="en-US" sz="2200" dirty="0"/>
          </a:p>
        </p:txBody>
      </p:sp>
      <p:sp>
        <p:nvSpPr>
          <p:cNvPr id="4" name="Text 2"/>
          <p:cNvSpPr/>
          <p:nvPr/>
        </p:nvSpPr>
        <p:spPr>
          <a:xfrm>
            <a:off x="548640" y="6473952"/>
            <a:ext cx="11091672" cy="292608"/>
          </a:xfrm>
          <a:prstGeom prst="rect">
            <a:avLst/>
          </a:prstGeom>
          <a:noFill/>
          <a:ln/>
        </p:spPr>
        <p:txBody>
          <a:bodyPr wrap="square" rtlCol="0" anchor="ctr"/>
          <a:lstStyle/>
          <a:p>
            <a:pPr marL="0" indent="0" algn="r">
              <a:buNone/>
            </a:pPr>
            <a:r>
              <a:rPr lang="en-US" sz="1100" dirty="0">
                <a:solidFill>
                  <a:srgbClr val="757575"/>
                </a:solidFill>
                <a:latin typeface="Arial" pitchFamily="34" charset="0"/>
                <a:ea typeface="Arial" pitchFamily="34" charset="-122"/>
                <a:cs typeface="Arial" pitchFamily="34" charset="-120"/>
              </a:rPr>
              <a:t>Entornos de Desarrollo — Tema 4 — Integración Continua con GitHub Actions</a:t>
            </a:r>
            <a:endParaRPr lang="en-US" sz="1100" dirty="0"/>
          </a:p>
        </p:txBody>
      </p:sp>
      <p:graphicFrame>
        <p:nvGraphicFramePr>
          <p:cNvPr id="19" name="Table 0"/>
          <p:cNvGraphicFramePr>
            <a:graphicFrameLocks noGrp="1"/>
          </p:cNvGraphicFramePr>
          <p:nvPr>
            <p:extLst>
              <p:ext uri="{D42A27DB-BD31-4B8C-83A1-F6EECF244321}">
                <p14:modId xmlns:p14="http://schemas.microsoft.com/office/powerpoint/2010/main" val="1579011935"/>
              </p:ext>
            </p:extLst>
          </p:nvPr>
        </p:nvGraphicFramePr>
        <p:xfrm>
          <a:off x="548640" y="868680"/>
          <a:ext cx="11091671" cy="3840480"/>
        </p:xfrm>
        <a:graphic>
          <a:graphicData uri="http://schemas.openxmlformats.org/drawingml/2006/table">
            <a:tbl>
              <a:tblPr/>
              <a:tblGrid>
                <a:gridCol w="3105668">
                  <a:extLst>
                    <a:ext uri="{9D8B030D-6E8A-4147-A177-3AD203B41FA5}">
                      <a16:colId xmlns:a16="http://schemas.microsoft.com/office/drawing/2014/main" val="20000"/>
                    </a:ext>
                  </a:extLst>
                </a:gridCol>
                <a:gridCol w="4214835">
                  <a:extLst>
                    <a:ext uri="{9D8B030D-6E8A-4147-A177-3AD203B41FA5}">
                      <a16:colId xmlns:a16="http://schemas.microsoft.com/office/drawing/2014/main" val="20001"/>
                    </a:ext>
                  </a:extLst>
                </a:gridCol>
                <a:gridCol w="3771168">
                  <a:extLst>
                    <a:ext uri="{9D8B030D-6E8A-4147-A177-3AD203B41FA5}">
                      <a16:colId xmlns:a16="http://schemas.microsoft.com/office/drawing/2014/main" val="20002"/>
                    </a:ext>
                  </a:extLst>
                </a:gridCol>
              </a:tblGrid>
              <a:tr h="960120">
                <a:tc>
                  <a:txBody>
                    <a:bodyPr/>
                    <a:lstStyle/>
                    <a:p>
                      <a:pPr marL="0" indent="0" algn="ctr">
                        <a:buNone/>
                      </a:pPr>
                      <a:r>
                        <a:rPr lang="en-US" sz="1500" b="1" dirty="0">
                          <a:solidFill>
                            <a:srgbClr val="FFFFFF"/>
                          </a:solidFill>
                          <a:latin typeface="Arial" pitchFamily="34" charset="0"/>
                          <a:ea typeface="Arial" pitchFamily="34" charset="-122"/>
                          <a:cs typeface="Arial" pitchFamily="34" charset="-120"/>
                        </a:rPr>
                        <a:t>Tipo de error</a:t>
                      </a:r>
                      <a:endParaRPr lang="en-US" sz="150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3F51B5"/>
                    </a:solidFill>
                  </a:tcPr>
                </a:tc>
                <a:tc>
                  <a:txBody>
                    <a:bodyPr/>
                    <a:lstStyle/>
                    <a:p>
                      <a:pPr marL="0" indent="0" algn="ctr">
                        <a:buNone/>
                      </a:pPr>
                      <a:r>
                        <a:rPr lang="en-US" sz="1500" b="1" dirty="0">
                          <a:solidFill>
                            <a:srgbClr val="FFFFFF"/>
                          </a:solidFill>
                          <a:latin typeface="Arial" pitchFamily="34" charset="0"/>
                          <a:ea typeface="Arial" pitchFamily="34" charset="-122"/>
                          <a:cs typeface="Arial" pitchFamily="34" charset="-120"/>
                        </a:rPr>
                        <a:t>Ejemplo real</a:t>
                      </a:r>
                      <a:endParaRPr lang="en-US" sz="150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3F51B5"/>
                    </a:solidFill>
                  </a:tcPr>
                </a:tc>
                <a:tc>
                  <a:txBody>
                    <a:bodyPr/>
                    <a:lstStyle/>
                    <a:p>
                      <a:pPr marL="0" indent="0" algn="ctr">
                        <a:buNone/>
                      </a:pPr>
                      <a:r>
                        <a:rPr lang="en-US" sz="1500" b="1" dirty="0">
                          <a:solidFill>
                            <a:srgbClr val="FFFFFF"/>
                          </a:solidFill>
                          <a:latin typeface="Arial" pitchFamily="34" charset="0"/>
                          <a:ea typeface="Arial" pitchFamily="34" charset="-122"/>
                          <a:cs typeface="Arial" pitchFamily="34" charset="-120"/>
                        </a:rPr>
                        <a:t>Solución</a:t>
                      </a:r>
                      <a:endParaRPr lang="en-US" sz="150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3F51B5"/>
                    </a:solidFill>
                  </a:tcPr>
                </a:tc>
                <a:extLst>
                  <a:ext uri="{0D108BD9-81ED-4DB2-BD59-A6C34878D82A}">
                    <a16:rowId xmlns:a16="http://schemas.microsoft.com/office/drawing/2014/main" val="10000"/>
                  </a:ext>
                </a:extLst>
              </a:tr>
              <a:tr h="960120">
                <a:tc>
                  <a:txBody>
                    <a:bodyPr/>
                    <a:lstStyle/>
                    <a:p>
                      <a:pPr marL="0" indent="0">
                        <a:buNone/>
                      </a:pPr>
                      <a:r>
                        <a:rPr lang="en-US" sz="1400" dirty="0">
                          <a:solidFill>
                            <a:srgbClr val="212121"/>
                          </a:solidFill>
                          <a:latin typeface="Arial" pitchFamily="34" charset="0"/>
                          <a:ea typeface="Arial" pitchFamily="34" charset="-122"/>
                          <a:cs typeface="Arial" pitchFamily="34" charset="-120"/>
                        </a:rPr>
                        <a:t>Error en el código</a:t>
                      </a:r>
                      <a:endParaRPr lang="en-US" sz="1400" dirty="0">
                        <a:latin typeface="Arial" charset="0"/>
                        <a:ea typeface="Arial" charset="0"/>
                        <a:cs typeface="Arial" charset="0"/>
                      </a:endParaRPr>
                    </a:p>
                    <a:p>
                      <a:pPr marL="0" indent="0">
                        <a:buNone/>
                      </a:pPr>
                      <a:r>
                        <a:rPr lang="en-US" sz="1400" dirty="0">
                          <a:solidFill>
                            <a:srgbClr val="212121"/>
                          </a:solidFill>
                          <a:latin typeface="Arial" pitchFamily="34" charset="0"/>
                          <a:ea typeface="Arial" pitchFamily="34" charset="-122"/>
                          <a:cs typeface="Arial" pitchFamily="34" charset="-120"/>
                        </a:rPr>
                        <a:t>(lo más frecuente)</a:t>
                      </a:r>
                      <a:endParaRPr lang="en-US" sz="140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FFFFF"/>
                    </a:solidFill>
                  </a:tcPr>
                </a:tc>
                <a:tc>
                  <a:txBody>
                    <a:bodyPr/>
                    <a:lstStyle/>
                    <a:p>
                      <a:pPr marL="0" indent="0">
                        <a:buNone/>
                      </a:pPr>
                      <a:r>
                        <a:rPr lang="en-US" sz="1400" dirty="0">
                          <a:solidFill>
                            <a:srgbClr val="212121"/>
                          </a:solidFill>
                          <a:latin typeface="Arial" pitchFamily="34" charset="0"/>
                          <a:ea typeface="Arial" pitchFamily="34" charset="-122"/>
                          <a:cs typeface="Arial" pitchFamily="34" charset="-120"/>
                        </a:rPr>
                        <a:t>expected: &lt;5&gt; but was: &lt;-1&gt;</a:t>
                      </a:r>
                      <a:endParaRPr lang="en-US" sz="1400" dirty="0">
                        <a:latin typeface="Arial" charset="0"/>
                        <a:ea typeface="Arial" charset="0"/>
                        <a:cs typeface="Arial" charset="0"/>
                      </a:endParaRPr>
                    </a:p>
                    <a:p>
                      <a:pPr marL="0" indent="0">
                        <a:buNone/>
                      </a:pPr>
                      <a:r>
                        <a:rPr lang="en-US" sz="1400" dirty="0">
                          <a:solidFill>
                            <a:srgbClr val="212121"/>
                          </a:solidFill>
                          <a:latin typeface="Arial" pitchFamily="34" charset="0"/>
                          <a:ea typeface="Arial" pitchFamily="34" charset="-122"/>
                          <a:cs typeface="Arial" pitchFamily="34" charset="-120"/>
                        </a:rPr>
                        <a:t>en sumarDosPositivos</a:t>
                      </a:r>
                      <a:endParaRPr lang="en-US" sz="140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FFFFF"/>
                    </a:solidFill>
                  </a:tcPr>
                </a:tc>
                <a:tc>
                  <a:txBody>
                    <a:bodyPr/>
                    <a:lstStyle/>
                    <a:p>
                      <a:pPr marL="0" indent="0">
                        <a:buNone/>
                      </a:pPr>
                      <a:r>
                        <a:rPr lang="en-US" sz="1400" dirty="0">
                          <a:solidFill>
                            <a:srgbClr val="212121"/>
                          </a:solidFill>
                          <a:latin typeface="Arial" pitchFamily="34" charset="0"/>
                          <a:ea typeface="Arial" pitchFamily="34" charset="-122"/>
                          <a:cs typeface="Arial" pitchFamily="34" charset="-120"/>
                        </a:rPr>
                        <a:t>Corrige el código, commit y push</a:t>
                      </a:r>
                      <a:endParaRPr lang="en-US" sz="140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960120">
                <a:tc>
                  <a:txBody>
                    <a:bodyPr/>
                    <a:lstStyle/>
                    <a:p>
                      <a:pPr marL="0" indent="0">
                        <a:buNone/>
                      </a:pPr>
                      <a:r>
                        <a:rPr lang="en-US" sz="1400" dirty="0">
                          <a:solidFill>
                            <a:srgbClr val="212121"/>
                          </a:solidFill>
                          <a:latin typeface="Arial" pitchFamily="34" charset="0"/>
                          <a:ea typeface="Arial" pitchFamily="34" charset="-122"/>
                          <a:cs typeface="Arial" pitchFamily="34" charset="-120"/>
                        </a:rPr>
                        <a:t>Error en el workflow</a:t>
                      </a:r>
                      <a:endParaRPr lang="en-US" sz="140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5F5F5"/>
                    </a:solidFill>
                  </a:tcPr>
                </a:tc>
                <a:tc>
                  <a:txBody>
                    <a:bodyPr/>
                    <a:lstStyle/>
                    <a:p>
                      <a:pPr marL="0" indent="0">
                        <a:buNone/>
                      </a:pPr>
                      <a:r>
                        <a:rPr lang="en-US" sz="1400" dirty="0">
                          <a:solidFill>
                            <a:srgbClr val="212121"/>
                          </a:solidFill>
                          <a:latin typeface="Arial" pitchFamily="34" charset="0"/>
                          <a:ea typeface="Arial" pitchFamily="34" charset="-122"/>
                          <a:cs typeface="Arial" pitchFamily="34" charset="-120"/>
                        </a:rPr>
                        <a:t>Unable to resolve action</a:t>
                      </a:r>
                      <a:endParaRPr lang="en-US" sz="1400" dirty="0">
                        <a:latin typeface="Arial" charset="0"/>
                        <a:ea typeface="Arial" charset="0"/>
                        <a:cs typeface="Arial" charset="0"/>
                      </a:endParaRPr>
                    </a:p>
                    <a:p>
                      <a:pPr marL="0" indent="0">
                        <a:buNone/>
                      </a:pPr>
                      <a:r>
                        <a:rPr lang="en-US" sz="1400" dirty="0">
                          <a:solidFill>
                            <a:srgbClr val="212121"/>
                          </a:solidFill>
                          <a:latin typeface="Arial" pitchFamily="34" charset="0"/>
                          <a:ea typeface="Arial" pitchFamily="34" charset="-122"/>
                          <a:cs typeface="Arial" pitchFamily="34" charset="-120"/>
                        </a:rPr>
                        <a:t>actions/setup-java@v99</a:t>
                      </a:r>
                      <a:endParaRPr lang="en-US" sz="140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5F5F5"/>
                    </a:solidFill>
                  </a:tcPr>
                </a:tc>
                <a:tc>
                  <a:txBody>
                    <a:bodyPr/>
                    <a:lstStyle/>
                    <a:p>
                      <a:pPr marL="0" indent="0">
                        <a:buNone/>
                      </a:pPr>
                      <a:r>
                        <a:rPr lang="en-US" sz="1400" dirty="0">
                          <a:solidFill>
                            <a:srgbClr val="212121"/>
                          </a:solidFill>
                          <a:latin typeface="Arial" pitchFamily="34" charset="0"/>
                          <a:ea typeface="Arial" pitchFamily="34" charset="-122"/>
                          <a:cs typeface="Arial" pitchFamily="34" charset="-120"/>
                        </a:rPr>
                        <a:t>Corrige el fichero .yml y vuelve a hacer push</a:t>
                      </a:r>
                      <a:endParaRPr lang="en-US" sz="140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5F5F5"/>
                    </a:solidFill>
                  </a:tcPr>
                </a:tc>
                <a:extLst>
                  <a:ext uri="{0D108BD9-81ED-4DB2-BD59-A6C34878D82A}">
                    <a16:rowId xmlns:a16="http://schemas.microsoft.com/office/drawing/2014/main" val="10002"/>
                  </a:ext>
                </a:extLst>
              </a:tr>
              <a:tr h="960120">
                <a:tc>
                  <a:txBody>
                    <a:bodyPr/>
                    <a:lstStyle/>
                    <a:p>
                      <a:pPr marL="0" indent="0">
                        <a:buNone/>
                      </a:pPr>
                      <a:r>
                        <a:rPr lang="en-US" sz="1400" dirty="0">
                          <a:solidFill>
                            <a:srgbClr val="212121"/>
                          </a:solidFill>
                          <a:latin typeface="Arial" pitchFamily="34" charset="0"/>
                          <a:ea typeface="Arial" pitchFamily="34" charset="-122"/>
                          <a:cs typeface="Arial" pitchFamily="34" charset="-120"/>
                        </a:rPr>
                        <a:t>Error de entorno</a:t>
                      </a:r>
                      <a:endParaRPr lang="en-US" sz="140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FFFFF"/>
                    </a:solidFill>
                  </a:tcPr>
                </a:tc>
                <a:tc>
                  <a:txBody>
                    <a:bodyPr/>
                    <a:lstStyle/>
                    <a:p>
                      <a:pPr marL="0" indent="0">
                        <a:buNone/>
                      </a:pPr>
                      <a:r>
                        <a:rPr lang="en-US" sz="1400" dirty="0">
                          <a:solidFill>
                            <a:srgbClr val="212121"/>
                          </a:solidFill>
                          <a:latin typeface="Arial" pitchFamily="34" charset="0"/>
                          <a:ea typeface="Arial" pitchFamily="34" charset="-122"/>
                          <a:cs typeface="Arial" pitchFamily="34" charset="-120"/>
                        </a:rPr>
                        <a:t>JAVA_HOME is not set</a:t>
                      </a:r>
                      <a:endParaRPr lang="en-US" sz="1400" dirty="0">
                        <a:latin typeface="Arial" charset="0"/>
                        <a:ea typeface="Arial" charset="0"/>
                        <a:cs typeface="Arial" charset="0"/>
                      </a:endParaRPr>
                    </a:p>
                    <a:p>
                      <a:pPr marL="0" indent="0">
                        <a:buNone/>
                      </a:pPr>
                      <a:r>
                        <a:rPr lang="en-US" sz="1400" dirty="0">
                          <a:solidFill>
                            <a:srgbClr val="212121"/>
                          </a:solidFill>
                          <a:latin typeface="Arial" pitchFamily="34" charset="0"/>
                          <a:ea typeface="Arial" pitchFamily="34" charset="-122"/>
                          <a:cs typeface="Arial" pitchFamily="34" charset="-120"/>
                        </a:rPr>
                        <a:t>java not in PATH</a:t>
                      </a:r>
                      <a:endParaRPr lang="en-US" sz="140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FFFFF"/>
                    </a:solidFill>
                  </a:tcPr>
                </a:tc>
                <a:tc>
                  <a:txBody>
                    <a:bodyPr/>
                    <a:lstStyle/>
                    <a:p>
                      <a:pPr marL="0" indent="0">
                        <a:buNone/>
                      </a:pPr>
                      <a:r>
                        <a:rPr lang="en-US" sz="1400" dirty="0">
                          <a:solidFill>
                            <a:srgbClr val="212121"/>
                          </a:solidFill>
                          <a:latin typeface="Arial" pitchFamily="34" charset="0"/>
                          <a:ea typeface="Arial" pitchFamily="34" charset="-122"/>
                          <a:cs typeface="Arial" pitchFamily="34" charset="-120"/>
                        </a:rPr>
                        <a:t>Añade el step setup-java@v4 antes del que falla</a:t>
                      </a:r>
                      <a:endParaRPr lang="en-US" sz="140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bl>
          </a:graphicData>
        </a:graphic>
      </p:graphicFrame>
      <p:sp>
        <p:nvSpPr>
          <p:cNvPr id="6" name="Shape 3"/>
          <p:cNvSpPr/>
          <p:nvPr/>
        </p:nvSpPr>
        <p:spPr>
          <a:xfrm>
            <a:off x="548640" y="4937760"/>
            <a:ext cx="11091672" cy="914400"/>
          </a:xfrm>
          <a:prstGeom prst="roundRect">
            <a:avLst/>
          </a:prstGeom>
          <a:solidFill>
            <a:srgbClr val="FFF8E1"/>
          </a:solidFill>
          <a:ln w="19050">
            <a:solidFill>
              <a:srgbClr val="F57F17"/>
            </a:solidFill>
            <a:prstDash val="solid"/>
          </a:ln>
        </p:spPr>
        <p:txBody>
          <a:bodyPr/>
          <a:lstStyle/>
          <a:p>
            <a:endParaRPr lang="es-ES"/>
          </a:p>
        </p:txBody>
      </p:sp>
      <p:sp>
        <p:nvSpPr>
          <p:cNvPr id="7" name="Text 4"/>
          <p:cNvSpPr/>
          <p:nvPr/>
        </p:nvSpPr>
        <p:spPr>
          <a:xfrm>
            <a:off x="777240" y="5010912"/>
            <a:ext cx="10634472" cy="768096"/>
          </a:xfrm>
          <a:prstGeom prst="rect">
            <a:avLst/>
          </a:prstGeom>
          <a:noFill/>
          <a:ln/>
        </p:spPr>
        <p:txBody>
          <a:bodyPr wrap="square" rtlCol="0" anchor="ctr"/>
          <a:lstStyle/>
          <a:p>
            <a:pPr marL="0" indent="0">
              <a:buNone/>
            </a:pPr>
            <a:r>
              <a:rPr lang="en-US" sz="1500" dirty="0">
                <a:solidFill>
                  <a:srgbClr val="212121"/>
                </a:solidFill>
                <a:latin typeface="Arial" pitchFamily="34" charset="0"/>
                <a:ea typeface="Arial" pitchFamily="34" charset="-122"/>
                <a:cs typeface="Arial" pitchFamily="34" charset="-120"/>
              </a:rPr>
              <a:t>Si los tests pasan en tu máquina pero fallan en el runner: versión de Java distinta, dependencia que no se instala, o un fichero local que no está en el repositorio. El runner parte de cero cada vez.</a:t>
            </a:r>
            <a:endParaRPr lang="en-US" sz="15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Shape 0"/>
          <p:cNvSpPr/>
          <p:nvPr/>
        </p:nvSpPr>
        <p:spPr>
          <a:xfrm>
            <a:off x="0" y="0"/>
            <a:ext cx="12188952" cy="777240"/>
          </a:xfrm>
          <a:prstGeom prst="rect">
            <a:avLst/>
          </a:prstGeom>
          <a:solidFill>
            <a:srgbClr val="303F9F"/>
          </a:solidFill>
          <a:ln w="12700">
            <a:solidFill>
              <a:srgbClr val="303F9F"/>
            </a:solidFill>
            <a:prstDash val="solid"/>
          </a:ln>
        </p:spPr>
        <p:txBody>
          <a:bodyPr/>
          <a:lstStyle/>
          <a:p>
            <a:endParaRPr lang="es-ES"/>
          </a:p>
        </p:txBody>
      </p:sp>
      <p:sp>
        <p:nvSpPr>
          <p:cNvPr id="3" name="Text 1"/>
          <p:cNvSpPr/>
          <p:nvPr/>
        </p:nvSpPr>
        <p:spPr>
          <a:xfrm>
            <a:off x="365760" y="0"/>
            <a:ext cx="11457432" cy="777240"/>
          </a:xfrm>
          <a:prstGeom prst="rect">
            <a:avLst/>
          </a:prstGeom>
          <a:noFill/>
          <a:ln/>
        </p:spPr>
        <p:txBody>
          <a:bodyPr wrap="square" rtlCol="0" anchor="ctr"/>
          <a:lstStyle/>
          <a:p>
            <a:pPr marL="0" indent="0">
              <a:buNone/>
            </a:pPr>
            <a:r>
              <a:rPr lang="en-US" sz="2200" b="1" dirty="0">
                <a:solidFill>
                  <a:srgbClr val="FFFFFF"/>
                </a:solidFill>
                <a:latin typeface="Arial" pitchFamily="34" charset="0"/>
                <a:ea typeface="Arial" pitchFamily="34" charset="-122"/>
                <a:cs typeface="Arial" pitchFamily="34" charset="-120"/>
              </a:rPr>
              <a:t>9.7 — El Marketplace de Actions</a:t>
            </a:r>
            <a:endParaRPr lang="en-US" sz="2200" dirty="0"/>
          </a:p>
        </p:txBody>
      </p:sp>
      <p:sp>
        <p:nvSpPr>
          <p:cNvPr id="4" name="Text 2"/>
          <p:cNvSpPr/>
          <p:nvPr/>
        </p:nvSpPr>
        <p:spPr>
          <a:xfrm>
            <a:off x="548640" y="6473952"/>
            <a:ext cx="11091672" cy="292608"/>
          </a:xfrm>
          <a:prstGeom prst="rect">
            <a:avLst/>
          </a:prstGeom>
          <a:noFill/>
          <a:ln/>
        </p:spPr>
        <p:txBody>
          <a:bodyPr wrap="square" rtlCol="0" anchor="ctr"/>
          <a:lstStyle/>
          <a:p>
            <a:pPr marL="0" indent="0" algn="r">
              <a:buNone/>
            </a:pPr>
            <a:r>
              <a:rPr lang="en-US" sz="1100" dirty="0">
                <a:solidFill>
                  <a:srgbClr val="757575"/>
                </a:solidFill>
                <a:latin typeface="Arial" pitchFamily="34" charset="0"/>
                <a:ea typeface="Arial" pitchFamily="34" charset="-122"/>
                <a:cs typeface="Arial" pitchFamily="34" charset="-120"/>
              </a:rPr>
              <a:t>Entornos de Desarrollo — Tema 4 — Integración Continua con GitHub Actions</a:t>
            </a:r>
            <a:endParaRPr lang="en-US" sz="1100" dirty="0"/>
          </a:p>
        </p:txBody>
      </p:sp>
      <p:sp>
        <p:nvSpPr>
          <p:cNvPr id="5" name="Shape 3"/>
          <p:cNvSpPr/>
          <p:nvPr/>
        </p:nvSpPr>
        <p:spPr>
          <a:xfrm>
            <a:off x="548640" y="868680"/>
            <a:ext cx="11091672" cy="713232"/>
          </a:xfrm>
          <a:prstGeom prst="roundRect">
            <a:avLst/>
          </a:prstGeom>
          <a:solidFill>
            <a:srgbClr val="E0F2F1"/>
          </a:solidFill>
          <a:ln w="19050">
            <a:solidFill>
              <a:srgbClr val="009688"/>
            </a:solidFill>
            <a:prstDash val="solid"/>
          </a:ln>
        </p:spPr>
        <p:txBody>
          <a:bodyPr/>
          <a:lstStyle/>
          <a:p>
            <a:endParaRPr lang="es-ES"/>
          </a:p>
        </p:txBody>
      </p:sp>
      <p:sp>
        <p:nvSpPr>
          <p:cNvPr id="6" name="Text 4"/>
          <p:cNvSpPr/>
          <p:nvPr/>
        </p:nvSpPr>
        <p:spPr>
          <a:xfrm>
            <a:off x="777240" y="941832"/>
            <a:ext cx="10634472" cy="566928"/>
          </a:xfrm>
          <a:prstGeom prst="rect">
            <a:avLst/>
          </a:prstGeom>
          <a:noFill/>
          <a:ln/>
        </p:spPr>
        <p:txBody>
          <a:bodyPr wrap="square" rtlCol="0" anchor="ctr"/>
          <a:lstStyle/>
          <a:p>
            <a:pPr marL="0" indent="0">
              <a:buNone/>
            </a:pPr>
            <a:r>
              <a:rPr lang="en-US" sz="1600" dirty="0">
                <a:solidFill>
                  <a:srgbClr val="212121"/>
                </a:solidFill>
                <a:latin typeface="Arial" pitchFamily="34" charset="0"/>
                <a:ea typeface="Arial" pitchFamily="34" charset="-122"/>
                <a:cs typeface="Arial" pitchFamily="34" charset="-120"/>
              </a:rPr>
              <a:t>Miles de Actions reutilizables publicadas por GitHub y la comunidad. En el proyecto Calculadora ya usamos tres de las más habituales.</a:t>
            </a:r>
            <a:endParaRPr lang="en-US" sz="1600" dirty="0"/>
          </a:p>
        </p:txBody>
      </p:sp>
      <p:graphicFrame>
        <p:nvGraphicFramePr>
          <p:cNvPr id="20" name="Table 0"/>
          <p:cNvGraphicFramePr>
            <a:graphicFrameLocks noGrp="1"/>
          </p:cNvGraphicFramePr>
          <p:nvPr>
            <p:extLst>
              <p:ext uri="{D42A27DB-BD31-4B8C-83A1-F6EECF244321}">
                <p14:modId xmlns:p14="http://schemas.microsoft.com/office/powerpoint/2010/main" val="1579011935"/>
              </p:ext>
            </p:extLst>
          </p:nvPr>
        </p:nvGraphicFramePr>
        <p:xfrm>
          <a:off x="548640" y="1810512"/>
          <a:ext cx="11091672" cy="3456432"/>
        </p:xfrm>
        <a:graphic>
          <a:graphicData uri="http://schemas.openxmlformats.org/drawingml/2006/table">
            <a:tbl>
              <a:tblPr/>
              <a:tblGrid>
                <a:gridCol w="3327502">
                  <a:extLst>
                    <a:ext uri="{9D8B030D-6E8A-4147-A177-3AD203B41FA5}">
                      <a16:colId xmlns:a16="http://schemas.microsoft.com/office/drawing/2014/main" val="20000"/>
                    </a:ext>
                  </a:extLst>
                </a:gridCol>
                <a:gridCol w="7764170">
                  <a:extLst>
                    <a:ext uri="{9D8B030D-6E8A-4147-A177-3AD203B41FA5}">
                      <a16:colId xmlns:a16="http://schemas.microsoft.com/office/drawing/2014/main" val="20001"/>
                    </a:ext>
                  </a:extLst>
                </a:gridCol>
              </a:tblGrid>
              <a:tr h="576072">
                <a:tc>
                  <a:txBody>
                    <a:bodyPr/>
                    <a:lstStyle/>
                    <a:p>
                      <a:pPr marL="0" indent="0" algn="ctr">
                        <a:buNone/>
                      </a:pPr>
                      <a:r>
                        <a:rPr lang="en-US" sz="1500" b="1" dirty="0">
                          <a:solidFill>
                            <a:srgbClr val="FFFFFF"/>
                          </a:solidFill>
                          <a:latin typeface="Arial" pitchFamily="34" charset="0"/>
                          <a:ea typeface="Arial" pitchFamily="34" charset="-122"/>
                          <a:cs typeface="Arial" pitchFamily="34" charset="-120"/>
                        </a:rPr>
                        <a:t>Action</a:t>
                      </a:r>
                      <a:endParaRPr lang="en-US" sz="150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3F51B5"/>
                    </a:solidFill>
                  </a:tcPr>
                </a:tc>
                <a:tc>
                  <a:txBody>
                    <a:bodyPr/>
                    <a:lstStyle/>
                    <a:p>
                      <a:pPr marL="0" indent="0" algn="ctr">
                        <a:buNone/>
                      </a:pPr>
                      <a:r>
                        <a:rPr lang="en-US" sz="1500" b="1" dirty="0">
                          <a:solidFill>
                            <a:srgbClr val="FFFFFF"/>
                          </a:solidFill>
                          <a:latin typeface="Arial" pitchFamily="34" charset="0"/>
                          <a:ea typeface="Arial" pitchFamily="34" charset="-122"/>
                          <a:cs typeface="Arial" pitchFamily="34" charset="-120"/>
                        </a:rPr>
                        <a:t>Para qué sirve</a:t>
                      </a:r>
                      <a:endParaRPr lang="en-US" sz="150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3F51B5"/>
                    </a:solidFill>
                  </a:tcPr>
                </a:tc>
                <a:extLst>
                  <a:ext uri="{0D108BD9-81ED-4DB2-BD59-A6C34878D82A}">
                    <a16:rowId xmlns:a16="http://schemas.microsoft.com/office/drawing/2014/main" val="10000"/>
                  </a:ext>
                </a:extLst>
              </a:tr>
              <a:tr h="576072">
                <a:tc>
                  <a:txBody>
                    <a:bodyPr/>
                    <a:lstStyle/>
                    <a:p>
                      <a:pPr marL="0" indent="0">
                        <a:buNone/>
                      </a:pPr>
                      <a:r>
                        <a:rPr lang="en-US" sz="1400" b="1" dirty="0">
                          <a:solidFill>
                            <a:srgbClr val="212121"/>
                          </a:solidFill>
                          <a:latin typeface="Arial" pitchFamily="34" charset="0"/>
                          <a:ea typeface="Arial" pitchFamily="34" charset="-122"/>
                          <a:cs typeface="Arial" pitchFamily="34" charset="-120"/>
                        </a:rPr>
                        <a:t>actions/checkout@v4</a:t>
                      </a:r>
                      <a:endParaRPr lang="en-US" sz="140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FFFFF"/>
                    </a:solidFill>
                  </a:tcPr>
                </a:tc>
                <a:tc>
                  <a:txBody>
                    <a:bodyPr/>
                    <a:lstStyle/>
                    <a:p>
                      <a:pPr marL="0" indent="0">
                        <a:buNone/>
                      </a:pPr>
                      <a:r>
                        <a:rPr lang="en-US" sz="1400" dirty="0">
                          <a:solidFill>
                            <a:srgbClr val="212121"/>
                          </a:solidFill>
                          <a:latin typeface="Arial" pitchFamily="34" charset="0"/>
                          <a:ea typeface="Arial" pitchFamily="34" charset="-122"/>
                          <a:cs typeface="Arial" pitchFamily="34" charset="-120"/>
                        </a:rPr>
                        <a:t>Clona el repositorio en el runner. Siempre el primer step.</a:t>
                      </a:r>
                      <a:endParaRPr lang="en-US" sz="140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576072">
                <a:tc>
                  <a:txBody>
                    <a:bodyPr/>
                    <a:lstStyle/>
                    <a:p>
                      <a:pPr marL="0" indent="0">
                        <a:buNone/>
                      </a:pPr>
                      <a:r>
                        <a:rPr lang="en-US" sz="1400" b="1" dirty="0">
                          <a:solidFill>
                            <a:srgbClr val="212121"/>
                          </a:solidFill>
                          <a:latin typeface="Arial" pitchFamily="34" charset="0"/>
                          <a:ea typeface="Arial" pitchFamily="34" charset="-122"/>
                          <a:cs typeface="Arial" pitchFamily="34" charset="-120"/>
                        </a:rPr>
                        <a:t>actions/setup-java@v4</a:t>
                      </a:r>
                      <a:endParaRPr lang="en-US" sz="140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5F5F5"/>
                    </a:solidFill>
                  </a:tcPr>
                </a:tc>
                <a:tc>
                  <a:txBody>
                    <a:bodyPr/>
                    <a:lstStyle/>
                    <a:p>
                      <a:pPr marL="0" indent="0">
                        <a:buNone/>
                      </a:pPr>
                      <a:r>
                        <a:rPr lang="en-US" sz="1400" dirty="0">
                          <a:solidFill>
                            <a:srgbClr val="212121"/>
                          </a:solidFill>
                          <a:latin typeface="Arial" pitchFamily="34" charset="0"/>
                          <a:ea typeface="Arial" pitchFamily="34" charset="-122"/>
                          <a:cs typeface="Arial" pitchFamily="34" charset="-120"/>
                        </a:rPr>
                        <a:t>Instala un JDK concreto (Temurin, Zulu, Corretto...).</a:t>
                      </a:r>
                      <a:endParaRPr lang="en-US" sz="140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5F5F5"/>
                    </a:solidFill>
                  </a:tcPr>
                </a:tc>
                <a:extLst>
                  <a:ext uri="{0D108BD9-81ED-4DB2-BD59-A6C34878D82A}">
                    <a16:rowId xmlns:a16="http://schemas.microsoft.com/office/drawing/2014/main" val="10002"/>
                  </a:ext>
                </a:extLst>
              </a:tr>
              <a:tr h="576072">
                <a:tc>
                  <a:txBody>
                    <a:bodyPr/>
                    <a:lstStyle/>
                    <a:p>
                      <a:pPr marL="0" indent="0">
                        <a:buNone/>
                      </a:pPr>
                      <a:r>
                        <a:rPr lang="en-US" sz="1400" b="1" dirty="0">
                          <a:solidFill>
                            <a:srgbClr val="212121"/>
                          </a:solidFill>
                          <a:latin typeface="Arial" pitchFamily="34" charset="0"/>
                          <a:ea typeface="Arial" pitchFamily="34" charset="-122"/>
                          <a:cs typeface="Arial" pitchFamily="34" charset="-120"/>
                        </a:rPr>
                        <a:t>actions/setup-node@v4</a:t>
                      </a:r>
                      <a:endParaRPr lang="en-US" sz="140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FFFFF"/>
                    </a:solidFill>
                  </a:tcPr>
                </a:tc>
                <a:tc>
                  <a:txBody>
                    <a:bodyPr/>
                    <a:lstStyle/>
                    <a:p>
                      <a:pPr marL="0" indent="0">
                        <a:buNone/>
                      </a:pPr>
                      <a:r>
                        <a:rPr lang="en-US" sz="1400" dirty="0">
                          <a:solidFill>
                            <a:srgbClr val="212121"/>
                          </a:solidFill>
                          <a:latin typeface="Arial" pitchFamily="34" charset="0"/>
                          <a:ea typeface="Arial" pitchFamily="34" charset="-122"/>
                          <a:cs typeface="Arial" pitchFamily="34" charset="-120"/>
                        </a:rPr>
                        <a:t>Instala Node.js y npm.</a:t>
                      </a:r>
                      <a:endParaRPr lang="en-US" sz="140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576072">
                <a:tc>
                  <a:txBody>
                    <a:bodyPr/>
                    <a:lstStyle/>
                    <a:p>
                      <a:pPr marL="0" indent="0">
                        <a:buNone/>
                      </a:pPr>
                      <a:r>
                        <a:rPr lang="en-US" sz="1400" b="1" dirty="0">
                          <a:solidFill>
                            <a:srgbClr val="212121"/>
                          </a:solidFill>
                          <a:latin typeface="Arial" pitchFamily="34" charset="0"/>
                          <a:ea typeface="Arial" pitchFamily="34" charset="-122"/>
                          <a:cs typeface="Arial" pitchFamily="34" charset="-120"/>
                        </a:rPr>
                        <a:t>actions/cache@v4</a:t>
                      </a:r>
                      <a:endParaRPr lang="en-US" sz="140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5F5F5"/>
                    </a:solidFill>
                  </a:tcPr>
                </a:tc>
                <a:tc>
                  <a:txBody>
                    <a:bodyPr/>
                    <a:lstStyle/>
                    <a:p>
                      <a:pPr marL="0" indent="0">
                        <a:buNone/>
                      </a:pPr>
                      <a:r>
                        <a:rPr lang="en-US" sz="1400" dirty="0">
                          <a:solidFill>
                            <a:srgbClr val="212121"/>
                          </a:solidFill>
                          <a:latin typeface="Arial" pitchFamily="34" charset="0"/>
                          <a:ea typeface="Arial" pitchFamily="34" charset="-122"/>
                          <a:cs typeface="Arial" pitchFamily="34" charset="-120"/>
                        </a:rPr>
                        <a:t>Guarda en caché dependencias (Maven, npm...) para acelerar los builds.</a:t>
                      </a:r>
                      <a:endParaRPr lang="en-US" sz="140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5F5F5"/>
                    </a:solidFill>
                  </a:tcPr>
                </a:tc>
                <a:extLst>
                  <a:ext uri="{0D108BD9-81ED-4DB2-BD59-A6C34878D82A}">
                    <a16:rowId xmlns:a16="http://schemas.microsoft.com/office/drawing/2014/main" val="10004"/>
                  </a:ext>
                </a:extLst>
              </a:tr>
              <a:tr h="576072">
                <a:tc>
                  <a:txBody>
                    <a:bodyPr/>
                    <a:lstStyle/>
                    <a:p>
                      <a:pPr marL="0" indent="0">
                        <a:buNone/>
                      </a:pPr>
                      <a:r>
                        <a:rPr lang="en-US" sz="1400" b="1" dirty="0">
                          <a:solidFill>
                            <a:srgbClr val="212121"/>
                          </a:solidFill>
                          <a:latin typeface="Arial" pitchFamily="34" charset="0"/>
                          <a:ea typeface="Arial" pitchFamily="34" charset="-122"/>
                          <a:cs typeface="Arial" pitchFamily="34" charset="-120"/>
                        </a:rPr>
                        <a:t>actions/upload-artifact@v4</a:t>
                      </a:r>
                      <a:endParaRPr lang="en-US" sz="140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FFFFF"/>
                    </a:solidFill>
                  </a:tcPr>
                </a:tc>
                <a:tc>
                  <a:txBody>
                    <a:bodyPr/>
                    <a:lstStyle/>
                    <a:p>
                      <a:pPr marL="0" indent="0">
                        <a:buNone/>
                      </a:pPr>
                      <a:r>
                        <a:rPr lang="en-US" sz="1400" dirty="0">
                          <a:solidFill>
                            <a:srgbClr val="212121"/>
                          </a:solidFill>
                          <a:latin typeface="Arial" pitchFamily="34" charset="0"/>
                          <a:ea typeface="Arial" pitchFamily="34" charset="-122"/>
                          <a:cs typeface="Arial" pitchFamily="34" charset="-120"/>
                        </a:rPr>
                        <a:t>Guarda ficheros del runner (JARs, informes de tests) para descargar después.</a:t>
                      </a:r>
                      <a:endParaRPr lang="en-US" sz="1400" dirty="0">
                        <a:latin typeface="Arial" charset="0"/>
                        <a:ea typeface="Arial" charset="0"/>
                        <a:cs typeface="Arial" charset="0"/>
                      </a:endParaRPr>
                    </a:p>
                  </a:txBody>
                  <a:tcPr anchor="ctr">
                    <a:lnL w="12700" cap="flat" cmpd="sng" algn="ctr">
                      <a:solidFill>
                        <a:srgbClr val="EEEEEE"/>
                      </a:solidFill>
                      <a:prstDash val="solid"/>
                      <a:round/>
                      <a:headEnd type="none" w="med" len="med"/>
                      <a:tailEnd type="none" w="med" len="med"/>
                    </a:lnL>
                    <a:lnR w="12700" cap="flat" cmpd="sng" algn="ctr">
                      <a:solidFill>
                        <a:srgbClr val="EEEEEE"/>
                      </a:solidFill>
                      <a:prstDash val="solid"/>
                      <a:round/>
                      <a:headEnd type="none" w="med" len="med"/>
                      <a:tailEnd type="none" w="med" len="med"/>
                    </a:lnR>
                    <a:lnT w="12700" cap="flat" cmpd="sng" algn="ctr">
                      <a:solidFill>
                        <a:srgbClr val="EEEEEE"/>
                      </a:solidFill>
                      <a:prstDash val="solid"/>
                      <a:round/>
                      <a:headEnd type="none" w="med" len="med"/>
                      <a:tailEnd type="none" w="med" len="med"/>
                    </a:lnT>
                    <a:lnB w="12700" cap="flat" cmpd="sng" algn="ctr">
                      <a:solidFill>
                        <a:srgbClr val="EEEEEE"/>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bl>
          </a:graphicData>
        </a:graphic>
      </p:graphicFrame>
      <p:sp>
        <p:nvSpPr>
          <p:cNvPr id="8" name="Shape 5"/>
          <p:cNvSpPr/>
          <p:nvPr/>
        </p:nvSpPr>
        <p:spPr>
          <a:xfrm>
            <a:off x="548640" y="5495544"/>
            <a:ext cx="11091672" cy="804672"/>
          </a:xfrm>
          <a:prstGeom prst="roundRect">
            <a:avLst/>
          </a:prstGeom>
          <a:solidFill>
            <a:srgbClr val="FFF8E1"/>
          </a:solidFill>
          <a:ln w="19050">
            <a:solidFill>
              <a:srgbClr val="F57F17"/>
            </a:solidFill>
            <a:prstDash val="solid"/>
          </a:ln>
        </p:spPr>
        <p:txBody>
          <a:bodyPr/>
          <a:lstStyle/>
          <a:p>
            <a:endParaRPr lang="es-ES"/>
          </a:p>
        </p:txBody>
      </p:sp>
      <p:sp>
        <p:nvSpPr>
          <p:cNvPr id="9" name="Text 6"/>
          <p:cNvSpPr/>
          <p:nvPr/>
        </p:nvSpPr>
        <p:spPr>
          <a:xfrm>
            <a:off x="777240" y="5568696"/>
            <a:ext cx="10634472" cy="658368"/>
          </a:xfrm>
          <a:prstGeom prst="rect">
            <a:avLst/>
          </a:prstGeom>
          <a:noFill/>
          <a:ln/>
        </p:spPr>
        <p:txBody>
          <a:bodyPr wrap="square" rtlCol="0" anchor="ctr"/>
          <a:lstStyle/>
          <a:p>
            <a:pPr marL="0" indent="0">
              <a:buNone/>
            </a:pPr>
            <a:r>
              <a:rPr lang="en-US" sz="1500" dirty="0">
                <a:solidFill>
                  <a:srgbClr val="212121"/>
                </a:solidFill>
                <a:latin typeface="Arial" pitchFamily="34" charset="0"/>
                <a:ea typeface="Arial" pitchFamily="34" charset="-122"/>
                <a:cs typeface="Arial" pitchFamily="34" charset="-120"/>
              </a:rPr>
              <a:t>Las Actions oficiales (actions/...) son de confianza. Las de terceros ejecutan código en tu runner con acceso a tus secrets — revísalas antes de usarlas.</a:t>
            </a:r>
            <a:endParaRPr lang="en-US" sz="15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Shape 0"/>
          <p:cNvSpPr/>
          <p:nvPr/>
        </p:nvSpPr>
        <p:spPr>
          <a:xfrm>
            <a:off x="0" y="0"/>
            <a:ext cx="12188952" cy="777240"/>
          </a:xfrm>
          <a:prstGeom prst="rect">
            <a:avLst/>
          </a:prstGeom>
          <a:solidFill>
            <a:srgbClr val="303F9F"/>
          </a:solidFill>
          <a:ln w="12700">
            <a:solidFill>
              <a:srgbClr val="303F9F"/>
            </a:solidFill>
            <a:prstDash val="solid"/>
          </a:ln>
        </p:spPr>
        <p:txBody>
          <a:bodyPr/>
          <a:lstStyle/>
          <a:p>
            <a:endParaRPr lang="es-ES"/>
          </a:p>
        </p:txBody>
      </p:sp>
      <p:sp>
        <p:nvSpPr>
          <p:cNvPr id="3" name="Text 1"/>
          <p:cNvSpPr/>
          <p:nvPr/>
        </p:nvSpPr>
        <p:spPr>
          <a:xfrm>
            <a:off x="365760" y="0"/>
            <a:ext cx="11457432" cy="777240"/>
          </a:xfrm>
          <a:prstGeom prst="rect">
            <a:avLst/>
          </a:prstGeom>
          <a:noFill/>
          <a:ln/>
        </p:spPr>
        <p:txBody>
          <a:bodyPr wrap="square" rtlCol="0" anchor="ctr"/>
          <a:lstStyle/>
          <a:p>
            <a:pPr marL="0" indent="0">
              <a:buNone/>
            </a:pPr>
            <a:r>
              <a:rPr lang="en-US" sz="2200" b="1" dirty="0">
                <a:solidFill>
                  <a:srgbClr val="FFFFFF"/>
                </a:solidFill>
                <a:latin typeface="Arial" pitchFamily="34" charset="0"/>
                <a:ea typeface="Arial" pitchFamily="34" charset="-122"/>
                <a:cs typeface="Arial" pitchFamily="34" charset="-120"/>
              </a:rPr>
              <a:t>9.8 — Secrets: almacenar credenciales de forma segura</a:t>
            </a:r>
            <a:endParaRPr lang="en-US" sz="2200" dirty="0"/>
          </a:p>
        </p:txBody>
      </p:sp>
      <p:sp>
        <p:nvSpPr>
          <p:cNvPr id="4" name="Text 2"/>
          <p:cNvSpPr/>
          <p:nvPr/>
        </p:nvSpPr>
        <p:spPr>
          <a:xfrm>
            <a:off x="548640" y="6473952"/>
            <a:ext cx="11091672" cy="292608"/>
          </a:xfrm>
          <a:prstGeom prst="rect">
            <a:avLst/>
          </a:prstGeom>
          <a:noFill/>
          <a:ln/>
        </p:spPr>
        <p:txBody>
          <a:bodyPr wrap="square" rtlCol="0" anchor="ctr"/>
          <a:lstStyle/>
          <a:p>
            <a:pPr marL="0" indent="0" algn="r">
              <a:buNone/>
            </a:pPr>
            <a:r>
              <a:rPr lang="en-US" sz="1100" dirty="0">
                <a:solidFill>
                  <a:srgbClr val="757575"/>
                </a:solidFill>
                <a:latin typeface="Arial" pitchFamily="34" charset="0"/>
                <a:ea typeface="Arial" pitchFamily="34" charset="-122"/>
                <a:cs typeface="Arial" pitchFamily="34" charset="-120"/>
              </a:rPr>
              <a:t>Entornos de Desarrollo — Tema 4 — Integración Continua con GitHub Actions</a:t>
            </a:r>
            <a:endParaRPr lang="en-US" sz="1100" dirty="0"/>
          </a:p>
        </p:txBody>
      </p:sp>
      <p:sp>
        <p:nvSpPr>
          <p:cNvPr id="5" name="Text 3"/>
          <p:cNvSpPr/>
          <p:nvPr/>
        </p:nvSpPr>
        <p:spPr>
          <a:xfrm>
            <a:off x="548640" y="868680"/>
            <a:ext cx="11091672" cy="1371600"/>
          </a:xfrm>
          <a:prstGeom prst="rect">
            <a:avLst/>
          </a:prstGeom>
          <a:noFill/>
          <a:ln/>
        </p:spPr>
        <p:txBody>
          <a:bodyPr wrap="square" rtlCol="0" anchor="t"/>
          <a:lstStyle/>
          <a:p>
            <a:pPr marL="342900" indent="-342900">
              <a:spcAft>
                <a:spcPts val="600"/>
              </a:spcAft>
              <a:buSzPct val="100000"/>
              <a:buChar char="•"/>
            </a:pPr>
            <a:r>
              <a:rPr lang="en-US" sz="1500" dirty="0">
                <a:solidFill>
                  <a:srgbClr val="212121"/>
                </a:solidFill>
                <a:latin typeface="Arial" pitchFamily="34" charset="0"/>
                <a:ea typeface="Arial" pitchFamily="34" charset="-122"/>
                <a:cs typeface="Arial" pitchFamily="34" charset="-120"/>
              </a:rPr>
              <a:t>Nunca escribas contraseñas o tokens directamente en el YAML — el fichero es público.</a:t>
            </a:r>
            <a:endParaRPr lang="en-US" sz="1500" dirty="0"/>
          </a:p>
          <a:p>
            <a:pPr marL="342900" indent="-342900">
              <a:spcAft>
                <a:spcPts val="600"/>
              </a:spcAft>
              <a:buSzPct val="100000"/>
              <a:buChar char="•"/>
            </a:pPr>
            <a:r>
              <a:rPr lang="en-US" sz="1500" dirty="0">
                <a:solidFill>
                  <a:srgbClr val="212121"/>
                </a:solidFill>
                <a:latin typeface="Arial" pitchFamily="34" charset="0"/>
                <a:ea typeface="Arial" pitchFamily="34" charset="-122"/>
                <a:cs typeface="Arial" pitchFamily="34" charset="-120"/>
              </a:rPr>
              <a:t>Settings → Secrets and variables → Actions → New repository secret</a:t>
            </a:r>
            <a:endParaRPr lang="en-US" sz="1500" dirty="0"/>
          </a:p>
          <a:p>
            <a:pPr marL="342900" indent="-342900">
              <a:spcAft>
                <a:spcPts val="600"/>
              </a:spcAft>
              <a:buSzPct val="100000"/>
              <a:buChar char="•"/>
            </a:pPr>
            <a:r>
              <a:rPr lang="en-US" sz="1500" dirty="0">
                <a:solidFill>
                  <a:srgbClr val="212121"/>
                </a:solidFill>
                <a:latin typeface="Arial" pitchFamily="34" charset="0"/>
                <a:ea typeface="Arial" pitchFamily="34" charset="-122"/>
                <a:cs typeface="Arial" pitchFamily="34" charset="-120"/>
              </a:rPr>
              <a:t>Nombre en mayúsculas por convenio: DEPLOY_TOKEN, MAVEN_PASSWORD...</a:t>
            </a:r>
            <a:endParaRPr lang="en-US" sz="1500" dirty="0"/>
          </a:p>
          <a:p>
            <a:pPr marL="342900" indent="-342900">
              <a:spcAft>
                <a:spcPts val="600"/>
              </a:spcAft>
              <a:buSzPct val="100000"/>
              <a:buChar char="•"/>
            </a:pPr>
            <a:r>
              <a:rPr lang="en-US" sz="1500" dirty="0">
                <a:solidFill>
                  <a:srgbClr val="212121"/>
                </a:solidFill>
                <a:latin typeface="Arial" pitchFamily="34" charset="0"/>
                <a:ea typeface="Arial" pitchFamily="34" charset="-122"/>
                <a:cs typeface="Arial" pitchFamily="34" charset="-120"/>
              </a:rPr>
              <a:t>GitHub cifra el valor — nadie puede leerlo, ni tú, una vez guardado.</a:t>
            </a:r>
            <a:endParaRPr lang="en-US" sz="1500" dirty="0"/>
          </a:p>
        </p:txBody>
      </p:sp>
      <p:pic>
        <p:nvPicPr>
          <p:cNvPr id="6" name="Image 0" descr="C:/Users/Aitor/Documents/apuntes-profe/entornos-de-desarrollo/docs/tema4/capturas/actions/secrets-settings.png"/>
          <p:cNvPicPr>
            <a:picLocks noChangeAspect="1"/>
          </p:cNvPicPr>
          <p:nvPr/>
        </p:nvPicPr>
        <p:blipFill>
          <a:blip r:embed="rId3"/>
          <a:srcRect/>
          <a:stretch/>
        </p:blipFill>
        <p:spPr>
          <a:xfrm>
            <a:off x="548640" y="2377440"/>
            <a:ext cx="11091672" cy="3977640"/>
          </a:xfrm>
          <a:prstGeom prst="rect">
            <a:avLst/>
          </a:prstGeom>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Shape 0"/>
          <p:cNvSpPr/>
          <p:nvPr/>
        </p:nvSpPr>
        <p:spPr>
          <a:xfrm>
            <a:off x="0" y="0"/>
            <a:ext cx="12188952" cy="777240"/>
          </a:xfrm>
          <a:prstGeom prst="rect">
            <a:avLst/>
          </a:prstGeom>
          <a:solidFill>
            <a:srgbClr val="303F9F"/>
          </a:solidFill>
          <a:ln w="12700">
            <a:solidFill>
              <a:srgbClr val="303F9F"/>
            </a:solidFill>
            <a:prstDash val="solid"/>
          </a:ln>
        </p:spPr>
        <p:txBody>
          <a:bodyPr/>
          <a:lstStyle/>
          <a:p>
            <a:endParaRPr lang="es-ES"/>
          </a:p>
        </p:txBody>
      </p:sp>
      <p:sp>
        <p:nvSpPr>
          <p:cNvPr id="3" name="Text 1"/>
          <p:cNvSpPr/>
          <p:nvPr/>
        </p:nvSpPr>
        <p:spPr>
          <a:xfrm>
            <a:off x="365760" y="0"/>
            <a:ext cx="11457432" cy="777240"/>
          </a:xfrm>
          <a:prstGeom prst="rect">
            <a:avLst/>
          </a:prstGeom>
          <a:noFill/>
          <a:ln/>
        </p:spPr>
        <p:txBody>
          <a:bodyPr wrap="square" rtlCol="0" anchor="ctr"/>
          <a:lstStyle/>
          <a:p>
            <a:pPr marL="0" indent="0">
              <a:buNone/>
            </a:pPr>
            <a:r>
              <a:rPr lang="en-US" sz="2200" b="1" dirty="0">
                <a:solidFill>
                  <a:srgbClr val="FFFFFF"/>
                </a:solidFill>
                <a:latin typeface="Arial" pitchFamily="34" charset="0"/>
                <a:ea typeface="Arial" pitchFamily="34" charset="-122"/>
                <a:cs typeface="Arial" pitchFamily="34" charset="-120"/>
              </a:rPr>
              <a:t>9.8 — Secrets: cómo usarlos en el workflow</a:t>
            </a:r>
            <a:endParaRPr lang="en-US" sz="2200" dirty="0"/>
          </a:p>
        </p:txBody>
      </p:sp>
      <p:sp>
        <p:nvSpPr>
          <p:cNvPr id="4" name="Text 2"/>
          <p:cNvSpPr/>
          <p:nvPr/>
        </p:nvSpPr>
        <p:spPr>
          <a:xfrm>
            <a:off x="548640" y="6473952"/>
            <a:ext cx="11091672" cy="292608"/>
          </a:xfrm>
          <a:prstGeom prst="rect">
            <a:avLst/>
          </a:prstGeom>
          <a:noFill/>
          <a:ln/>
        </p:spPr>
        <p:txBody>
          <a:bodyPr wrap="square" rtlCol="0" anchor="ctr"/>
          <a:lstStyle/>
          <a:p>
            <a:pPr marL="0" indent="0" algn="r">
              <a:buNone/>
            </a:pPr>
            <a:r>
              <a:rPr lang="en-US" sz="1100" dirty="0">
                <a:solidFill>
                  <a:srgbClr val="757575"/>
                </a:solidFill>
                <a:latin typeface="Arial" pitchFamily="34" charset="0"/>
                <a:ea typeface="Arial" pitchFamily="34" charset="-122"/>
                <a:cs typeface="Arial" pitchFamily="34" charset="-120"/>
              </a:rPr>
              <a:t>Entornos de Desarrollo — Tema 4 — Integración Continua con GitHub Actions</a:t>
            </a:r>
            <a:endParaRPr lang="en-US" sz="1100" dirty="0"/>
          </a:p>
        </p:txBody>
      </p:sp>
      <p:sp>
        <p:nvSpPr>
          <p:cNvPr id="5" name="Shape 3"/>
          <p:cNvSpPr/>
          <p:nvPr/>
        </p:nvSpPr>
        <p:spPr>
          <a:xfrm>
            <a:off x="548640" y="868680"/>
            <a:ext cx="11091672" cy="822960"/>
          </a:xfrm>
          <a:prstGeom prst="roundRect">
            <a:avLst/>
          </a:prstGeom>
          <a:solidFill>
            <a:srgbClr val="E0F2F1"/>
          </a:solidFill>
          <a:ln w="19050">
            <a:solidFill>
              <a:srgbClr val="009688"/>
            </a:solidFill>
            <a:prstDash val="solid"/>
          </a:ln>
        </p:spPr>
        <p:txBody>
          <a:bodyPr/>
          <a:lstStyle/>
          <a:p>
            <a:endParaRPr lang="es-ES"/>
          </a:p>
        </p:txBody>
      </p:sp>
      <p:sp>
        <p:nvSpPr>
          <p:cNvPr id="6" name="Text 4"/>
          <p:cNvSpPr/>
          <p:nvPr/>
        </p:nvSpPr>
        <p:spPr>
          <a:xfrm>
            <a:off x="777240" y="941832"/>
            <a:ext cx="10634472" cy="676656"/>
          </a:xfrm>
          <a:prstGeom prst="rect">
            <a:avLst/>
          </a:prstGeom>
          <a:noFill/>
          <a:ln/>
        </p:spPr>
        <p:txBody>
          <a:bodyPr wrap="square" rtlCol="0" anchor="ctr"/>
          <a:lstStyle/>
          <a:p>
            <a:pPr marL="0" indent="0">
              <a:buNone/>
            </a:pPr>
            <a:r>
              <a:rPr lang="en-US" sz="1500" dirty="0">
                <a:solidFill>
                  <a:srgbClr val="212121"/>
                </a:solidFill>
                <a:latin typeface="Arial" pitchFamily="34" charset="0"/>
                <a:ea typeface="Arial" pitchFamily="34" charset="-122"/>
                <a:cs typeface="Arial" pitchFamily="34" charset="-120"/>
              </a:rPr>
              <a:t>La sintaxis ${{ secrets.NOMBRE }} sustituye el valor en tiempo de ejecución. En los logs aparece como *** aunque alguien intente imprimirlo con echo.</a:t>
            </a:r>
            <a:endParaRPr lang="en-US" sz="1500" dirty="0"/>
          </a:p>
        </p:txBody>
      </p:sp>
      <p:sp>
        <p:nvSpPr>
          <p:cNvPr id="7" name="Shape 5"/>
          <p:cNvSpPr/>
          <p:nvPr/>
        </p:nvSpPr>
        <p:spPr>
          <a:xfrm>
            <a:off x="548640" y="1920240"/>
            <a:ext cx="11091672" cy="1645920"/>
          </a:xfrm>
          <a:prstGeom prst="rect">
            <a:avLst/>
          </a:prstGeom>
          <a:solidFill>
            <a:srgbClr val="ECEFF1"/>
          </a:solidFill>
          <a:ln w="12700">
            <a:solidFill>
              <a:srgbClr val="EEEEEE"/>
            </a:solidFill>
            <a:prstDash val="solid"/>
          </a:ln>
        </p:spPr>
        <p:txBody>
          <a:bodyPr/>
          <a:lstStyle/>
          <a:p>
            <a:endParaRPr lang="es-ES"/>
          </a:p>
        </p:txBody>
      </p:sp>
      <p:sp>
        <p:nvSpPr>
          <p:cNvPr id="8" name="Shape 6"/>
          <p:cNvSpPr/>
          <p:nvPr/>
        </p:nvSpPr>
        <p:spPr>
          <a:xfrm>
            <a:off x="548640" y="1920240"/>
            <a:ext cx="73152" cy="1645920"/>
          </a:xfrm>
          <a:prstGeom prst="rect">
            <a:avLst/>
          </a:prstGeom>
          <a:solidFill>
            <a:srgbClr val="009688"/>
          </a:solidFill>
          <a:ln w="12700">
            <a:solidFill>
              <a:srgbClr val="009688"/>
            </a:solidFill>
            <a:prstDash val="solid"/>
          </a:ln>
        </p:spPr>
        <p:txBody>
          <a:bodyPr/>
          <a:lstStyle/>
          <a:p>
            <a:endParaRPr lang="es-ES"/>
          </a:p>
        </p:txBody>
      </p:sp>
      <p:sp>
        <p:nvSpPr>
          <p:cNvPr id="9" name="Text 7"/>
          <p:cNvSpPr/>
          <p:nvPr/>
        </p:nvSpPr>
        <p:spPr>
          <a:xfrm>
            <a:off x="777240" y="2011680"/>
            <a:ext cx="10680192" cy="1463040"/>
          </a:xfrm>
          <a:prstGeom prst="rect">
            <a:avLst/>
          </a:prstGeom>
          <a:noFill/>
          <a:ln/>
        </p:spPr>
        <p:txBody>
          <a:bodyPr wrap="square" rtlCol="0" anchor="t"/>
          <a:lstStyle/>
          <a:p>
            <a:pPr marL="0" indent="0">
              <a:buNone/>
            </a:pPr>
            <a:r>
              <a:rPr lang="en-US" sz="1400" dirty="0">
                <a:solidFill>
                  <a:srgbClr val="263238"/>
                </a:solidFill>
                <a:latin typeface="Courier New" pitchFamily="34" charset="0"/>
                <a:ea typeface="Courier New" pitchFamily="34" charset="-122"/>
                <a:cs typeface="Courier New" pitchFamily="34" charset="-120"/>
              </a:rPr>
              <a:t>- name: Publicar en el registro</a:t>
            </a:r>
            <a:endParaRPr lang="en-US" sz="1400" dirty="0"/>
          </a:p>
          <a:p>
            <a:pPr marL="0" indent="0">
              <a:buNone/>
            </a:pPr>
            <a:r>
              <a:rPr lang="en-US" sz="1400" dirty="0">
                <a:solidFill>
                  <a:srgbClr val="263238"/>
                </a:solidFill>
                <a:latin typeface="Courier New" pitchFamily="34" charset="0"/>
                <a:ea typeface="Courier New" pitchFamily="34" charset="-122"/>
                <a:cs typeface="Courier New" pitchFamily="34" charset="-120"/>
              </a:rPr>
              <a:t>  run: mvn deploy</a:t>
            </a:r>
            <a:endParaRPr lang="en-US" sz="1400" dirty="0"/>
          </a:p>
          <a:p>
            <a:pPr marL="0" indent="0">
              <a:buNone/>
            </a:pPr>
            <a:r>
              <a:rPr lang="en-US" sz="1400" dirty="0">
                <a:solidFill>
                  <a:srgbClr val="263238"/>
                </a:solidFill>
                <a:latin typeface="Courier New" pitchFamily="34" charset="0"/>
                <a:ea typeface="Courier New" pitchFamily="34" charset="-122"/>
                <a:cs typeface="Courier New" pitchFamily="34" charset="-120"/>
              </a:rPr>
              <a:t>  env:</a:t>
            </a:r>
            <a:endParaRPr lang="en-US" sz="1400" dirty="0"/>
          </a:p>
          <a:p>
            <a:pPr marL="0" indent="0">
              <a:buNone/>
            </a:pPr>
            <a:r>
              <a:rPr lang="en-US" sz="1400" dirty="0">
                <a:solidFill>
                  <a:srgbClr val="263238"/>
                </a:solidFill>
                <a:latin typeface="Courier New" pitchFamily="34" charset="0"/>
                <a:ea typeface="Courier New" pitchFamily="34" charset="-122"/>
                <a:cs typeface="Courier New" pitchFamily="34" charset="-120"/>
              </a:rPr>
              <a:t>    MAVEN_USERNAME: ${{ secrets.MAVEN_USERNAME }}</a:t>
            </a:r>
            <a:endParaRPr lang="en-US" sz="1400" dirty="0"/>
          </a:p>
          <a:p>
            <a:pPr marL="0" indent="0">
              <a:buNone/>
            </a:pPr>
            <a:r>
              <a:rPr lang="en-US" sz="1400" dirty="0">
                <a:solidFill>
                  <a:srgbClr val="263238"/>
                </a:solidFill>
                <a:latin typeface="Courier New" pitchFamily="34" charset="0"/>
                <a:ea typeface="Courier New" pitchFamily="34" charset="-122"/>
                <a:cs typeface="Courier New" pitchFamily="34" charset="-120"/>
              </a:rPr>
              <a:t>    MAVEN_PASSWORD: ${{ secrets.MAVEN_PASSWORD }}</a:t>
            </a:r>
            <a:endParaRPr lang="en-US" sz="1400" dirty="0"/>
          </a:p>
        </p:txBody>
      </p:sp>
      <p:sp>
        <p:nvSpPr>
          <p:cNvPr id="10" name="Shape 8"/>
          <p:cNvSpPr/>
          <p:nvPr/>
        </p:nvSpPr>
        <p:spPr>
          <a:xfrm>
            <a:off x="548640" y="3840480"/>
            <a:ext cx="11091672" cy="868680"/>
          </a:xfrm>
          <a:prstGeom prst="roundRect">
            <a:avLst/>
          </a:prstGeom>
          <a:solidFill>
            <a:srgbClr val="FFF8E1"/>
          </a:solidFill>
          <a:ln w="19050">
            <a:solidFill>
              <a:srgbClr val="F57F17"/>
            </a:solidFill>
            <a:prstDash val="solid"/>
          </a:ln>
        </p:spPr>
        <p:txBody>
          <a:bodyPr/>
          <a:lstStyle/>
          <a:p>
            <a:endParaRPr lang="es-ES"/>
          </a:p>
        </p:txBody>
      </p:sp>
      <p:sp>
        <p:nvSpPr>
          <p:cNvPr id="11" name="Text 9"/>
          <p:cNvSpPr/>
          <p:nvPr/>
        </p:nvSpPr>
        <p:spPr>
          <a:xfrm>
            <a:off x="777240" y="3913632"/>
            <a:ext cx="10634472" cy="722376"/>
          </a:xfrm>
          <a:prstGeom prst="rect">
            <a:avLst/>
          </a:prstGeom>
          <a:noFill/>
          <a:ln/>
        </p:spPr>
        <p:txBody>
          <a:bodyPr wrap="square" rtlCol="0" anchor="ctr"/>
          <a:lstStyle/>
          <a:p>
            <a:pPr marL="0" indent="0">
              <a:buNone/>
            </a:pPr>
            <a:r>
              <a:rPr lang="en-US" sz="1500" dirty="0">
                <a:solidFill>
                  <a:srgbClr val="212121"/>
                </a:solidFill>
                <a:latin typeface="Arial" pitchFamily="34" charset="0"/>
                <a:ea typeface="Arial" pitchFamily="34" charset="-122"/>
                <a:cs typeface="Arial" pitchFamily="34" charset="-120"/>
              </a:rPr>
              <a:t>Los secrets NO están disponibles en PRs de forks externos. Esto evita que alguien cree un fork, añada echo ${{ secrets.TOKEN }} al workflow y extraiga tus credenciales.</a:t>
            </a:r>
            <a:endParaRPr lang="en-US" sz="15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Shape 0"/>
          <p:cNvSpPr/>
          <p:nvPr/>
        </p:nvSpPr>
        <p:spPr>
          <a:xfrm>
            <a:off x="0" y="0"/>
            <a:ext cx="12188952" cy="777240"/>
          </a:xfrm>
          <a:prstGeom prst="rect">
            <a:avLst/>
          </a:prstGeom>
          <a:solidFill>
            <a:srgbClr val="303F9F"/>
          </a:solidFill>
          <a:ln w="12700">
            <a:solidFill>
              <a:srgbClr val="303F9F"/>
            </a:solidFill>
            <a:prstDash val="solid"/>
          </a:ln>
        </p:spPr>
        <p:txBody>
          <a:bodyPr/>
          <a:lstStyle/>
          <a:p>
            <a:endParaRPr lang="es-ES"/>
          </a:p>
        </p:txBody>
      </p:sp>
      <p:sp>
        <p:nvSpPr>
          <p:cNvPr id="3" name="Text 1"/>
          <p:cNvSpPr/>
          <p:nvPr/>
        </p:nvSpPr>
        <p:spPr>
          <a:xfrm>
            <a:off x="365760" y="0"/>
            <a:ext cx="11457432" cy="777240"/>
          </a:xfrm>
          <a:prstGeom prst="rect">
            <a:avLst/>
          </a:prstGeom>
          <a:noFill/>
          <a:ln/>
        </p:spPr>
        <p:txBody>
          <a:bodyPr wrap="square" rtlCol="0" anchor="ctr"/>
          <a:lstStyle/>
          <a:p>
            <a:pPr marL="0" indent="0">
              <a:buNone/>
            </a:pPr>
            <a:r>
              <a:rPr lang="en-US" sz="2200" b="1" dirty="0">
                <a:solidFill>
                  <a:srgbClr val="FFFFFF"/>
                </a:solidFill>
                <a:latin typeface="Arial" pitchFamily="34" charset="0"/>
                <a:ea typeface="Arial" pitchFamily="34" charset="-122"/>
                <a:cs typeface="Arial" pitchFamily="34" charset="-120"/>
              </a:rPr>
              <a:t>✅ Ideas clave</a:t>
            </a:r>
            <a:endParaRPr lang="en-US" sz="2200" dirty="0"/>
          </a:p>
        </p:txBody>
      </p:sp>
      <p:sp>
        <p:nvSpPr>
          <p:cNvPr id="4" name="Text 2"/>
          <p:cNvSpPr/>
          <p:nvPr/>
        </p:nvSpPr>
        <p:spPr>
          <a:xfrm>
            <a:off x="548640" y="6473952"/>
            <a:ext cx="11091672" cy="292608"/>
          </a:xfrm>
          <a:prstGeom prst="rect">
            <a:avLst/>
          </a:prstGeom>
          <a:noFill/>
          <a:ln/>
        </p:spPr>
        <p:txBody>
          <a:bodyPr wrap="square" rtlCol="0" anchor="ctr"/>
          <a:lstStyle/>
          <a:p>
            <a:pPr marL="0" indent="0" algn="r">
              <a:buNone/>
            </a:pPr>
            <a:r>
              <a:rPr lang="en-US" sz="1100" dirty="0">
                <a:solidFill>
                  <a:srgbClr val="757575"/>
                </a:solidFill>
                <a:latin typeface="Arial" pitchFamily="34" charset="0"/>
                <a:ea typeface="Arial" pitchFamily="34" charset="-122"/>
                <a:cs typeface="Arial" pitchFamily="34" charset="-120"/>
              </a:rPr>
              <a:t>Entornos de Desarrollo — Tema 4 — Integración Continua con GitHub Actions</a:t>
            </a:r>
            <a:endParaRPr lang="en-US" sz="1100" dirty="0"/>
          </a:p>
        </p:txBody>
      </p:sp>
      <p:sp>
        <p:nvSpPr>
          <p:cNvPr id="5" name="Text 3"/>
          <p:cNvSpPr/>
          <p:nvPr/>
        </p:nvSpPr>
        <p:spPr>
          <a:xfrm>
            <a:off x="548640" y="1559145"/>
            <a:ext cx="11091672" cy="4253826"/>
          </a:xfrm>
          <a:prstGeom prst="rect">
            <a:avLst/>
          </a:prstGeom>
          <a:noFill/>
          <a:ln/>
        </p:spPr>
        <p:txBody>
          <a:bodyPr wrap="square" rtlCol="0" anchor="t"/>
          <a:lstStyle/>
          <a:p>
            <a:pPr marL="190500" indent="-190500">
              <a:spcAft>
                <a:spcPts val="600"/>
              </a:spcAft>
              <a:buSzPct val="100000"/>
              <a:buChar char="•"/>
            </a:pPr>
            <a:r>
              <a:rPr lang="en-US" sz="2000" dirty="0">
                <a:solidFill>
                  <a:srgbClr val="212121"/>
                </a:solidFill>
                <a:latin typeface="Arial" pitchFamily="34" charset="0"/>
                <a:ea typeface="Arial" pitchFamily="34" charset="-122"/>
                <a:cs typeface="Arial" pitchFamily="34" charset="-120"/>
              </a:rPr>
              <a:t>CI — ejecutar comprobaciones automáticas en cada cambio para detectar errores antes de que lleguen a main.</a:t>
            </a:r>
            <a:endParaRPr lang="en-US" sz="2000" dirty="0"/>
          </a:p>
          <a:p>
            <a:pPr marL="190500" indent="-190500">
              <a:spcAft>
                <a:spcPts val="600"/>
              </a:spcAft>
              <a:buSzPct val="100000"/>
              <a:buChar char="•"/>
            </a:pPr>
            <a:r>
              <a:rPr lang="en-US" sz="2000" dirty="0">
                <a:solidFill>
                  <a:srgbClr val="212121"/>
                </a:solidFill>
                <a:latin typeface="Arial" pitchFamily="34" charset="0"/>
                <a:ea typeface="Arial" pitchFamily="34" charset="-122"/>
                <a:cs typeface="Arial" pitchFamily="34" charset="-120"/>
              </a:rPr>
              <a:t>GitHub Actions — CI/CD integrado en GitHub. Se configura con ficheros YAML en .github/workflows/.</a:t>
            </a:r>
            <a:endParaRPr lang="en-US" sz="2000" dirty="0"/>
          </a:p>
          <a:p>
            <a:pPr marL="190500" indent="-190500">
              <a:spcAft>
                <a:spcPts val="600"/>
              </a:spcAft>
              <a:buSzPct val="100000"/>
              <a:buChar char="•"/>
            </a:pPr>
            <a:r>
              <a:rPr lang="en-US" sz="2000" dirty="0">
                <a:solidFill>
                  <a:srgbClr val="212121"/>
                </a:solidFill>
                <a:latin typeface="Arial" pitchFamily="34" charset="0"/>
                <a:ea typeface="Arial" pitchFamily="34" charset="-122"/>
                <a:cs typeface="Arial" pitchFamily="34" charset="-120"/>
              </a:rPr>
              <a:t>Event → Workflow → Job → Steps — cada push activa el workflow, que ejecuta jobs con steps en orden.</a:t>
            </a:r>
            <a:endParaRPr lang="en-US" sz="2000" dirty="0"/>
          </a:p>
          <a:p>
            <a:pPr marL="190500" indent="-190500">
              <a:spcAft>
                <a:spcPts val="600"/>
              </a:spcAft>
              <a:buSzPct val="100000"/>
              <a:buChar char="•"/>
            </a:pPr>
            <a:r>
              <a:rPr lang="en-US" sz="2000" dirty="0">
                <a:solidFill>
                  <a:srgbClr val="212121"/>
                </a:solidFill>
                <a:latin typeface="Arial" pitchFamily="34" charset="0"/>
                <a:ea typeface="Arial" pitchFamily="34" charset="-122"/>
                <a:cs typeface="Arial" pitchFamily="34" charset="-120"/>
              </a:rPr>
              <a:t>Si el workflow falla, el log indica exactamente qué test falló y con qué valores (expected: &lt;5&gt; but was: &lt;-1&gt;).</a:t>
            </a:r>
            <a:endParaRPr lang="en-US" sz="2000" dirty="0"/>
          </a:p>
          <a:p>
            <a:pPr marL="190500" indent="-190500">
              <a:spcAft>
                <a:spcPts val="600"/>
              </a:spcAft>
              <a:buSzPct val="100000"/>
              <a:buChar char="•"/>
            </a:pPr>
            <a:r>
              <a:rPr lang="en-US" sz="2000" dirty="0">
                <a:solidFill>
                  <a:srgbClr val="212121"/>
                </a:solidFill>
                <a:latin typeface="Arial" pitchFamily="34" charset="0"/>
                <a:ea typeface="Arial" pitchFamily="34" charset="-122"/>
                <a:cs typeface="Arial" pitchFamily="34" charset="-120"/>
              </a:rPr>
              <a:t>Secrets — almacenan credenciales cifradas. Nunca escribas contraseñas directamente en el YAML.</a:t>
            </a:r>
            <a:endParaRPr lang="en-US" sz="2000" dirty="0"/>
          </a:p>
          <a:p>
            <a:pPr marL="190500" indent="-190500">
              <a:spcAft>
                <a:spcPts val="600"/>
              </a:spcAft>
              <a:buSzPct val="100000"/>
              <a:buChar char="•"/>
            </a:pPr>
            <a:r>
              <a:rPr lang="en-US" sz="2000" dirty="0">
                <a:solidFill>
                  <a:srgbClr val="212121"/>
                </a:solidFill>
                <a:latin typeface="Arial" pitchFamily="34" charset="0"/>
                <a:ea typeface="Arial" pitchFamily="34" charset="-122"/>
                <a:cs typeface="Arial" pitchFamily="34" charset="-120"/>
              </a:rPr>
              <a:t>if: always() garantiza que un step se ejecute aunque los anteriores fallen — imprescindible para guardar informes de tests.</a:t>
            </a:r>
            <a:endParaRPr lang="en-US" sz="2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5</TotalTime>
  <Words>2453</Words>
  <Application>Microsoft Office PowerPoint</Application>
  <PresentationFormat>Panorámica</PresentationFormat>
  <Paragraphs>284</Paragraphs>
  <Slides>22</Slides>
  <Notes>22</Notes>
  <HiddenSlides>0</HiddenSlides>
  <MMClips>0</MMClips>
  <ScaleCrop>false</ScaleCrop>
  <HeadingPairs>
    <vt:vector size="6" baseType="variant">
      <vt:variant>
        <vt:lpstr>Fuentes usadas</vt:lpstr>
      </vt:variant>
      <vt:variant>
        <vt:i4>2</vt:i4>
      </vt:variant>
      <vt:variant>
        <vt:lpstr>Tema</vt:lpstr>
      </vt:variant>
      <vt:variant>
        <vt:i4>1</vt:i4>
      </vt:variant>
      <vt:variant>
        <vt:lpstr>Títulos de diapositiva</vt:lpstr>
      </vt:variant>
      <vt:variant>
        <vt:i4>22</vt:i4>
      </vt:variant>
    </vt:vector>
  </HeadingPairs>
  <TitlesOfParts>
    <vt:vector size="25" baseType="lpstr">
      <vt:lpstr>Arial</vt:lpstr>
      <vt:lpstr>Courier New</vt:lpstr>
      <vt:lpstr>Office Theme</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Entornos de Desarrollo</dc:creator>
  <cp:lastModifiedBy>VENTURA EDO, AITOR</cp:lastModifiedBy>
  <cp:revision>2</cp:revision>
  <dcterms:created xsi:type="dcterms:W3CDTF">2026-06-30T19:20:32Z</dcterms:created>
  <dcterms:modified xsi:type="dcterms:W3CDTF">2026-06-30T20:10:24Z</dcterms:modified>
</cp:coreProperties>
</file>
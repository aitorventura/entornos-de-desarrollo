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03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 —  TEMA 5: DIAGRAMAS DE CLASES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91672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Notación y especificaciones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un enunciado a un diagrama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Sintaxis básica de la clase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5 · Notación y especificaciones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9144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atributo y cada método sigue siempre el mismo patrón: primero la visibilidad (+/-/#/~), luego el nombre, y por último el tipo. Una vez que lo memorizas, puedes leer cualquier diagrama sin consultar nada.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501072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Plantilla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42249" y="2057400"/>
            <a:ext cx="589806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real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5010729" cy="365760"/>
          </a:xfrm>
          <a:prstGeom prst="rect">
            <a:avLst/>
          </a:prstGeom>
          <a:solidFill>
            <a:srgbClr val="3F51B5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23160"/>
            <a:ext cx="501072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NombreDeLaClase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5010729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788920"/>
            <a:ext cx="4791273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-tipoDeAtributo nombreDelAtributo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+tipoDeRetorno nombreDelMetodo(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tipoDeParametro parametro)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42249" y="2423160"/>
            <a:ext cx="5898063" cy="365760"/>
          </a:xfrm>
          <a:prstGeom prst="rect">
            <a:avLst/>
          </a:prstGeom>
          <a:solidFill>
            <a:srgbClr val="3F51B5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42249" y="2423160"/>
            <a:ext cx="589806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CuentaBancaria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42249" y="2788920"/>
            <a:ext cx="5898063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1977" y="2788920"/>
            <a:ext cx="5678607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-double saldo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+retirar(in cantidad : double)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 boolean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069080"/>
            <a:ext cx="11091672" cy="6858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142232"/>
            <a:ext cx="10634472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es privado —nadie fuera de la clase debería tocarlo directamente— y retirar es un método público que recibe una cantidad y devuelve si la operación se ha podido hacer.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completo: Biblioteca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5 · Notación y especificaciones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5486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Veamos cómo se aplica todo lo aprendido a la vez: clases, atributos, relaciones y multiplicidad.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19556" y="1737360"/>
            <a:ext cx="2834640" cy="365760"/>
          </a:xfrm>
          <a:prstGeom prst="rect">
            <a:avLst/>
          </a:prstGeom>
          <a:solidFill>
            <a:srgbClr val="3F51B5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9556" y="1737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Biblioteca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19556" y="2103120"/>
            <a:ext cx="2834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9284" y="2103120"/>
            <a:ext cx="261518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-String nombre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-String direccion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+agregarLibro(Libro l)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+buscarLibro(titulo)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77156" y="1737360"/>
            <a:ext cx="2834640" cy="365760"/>
          </a:xfrm>
          <a:prstGeom prst="rect">
            <a:avLst/>
          </a:prstGeom>
          <a:solidFill>
            <a:srgbClr val="3F51B5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7156" y="1737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77156" y="2103120"/>
            <a:ext cx="2834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6884" y="2103120"/>
            <a:ext cx="261518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-String titulo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-int anyoPublicacion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-boolean prestado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+getTitulo() String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+isPrestado() boolean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334756" y="1737360"/>
            <a:ext cx="2834640" cy="365760"/>
          </a:xfrm>
          <a:prstGeom prst="rect">
            <a:avLst/>
          </a:prstGeom>
          <a:solidFill>
            <a:srgbClr val="3F51B5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4756" y="1737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334756" y="2103120"/>
            <a:ext cx="2834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44484" y="2103120"/>
            <a:ext cx="261518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-String nombre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-String nacionalidad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+getNombre() String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854196" y="2514600"/>
            <a:ext cx="822960" cy="0"/>
          </a:xfrm>
          <a:prstGeom prst="line">
            <a:avLst/>
          </a:prstGeom>
          <a:noFill/>
          <a:ln w="15875">
            <a:solidFill>
              <a:srgbClr val="21212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62756" y="229514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854196" y="229514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catalogo (composición)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94276" y="229514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511796" y="2514600"/>
            <a:ext cx="822960" cy="0"/>
          </a:xfrm>
          <a:prstGeom prst="line">
            <a:avLst/>
          </a:prstGeom>
          <a:noFill/>
          <a:ln w="15875">
            <a:solidFill>
              <a:srgbClr val="21212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20356" y="229514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511796" y="229514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151876" y="229514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1..*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3794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Composición Biblioteca–Libro: si se elimina la biblioteca, su catálogo de libros desaparece con ella (1 biblioteca, 0..* libros).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Asociación Autor–Libro: 1..* autores pueden escribir * libros.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profundizar: un sistema de negocio real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5 · Notación y especificaciones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772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ejemplo de la Biblioteca es deliberadamente sencillo. En un proyecto real, el mismo sistema suele necesitar estereotipos, clases asociativas y varias jerarquías conviviendo a la vez.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799332" y="1773936"/>
            <a:ext cx="4590288" cy="4270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pic>
        <p:nvPicPr>
          <p:cNvPr id="8" name="Image 0" descr="C:/Users/Aitor/Documents/apuntes-profe/entornos-de-desarrollo/docs/tema5/img/dia-ejemplo-completo-negocio-bibliote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4196" y="2028331"/>
            <a:ext cx="4480560" cy="376145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608076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clase lleva el estereotipo «Objeto de negocio»; Préstamo y Reserva conectan Título con la información del prestatario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especificación en texto al diagrama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5 · Notación y especificaciones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772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un proyecto real, alguien te da una descripción en lenguaje natural y tienes que convertirla tú en un diagrama. Es la misma habilidad que necesitas para las actividades de este tema.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5767669"/>
                <a:gridCol w="5324003"/>
              </a:tblGrid>
              <a:tr h="484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el texto busca...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convierte en...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sustantivo que representa un concepto del sistema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 clase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dato que describe ese concepto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atributo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 acción que ese concepto puede hacer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método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"Tiene un/una", "está compuesto de", "pertenece a"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 relación (asociación, agregación o composición)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"Uno o varios", "cero o muchos", "exactamente uno"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multiplicidad de esa relación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"Es un tipo de", "hereda las características de"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 generalización (herencia)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trabajado: aplicando la técnica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5 · Notación y especificaciones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10515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"Un pedido pertenece a un único cliente. Cada pedido contiene una o varias líneas de pedido, y cada línea hace referencia a exactamente un producto e indica la cantidad pedida. Si se elimina un pedido, sus líneas desaparecen con él."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9167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Sustantivos → clases: Cliente, Pedido, LineaPedido, Producto.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"Pertenece a un único cliente" → asociación Pedido–Cliente, multiplicidad 1.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"Contiene líneas" + "si se elimina, desaparecen" → composición (no asociación simple): las líneas no existen sin el pedido.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"Hace referencia a exactamente un producto" → asociación LineaPedido–Producto, multiplicidad 1.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"Indica la cantidad pedida" → atributo cantidad en LineaPedido, no en Producto.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trabajado: el diagrama resultante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5 · Notación y especificaciones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02336" y="1005840"/>
            <a:ext cx="2331720" cy="365760"/>
          </a:xfrm>
          <a:prstGeom prst="rect">
            <a:avLst/>
          </a:prstGeom>
          <a:solidFill>
            <a:srgbClr val="3F51B5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1005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2336" y="1371600"/>
            <a:ext cx="23317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371600"/>
            <a:ext cx="211226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19856" y="1005840"/>
            <a:ext cx="2331720" cy="365760"/>
          </a:xfrm>
          <a:prstGeom prst="rect">
            <a:avLst/>
          </a:prstGeom>
          <a:solidFill>
            <a:srgbClr val="3F51B5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9856" y="1005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19856" y="1371600"/>
            <a:ext cx="23317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9584" y="1371600"/>
            <a:ext cx="211226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37376" y="1005840"/>
            <a:ext cx="2331720" cy="365760"/>
          </a:xfrm>
          <a:prstGeom prst="rect">
            <a:avLst/>
          </a:prstGeom>
          <a:solidFill>
            <a:srgbClr val="3F51B5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7376" y="1005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LineaPedido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37376" y="1371600"/>
            <a:ext cx="23317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1371600"/>
            <a:ext cx="211226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-int cantidad
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454896" y="1005840"/>
            <a:ext cx="2331720" cy="365760"/>
          </a:xfrm>
          <a:prstGeom prst="rect">
            <a:avLst/>
          </a:prstGeom>
          <a:solidFill>
            <a:srgbClr val="3F51B5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54896" y="1005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454896" y="1371600"/>
            <a:ext cx="23317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64624" y="1371600"/>
            <a:ext cx="211226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34056" y="1805940"/>
            <a:ext cx="685800" cy="0"/>
          </a:xfrm>
          <a:prstGeom prst="line">
            <a:avLst/>
          </a:prstGeom>
          <a:noFill/>
          <a:ln w="15875">
            <a:solidFill>
              <a:srgbClr val="21212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42616" y="1586484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34056" y="1586484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82696" y="1586484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0..*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751576" y="1805940"/>
            <a:ext cx="685800" cy="0"/>
          </a:xfrm>
          <a:prstGeom prst="line">
            <a:avLst/>
          </a:prstGeom>
          <a:noFill/>
          <a:ln w="15875">
            <a:solidFill>
              <a:srgbClr val="21212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0136" y="1586484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751576" y="1586484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00216" y="1586484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1..*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769096" y="1805940"/>
            <a:ext cx="685800" cy="0"/>
          </a:xfrm>
          <a:prstGeom prst="line">
            <a:avLst/>
          </a:prstGeom>
          <a:noFill/>
          <a:ln w="15875">
            <a:solidFill>
              <a:srgbClr val="21212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77656" y="1586484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769096" y="1586484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317736" y="1586484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" y="3063240"/>
            <a:ext cx="11091672" cy="77724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3136392"/>
            <a:ext cx="10634472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más habitual: convertir todos los sustantivos en clases sin pensar. "Cantidad pedida" es un atributo, no una clase Cantidad. Pregúntate si el concepto tiene sentido por sí solo.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comunes (I)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5 · Notación y especificaciones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5943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Unos son de notación (cómo se escribe algo) y otros conceptuales (confundir un tipo de relación con otro); no se corrigen de la misma manera.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3105668"/>
                <a:gridCol w="4658502"/>
                <a:gridCol w="3327502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Incorrecto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Correcto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Nombres de clase en plural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Alumnos, Temporadas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Alumno, Temporada (singular)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Repetir el atributo de una relación en la clase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Cliente con la asociación a Pedido y además el atributo pedidos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la asociación con su rol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 en singular con multiplicidad 1..*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 capítulo con 1..*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 capítulos (plural)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Flecha en asociación bidireccional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Flecha en un extremo aunque se conozcan mutuamente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flecha en ningún extremo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comunes (II)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5 · Notación y especificaciones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68680"/>
          <a:ext cx="11091672" cy="914400"/>
        </p:xfrm>
        <a:graphic>
          <a:graphicData uri="http://schemas.openxmlformats.org/drawingml/2006/table">
            <a:tbl>
              <a:tblPr/>
              <a:tblGrid>
                <a:gridCol w="3105668"/>
                <a:gridCol w="4658502"/>
                <a:gridCol w="3327502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Incorrecto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Correcto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Rombo en el lado de la "parte"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Rombo junto a Rueda en Coche o-- Rueda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Rombo junto a Coche, que es el "todo"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Confundir agregación con composición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Agregación para algo que no existe sin el todo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Composición: rombo relleno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Atributos con mayúsculas o espacios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Fecha Nacimiento, fecha_nacimiento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fechaNacimiento (camelCase)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Cardinalidad N o 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Cliente "N" -- "M" Pedido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Cliente "*" -- "*" Pedido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Repetir atributos heredados en las subclases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nombre y edad en Persona, y otra vez en Empleado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en Persona; se heredan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error más frecuente, en una imagen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5 · Notación y especificaciones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5943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Repetir como atributo algo que ya está en la relación es el más fácil de detectar a simple vista una vez que sabes qué buscar.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153412" y="1682496"/>
            <a:ext cx="788212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pic>
        <p:nvPicPr>
          <p:cNvPr id="8" name="Image 0" descr="C:/Users/Aitor/Documents/apuntes-profe/entornos-de-desarrollo/docs/tema5/img/dia-error-atributo-duplic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0842" y="1737360"/>
            <a:ext cx="7747268" cy="18562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368503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rol "pedidos" ya está en la línea de asociación; repetirlo dentro de Cliente es el error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4279392"/>
            <a:ext cx="11091672" cy="5486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4352544"/>
            <a:ext cx="10634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hilo común: antes de añadir un atributo, pregúntate si ya está implícito en una relación, una herencia o una multiplicidad.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Entornos de Desarrollo</dc:creator>
  <cp:lastModifiedBy>Entornos de Desarrollo</cp:lastModifiedBy>
  <cp:revision>1</cp:revision>
  <dcterms:created xsi:type="dcterms:W3CDTF">2026-07-02T13:43:11Z</dcterms:created>
  <dcterms:modified xsi:type="dcterms:W3CDTF">2026-07-02T13:43:11Z</dcterms:modified>
</cp:coreProperties>
</file>
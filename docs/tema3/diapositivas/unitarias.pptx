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B0BEC5"/>
                </a:solidFill>
                <a:latin typeface="Arial" pitchFamily="34" charset="0"/>
                <a:ea typeface="Arial" pitchFamily="34" charset="-122"/>
                <a:cs typeface="Arial" pitchFamily="34" charset="-120"/>
              </a:rPr>
              <a:t>ENTORNOS DE DESARROLLO  —  TEMA 3: VERIFICACIÓN Y PRUEBAS</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4400" b="1" dirty="0">
                <a:solidFill>
                  <a:srgbClr val="FFFFFF"/>
                </a:solidFill>
                <a:latin typeface="Arial" pitchFamily="34" charset="0"/>
                <a:ea typeface="Arial" pitchFamily="34" charset="-122"/>
                <a:cs typeface="Arial" pitchFamily="34" charset="-120"/>
              </a:rPr>
              <a:t>Pruebas Unitarias</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JUnit, tests parametrizados y dobles de prueba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1. Qué son las pruebas unitarias?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3093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Una prueba unitaria verifica el correcto funcionamiento de un módulo individual del código —normalmente un método o una clase— de forma aislada, antes de comprobar como se integra con el resto.</a:t>
            </a:r>
            <a:endParaRPr lang="en-US" sz="1500" dirty="0"/>
          </a:p>
        </p:txBody>
      </p:sp>
      <p:sp>
        <p:nvSpPr>
          <p:cNvPr id="7" name="Text 5"/>
          <p:cNvSpPr/>
          <p:nvPr/>
        </p:nvSpPr>
        <p:spPr>
          <a:xfrm>
            <a:off x="548640" y="1828800"/>
            <a:ext cx="11091672" cy="36576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Para que una prueba unitaria cumpla su función debe ser:</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304288"/>
          <a:ext cx="11091672" cy="914400"/>
        </p:xfrm>
        <a:graphic>
          <a:graphicData uri="http://schemas.openxmlformats.org/drawingml/2006/table">
            <a:tbl>
              <a:tblPr/>
              <a:tblGrid>
                <a:gridCol w="2772918"/>
                <a:gridCol w="8318754"/>
              </a:tblGrid>
              <a:tr h="45720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Característica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significa en la práctica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457200">
                <a:tc>
                  <a:txBody>
                    <a:bodyPr/>
                    <a:lstStyle/>
                    <a:p>
                      <a:pPr indent="0" marL="0">
                        <a:buNone/>
                      </a:pPr>
                      <a:r>
                        <a:rPr lang="en-US" sz="1400" dirty="0">
                          <a:solidFill>
                            <a:srgbClr val="212121"/>
                          </a:solidFill>
                          <a:latin typeface="Arial" pitchFamily="34" charset="0"/>
                          <a:ea typeface="Arial" pitchFamily="34" charset="-122"/>
                          <a:cs typeface="Arial" pitchFamily="34" charset="-120"/>
                        </a:rPr>
                        <a:t>Automatizable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Se ejecuta sin intervención manual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12121"/>
                          </a:solidFill>
                          <a:latin typeface="Arial" pitchFamily="34" charset="0"/>
                          <a:ea typeface="Arial" pitchFamily="34" charset="-122"/>
                          <a:cs typeface="Arial" pitchFamily="34" charset="-120"/>
                        </a:rPr>
                        <a:t>Completa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Cubre la mayor cantidad posible de código, no solo el camino feliz</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57200">
                <a:tc>
                  <a:txBody>
                    <a:bodyPr/>
                    <a:lstStyle/>
                    <a:p>
                      <a:pPr indent="0" marL="0">
                        <a:buNone/>
                      </a:pPr>
                      <a:r>
                        <a:rPr lang="en-US" sz="1400" dirty="0">
                          <a:solidFill>
                            <a:srgbClr val="212121"/>
                          </a:solidFill>
                          <a:latin typeface="Arial" pitchFamily="34" charset="0"/>
                          <a:ea typeface="Arial" pitchFamily="34" charset="-122"/>
                          <a:cs typeface="Arial" pitchFamily="34" charset="-120"/>
                        </a:rPr>
                        <a:t>Reutilizable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No sirve solo para una ejecución puntual; se puede volver a correr cuando se quiera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12121"/>
                          </a:solidFill>
                          <a:latin typeface="Arial" pitchFamily="34" charset="0"/>
                          <a:ea typeface="Arial" pitchFamily="34" charset="-122"/>
                          <a:cs typeface="Arial" pitchFamily="34" charset="-120"/>
                        </a:rPr>
                        <a:t>Independiente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resultado no debe depender de que se haya ejecutado otra prueba antes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57200">
                <a:tc>
                  <a:txBody>
                    <a:bodyPr/>
                    <a:lstStyle/>
                    <a:p>
                      <a:pPr indent="0" marL="0">
                        <a:buNone/>
                      </a:pPr>
                      <a:r>
                        <a:rPr lang="en-US" sz="1400" dirty="0">
                          <a:solidFill>
                            <a:srgbClr val="212121"/>
                          </a:solidFill>
                          <a:latin typeface="Arial" pitchFamily="34" charset="0"/>
                          <a:ea typeface="Arial" pitchFamily="34" charset="-122"/>
                          <a:cs typeface="Arial" pitchFamily="34" charset="-120"/>
                        </a:rPr>
                        <a:t>Profesional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Se documenta y se cuida con la misma calidad que el código de produccion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1. Ventajas de las pruebas unitarias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Text 3"/>
          <p:cNvSpPr/>
          <p:nvPr/>
        </p:nvSpPr>
        <p:spPr>
          <a:xfrm>
            <a:off x="548640" y="868680"/>
            <a:ext cx="11091672" cy="36576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Las pruebas unitarias traen ventajas claras a medida que el proyecto crece:</a:t>
            </a:r>
            <a:endParaRPr lang="en-US" sz="1500" dirty="0"/>
          </a:p>
        </p:txBody>
      </p:sp>
      <p:sp>
        <p:nvSpPr>
          <p:cNvPr id="6" name="Text 4"/>
          <p:cNvSpPr/>
          <p:nvPr/>
        </p:nvSpPr>
        <p:spPr>
          <a:xfrm>
            <a:off x="548640" y="1417320"/>
            <a:ext cx="11091672" cy="5029200"/>
          </a:xfrm>
          <a:prstGeom prst="rect">
            <a:avLst/>
          </a:prstGeom>
          <a:noFill/>
          <a:ln/>
        </p:spPr>
        <p:txBody>
          <a:bodyPr wrap="square" rtlCol="0" anchor="t"/>
          <a:lstStyle/>
          <a:p>
            <a:pPr marL="342900" indent="-342900">
              <a:spcAft>
                <a:spcPts val="400"/>
              </a:spcAft>
              <a:buSzPct val="100000"/>
              <a:buChar char="•"/>
            </a:pPr>
            <a:r>
              <a:rPr lang="en-US" sz="1500" b="1" dirty="0">
                <a:solidFill>
                  <a:srgbClr val="212121"/>
                </a:solidFill>
                <a:latin typeface="Arial" pitchFamily="34" charset="0"/>
                <a:ea typeface="Arial" pitchFamily="34" charset="-122"/>
                <a:cs typeface="Arial" pitchFamily="34" charset="-120"/>
              </a:rPr>
              <a:t>Confianza al modificar</a:t>
            </a:r>
            <a:endParaRPr lang="en-US" sz="1500" dirty="0"/>
          </a:p>
          <a:p>
            <a:pPr lvl="1" indent="0" marL="0">
              <a:spcAft>
                <a:spcPts val="1000"/>
              </a:spcAft>
              <a:buNone/>
            </a:pPr>
            <a:r>
              <a:rPr lang="en-US" sz="1300" dirty="0">
                <a:solidFill>
                  <a:srgbClr val="757575"/>
                </a:solidFill>
                <a:latin typeface="Arial" pitchFamily="34" charset="0"/>
                <a:ea typeface="Arial" pitchFamily="34" charset="-122"/>
                <a:cs typeface="Arial" pitchFamily="34" charset="-120"/>
              </a:rPr>
              <a:t>Cualquier cambio que rompa algo se detecta enseguida.</a:t>
            </a:r>
            <a:endParaRPr lang="en-US" sz="1500" dirty="0"/>
          </a:p>
          <a:p>
            <a:pPr marL="342900" indent="-342900">
              <a:spcAft>
                <a:spcPts val="400"/>
              </a:spcAft>
              <a:buSzPct val="100000"/>
              <a:buChar char="•"/>
            </a:pPr>
            <a:r>
              <a:rPr lang="en-US" sz="1500" b="1" dirty="0">
                <a:solidFill>
                  <a:srgbClr val="212121"/>
                </a:solidFill>
                <a:latin typeface="Arial" pitchFamily="34" charset="0"/>
                <a:ea typeface="Arial" pitchFamily="34" charset="-122"/>
                <a:cs typeface="Arial" pitchFamily="34" charset="-120"/>
              </a:rPr>
              <a:t>Seguridad antes de integrar</a:t>
            </a:r>
            <a:endParaRPr lang="en-US" sz="1500" dirty="0"/>
          </a:p>
          <a:p>
            <a:pPr lvl="1" indent="0" marL="0">
              <a:spcAft>
                <a:spcPts val="1000"/>
              </a:spcAft>
              <a:buNone/>
            </a:pPr>
            <a:r>
              <a:rPr lang="en-US" sz="1300" dirty="0">
                <a:solidFill>
                  <a:srgbClr val="757575"/>
                </a:solidFill>
                <a:latin typeface="Arial" pitchFamily="34" charset="0"/>
                <a:ea typeface="Arial" pitchFamily="34" charset="-122"/>
                <a:cs typeface="Arial" pitchFamily="34" charset="-120"/>
              </a:rPr>
              <a:t>Se sabe que cada pieza funciona antes de combinarlas.</a:t>
            </a:r>
            <a:endParaRPr lang="en-US" sz="1500" dirty="0"/>
          </a:p>
          <a:p>
            <a:pPr marL="342900" indent="-342900">
              <a:spcAft>
                <a:spcPts val="400"/>
              </a:spcAft>
              <a:buSzPct val="100000"/>
              <a:buChar char="•"/>
            </a:pPr>
            <a:r>
              <a:rPr lang="en-US" sz="1500" b="1" dirty="0">
                <a:solidFill>
                  <a:srgbClr val="212121"/>
                </a:solidFill>
                <a:latin typeface="Arial" pitchFamily="34" charset="0"/>
                <a:ea typeface="Arial" pitchFamily="34" charset="-122"/>
                <a:cs typeface="Arial" pitchFamily="34" charset="-120"/>
              </a:rPr>
              <a:t>Documentación viva</a:t>
            </a:r>
            <a:endParaRPr lang="en-US" sz="1500" dirty="0"/>
          </a:p>
          <a:p>
            <a:pPr lvl="1" indent="0" marL="0">
              <a:spcAft>
                <a:spcPts val="1000"/>
              </a:spcAft>
              <a:buNone/>
            </a:pPr>
            <a:r>
              <a:rPr lang="en-US" sz="1300" dirty="0">
                <a:solidFill>
                  <a:srgbClr val="757575"/>
                </a:solidFill>
                <a:latin typeface="Arial" pitchFamily="34" charset="0"/>
                <a:ea typeface="Arial" pitchFamily="34" charset="-122"/>
                <a:cs typeface="Arial" pitchFamily="34" charset="-120"/>
              </a:rPr>
              <a:t>Los tests muestran como se espera que se use cada unidad de código.</a:t>
            </a:r>
            <a:endParaRPr lang="en-US" sz="1500" dirty="0"/>
          </a:p>
          <a:p>
            <a:pPr marL="342900" indent="-342900">
              <a:spcAft>
                <a:spcPts val="400"/>
              </a:spcAft>
              <a:buSzPct val="100000"/>
              <a:buChar char="•"/>
            </a:pPr>
            <a:r>
              <a:rPr lang="en-US" sz="1500" b="1" dirty="0">
                <a:solidFill>
                  <a:srgbClr val="212121"/>
                </a:solidFill>
                <a:latin typeface="Arial" pitchFamily="34" charset="0"/>
                <a:ea typeface="Arial" pitchFamily="34" charset="-122"/>
                <a:cs typeface="Arial" pitchFamily="34" charset="-120"/>
              </a:rPr>
              <a:t>Separación de interfaz e implementación</a:t>
            </a:r>
            <a:endParaRPr lang="en-US" sz="1500" dirty="0"/>
          </a:p>
          <a:p>
            <a:pPr lvl="1" indent="0" marL="0">
              <a:spcAft>
                <a:spcPts val="1000"/>
              </a:spcAft>
              <a:buNone/>
            </a:pPr>
            <a:r>
              <a:rPr lang="en-US" sz="1300" dirty="0">
                <a:solidFill>
                  <a:srgbClr val="757575"/>
                </a:solidFill>
                <a:latin typeface="Arial" pitchFamily="34" charset="0"/>
                <a:ea typeface="Arial" pitchFamily="34" charset="-122"/>
                <a:cs typeface="Arial" pitchFamily="34" charset="-120"/>
              </a:rPr>
              <a:t>Puedes cambiar como funciona algo por dentro sin tocar los tests si el comportamiento externo no cambia.</a:t>
            </a:r>
            <a:endParaRPr lang="en-US" sz="1500" dirty="0"/>
          </a:p>
          <a:p>
            <a:pPr marL="342900" indent="-342900">
              <a:spcAft>
                <a:spcPts val="400"/>
              </a:spcAft>
              <a:buSzPct val="100000"/>
              <a:buChar char="•"/>
            </a:pPr>
            <a:r>
              <a:rPr lang="en-US" sz="1500" b="1" dirty="0">
                <a:solidFill>
                  <a:srgbClr val="212121"/>
                </a:solidFill>
                <a:latin typeface="Arial" pitchFamily="34" charset="0"/>
                <a:ea typeface="Arial" pitchFamily="34" charset="-122"/>
                <a:cs typeface="Arial" pitchFamily="34" charset="-120"/>
              </a:rPr>
              <a:t>Localización de errores</a:t>
            </a:r>
            <a:endParaRPr lang="en-US" sz="1500" dirty="0"/>
          </a:p>
          <a:p>
            <a:pPr lvl="1" indent="0" marL="0">
              <a:spcAft>
                <a:spcPts val="1000"/>
              </a:spcAft>
              <a:buNone/>
            </a:pPr>
            <a:r>
              <a:rPr lang="en-US" sz="1300" dirty="0">
                <a:solidFill>
                  <a:srgbClr val="757575"/>
                </a:solidFill>
                <a:latin typeface="Arial" pitchFamily="34" charset="0"/>
                <a:ea typeface="Arial" pitchFamily="34" charset="-122"/>
                <a:cs typeface="Arial" pitchFamily="34" charset="-120"/>
              </a:rPr>
              <a:t>Se depura la unidad problemática en aislamiento, sin revisar todo el sistema a la vez.</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2. JUnit — Que es y cómo configurarlo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Shape 3"/>
          <p:cNvSpPr/>
          <p:nvPr/>
        </p:nvSpPr>
        <p:spPr>
          <a:xfrm>
            <a:off x="548640" y="868680"/>
            <a:ext cx="11091672" cy="82296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766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JUnit es el framework de pruebas unitarias más usado en Java. Permite comprobar que cada unidad de código se comporta como se espera. Se integra con Maven o Gradle para automatizar su ejecución dentro de la integracion continua.</a:t>
            </a:r>
            <a:endParaRPr lang="en-US" sz="1500" dirty="0"/>
          </a:p>
        </p:txBody>
      </p:sp>
      <p:sp>
        <p:nvSpPr>
          <p:cNvPr id="7" name="Text 5"/>
          <p:cNvSpPr/>
          <p:nvPr/>
        </p:nvSpPr>
        <p:spPr>
          <a:xfrm>
            <a:off x="548640" y="1874520"/>
            <a:ext cx="11091672" cy="36576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Conceptos clave antes de escribir el primer test:</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350008"/>
          <a:ext cx="11091672" cy="914400"/>
        </p:xfrm>
        <a:graphic>
          <a:graphicData uri="http://schemas.openxmlformats.org/drawingml/2006/table">
            <a:tbl>
              <a:tblPr/>
              <a:tblGrid>
                <a:gridCol w="2772918"/>
                <a:gridCol w="8318754"/>
              </a:tblGrid>
              <a:tr h="475488">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Concepto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es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Prueba unitaria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Verifica una funcionalidad concreta de forma aislada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Assert</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Instruccion que comprueba si el comportamiento obtenido coincide con el esperado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Anotación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Marca el papel que juega cada método dentro del ciclo de vida de la prueba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Clase de prueba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Agrupa los métodos de test relacionados con una misma clase de produccion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9" name="Text 6"/>
          <p:cNvSpPr/>
          <p:nvPr/>
        </p:nvSpPr>
        <p:spPr>
          <a:xfrm>
            <a:off x="548640" y="4910328"/>
            <a:ext cx="11091672" cy="45720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JUnit se añade al proyecto Maven como dependencia de tipo 'test' en el pom.xml:</a:t>
            </a:r>
            <a:endParaRPr lang="en-US" sz="1400" dirty="0"/>
          </a:p>
        </p:txBody>
      </p:sp>
      <p:sp>
        <p:nvSpPr>
          <p:cNvPr id="10" name="Shape 7"/>
          <p:cNvSpPr/>
          <p:nvPr/>
        </p:nvSpPr>
        <p:spPr>
          <a:xfrm>
            <a:off x="548640" y="5458968"/>
            <a:ext cx="11091672" cy="1280160"/>
          </a:xfrm>
          <a:prstGeom prst="rect">
            <a:avLst/>
          </a:prstGeom>
          <a:solidFill>
            <a:srgbClr val="ECEFF1"/>
          </a:solidFill>
          <a:ln w="12700">
            <a:solidFill>
              <a:srgbClr val="EEEEEE"/>
            </a:solidFill>
            <a:prstDash val="solid"/>
          </a:ln>
        </p:spPr>
      </p:sp>
      <p:sp>
        <p:nvSpPr>
          <p:cNvPr id="11" name="Shape 8"/>
          <p:cNvSpPr/>
          <p:nvPr/>
        </p:nvSpPr>
        <p:spPr>
          <a:xfrm>
            <a:off x="548640" y="5458968"/>
            <a:ext cx="73152" cy="1280160"/>
          </a:xfrm>
          <a:prstGeom prst="rect">
            <a:avLst/>
          </a:prstGeom>
          <a:solidFill>
            <a:srgbClr val="009688"/>
          </a:solidFill>
          <a:ln w="12700">
            <a:solidFill>
              <a:srgbClr val="009688"/>
            </a:solidFill>
            <a:prstDash val="solid"/>
          </a:ln>
        </p:spPr>
      </p:sp>
      <p:sp>
        <p:nvSpPr>
          <p:cNvPr id="12" name="Text 9"/>
          <p:cNvSpPr/>
          <p:nvPr/>
        </p:nvSpPr>
        <p:spPr>
          <a:xfrm>
            <a:off x="777240" y="5550408"/>
            <a:ext cx="10680192" cy="1097280"/>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&lt;dependency&gt;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&lt;groupId&gt;org.junit.jupiter&lt;/groupId&gt;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&lt;artifactId&gt;junit-jupiter&lt;/artifactId&gt;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&lt;version&gt;5.10.2&lt;/version&gt;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&lt;scope&gt;test&lt;/scope&gt;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&lt;/dependency&gt;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2. Escribir el primer test en JUnit 5</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Shape 3"/>
          <p:cNvSpPr/>
          <p:nvPr/>
        </p:nvSpPr>
        <p:spPr>
          <a:xfrm>
            <a:off x="548640" y="868680"/>
            <a:ext cx="11091672" cy="68580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53949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Por convención, la clase de test se llama igual que la clase bajo prueba con el sufijo Test. Si la clase es Calculadora, el archivo de test es CalculadoraTest. Se coloca en src/test/java, en el mismo paquete.</a:t>
            </a:r>
            <a:endParaRPr lang="en-US" sz="1400" dirty="0"/>
          </a:p>
        </p:txBody>
      </p:sp>
      <p:sp>
        <p:nvSpPr>
          <p:cNvPr id="7" name="Shape 5"/>
          <p:cNvSpPr/>
          <p:nvPr/>
        </p:nvSpPr>
        <p:spPr>
          <a:xfrm>
            <a:off x="548640" y="1737360"/>
            <a:ext cx="11091672" cy="2743200"/>
          </a:xfrm>
          <a:prstGeom prst="rect">
            <a:avLst/>
          </a:prstGeom>
          <a:solidFill>
            <a:srgbClr val="ECEFF1"/>
          </a:solidFill>
          <a:ln w="12700">
            <a:solidFill>
              <a:srgbClr val="EEEEEE"/>
            </a:solidFill>
            <a:prstDash val="solid"/>
          </a:ln>
        </p:spPr>
      </p:sp>
      <p:sp>
        <p:nvSpPr>
          <p:cNvPr id="8" name="Shape 6"/>
          <p:cNvSpPr/>
          <p:nvPr/>
        </p:nvSpPr>
        <p:spPr>
          <a:xfrm>
            <a:off x="548640" y="1737360"/>
            <a:ext cx="73152" cy="2743200"/>
          </a:xfrm>
          <a:prstGeom prst="rect">
            <a:avLst/>
          </a:prstGeom>
          <a:solidFill>
            <a:srgbClr val="009688"/>
          </a:solidFill>
          <a:ln w="12700">
            <a:solidFill>
              <a:srgbClr val="009688"/>
            </a:solidFill>
            <a:prstDash val="solid"/>
          </a:ln>
        </p:spPr>
      </p:sp>
      <p:sp>
        <p:nvSpPr>
          <p:cNvPr id="9" name="Text 7"/>
          <p:cNvSpPr/>
          <p:nvPr/>
        </p:nvSpPr>
        <p:spPr>
          <a:xfrm>
            <a:off x="777240" y="1828800"/>
            <a:ext cx="10680192" cy="2560320"/>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import org.junit.jupiter.api.*;</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import static org.junit.jupiter.api.Assertions.*;</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class CalculadoraTest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Calculadora calc;</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@BeforeEach</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void setUp()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calc = new Calculadora();</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@Test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void sumar_dosPositivos_devuelveResultadoCorrecto()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assertEquals(8, calc.sumar(3, 5));</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
        <p:nvSpPr>
          <p:cNvPr id="10" name="Text 8"/>
          <p:cNvSpPr/>
          <p:nvPr/>
        </p:nvSpPr>
        <p:spPr>
          <a:xfrm>
            <a:off x="548640" y="4663440"/>
            <a:ext cx="11091672" cy="41148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Convención nombre de test: método_situación_resultadoEsperado — legible como documentación sin abrir el código.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2. JUnit — Ciclo de vida de las anotaciónes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Text 3"/>
          <p:cNvSpPr/>
          <p:nvPr/>
        </p:nvSpPr>
        <p:spPr>
          <a:xfrm>
            <a:off x="548640" y="868680"/>
            <a:ext cx="11091672" cy="41148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JUnit ejecuta los métodos de preparacion y limpieza en un orden fijo alrededor de cada @Test:</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440168"/>
                <a:gridCol w="8651504"/>
              </a:tblGrid>
              <a:tr h="475488">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Anotación</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Cuando se ejecuta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@BeforeAll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Una sola vez, al principio de toda la clase de pruebas (el método debe ser estatico)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@BeforeEach</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Antes de cada método @Test; se usa para inicializar el estado del test</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@Test</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propio método de prueba; JUnit lo ejecuta y evalua sus asserts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@AfterEach</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Después de cada método @Test; se usa para liberar recursos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75488">
                <a:tc>
                  <a:txBody>
                    <a:bodyPr/>
                    <a:lstStyle/>
                    <a:p>
                      <a:pPr indent="0" marL="0">
                        <a:buNone/>
                      </a:pPr>
                      <a:r>
                        <a:rPr lang="en-US" sz="1400" dirty="0">
                          <a:solidFill>
                            <a:srgbClr val="212121"/>
                          </a:solidFill>
                          <a:latin typeface="Arial" pitchFamily="34" charset="0"/>
                          <a:ea typeface="Arial" pitchFamily="34" charset="-122"/>
                          <a:cs typeface="Arial" pitchFamily="34" charset="-120"/>
                        </a:rPr>
                        <a:t>@AfterAll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Una sola vez, al final de toda la clase de pruebas (el método debe ser estatico)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4544568"/>
            <a:ext cx="11091672" cy="32004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Orden de ejecución en cada suite:</a:t>
            </a:r>
            <a:endParaRPr lang="en-US" sz="1400" dirty="0"/>
          </a:p>
        </p:txBody>
      </p:sp>
      <p:sp>
        <p:nvSpPr>
          <p:cNvPr id="8" name="Shape 5"/>
          <p:cNvSpPr/>
          <p:nvPr/>
        </p:nvSpPr>
        <p:spPr>
          <a:xfrm>
            <a:off x="548640" y="4956048"/>
            <a:ext cx="1889150" cy="914400"/>
          </a:xfrm>
          <a:prstGeom prst="roundRect">
            <a:avLst/>
          </a:prstGeom>
          <a:solidFill>
            <a:srgbClr val="E8EAF6"/>
          </a:solidFill>
          <a:ln w="15875">
            <a:solidFill>
              <a:srgbClr val="3F51B5"/>
            </a:solidFill>
            <a:prstDash val="solid"/>
          </a:ln>
        </p:spPr>
      </p:sp>
      <p:sp>
        <p:nvSpPr>
          <p:cNvPr id="9" name="Text 6"/>
          <p:cNvSpPr/>
          <p:nvPr/>
        </p:nvSpPr>
        <p:spPr>
          <a:xfrm>
            <a:off x="594360" y="5001768"/>
            <a:ext cx="1797710" cy="82296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@BeforeAll</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(1 vez al inicio)</a:t>
            </a:r>
            <a:endParaRPr lang="en-US" sz="1200" dirty="0"/>
          </a:p>
        </p:txBody>
      </p:sp>
      <p:sp>
        <p:nvSpPr>
          <p:cNvPr id="10" name="Text 7"/>
          <p:cNvSpPr/>
          <p:nvPr/>
        </p:nvSpPr>
        <p:spPr>
          <a:xfrm>
            <a:off x="2392070" y="4956048"/>
            <a:ext cx="502920" cy="914400"/>
          </a:xfrm>
          <a:prstGeom prst="rect">
            <a:avLst/>
          </a:prstGeom>
          <a:noFill/>
          <a:ln/>
        </p:spPr>
        <p:txBody>
          <a:bodyPr wrap="square" rtlCol="0" anchor="ctr"/>
          <a:lstStyle/>
          <a:p>
            <a:pPr algn="ctr" indent="0" marL="0">
              <a:buNone/>
            </a:pPr>
            <a:r>
              <a:rPr lang="en-US" sz="2000" b="1" dirty="0">
                <a:solidFill>
                  <a:srgbClr val="3F51B5"/>
                </a:solidFill>
                <a:latin typeface="Arial" pitchFamily="34" charset="0"/>
                <a:ea typeface="Arial" pitchFamily="34" charset="-122"/>
                <a:cs typeface="Arial" pitchFamily="34" charset="-120"/>
              </a:rPr>
              <a:t>-&gt;</a:t>
            </a:r>
            <a:endParaRPr lang="en-US" sz="2000" dirty="0"/>
          </a:p>
        </p:txBody>
      </p:sp>
      <p:sp>
        <p:nvSpPr>
          <p:cNvPr id="11" name="Shape 8"/>
          <p:cNvSpPr/>
          <p:nvPr/>
        </p:nvSpPr>
        <p:spPr>
          <a:xfrm>
            <a:off x="2849270" y="4956048"/>
            <a:ext cx="1889150" cy="914400"/>
          </a:xfrm>
          <a:prstGeom prst="roundRect">
            <a:avLst/>
          </a:prstGeom>
          <a:solidFill>
            <a:srgbClr val="E8EAF6"/>
          </a:solidFill>
          <a:ln w="15875">
            <a:solidFill>
              <a:srgbClr val="3F51B5"/>
            </a:solidFill>
            <a:prstDash val="solid"/>
          </a:ln>
        </p:spPr>
      </p:sp>
      <p:sp>
        <p:nvSpPr>
          <p:cNvPr id="12" name="Text 9"/>
          <p:cNvSpPr/>
          <p:nvPr/>
        </p:nvSpPr>
        <p:spPr>
          <a:xfrm>
            <a:off x="2894990" y="5001768"/>
            <a:ext cx="1797710" cy="82296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@BeforeEach</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(antes de cada test)</a:t>
            </a:r>
            <a:endParaRPr lang="en-US" sz="1200" dirty="0"/>
          </a:p>
        </p:txBody>
      </p:sp>
      <p:sp>
        <p:nvSpPr>
          <p:cNvPr id="13" name="Text 10"/>
          <p:cNvSpPr/>
          <p:nvPr/>
        </p:nvSpPr>
        <p:spPr>
          <a:xfrm>
            <a:off x="4692701" y="4956048"/>
            <a:ext cx="502920" cy="914400"/>
          </a:xfrm>
          <a:prstGeom prst="rect">
            <a:avLst/>
          </a:prstGeom>
          <a:noFill/>
          <a:ln/>
        </p:spPr>
        <p:txBody>
          <a:bodyPr wrap="square" rtlCol="0" anchor="ctr"/>
          <a:lstStyle/>
          <a:p>
            <a:pPr algn="ctr" indent="0" marL="0">
              <a:buNone/>
            </a:pPr>
            <a:r>
              <a:rPr lang="en-US" sz="2000" b="1" dirty="0">
                <a:solidFill>
                  <a:srgbClr val="3F51B5"/>
                </a:solidFill>
                <a:latin typeface="Arial" pitchFamily="34" charset="0"/>
                <a:ea typeface="Arial" pitchFamily="34" charset="-122"/>
                <a:cs typeface="Arial" pitchFamily="34" charset="-120"/>
              </a:rPr>
              <a:t>-&gt;</a:t>
            </a:r>
            <a:endParaRPr lang="en-US" sz="2000" dirty="0"/>
          </a:p>
        </p:txBody>
      </p:sp>
      <p:sp>
        <p:nvSpPr>
          <p:cNvPr id="14" name="Shape 11"/>
          <p:cNvSpPr/>
          <p:nvPr/>
        </p:nvSpPr>
        <p:spPr>
          <a:xfrm>
            <a:off x="5149901" y="4956048"/>
            <a:ext cx="1889150" cy="914400"/>
          </a:xfrm>
          <a:prstGeom prst="roundRect">
            <a:avLst/>
          </a:prstGeom>
          <a:solidFill>
            <a:srgbClr val="E8EAF6"/>
          </a:solidFill>
          <a:ln w="15875">
            <a:solidFill>
              <a:srgbClr val="3F51B5"/>
            </a:solidFill>
            <a:prstDash val="solid"/>
          </a:ln>
        </p:spPr>
      </p:sp>
      <p:sp>
        <p:nvSpPr>
          <p:cNvPr id="15" name="Text 12"/>
          <p:cNvSpPr/>
          <p:nvPr/>
        </p:nvSpPr>
        <p:spPr>
          <a:xfrm>
            <a:off x="5195621" y="5001768"/>
            <a:ext cx="1797710" cy="82296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@Test</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(el test)</a:t>
            </a:r>
            <a:endParaRPr lang="en-US" sz="1200" dirty="0"/>
          </a:p>
        </p:txBody>
      </p:sp>
      <p:sp>
        <p:nvSpPr>
          <p:cNvPr id="16" name="Text 13"/>
          <p:cNvSpPr/>
          <p:nvPr/>
        </p:nvSpPr>
        <p:spPr>
          <a:xfrm>
            <a:off x="6993331" y="4956048"/>
            <a:ext cx="502920" cy="914400"/>
          </a:xfrm>
          <a:prstGeom prst="rect">
            <a:avLst/>
          </a:prstGeom>
          <a:noFill/>
          <a:ln/>
        </p:spPr>
        <p:txBody>
          <a:bodyPr wrap="square" rtlCol="0" anchor="ctr"/>
          <a:lstStyle/>
          <a:p>
            <a:pPr algn="ctr" indent="0" marL="0">
              <a:buNone/>
            </a:pPr>
            <a:r>
              <a:rPr lang="en-US" sz="2000" b="1" dirty="0">
                <a:solidFill>
                  <a:srgbClr val="3F51B5"/>
                </a:solidFill>
                <a:latin typeface="Arial" pitchFamily="34" charset="0"/>
                <a:ea typeface="Arial" pitchFamily="34" charset="-122"/>
                <a:cs typeface="Arial" pitchFamily="34" charset="-120"/>
              </a:rPr>
              <a:t>-&gt;</a:t>
            </a:r>
            <a:endParaRPr lang="en-US" sz="2000" dirty="0"/>
          </a:p>
        </p:txBody>
      </p:sp>
      <p:sp>
        <p:nvSpPr>
          <p:cNvPr id="17" name="Shape 14"/>
          <p:cNvSpPr/>
          <p:nvPr/>
        </p:nvSpPr>
        <p:spPr>
          <a:xfrm>
            <a:off x="7450531" y="4956048"/>
            <a:ext cx="1889150" cy="914400"/>
          </a:xfrm>
          <a:prstGeom prst="roundRect">
            <a:avLst/>
          </a:prstGeom>
          <a:solidFill>
            <a:srgbClr val="E8EAF6"/>
          </a:solidFill>
          <a:ln w="15875">
            <a:solidFill>
              <a:srgbClr val="3F51B5"/>
            </a:solidFill>
            <a:prstDash val="solid"/>
          </a:ln>
        </p:spPr>
      </p:sp>
      <p:sp>
        <p:nvSpPr>
          <p:cNvPr id="18" name="Text 15"/>
          <p:cNvSpPr/>
          <p:nvPr/>
        </p:nvSpPr>
        <p:spPr>
          <a:xfrm>
            <a:off x="7496251" y="5001768"/>
            <a:ext cx="1797710" cy="82296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@AfterEach</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(después de cada test)</a:t>
            </a:r>
            <a:endParaRPr lang="en-US" sz="1200" dirty="0"/>
          </a:p>
        </p:txBody>
      </p:sp>
      <p:sp>
        <p:nvSpPr>
          <p:cNvPr id="19" name="Text 16"/>
          <p:cNvSpPr/>
          <p:nvPr/>
        </p:nvSpPr>
        <p:spPr>
          <a:xfrm>
            <a:off x="9293962" y="4956048"/>
            <a:ext cx="502920" cy="914400"/>
          </a:xfrm>
          <a:prstGeom prst="rect">
            <a:avLst/>
          </a:prstGeom>
          <a:noFill/>
          <a:ln/>
        </p:spPr>
        <p:txBody>
          <a:bodyPr wrap="square" rtlCol="0" anchor="ctr"/>
          <a:lstStyle/>
          <a:p>
            <a:pPr algn="ctr" indent="0" marL="0">
              <a:buNone/>
            </a:pPr>
            <a:r>
              <a:rPr lang="en-US" sz="2000" b="1" dirty="0">
                <a:solidFill>
                  <a:srgbClr val="3F51B5"/>
                </a:solidFill>
                <a:latin typeface="Arial" pitchFamily="34" charset="0"/>
                <a:ea typeface="Arial" pitchFamily="34" charset="-122"/>
                <a:cs typeface="Arial" pitchFamily="34" charset="-120"/>
              </a:rPr>
              <a:t>-&gt;</a:t>
            </a:r>
            <a:endParaRPr lang="en-US" sz="2000" dirty="0"/>
          </a:p>
        </p:txBody>
      </p:sp>
      <p:sp>
        <p:nvSpPr>
          <p:cNvPr id="20" name="Shape 17"/>
          <p:cNvSpPr/>
          <p:nvPr/>
        </p:nvSpPr>
        <p:spPr>
          <a:xfrm>
            <a:off x="9751162" y="4956048"/>
            <a:ext cx="1889150" cy="914400"/>
          </a:xfrm>
          <a:prstGeom prst="roundRect">
            <a:avLst/>
          </a:prstGeom>
          <a:solidFill>
            <a:srgbClr val="E8EAF6"/>
          </a:solidFill>
          <a:ln w="15875">
            <a:solidFill>
              <a:srgbClr val="3F51B5"/>
            </a:solidFill>
            <a:prstDash val="solid"/>
          </a:ln>
        </p:spPr>
      </p:sp>
      <p:sp>
        <p:nvSpPr>
          <p:cNvPr id="21" name="Text 18"/>
          <p:cNvSpPr/>
          <p:nvPr/>
        </p:nvSpPr>
        <p:spPr>
          <a:xfrm>
            <a:off x="9796882" y="5001768"/>
            <a:ext cx="1797710" cy="82296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@AfterAll</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(1 vez al final)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2. JUnit — Asserts principales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Shape 3"/>
          <p:cNvSpPr/>
          <p:nvPr/>
        </p:nvSpPr>
        <p:spPr>
          <a:xfrm>
            <a:off x="548640" y="868680"/>
            <a:ext cx="11091672" cy="68580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53949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Un assert comprueba que el resultado obtenido coincide con el esperado. Si no coincide, JUnit marca el test como FAILED e informa del valor esperado y el real.</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5102169"/>
                <a:gridCol w="5989503"/>
              </a:tblGrid>
              <a:tr h="438912">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Método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Comprueba que...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438912">
                <a:tc>
                  <a:txBody>
                    <a:bodyPr/>
                    <a:lstStyle/>
                    <a:p>
                      <a:pPr indent="0" marL="0">
                        <a:buNone/>
                      </a:pPr>
                      <a:r>
                        <a:rPr lang="en-US" sz="1400" dirty="0">
                          <a:solidFill>
                            <a:srgbClr val="212121"/>
                          </a:solidFill>
                          <a:latin typeface="Arial" pitchFamily="34" charset="0"/>
                          <a:ea typeface="Arial" pitchFamily="34" charset="-122"/>
                          <a:cs typeface="Arial" pitchFamily="34" charset="-120"/>
                        </a:rPr>
                        <a:t>assertEquals(esperado, real)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ambos valores son iguales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212121"/>
                          </a:solidFill>
                          <a:latin typeface="Arial" pitchFamily="34" charset="0"/>
                          <a:ea typeface="Arial" pitchFamily="34" charset="-122"/>
                          <a:cs typeface="Arial" pitchFamily="34" charset="-120"/>
                        </a:rPr>
                        <a:t>assertTrue(condición)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la condición es verdadera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38912">
                <a:tc>
                  <a:txBody>
                    <a:bodyPr/>
                    <a:lstStyle/>
                    <a:p>
                      <a:pPr indent="0" marL="0">
                        <a:buNone/>
                      </a:pPr>
                      <a:r>
                        <a:rPr lang="en-US" sz="1400" dirty="0">
                          <a:solidFill>
                            <a:srgbClr val="212121"/>
                          </a:solidFill>
                          <a:latin typeface="Arial" pitchFamily="34" charset="0"/>
                          <a:ea typeface="Arial" pitchFamily="34" charset="-122"/>
                          <a:cs typeface="Arial" pitchFamily="34" charset="-120"/>
                        </a:rPr>
                        <a:t>assertFalse(condición)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la condición es falsa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212121"/>
                          </a:solidFill>
                          <a:latin typeface="Arial" pitchFamily="34" charset="0"/>
                          <a:ea typeface="Arial" pitchFamily="34" charset="-122"/>
                          <a:cs typeface="Arial" pitchFamily="34" charset="-120"/>
                        </a:rPr>
                        <a:t>assertNull(objeto)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objeto es null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38912">
                <a:tc>
                  <a:txBody>
                    <a:bodyPr/>
                    <a:lstStyle/>
                    <a:p>
                      <a:pPr indent="0" marL="0">
                        <a:buNone/>
                      </a:pPr>
                      <a:r>
                        <a:rPr lang="en-US" sz="1400" dirty="0">
                          <a:solidFill>
                            <a:srgbClr val="212121"/>
                          </a:solidFill>
                          <a:latin typeface="Arial" pitchFamily="34" charset="0"/>
                          <a:ea typeface="Arial" pitchFamily="34" charset="-122"/>
                          <a:cs typeface="Arial" pitchFamily="34" charset="-120"/>
                        </a:rPr>
                        <a:t>assertNotNull(objeto)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objeto no es null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212121"/>
                          </a:solidFill>
                          <a:latin typeface="Arial" pitchFamily="34" charset="0"/>
                          <a:ea typeface="Arial" pitchFamily="34" charset="-122"/>
                          <a:cs typeface="Arial" pitchFamily="34" charset="-120"/>
                        </a:rPr>
                        <a:t>assertThrows(Tipo.class, () -&gt; {...})</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lambda lanza esa excepcion concreta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8" name="Text 5"/>
          <p:cNvSpPr/>
          <p:nvPr/>
        </p:nvSpPr>
        <p:spPr>
          <a:xfrm>
            <a:off x="548640" y="5038344"/>
            <a:ext cx="11091672" cy="36576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Ejemplo: assertThrows verifica que un método lanza la excepcion esperada:</a:t>
            </a:r>
            <a:endParaRPr lang="en-US" sz="1400" dirty="0"/>
          </a:p>
        </p:txBody>
      </p:sp>
      <p:sp>
        <p:nvSpPr>
          <p:cNvPr id="9" name="Shape 6"/>
          <p:cNvSpPr/>
          <p:nvPr/>
        </p:nvSpPr>
        <p:spPr>
          <a:xfrm>
            <a:off x="548640" y="5495544"/>
            <a:ext cx="11091672" cy="685800"/>
          </a:xfrm>
          <a:prstGeom prst="rect">
            <a:avLst/>
          </a:prstGeom>
          <a:solidFill>
            <a:srgbClr val="ECEFF1"/>
          </a:solidFill>
          <a:ln w="12700">
            <a:solidFill>
              <a:srgbClr val="EEEEEE"/>
            </a:solidFill>
            <a:prstDash val="solid"/>
          </a:ln>
        </p:spPr>
      </p:sp>
      <p:sp>
        <p:nvSpPr>
          <p:cNvPr id="10" name="Shape 7"/>
          <p:cNvSpPr/>
          <p:nvPr/>
        </p:nvSpPr>
        <p:spPr>
          <a:xfrm>
            <a:off x="548640" y="5495544"/>
            <a:ext cx="73152" cy="685800"/>
          </a:xfrm>
          <a:prstGeom prst="rect">
            <a:avLst/>
          </a:prstGeom>
          <a:solidFill>
            <a:srgbClr val="009688"/>
          </a:solidFill>
          <a:ln w="12700">
            <a:solidFill>
              <a:srgbClr val="009688"/>
            </a:solidFill>
            <a:prstDash val="solid"/>
          </a:ln>
        </p:spPr>
      </p:sp>
      <p:sp>
        <p:nvSpPr>
          <p:cNvPr id="11" name="Text 8"/>
          <p:cNvSpPr/>
          <p:nvPr/>
        </p:nvSpPr>
        <p:spPr>
          <a:xfrm>
            <a:off x="777240" y="5586984"/>
            <a:ext cx="10680192" cy="502920"/>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 El test pasa si calc.dividir(10, 0) lanza ArithmeticException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assertThrows(ArithmeticException.class, () -&gt; calc.dividir(10, 0));</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3. Tests parametrizados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3093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Cuando se quiere probar el mismo método con varios conjuntos de datos distintos, los tests parametrizados ejecutan un único método de prueba varias veces, una por cada conjunto de datos.</a:t>
            </a:r>
            <a:endParaRPr lang="en-US" sz="1500" dirty="0"/>
          </a:p>
        </p:txBody>
      </p:sp>
      <p:sp>
        <p:nvSpPr>
          <p:cNvPr id="7" name="Text 5"/>
          <p:cNvSpPr/>
          <p:nvPr/>
        </p:nvSpPr>
        <p:spPr>
          <a:xfrm>
            <a:off x="548640" y="1828800"/>
            <a:ext cx="11091672" cy="36576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La anotación @ParameterizedTest se combina con una fuente de datos: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04288"/>
          <a:ext cx="11091672" cy="914400"/>
        </p:xfrm>
        <a:graphic>
          <a:graphicData uri="http://schemas.openxmlformats.org/drawingml/2006/table">
            <a:tbl>
              <a:tblPr/>
              <a:tblGrid>
                <a:gridCol w="3105668"/>
                <a:gridCol w="7986004"/>
              </a:tblGrid>
              <a:tr h="402336">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Fuente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Cuando usarla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402336">
                <a:tc>
                  <a:txBody>
                    <a:bodyPr/>
                    <a:lstStyle/>
                    <a:p>
                      <a:pPr indent="0" marL="0">
                        <a:buNone/>
                      </a:pPr>
                      <a:r>
                        <a:rPr lang="en-US" sz="1400" dirty="0">
                          <a:solidFill>
                            <a:srgbClr val="212121"/>
                          </a:solidFill>
                          <a:latin typeface="Arial" pitchFamily="34" charset="0"/>
                          <a:ea typeface="Arial" pitchFamily="34" charset="-122"/>
                          <a:cs typeface="Arial" pitchFamily="34" charset="-120"/>
                        </a:rPr>
                        <a:t>@ValueSource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Una lista de valores de un mismo tipo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02336">
                <a:tc>
                  <a:txBody>
                    <a:bodyPr/>
                    <a:lstStyle/>
                    <a:p>
                      <a:pPr indent="0" marL="0">
                        <a:buNone/>
                      </a:pPr>
                      <a:r>
                        <a:rPr lang="en-US" sz="1400" dirty="0">
                          <a:solidFill>
                            <a:srgbClr val="212121"/>
                          </a:solidFill>
                          <a:latin typeface="Arial" pitchFamily="34" charset="0"/>
                          <a:ea typeface="Arial" pitchFamily="34" charset="-122"/>
                          <a:cs typeface="Arial" pitchFamily="34" charset="-120"/>
                        </a:rPr>
                        <a:t>@CsvSource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Varias columnas de datos separadas por comas, directamente en el código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02336">
                <a:tc>
                  <a:txBody>
                    <a:bodyPr/>
                    <a:lstStyle/>
                    <a:p>
                      <a:pPr indent="0" marL="0">
                        <a:buNone/>
                      </a:pPr>
                      <a:r>
                        <a:rPr lang="en-US" sz="1400" dirty="0">
                          <a:solidFill>
                            <a:srgbClr val="212121"/>
                          </a:solidFill>
                          <a:latin typeface="Arial" pitchFamily="34" charset="0"/>
                          <a:ea typeface="Arial" pitchFamily="34" charset="-122"/>
                          <a:cs typeface="Arial" pitchFamily="34" charset="-120"/>
                        </a:rPr>
                        <a:t>@CsvFileSource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Los datos se leen desde un archivo CSV externo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02336">
                <a:tc>
                  <a:txBody>
                    <a:bodyPr/>
                    <a:lstStyle/>
                    <a:p>
                      <a:pPr indent="0" marL="0">
                        <a:buNone/>
                      </a:pPr>
                      <a:r>
                        <a:rPr lang="en-US" sz="1400" dirty="0">
                          <a:solidFill>
                            <a:srgbClr val="212121"/>
                          </a:solidFill>
                          <a:latin typeface="Arial" pitchFamily="34" charset="0"/>
                          <a:ea typeface="Arial" pitchFamily="34" charset="-122"/>
                          <a:cs typeface="Arial" pitchFamily="34" charset="-120"/>
                        </a:rPr>
                        <a:t>@MethodSource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Un método aparte genera los datos, util cuando son más complejos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9" name="Text 6"/>
          <p:cNvSpPr/>
          <p:nvPr/>
        </p:nvSpPr>
        <p:spPr>
          <a:xfrm>
            <a:off x="548640" y="4498848"/>
            <a:ext cx="11091672" cy="36576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Ejemplo con @CsvSource (cada fila se ejecuta como una llamada independiente):</a:t>
            </a:r>
            <a:endParaRPr lang="en-US" sz="1400" dirty="0"/>
          </a:p>
        </p:txBody>
      </p:sp>
      <p:sp>
        <p:nvSpPr>
          <p:cNvPr id="10" name="Shape 7"/>
          <p:cNvSpPr/>
          <p:nvPr/>
        </p:nvSpPr>
        <p:spPr>
          <a:xfrm>
            <a:off x="548640" y="4956048"/>
            <a:ext cx="11091672" cy="1371600"/>
          </a:xfrm>
          <a:prstGeom prst="rect">
            <a:avLst/>
          </a:prstGeom>
          <a:solidFill>
            <a:srgbClr val="ECEFF1"/>
          </a:solidFill>
          <a:ln w="12700">
            <a:solidFill>
              <a:srgbClr val="EEEEEE"/>
            </a:solidFill>
            <a:prstDash val="solid"/>
          </a:ln>
        </p:spPr>
      </p:sp>
      <p:sp>
        <p:nvSpPr>
          <p:cNvPr id="11" name="Shape 8"/>
          <p:cNvSpPr/>
          <p:nvPr/>
        </p:nvSpPr>
        <p:spPr>
          <a:xfrm>
            <a:off x="548640" y="4956048"/>
            <a:ext cx="73152" cy="1371600"/>
          </a:xfrm>
          <a:prstGeom prst="rect">
            <a:avLst/>
          </a:prstGeom>
          <a:solidFill>
            <a:srgbClr val="009688"/>
          </a:solidFill>
          <a:ln w="12700">
            <a:solidFill>
              <a:srgbClr val="009688"/>
            </a:solidFill>
            <a:prstDash val="solid"/>
          </a:ln>
        </p:spPr>
      </p:sp>
      <p:sp>
        <p:nvSpPr>
          <p:cNvPr id="12" name="Text 9"/>
          <p:cNvSpPr/>
          <p:nvPr/>
        </p:nvSpPr>
        <p:spPr>
          <a:xfrm>
            <a:off x="777240" y="5047488"/>
            <a:ext cx="10680192" cy="1188720"/>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@ParameterizedTest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@CsvSource({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"2, 3, 5",</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"3, 4, 7"</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void testSumarCasosVálidos(int a, int b, int esperado)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assertEquals(esperado, calculadora.sumar(a, b));</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4. Dobles de prueba — Mocks, Stubs y Dummies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Text 3"/>
          <p:cNvSpPr/>
          <p:nvPr/>
        </p:nvSpPr>
        <p:spPr>
          <a:xfrm>
            <a:off x="548640" y="868680"/>
            <a:ext cx="11091672" cy="64008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Hay casos en los que probar una clase implica, sin querer, probar también sus dependencias: una base de datos, un servicio web, un archivo externo... Los dobles de prueba son objetos que sustituyen esas dependencias reales dentro del test.</a:t>
            </a:r>
            <a:endParaRPr lang="en-US" sz="1500" dirty="0"/>
          </a:p>
        </p:txBody>
      </p:sp>
      <p:sp>
        <p:nvSpPr>
          <p:cNvPr id="6" name="Shape 4"/>
          <p:cNvSpPr/>
          <p:nvPr/>
        </p:nvSpPr>
        <p:spPr>
          <a:xfrm>
            <a:off x="548640" y="1691640"/>
            <a:ext cx="11091672" cy="438912"/>
          </a:xfrm>
          <a:prstGeom prst="rect">
            <a:avLst/>
          </a:prstGeom>
          <a:solidFill>
            <a:srgbClr val="3F51B5"/>
          </a:solidFill>
          <a:ln w="12700">
            <a:solidFill>
              <a:srgbClr val="3F51B5"/>
            </a:solidFill>
            <a:prstDash val="solid"/>
          </a:ln>
        </p:spPr>
      </p:sp>
      <p:sp>
        <p:nvSpPr>
          <p:cNvPr id="7" name="Text 5"/>
          <p:cNvSpPr/>
          <p:nvPr/>
        </p:nvSpPr>
        <p:spPr>
          <a:xfrm>
            <a:off x="731520" y="1691640"/>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Tipos de dobles</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267712"/>
          <a:ext cx="11091672" cy="914400"/>
        </p:xfrm>
        <a:graphic>
          <a:graphicData uri="http://schemas.openxmlformats.org/drawingml/2006/table">
            <a:tbl>
              <a:tblPr/>
              <a:tblGrid>
                <a:gridCol w="1663751"/>
                <a:gridCol w="9427921"/>
              </a:tblGrid>
              <a:tr h="86868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Tipo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hace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868680">
                <a:tc>
                  <a:txBody>
                    <a:bodyPr/>
                    <a:lstStyle/>
                    <a:p>
                      <a:pPr indent="0" marL="0">
                        <a:buNone/>
                      </a:pPr>
                      <a:r>
                        <a:rPr lang="en-US" sz="1400" dirty="0">
                          <a:solidFill>
                            <a:srgbClr val="212121"/>
                          </a:solidFill>
                          <a:latin typeface="Arial" pitchFamily="34" charset="0"/>
                          <a:ea typeface="Arial" pitchFamily="34" charset="-122"/>
                          <a:cs typeface="Arial" pitchFamily="34" charset="-120"/>
                        </a:rPr>
                        <a:t>Mock</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Objeto 'falso' que simula el comportamiento de una dependencia real. Se define que debe devolver cada método y se puede verificar si se llamo y con que parametros.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68680">
                <a:tc>
                  <a:txBody>
                    <a:bodyPr/>
                    <a:lstStyle/>
                    <a:p>
                      <a:pPr indent="0" marL="0">
                        <a:buNone/>
                      </a:pPr>
                      <a:r>
                        <a:rPr lang="en-US" sz="1400" dirty="0">
                          <a:solidFill>
                            <a:srgbClr val="212121"/>
                          </a:solidFill>
                          <a:latin typeface="Arial" pitchFamily="34" charset="0"/>
                          <a:ea typeface="Arial" pitchFamily="34" charset="-122"/>
                          <a:cs typeface="Arial" pitchFamily="34" charset="-120"/>
                        </a:rPr>
                        <a:t>Stub</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Version simplificada de una dependencia que se limita a devolver datos predefinidos, sin la lógica de verificación de un mock.</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868680">
                <a:tc>
                  <a:txBody>
                    <a:bodyPr/>
                    <a:lstStyle/>
                    <a:p>
                      <a:pPr indent="0" marL="0">
                        <a:buNone/>
                      </a:pPr>
                      <a:r>
                        <a:rPr lang="en-US" sz="1400" dirty="0">
                          <a:solidFill>
                            <a:srgbClr val="212121"/>
                          </a:solidFill>
                          <a:latin typeface="Arial" pitchFamily="34" charset="0"/>
                          <a:ea typeface="Arial" pitchFamily="34" charset="-122"/>
                          <a:cs typeface="Arial" pitchFamily="34" charset="-120"/>
                        </a:rPr>
                        <a:t>Dummy</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Objeto sin funcionalidad real, que solo existe porque el código lo necesita para ejecutarse (un parametro obligatorio que no influye en el resultado).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9" name="Shape 6"/>
          <p:cNvSpPr/>
          <p:nvPr/>
        </p:nvSpPr>
        <p:spPr>
          <a:xfrm>
            <a:off x="548640" y="5925312"/>
            <a:ext cx="11091672" cy="777240"/>
          </a:xfrm>
          <a:prstGeom prst="roundRect">
            <a:avLst/>
          </a:prstGeom>
          <a:solidFill>
            <a:srgbClr val="E0F2F1"/>
          </a:solidFill>
          <a:ln w="19050">
            <a:solidFill>
              <a:srgbClr val="009688"/>
            </a:solidFill>
            <a:prstDash val="solid"/>
          </a:ln>
        </p:spPr>
      </p:sp>
      <p:sp>
        <p:nvSpPr>
          <p:cNvPr id="10" name="Text 7"/>
          <p:cNvSpPr/>
          <p:nvPr/>
        </p:nvSpPr>
        <p:spPr>
          <a:xfrm>
            <a:off x="777240" y="5998464"/>
            <a:ext cx="10634472" cy="63093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Metáfora: Si quieres evaluar las habilidades de un cocinero (la clase bajo prueba) que usa ciertas herramientas (la dependencia), le das herramientas simuladas que sabes que funcionan perfectamente, y asi te concentras en evaluar solo al cocinero.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4. Mocks con Mockito</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Entornos de Desarrollo  |  Tema 3: Verificación y Pruebas  |  Pruebas Unitarias</a:t>
            </a:r>
            <a:endParaRPr lang="en-US" sz="1100" dirty="0"/>
          </a:p>
        </p:txBody>
      </p:sp>
      <p:sp>
        <p:nvSpPr>
          <p:cNvPr id="5" name="Shape 3"/>
          <p:cNvSpPr/>
          <p:nvPr/>
        </p:nvSpPr>
        <p:spPr>
          <a:xfrm>
            <a:off x="548640" y="868680"/>
            <a:ext cx="11091672" cy="64008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49377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Mockito es la librería más usada en Java para crear mocks. Se añade como dependencia de tipo test en el pom.xml.</a:t>
            </a:r>
            <a:endParaRPr lang="en-US" sz="1500" dirty="0"/>
          </a:p>
        </p:txBody>
      </p:sp>
      <p:sp>
        <p:nvSpPr>
          <p:cNvPr id="7" name="Shape 5"/>
          <p:cNvSpPr/>
          <p:nvPr/>
        </p:nvSpPr>
        <p:spPr>
          <a:xfrm>
            <a:off x="548640" y="1691640"/>
            <a:ext cx="11091672" cy="1280160"/>
          </a:xfrm>
          <a:prstGeom prst="rect">
            <a:avLst/>
          </a:prstGeom>
          <a:solidFill>
            <a:srgbClr val="ECEFF1"/>
          </a:solidFill>
          <a:ln w="12700">
            <a:solidFill>
              <a:srgbClr val="EEEEEE"/>
            </a:solidFill>
            <a:prstDash val="solid"/>
          </a:ln>
        </p:spPr>
      </p:sp>
      <p:sp>
        <p:nvSpPr>
          <p:cNvPr id="8" name="Shape 6"/>
          <p:cNvSpPr/>
          <p:nvPr/>
        </p:nvSpPr>
        <p:spPr>
          <a:xfrm>
            <a:off x="548640" y="1691640"/>
            <a:ext cx="73152" cy="1280160"/>
          </a:xfrm>
          <a:prstGeom prst="rect">
            <a:avLst/>
          </a:prstGeom>
          <a:solidFill>
            <a:srgbClr val="009688"/>
          </a:solidFill>
          <a:ln w="12700">
            <a:solidFill>
              <a:srgbClr val="009688"/>
            </a:solidFill>
            <a:prstDash val="solid"/>
          </a:ln>
        </p:spPr>
      </p:sp>
      <p:sp>
        <p:nvSpPr>
          <p:cNvPr id="9" name="Text 7"/>
          <p:cNvSpPr/>
          <p:nvPr/>
        </p:nvSpPr>
        <p:spPr>
          <a:xfrm>
            <a:off x="777240" y="1783080"/>
            <a:ext cx="10680192" cy="1097280"/>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&lt;dependency&gt;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&lt;groupId&gt;org.mockito&lt;/groupId&gt;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&lt;artifactId&gt;mockito-core&lt;/artifactId&gt;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&lt;version&gt;5.15.2&lt;/version&gt;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&lt;scope&gt;test&lt;/scope&gt;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&lt;/dependency&gt;</a:t>
            </a:r>
            <a:endParaRPr lang="en-US" sz="1300" dirty="0"/>
          </a:p>
        </p:txBody>
      </p:sp>
      <p:sp>
        <p:nvSpPr>
          <p:cNvPr id="10" name="Text 8"/>
          <p:cNvSpPr/>
          <p:nvPr/>
        </p:nvSpPr>
        <p:spPr>
          <a:xfrm>
            <a:off x="548640" y="3154680"/>
            <a:ext cx="11091672" cy="36576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Patrón típico de un test con mock:</a:t>
            </a:r>
            <a:endParaRPr lang="en-US" sz="1500" dirty="0"/>
          </a:p>
        </p:txBody>
      </p:sp>
      <p:sp>
        <p:nvSpPr>
          <p:cNvPr id="11" name="Shape 9"/>
          <p:cNvSpPr/>
          <p:nvPr/>
        </p:nvSpPr>
        <p:spPr>
          <a:xfrm>
            <a:off x="548640" y="3611880"/>
            <a:ext cx="11091672" cy="3200400"/>
          </a:xfrm>
          <a:prstGeom prst="rect">
            <a:avLst/>
          </a:prstGeom>
          <a:solidFill>
            <a:srgbClr val="ECEFF1"/>
          </a:solidFill>
          <a:ln w="12700">
            <a:solidFill>
              <a:srgbClr val="EEEEEE"/>
            </a:solidFill>
            <a:prstDash val="solid"/>
          </a:ln>
        </p:spPr>
      </p:sp>
      <p:sp>
        <p:nvSpPr>
          <p:cNvPr id="12" name="Shape 10"/>
          <p:cNvSpPr/>
          <p:nvPr/>
        </p:nvSpPr>
        <p:spPr>
          <a:xfrm>
            <a:off x="548640" y="3611880"/>
            <a:ext cx="73152" cy="3200400"/>
          </a:xfrm>
          <a:prstGeom prst="rect">
            <a:avLst/>
          </a:prstGeom>
          <a:solidFill>
            <a:srgbClr val="009688"/>
          </a:solidFill>
          <a:ln w="12700">
            <a:solidFill>
              <a:srgbClr val="009688"/>
            </a:solidFill>
            <a:prstDash val="solid"/>
          </a:ln>
        </p:spPr>
      </p:sp>
      <p:sp>
        <p:nvSpPr>
          <p:cNvPr id="13" name="Text 11"/>
          <p:cNvSpPr/>
          <p:nvPr/>
        </p:nvSpPr>
        <p:spPr>
          <a:xfrm>
            <a:off x="777240" y="3703320"/>
            <a:ext cx="10680192" cy="3017520"/>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 1. Crear el mock de la dependencia</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Calculadora calc = mock(Calculadora.class);</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2. Configurar que devuelve cada método</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when(calc.sumar(3, 5)).thenReturn(8);</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when(calc.multiplicar(8, 2)).thenReturn(16);</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3. Instanciar la clase bajo prueba inyectando el mock</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CalculadoraService svc = new CalculadoraService(calc);</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4. Ejecutar el método que queremos probar</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int result = svc.dobleDeLaSuma(3, 5);</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5. Verificar el resultado</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assertEquals(16, result);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Entornos de Desarrollo</cp:lastModifiedBy>
  <cp:revision>1</cp:revision>
  <dcterms:created xsi:type="dcterms:W3CDTF">2026-06-23T22:20:02Z</dcterms:created>
  <dcterms:modified xsi:type="dcterms:W3CDTF">2026-06-23T22:20:02Z</dcterms:modified>
</cp:coreProperties>
</file>
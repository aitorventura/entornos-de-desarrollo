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B0BEC5"/>
                </a:solidFill>
                <a:latin typeface="Arial" pitchFamily="34" charset="0"/>
                <a:ea typeface="Arial" pitchFamily="34" charset="-122"/>
                <a:cs typeface="Arial" pitchFamily="34" charset="-120"/>
              </a:rPr>
              <a:t>ENTORNOS DE DESARROLLO  —  TEMA 3: VERIFICACIÓN Y PRUEBAS</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4400" b="1" dirty="0">
                <a:solidFill>
                  <a:srgbClr val="FFFFFF"/>
                </a:solidFill>
                <a:latin typeface="Arial" pitchFamily="34" charset="0"/>
                <a:ea typeface="Arial" pitchFamily="34" charset="-122"/>
                <a:cs typeface="Arial" pitchFamily="34" charset="-120"/>
              </a:rPr>
              <a:t>Pruebas de software</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3 — Verificación y Pruebas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¿Qué es una prueba de software?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Una prueba de software es la ejecución controlada de un programa con el objetivo de detectar defectos: comprobar si cumple los requisitos especificados y si se comporta como se espera.</a:t>
            </a:r>
            <a:endParaRPr lang="en-US" sz="1500" dirty="0"/>
          </a:p>
        </p:txBody>
      </p:sp>
      <p:sp>
        <p:nvSpPr>
          <p:cNvPr id="7" name="Shape 5"/>
          <p:cNvSpPr/>
          <p:nvPr/>
        </p:nvSpPr>
        <p:spPr>
          <a:xfrm>
            <a:off x="548640" y="1920240"/>
            <a:ext cx="11091672" cy="868680"/>
          </a:xfrm>
          <a:prstGeom prst="roundRect">
            <a:avLst/>
          </a:prstGeom>
          <a:solidFill>
            <a:srgbClr val="F3E5F5"/>
          </a:solidFill>
          <a:ln w="19050">
            <a:solidFill>
              <a:srgbClr val="7B1FA2"/>
            </a:solidFill>
            <a:prstDash val="solid"/>
          </a:ln>
        </p:spPr>
      </p:sp>
      <p:sp>
        <p:nvSpPr>
          <p:cNvPr id="8" name="Text 6"/>
          <p:cNvSpPr/>
          <p:nvPr/>
        </p:nvSpPr>
        <p:spPr>
          <a:xfrm>
            <a:off x="822960" y="2011680"/>
            <a:ext cx="10543032" cy="685800"/>
          </a:xfrm>
          <a:prstGeom prst="rect">
            <a:avLst/>
          </a:prstGeom>
          <a:noFill/>
          <a:ln/>
        </p:spPr>
        <p:txBody>
          <a:bodyPr wrap="square" rtlCol="0" anchor="ctr"/>
          <a:lstStyle/>
          <a:p>
            <a:pPr indent="0" marL="0">
              <a:buNone/>
            </a:pPr>
            <a:r>
              <a:rPr lang="en-US" sz="1500" i="1" dirty="0">
                <a:solidFill>
                  <a:srgbClr val="4A148C"/>
                </a:solidFill>
                <a:latin typeface="Arial" pitchFamily="34" charset="0"/>
                <a:ea typeface="Arial" pitchFamily="34" charset="-122"/>
                <a:cs typeface="Arial" pitchFamily="34" charset="-120"/>
              </a:rPr>
              <a:t>"La prueba de programas puede utilizarse para mostrar la presencia de errores, pero nunca para demostrar su ausencia."</a:t>
            </a:r>
            <a:pPr indent="0" marL="0">
              <a:buNone/>
            </a:pPr>
            <a:r>
              <a:rPr lang="en-US" sz="1300" b="1" dirty="0">
                <a:solidFill>
                  <a:srgbClr val="7B1FA2"/>
                </a:solidFill>
                <a:latin typeface="Arial" pitchFamily="34" charset="0"/>
                <a:ea typeface="Arial" pitchFamily="34" charset="-122"/>
                <a:cs typeface="Arial" pitchFamily="34" charset="-120"/>
              </a:rPr>
              <a:t>  — Edgar Dijkstra</a:t>
            </a:r>
            <a:endParaRPr lang="en-US" sz="1500" dirty="0"/>
          </a:p>
        </p:txBody>
      </p:sp>
      <p:sp>
        <p:nvSpPr>
          <p:cNvPr id="9" name="Text 7"/>
          <p:cNvSpPr/>
          <p:nvPr/>
        </p:nvSpPr>
        <p:spPr>
          <a:xfrm>
            <a:off x="548640" y="3017520"/>
            <a:ext cx="11091672" cy="64008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Pasar las pruebas no significa que el programa esté libre de fallos, solo que esas pruebas concretas no han encontrado ninguno. El objetivo real es reducir al mínimo los fallos que llegan al usuario.</a:t>
            </a:r>
            <a:endParaRPr lang="en-US" sz="1400" dirty="0"/>
          </a:p>
        </p:txBody>
      </p:sp>
      <p:sp>
        <p:nvSpPr>
          <p:cNvPr id="10" name="Shape 8"/>
          <p:cNvSpPr/>
          <p:nvPr/>
        </p:nvSpPr>
        <p:spPr>
          <a:xfrm>
            <a:off x="548640" y="3840480"/>
            <a:ext cx="11091672" cy="822960"/>
          </a:xfrm>
          <a:prstGeom prst="roundRect">
            <a:avLst/>
          </a:prstGeom>
          <a:solidFill>
            <a:srgbClr val="FFF8E1"/>
          </a:solidFill>
          <a:ln w="19050">
            <a:solidFill>
              <a:srgbClr val="F9A825"/>
            </a:solidFill>
            <a:prstDash val="solid"/>
          </a:ln>
        </p:spPr>
      </p:sp>
      <p:sp>
        <p:nvSpPr>
          <p:cNvPr id="11" name="Text 9"/>
          <p:cNvSpPr/>
          <p:nvPr/>
        </p:nvSpPr>
        <p:spPr>
          <a:xfrm>
            <a:off x="777240" y="3913632"/>
            <a:ext cx="10634472" cy="676656"/>
          </a:xfrm>
          <a:prstGeom prst="rect">
            <a:avLst/>
          </a:prstGeom>
          <a:noFill/>
          <a:ln/>
        </p:spPr>
        <p:txBody>
          <a:bodyPr wrap="square" rtlCol="0" anchor="ctr"/>
          <a:lstStyle/>
          <a:p>
            <a:pPr indent="0" marL="0">
              <a:buNone/>
            </a:pPr>
            <a:r>
              <a:rPr lang="en-US" sz="1400" dirty="0">
                <a:solidFill>
                  <a:srgbClr val="5D4037"/>
                </a:solidFill>
                <a:latin typeface="Arial" pitchFamily="34" charset="0"/>
                <a:ea typeface="Arial" pitchFamily="34" charset="-122"/>
                <a:cs typeface="Arial" pitchFamily="34" charset="-120"/>
              </a:rPr>
              <a:t>⚠  Las pruebas no son solo una comprobación al final de la implementación. Deben hacerse en distintas etapas y no se limitan a la funcionalidad: también evalúan rendimiento, seguridad, usabilidad y compatibilidad.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¿Por qué cuesta tanto detectar un error tarde?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Text 3"/>
          <p:cNvSpPr/>
          <p:nvPr/>
        </p:nvSpPr>
        <p:spPr>
          <a:xfrm>
            <a:off x="548640" y="868680"/>
            <a:ext cx="11091672" cy="50292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El coste de arreglar un fallo depende de cuándo se descubre. Cuanto más tarde aparece, más trabajo hay que deshacer y rehacer:</a:t>
            </a:r>
            <a:endParaRPr lang="en-US" sz="1500" dirty="0"/>
          </a:p>
        </p:txBody>
      </p:sp>
      <p:sp>
        <p:nvSpPr>
          <p:cNvPr id="6" name="Shape 4"/>
          <p:cNvSpPr/>
          <p:nvPr/>
        </p:nvSpPr>
        <p:spPr>
          <a:xfrm>
            <a:off x="548640" y="1554480"/>
            <a:ext cx="1998878" cy="1234440"/>
          </a:xfrm>
          <a:prstGeom prst="roundRect">
            <a:avLst/>
          </a:prstGeom>
          <a:solidFill>
            <a:srgbClr val="E8EAF6"/>
          </a:solidFill>
          <a:ln w="15875">
            <a:solidFill>
              <a:srgbClr val="3F51B5"/>
            </a:solidFill>
            <a:prstDash val="solid"/>
          </a:ln>
        </p:spPr>
      </p:sp>
      <p:sp>
        <p:nvSpPr>
          <p:cNvPr id="7" name="Text 5"/>
          <p:cNvSpPr/>
          <p:nvPr/>
        </p:nvSpPr>
        <p:spPr>
          <a:xfrm>
            <a:off x="594360" y="1600200"/>
            <a:ext cx="1907438" cy="114300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Requisitos</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2529230" y="1554480"/>
            <a:ext cx="310896" cy="12344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2821838" y="1554480"/>
            <a:ext cx="1998878" cy="1234440"/>
          </a:xfrm>
          <a:prstGeom prst="roundRect">
            <a:avLst/>
          </a:prstGeom>
          <a:solidFill>
            <a:srgbClr val="E8EAF6"/>
          </a:solidFill>
          <a:ln w="15875">
            <a:solidFill>
              <a:srgbClr val="3F51B5"/>
            </a:solidFill>
            <a:prstDash val="solid"/>
          </a:ln>
        </p:spPr>
      </p:sp>
      <p:sp>
        <p:nvSpPr>
          <p:cNvPr id="10" name="Text 8"/>
          <p:cNvSpPr/>
          <p:nvPr/>
        </p:nvSpPr>
        <p:spPr>
          <a:xfrm>
            <a:off x="2867558" y="1600200"/>
            <a:ext cx="1907438" cy="114300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Diseño</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5×</a:t>
            </a:r>
            <a:endParaRPr lang="en-US" sz="1400" dirty="0"/>
          </a:p>
        </p:txBody>
      </p:sp>
      <p:sp>
        <p:nvSpPr>
          <p:cNvPr id="11" name="Text 9"/>
          <p:cNvSpPr/>
          <p:nvPr/>
        </p:nvSpPr>
        <p:spPr>
          <a:xfrm>
            <a:off x="4802429" y="1554480"/>
            <a:ext cx="310896" cy="12344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5095037" y="1554480"/>
            <a:ext cx="1998878" cy="1234440"/>
          </a:xfrm>
          <a:prstGeom prst="roundRect">
            <a:avLst/>
          </a:prstGeom>
          <a:solidFill>
            <a:srgbClr val="E8EAF6"/>
          </a:solidFill>
          <a:ln w="15875">
            <a:solidFill>
              <a:srgbClr val="3F51B5"/>
            </a:solidFill>
            <a:prstDash val="solid"/>
          </a:ln>
        </p:spPr>
      </p:sp>
      <p:sp>
        <p:nvSpPr>
          <p:cNvPr id="13" name="Text 11"/>
          <p:cNvSpPr/>
          <p:nvPr/>
        </p:nvSpPr>
        <p:spPr>
          <a:xfrm>
            <a:off x="5140757" y="1600200"/>
            <a:ext cx="1907438" cy="114300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Código</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10×</a:t>
            </a:r>
            <a:endParaRPr lang="en-US" sz="1400" dirty="0"/>
          </a:p>
        </p:txBody>
      </p:sp>
      <p:sp>
        <p:nvSpPr>
          <p:cNvPr id="14" name="Text 12"/>
          <p:cNvSpPr/>
          <p:nvPr/>
        </p:nvSpPr>
        <p:spPr>
          <a:xfrm>
            <a:off x="7075627" y="1554480"/>
            <a:ext cx="310896" cy="12344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7368235" y="1554480"/>
            <a:ext cx="1998878" cy="1234440"/>
          </a:xfrm>
          <a:prstGeom prst="roundRect">
            <a:avLst/>
          </a:prstGeom>
          <a:solidFill>
            <a:srgbClr val="E8EAF6"/>
          </a:solidFill>
          <a:ln w="15875">
            <a:solidFill>
              <a:srgbClr val="3F51B5"/>
            </a:solidFill>
            <a:prstDash val="solid"/>
          </a:ln>
        </p:spPr>
      </p:sp>
      <p:sp>
        <p:nvSpPr>
          <p:cNvPr id="16" name="Text 14"/>
          <p:cNvSpPr/>
          <p:nvPr/>
        </p:nvSpPr>
        <p:spPr>
          <a:xfrm>
            <a:off x="7413955" y="1600200"/>
            <a:ext cx="1907438" cy="114300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Pruebas</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20×</a:t>
            </a:r>
            <a:endParaRPr lang="en-US" sz="1400" dirty="0"/>
          </a:p>
        </p:txBody>
      </p:sp>
      <p:sp>
        <p:nvSpPr>
          <p:cNvPr id="17" name="Text 15"/>
          <p:cNvSpPr/>
          <p:nvPr/>
        </p:nvSpPr>
        <p:spPr>
          <a:xfrm>
            <a:off x="9348826" y="1554480"/>
            <a:ext cx="310896" cy="1234440"/>
          </a:xfrm>
          <a:prstGeom prst="rect">
            <a:avLst/>
          </a:prstGeom>
          <a:noFill/>
          <a:ln/>
        </p:spPr>
        <p:txBody>
          <a:bodyPr wrap="square" rtlCol="0" anchor="ctr"/>
          <a:lstStyle/>
          <a:p>
            <a:pPr algn="ctr" indent="0" marL="0">
              <a:buNone/>
            </a:pPr>
            <a:r>
              <a:rPr lang="en-US" sz="1800" b="1" dirty="0">
                <a:solidFill>
                  <a:srgbClr val="3F51B5"/>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9641434" y="1554480"/>
            <a:ext cx="1998878" cy="1234440"/>
          </a:xfrm>
          <a:prstGeom prst="roundRect">
            <a:avLst/>
          </a:prstGeom>
          <a:solidFill>
            <a:srgbClr val="E8EAF6"/>
          </a:solidFill>
          <a:ln w="15875">
            <a:solidFill>
              <a:srgbClr val="3F51B5"/>
            </a:solidFill>
            <a:prstDash val="solid"/>
          </a:ln>
        </p:spPr>
      </p:sp>
      <p:sp>
        <p:nvSpPr>
          <p:cNvPr id="19" name="Text 17"/>
          <p:cNvSpPr/>
          <p:nvPr/>
        </p:nvSpPr>
        <p:spPr>
          <a:xfrm>
            <a:off x="9687154" y="1600200"/>
            <a:ext cx="1907438" cy="114300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Producción</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50×</a:t>
            </a:r>
            <a:endParaRPr lang="en-US" sz="1400" dirty="0"/>
          </a:p>
        </p:txBody>
      </p:sp>
      <p:sp>
        <p:nvSpPr>
          <p:cNvPr id="20" name="Shape 18"/>
          <p:cNvSpPr/>
          <p:nvPr/>
        </p:nvSpPr>
        <p:spPr>
          <a:xfrm>
            <a:off x="548640" y="3063240"/>
            <a:ext cx="11091672" cy="685800"/>
          </a:xfrm>
          <a:prstGeom prst="roundRect">
            <a:avLst/>
          </a:prstGeom>
          <a:solidFill>
            <a:srgbClr val="E0F2F1"/>
          </a:solidFill>
          <a:ln w="19050">
            <a:solidFill>
              <a:srgbClr val="009688"/>
            </a:solidFill>
            <a:prstDash val="solid"/>
          </a:ln>
        </p:spPr>
      </p:sp>
      <p:sp>
        <p:nvSpPr>
          <p:cNvPr id="21" name="Text 19"/>
          <p:cNvSpPr/>
          <p:nvPr/>
        </p:nvSpPr>
        <p:spPr>
          <a:xfrm>
            <a:off x="777240" y="3136392"/>
            <a:ext cx="10634472" cy="539496"/>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error en producción puede costar hasta 50 veces más de solucionar que el mismo error detectado en la fase de requisitos.</a:t>
            </a:r>
            <a:endParaRPr lang="en-US" sz="1500" dirty="0"/>
          </a:p>
        </p:txBody>
      </p:sp>
      <p:sp>
        <p:nvSpPr>
          <p:cNvPr id="22" name="Text 20"/>
          <p:cNvSpPr/>
          <p:nvPr/>
        </p:nvSpPr>
        <p:spPr>
          <a:xfrm>
            <a:off x="548640" y="3977640"/>
            <a:ext cx="11091672" cy="86868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Por eso las pruebas no son un trámite al final del proyecto: representan entre el 30 % y el 50 % del coste total. Detectar un error de diseño a tiempo —como olvidar un campo clave en la base de datos— puede ahorrarte rehacer trabajo que ya se daba por terminado.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Recomendaciones de G.J. Myers  (1 / 2)</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Text 3"/>
          <p:cNvSpPr/>
          <p:nvPr/>
        </p:nvSpPr>
        <p:spPr>
          <a:xfrm>
            <a:off x="548640" y="868680"/>
            <a:ext cx="11091672" cy="45720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G.J. Myers recogió hábitos que marcan la diferencia entre probar bien y probar para cumplir el expediente: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994751"/>
                <a:gridCol w="8096921"/>
              </a:tblGrid>
              <a:tr h="576072">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Recomendación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En qué consiste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576072">
                <a:tc>
                  <a:txBody>
                    <a:bodyPr/>
                    <a:lstStyle/>
                    <a:p>
                      <a:pPr indent="0" marL="0">
                        <a:buNone/>
                      </a:pPr>
                      <a:r>
                        <a:rPr lang="en-US" sz="1200" b="1" dirty="0">
                          <a:solidFill>
                            <a:srgbClr val="212121"/>
                          </a:solidFill>
                          <a:latin typeface="Arial" pitchFamily="34" charset="0"/>
                          <a:ea typeface="Arial" pitchFamily="34" charset="-122"/>
                          <a:cs typeface="Arial" pitchFamily="34" charset="-120"/>
                        </a:rPr>
                        <a:t>Definir resultados esperados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Cada caso debe indicar de antemano qué resultado se espera. La discrepancia entre lo esperado y lo obtenido señala el defecto.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76072">
                <a:tc>
                  <a:txBody>
                    <a:bodyPr/>
                    <a:lstStyle/>
                    <a:p>
                      <a:pPr indent="0" marL="0">
                        <a:buNone/>
                      </a:pPr>
                      <a:r>
                        <a:rPr lang="en-US" sz="1200" b="1" dirty="0">
                          <a:solidFill>
                            <a:srgbClr val="212121"/>
                          </a:solidFill>
                          <a:latin typeface="Arial" pitchFamily="34" charset="0"/>
                          <a:ea typeface="Arial" pitchFamily="34" charset="-122"/>
                          <a:cs typeface="Arial" pitchFamily="34" charset="-120"/>
                        </a:rPr>
                        <a:t>Separación de roles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El programador no debería probar su propio código: otra persona detecta errores más fácilmente porque no comparte los mismos puntos ciegos.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76072">
                <a:tc>
                  <a:txBody>
                    <a:bodyPr/>
                    <a:lstStyle/>
                    <a:p>
                      <a:pPr indent="0" marL="0">
                        <a:buNone/>
                      </a:pPr>
                      <a:r>
                        <a:rPr lang="en-US" sz="1200" b="1" dirty="0">
                          <a:solidFill>
                            <a:srgbClr val="212121"/>
                          </a:solidFill>
                          <a:latin typeface="Arial" pitchFamily="34" charset="0"/>
                          <a:ea typeface="Arial" pitchFamily="34" charset="-122"/>
                          <a:cs typeface="Arial" pitchFamily="34" charset="-120"/>
                        </a:rPr>
                        <a:t>Inspección minuciosa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Hay que revisar con atención los resultados. Ignorar un síntoma raro "porque seguro que no es nada" deja pasar defectos reales.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76072">
                <a:tc>
                  <a:txBody>
                    <a:bodyPr/>
                    <a:lstStyle/>
                    <a:p>
                      <a:pPr indent="0" marL="0">
                        <a:buNone/>
                      </a:pPr>
                      <a:r>
                        <a:rPr lang="en-US" sz="1200" b="1" dirty="0">
                          <a:solidFill>
                            <a:srgbClr val="212121"/>
                          </a:solidFill>
                          <a:latin typeface="Arial" pitchFamily="34" charset="0"/>
                          <a:ea typeface="Arial" pitchFamily="34" charset="-122"/>
                          <a:cs typeface="Arial" pitchFamily="34" charset="-120"/>
                        </a:rPr>
                        <a:t>Amplitud en los datos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Probar con datos válidos y con datos inválidos, para cubrir tanto el caso esperado como el inesperado.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76072">
                <a:tc>
                  <a:txBody>
                    <a:bodyPr/>
                    <a:lstStyle/>
                    <a:p>
                      <a:pPr indent="0" marL="0">
                        <a:buNone/>
                      </a:pPr>
                      <a:r>
                        <a:rPr lang="en-US" sz="1200" b="1" dirty="0">
                          <a:solidFill>
                            <a:srgbClr val="212121"/>
                          </a:solidFill>
                          <a:latin typeface="Arial" pitchFamily="34" charset="0"/>
                          <a:ea typeface="Arial" pitchFamily="34" charset="-122"/>
                          <a:cs typeface="Arial" pitchFamily="34" charset="-120"/>
                        </a:rPr>
                        <a:t>Doble enfoque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Comprobar que el software hace lo que debería, pero también que no hace lo que no debería (efectos secundarios no deseados).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Recomendaciones de G.J. Myers  (2 / 2)</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1672" cy="914400"/>
        </p:xfrm>
        <a:graphic>
          <a:graphicData uri="http://schemas.openxmlformats.org/drawingml/2006/table">
            <a:tbl>
              <a:tblPr/>
              <a:tblGrid>
                <a:gridCol w="2994751"/>
                <a:gridCol w="8096921"/>
              </a:tblGrid>
              <a:tr h="65836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Recomendación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En qué consiste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Documentar los casos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Guardar los casos de prueba para poder repetirlos más adelante, en vez de improvisarlos y desecharlos.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Asumir que hay defectos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Partir de la base de que siempre existen errores y dedicar recursos suficientes a buscarlos.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Concentración de defectos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Los errores tienden a agruparse: si encuentras uno en una zona del código, es probable que haya más cerca.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212121"/>
                          </a:solidFill>
                          <a:latin typeface="Arial" pitchFamily="34" charset="0"/>
                          <a:ea typeface="Arial" pitchFamily="34" charset="-122"/>
                          <a:cs typeface="Arial" pitchFamily="34" charset="-120"/>
                        </a:rPr>
                        <a:t>Creatividad</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Probar bien es una tarea creativa, no mecánica. Requiere ingenio para encontrar el mayor número de defectos con los recursos disponibles.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6" name="Shape 3"/>
          <p:cNvSpPr/>
          <p:nvPr/>
        </p:nvSpPr>
        <p:spPr>
          <a:xfrm>
            <a:off x="548640" y="4480560"/>
            <a:ext cx="11091672" cy="777240"/>
          </a:xfrm>
          <a:prstGeom prst="roundRect">
            <a:avLst/>
          </a:prstGeom>
          <a:solidFill>
            <a:srgbClr val="E0F2F1"/>
          </a:solidFill>
          <a:ln w="19050">
            <a:solidFill>
              <a:srgbClr val="009688"/>
            </a:solidFill>
            <a:prstDash val="solid"/>
          </a:ln>
        </p:spPr>
      </p:sp>
      <p:sp>
        <p:nvSpPr>
          <p:cNvPr id="7" name="Text 4"/>
          <p:cNvSpPr/>
          <p:nvPr/>
        </p:nvSpPr>
        <p:spPr>
          <a:xfrm>
            <a:off x="777240" y="4553712"/>
            <a:ext cx="10634472" cy="63093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  Probar el propio código es difícil porque quien lo escribió tiende a usarlo de la forma "correcta". Alguien externo lo usa de formas que el autor no anticipó, y ahí es donde aparecen los errores.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Verificación y validación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Shape 3"/>
          <p:cNvSpPr/>
          <p:nvPr/>
        </p:nvSpPr>
        <p:spPr>
          <a:xfrm>
            <a:off x="548640" y="868680"/>
            <a:ext cx="5454396" cy="438912"/>
          </a:xfrm>
          <a:prstGeom prst="rect">
            <a:avLst/>
          </a:prstGeom>
          <a:solidFill>
            <a:srgbClr val="3F51B5"/>
          </a:solidFill>
          <a:ln w="12700">
            <a:solidFill>
              <a:srgbClr val="3F51B5"/>
            </a:solidFill>
            <a:prstDash val="solid"/>
          </a:ln>
        </p:spPr>
      </p:sp>
      <p:sp>
        <p:nvSpPr>
          <p:cNvPr id="6" name="Text 4"/>
          <p:cNvSpPr/>
          <p:nvPr/>
        </p:nvSpPr>
        <p:spPr>
          <a:xfrm>
            <a:off x="685800" y="868680"/>
            <a:ext cx="5180076"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Verificación</a:t>
            </a:r>
            <a:endParaRPr lang="en-US" sz="1500" dirty="0"/>
          </a:p>
        </p:txBody>
      </p:sp>
      <p:sp>
        <p:nvSpPr>
          <p:cNvPr id="7" name="Shape 5"/>
          <p:cNvSpPr/>
          <p:nvPr/>
        </p:nvSpPr>
        <p:spPr>
          <a:xfrm>
            <a:off x="6185916" y="868680"/>
            <a:ext cx="5454396" cy="438912"/>
          </a:xfrm>
          <a:prstGeom prst="rect">
            <a:avLst/>
          </a:prstGeom>
          <a:solidFill>
            <a:srgbClr val="009688"/>
          </a:solidFill>
          <a:ln w="12700">
            <a:solidFill>
              <a:srgbClr val="009688"/>
            </a:solidFill>
            <a:prstDash val="solid"/>
          </a:ln>
        </p:spPr>
      </p:sp>
      <p:sp>
        <p:nvSpPr>
          <p:cNvPr id="8" name="Text 6"/>
          <p:cNvSpPr/>
          <p:nvPr/>
        </p:nvSpPr>
        <p:spPr>
          <a:xfrm>
            <a:off x="6323076" y="868680"/>
            <a:ext cx="5180076" cy="43891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  Validación</a:t>
            </a:r>
            <a:endParaRPr lang="en-US" sz="1500" dirty="0"/>
          </a:p>
        </p:txBody>
      </p:sp>
      <p:sp>
        <p:nvSpPr>
          <p:cNvPr id="9" name="Shape 7"/>
          <p:cNvSpPr/>
          <p:nvPr/>
        </p:nvSpPr>
        <p:spPr>
          <a:xfrm>
            <a:off x="548640" y="1490472"/>
            <a:ext cx="5454396" cy="1234440"/>
          </a:xfrm>
          <a:prstGeom prst="roundRect">
            <a:avLst/>
          </a:prstGeom>
          <a:solidFill>
            <a:srgbClr val="E0F2F1"/>
          </a:solidFill>
          <a:ln w="19050">
            <a:solidFill>
              <a:srgbClr val="009688"/>
            </a:solidFill>
            <a:prstDash val="solid"/>
          </a:ln>
        </p:spPr>
      </p:sp>
      <p:sp>
        <p:nvSpPr>
          <p:cNvPr id="10" name="Text 8"/>
          <p:cNvSpPr/>
          <p:nvPr/>
        </p:nvSpPr>
        <p:spPr>
          <a:xfrm>
            <a:off x="731520" y="1581912"/>
            <a:ext cx="5088636"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¿Lo estamos construyendo bien?</a:t>
            </a:r>
            <a:endParaRPr lang="en-US" sz="1400" dirty="0"/>
          </a:p>
          <a:p>
            <a:pPr indent="0" marL="0">
              <a:buNone/>
            </a:pPr>
            <a:endParaRPr lang="en-US" sz="1400" dirty="0"/>
          </a:p>
          <a:p>
            <a:pPr indent="0" marL="0">
              <a:buNone/>
            </a:pPr>
            <a:r>
              <a:rPr lang="en-US" sz="1400" dirty="0">
                <a:solidFill>
                  <a:srgbClr val="212121"/>
                </a:solidFill>
                <a:latin typeface="Arial" pitchFamily="34" charset="0"/>
                <a:ea typeface="Arial" pitchFamily="34" charset="-122"/>
                <a:cs typeface="Arial" pitchFamily="34" charset="-120"/>
              </a:rPr>
              <a:t>El software cumple las especificaciones técnicas tal como fueron definidas.</a:t>
            </a:r>
            <a:endParaRPr lang="en-US" sz="1400" dirty="0"/>
          </a:p>
        </p:txBody>
      </p:sp>
      <p:sp>
        <p:nvSpPr>
          <p:cNvPr id="11" name="Shape 9"/>
          <p:cNvSpPr/>
          <p:nvPr/>
        </p:nvSpPr>
        <p:spPr>
          <a:xfrm>
            <a:off x="6185916" y="1490472"/>
            <a:ext cx="5454396" cy="1234440"/>
          </a:xfrm>
          <a:prstGeom prst="roundRect">
            <a:avLst/>
          </a:prstGeom>
          <a:solidFill>
            <a:srgbClr val="E0F7FA"/>
          </a:solidFill>
          <a:ln w="19050">
            <a:solidFill>
              <a:srgbClr val="009688"/>
            </a:solidFill>
            <a:prstDash val="solid"/>
          </a:ln>
        </p:spPr>
      </p:sp>
      <p:sp>
        <p:nvSpPr>
          <p:cNvPr id="12" name="Text 10"/>
          <p:cNvSpPr/>
          <p:nvPr/>
        </p:nvSpPr>
        <p:spPr>
          <a:xfrm>
            <a:off x="6368796" y="1581912"/>
            <a:ext cx="5088636"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¿Estamos construyendo lo correcto?</a:t>
            </a:r>
            <a:endParaRPr lang="en-US" sz="1400" dirty="0"/>
          </a:p>
          <a:p>
            <a:pPr indent="0" marL="0">
              <a:buNone/>
            </a:pPr>
            <a:endParaRPr lang="en-US" sz="1400" dirty="0"/>
          </a:p>
          <a:p>
            <a:pPr indent="0" marL="0">
              <a:buNone/>
            </a:pPr>
            <a:r>
              <a:rPr lang="en-US" sz="1400" dirty="0">
                <a:solidFill>
                  <a:srgbClr val="212121"/>
                </a:solidFill>
                <a:latin typeface="Arial" pitchFamily="34" charset="0"/>
                <a:ea typeface="Arial" pitchFamily="34" charset="-122"/>
                <a:cs typeface="Arial" pitchFamily="34" charset="-120"/>
              </a:rPr>
              <a:t>El software cumple las necesidades reales del usuario, aunque eso no estuviera en la especificación.</a:t>
            </a:r>
            <a:endParaRPr lang="en-US" sz="1400" dirty="0"/>
          </a:p>
        </p:txBody>
      </p:sp>
      <p:sp>
        <p:nvSpPr>
          <p:cNvPr id="13" name="Shape 11"/>
          <p:cNvSpPr/>
          <p:nvPr/>
        </p:nvSpPr>
        <p:spPr>
          <a:xfrm>
            <a:off x="548640" y="3044952"/>
            <a:ext cx="11091672" cy="438912"/>
          </a:xfrm>
          <a:prstGeom prst="rect">
            <a:avLst/>
          </a:prstGeom>
          <a:solidFill>
            <a:srgbClr val="3F51B5"/>
          </a:solidFill>
          <a:ln w="12700">
            <a:solidFill>
              <a:srgbClr val="3F51B5"/>
            </a:solidFill>
            <a:prstDash val="solid"/>
          </a:ln>
        </p:spPr>
      </p:sp>
      <p:sp>
        <p:nvSpPr>
          <p:cNvPr id="14" name="Text 12"/>
          <p:cNvSpPr/>
          <p:nvPr/>
        </p:nvSpPr>
        <p:spPr>
          <a:xfrm>
            <a:off x="731520" y="3044952"/>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La metáfora de la casa</a:t>
            </a:r>
            <a:endParaRPr lang="en-US" sz="1700" dirty="0"/>
          </a:p>
        </p:txBody>
      </p:sp>
      <p:sp>
        <p:nvSpPr>
          <p:cNvPr id="15" name="Shape 13"/>
          <p:cNvSpPr/>
          <p:nvPr/>
        </p:nvSpPr>
        <p:spPr>
          <a:xfrm>
            <a:off x="548640" y="3666744"/>
            <a:ext cx="5454396" cy="1554480"/>
          </a:xfrm>
          <a:prstGeom prst="roundRect">
            <a:avLst/>
          </a:prstGeom>
          <a:solidFill>
            <a:srgbClr val="E8EAF6"/>
          </a:solidFill>
          <a:ln w="15875">
            <a:solidFill>
              <a:srgbClr val="3F51B5"/>
            </a:solidFill>
            <a:prstDash val="solid"/>
          </a:ln>
        </p:spPr>
      </p:sp>
      <p:sp>
        <p:nvSpPr>
          <p:cNvPr id="16" name="Text 14"/>
          <p:cNvSpPr/>
          <p:nvPr/>
        </p:nvSpPr>
        <p:spPr>
          <a:xfrm>
            <a:off x="731520" y="3758184"/>
            <a:ext cx="5088636" cy="13716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 Verificación</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Revisar durante la construcción que los planos se siguen: ¿los muros tienen la altura especificada?, ¿la instalación eléctrica cumple la normativa?</a:t>
            </a:r>
            <a:endParaRPr lang="en-US" sz="1300" dirty="0"/>
          </a:p>
        </p:txBody>
      </p:sp>
      <p:sp>
        <p:nvSpPr>
          <p:cNvPr id="17" name="Shape 15"/>
          <p:cNvSpPr/>
          <p:nvPr/>
        </p:nvSpPr>
        <p:spPr>
          <a:xfrm>
            <a:off x="6185916" y="3666744"/>
            <a:ext cx="5454396" cy="1554480"/>
          </a:xfrm>
          <a:prstGeom prst="roundRect">
            <a:avLst/>
          </a:prstGeom>
          <a:solidFill>
            <a:srgbClr val="E0F7FA"/>
          </a:solidFill>
          <a:ln w="15875">
            <a:solidFill>
              <a:srgbClr val="009688"/>
            </a:solidFill>
            <a:prstDash val="solid"/>
          </a:ln>
        </p:spPr>
      </p:sp>
      <p:sp>
        <p:nvSpPr>
          <p:cNvPr id="18" name="Text 16"/>
          <p:cNvSpPr/>
          <p:nvPr/>
        </p:nvSpPr>
        <p:spPr>
          <a:xfrm>
            <a:off x="6368796" y="3758184"/>
            <a:ext cx="5088636" cy="1371600"/>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 Validación</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Preguntarle al propietario, una vez construida, si la casa cumple sus expectativas: ¿las habitaciones tienen el tamaño que necesitaba?</a:t>
            </a:r>
            <a:endParaRPr lang="en-US" sz="1300" dirty="0"/>
          </a:p>
        </p:txBody>
      </p:sp>
      <p:sp>
        <p:nvSpPr>
          <p:cNvPr id="19" name="Shape 17"/>
          <p:cNvSpPr/>
          <p:nvPr/>
        </p:nvSpPr>
        <p:spPr>
          <a:xfrm>
            <a:off x="548640" y="5404104"/>
            <a:ext cx="11091672" cy="594360"/>
          </a:xfrm>
          <a:prstGeom prst="roundRect">
            <a:avLst/>
          </a:prstGeom>
          <a:solidFill>
            <a:srgbClr val="FFF8E1"/>
          </a:solidFill>
          <a:ln w="19050">
            <a:solidFill>
              <a:srgbClr val="F9A825"/>
            </a:solidFill>
            <a:prstDash val="solid"/>
          </a:ln>
        </p:spPr>
      </p:sp>
      <p:sp>
        <p:nvSpPr>
          <p:cNvPr id="20" name="Text 18"/>
          <p:cNvSpPr/>
          <p:nvPr/>
        </p:nvSpPr>
        <p:spPr>
          <a:xfrm>
            <a:off x="777240" y="5477256"/>
            <a:ext cx="10634472" cy="448056"/>
          </a:xfrm>
          <a:prstGeom prst="rect">
            <a:avLst/>
          </a:prstGeom>
          <a:noFill/>
          <a:ln/>
        </p:spPr>
        <p:txBody>
          <a:bodyPr wrap="square" rtlCol="0" anchor="ctr"/>
          <a:lstStyle/>
          <a:p>
            <a:pPr indent="0" marL="0">
              <a:buNone/>
            </a:pPr>
            <a:r>
              <a:rPr lang="en-US" sz="1300" dirty="0">
                <a:solidFill>
                  <a:srgbClr val="5D4037"/>
                </a:solidFill>
                <a:latin typeface="Arial" pitchFamily="34" charset="0"/>
                <a:ea typeface="Arial" pitchFamily="34" charset="-122"/>
                <a:cs typeface="Arial" pitchFamily="34" charset="-120"/>
              </a:rPr>
              <a:t>⚠  Un software puede estar perfectamente verificado y aun así no validar, si la especificación no recogía lo que el cliente realmente quería.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Niveles de prueba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Text 3"/>
          <p:cNvSpPr/>
          <p:nvPr/>
        </p:nvSpPr>
        <p:spPr>
          <a:xfrm>
            <a:off x="548640" y="868680"/>
            <a:ext cx="11091672" cy="50292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Las pruebas se organizan en niveles según qué parte del sistema se comprueba. La pirámide indica cuántas pruebas hay de cada tipo: muchas en la base (rápidas y baratas), pocas en la cima (lentas y caras).</a:t>
            </a:r>
            <a:endParaRPr lang="en-US" sz="1400" dirty="0"/>
          </a:p>
        </p:txBody>
      </p:sp>
      <p:sp>
        <p:nvSpPr>
          <p:cNvPr id="6" name="Shape 4"/>
          <p:cNvSpPr/>
          <p:nvPr/>
        </p:nvSpPr>
        <p:spPr>
          <a:xfrm>
            <a:off x="4597100" y="1508760"/>
            <a:ext cx="2994751" cy="566928"/>
          </a:xfrm>
          <a:prstGeom prst="roundRect">
            <a:avLst/>
          </a:prstGeom>
          <a:solidFill>
            <a:srgbClr val="C5CAE9"/>
          </a:solidFill>
          <a:ln w="12700">
            <a:solidFill>
              <a:srgbClr val="FFFFFF"/>
            </a:solidFill>
            <a:prstDash val="solid"/>
          </a:ln>
        </p:spPr>
      </p:sp>
      <p:sp>
        <p:nvSpPr>
          <p:cNvPr id="7" name="Text 5"/>
          <p:cNvSpPr/>
          <p:nvPr/>
        </p:nvSpPr>
        <p:spPr>
          <a:xfrm>
            <a:off x="4688540" y="1508760"/>
            <a:ext cx="2811871" cy="566928"/>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Sistema</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Aplicación completa</a:t>
            </a:r>
            <a:endParaRPr lang="en-US" sz="1200" dirty="0"/>
          </a:p>
        </p:txBody>
      </p:sp>
      <p:sp>
        <p:nvSpPr>
          <p:cNvPr id="8" name="Shape 6"/>
          <p:cNvSpPr/>
          <p:nvPr/>
        </p:nvSpPr>
        <p:spPr>
          <a:xfrm>
            <a:off x="3432475" y="2121408"/>
            <a:ext cx="5324003" cy="566928"/>
          </a:xfrm>
          <a:prstGeom prst="roundRect">
            <a:avLst/>
          </a:prstGeom>
          <a:solidFill>
            <a:srgbClr val="9FA8DA"/>
          </a:solidFill>
          <a:ln w="12700">
            <a:solidFill>
              <a:srgbClr val="FFFFFF"/>
            </a:solidFill>
            <a:prstDash val="solid"/>
          </a:ln>
        </p:spPr>
      </p:sp>
      <p:sp>
        <p:nvSpPr>
          <p:cNvPr id="9" name="Text 7"/>
          <p:cNvSpPr/>
          <p:nvPr/>
        </p:nvSpPr>
        <p:spPr>
          <a:xfrm>
            <a:off x="3523915" y="2121408"/>
            <a:ext cx="5141123" cy="566928"/>
          </a:xfrm>
          <a:prstGeom prst="rect">
            <a:avLst/>
          </a:prstGeom>
          <a:noFill/>
          <a:ln/>
        </p:spPr>
        <p:txBody>
          <a:bodyPr wrap="square" rtlCol="0" anchor="ctr"/>
          <a:lstStyle/>
          <a:p>
            <a:pPr algn="ctr" indent="0" marL="0">
              <a:buNone/>
            </a:pPr>
            <a:r>
              <a:rPr lang="en-US" sz="1200" dirty="0">
                <a:solidFill>
                  <a:srgbClr val="212121"/>
                </a:solidFill>
                <a:latin typeface="Arial" pitchFamily="34" charset="0"/>
                <a:ea typeface="Arial" pitchFamily="34" charset="-122"/>
                <a:cs typeface="Arial" pitchFamily="34" charset="-120"/>
              </a:rPr>
              <a:t>📋  Validación</a:t>
            </a:r>
            <a:endParaRPr lang="en-US" sz="1200" dirty="0"/>
          </a:p>
          <a:p>
            <a:pPr algn="ctr" indent="0" marL="0">
              <a:buNone/>
            </a:pPr>
            <a:r>
              <a:rPr lang="en-US" sz="1200" dirty="0">
                <a:solidFill>
                  <a:srgbClr val="212121"/>
                </a:solidFill>
                <a:latin typeface="Arial" pitchFamily="34" charset="0"/>
                <a:ea typeface="Arial" pitchFamily="34" charset="-122"/>
                <a:cs typeface="Arial" pitchFamily="34" charset="-120"/>
              </a:rPr>
              <a:t>Sistema vs. requisitos</a:t>
            </a:r>
            <a:endParaRPr lang="en-US" sz="1200" dirty="0"/>
          </a:p>
        </p:txBody>
      </p:sp>
      <p:sp>
        <p:nvSpPr>
          <p:cNvPr id="10" name="Shape 8"/>
          <p:cNvSpPr/>
          <p:nvPr/>
        </p:nvSpPr>
        <p:spPr>
          <a:xfrm>
            <a:off x="2101474" y="2734056"/>
            <a:ext cx="7986004" cy="566928"/>
          </a:xfrm>
          <a:prstGeom prst="roundRect">
            <a:avLst/>
          </a:prstGeom>
          <a:solidFill>
            <a:srgbClr val="7986CB"/>
          </a:solidFill>
          <a:ln w="12700">
            <a:solidFill>
              <a:srgbClr val="FFFFFF"/>
            </a:solidFill>
            <a:prstDash val="solid"/>
          </a:ln>
        </p:spPr>
      </p:sp>
      <p:sp>
        <p:nvSpPr>
          <p:cNvPr id="11" name="Text 9"/>
          <p:cNvSpPr/>
          <p:nvPr/>
        </p:nvSpPr>
        <p:spPr>
          <a:xfrm>
            <a:off x="2192914" y="2734056"/>
            <a:ext cx="7803124" cy="566928"/>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  Integración</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Componentes combinados</a:t>
            </a:r>
            <a:endParaRPr lang="en-US" sz="1200" dirty="0"/>
          </a:p>
        </p:txBody>
      </p:sp>
      <p:sp>
        <p:nvSpPr>
          <p:cNvPr id="12" name="Shape 10"/>
          <p:cNvSpPr/>
          <p:nvPr/>
        </p:nvSpPr>
        <p:spPr>
          <a:xfrm>
            <a:off x="548640" y="3346704"/>
            <a:ext cx="11091672" cy="566928"/>
          </a:xfrm>
          <a:prstGeom prst="roundRect">
            <a:avLst/>
          </a:prstGeom>
          <a:solidFill>
            <a:srgbClr val="5C6BC0"/>
          </a:solidFill>
          <a:ln w="12700">
            <a:solidFill>
              <a:srgbClr val="FFFFFF"/>
            </a:solidFill>
            <a:prstDash val="solid"/>
          </a:ln>
        </p:spPr>
      </p:sp>
      <p:sp>
        <p:nvSpPr>
          <p:cNvPr id="13" name="Text 11"/>
          <p:cNvSpPr/>
          <p:nvPr/>
        </p:nvSpPr>
        <p:spPr>
          <a:xfrm>
            <a:off x="640080" y="3346704"/>
            <a:ext cx="10908792" cy="566928"/>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  Unidad</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Métodos y clases aisladas</a:t>
            </a:r>
            <a:endParaRPr lang="en-US" sz="1200" dirty="0"/>
          </a:p>
        </p:txBody>
      </p:sp>
      <p:sp>
        <p:nvSpPr>
          <p:cNvPr id="14" name="Text 12"/>
          <p:cNvSpPr/>
          <p:nvPr/>
        </p:nvSpPr>
        <p:spPr>
          <a:xfrm>
            <a:off x="8893637" y="1554480"/>
            <a:ext cx="1463040" cy="457200"/>
          </a:xfrm>
          <a:prstGeom prst="rect">
            <a:avLst/>
          </a:prstGeom>
          <a:noFill/>
          <a:ln/>
        </p:spPr>
        <p:txBody>
          <a:bodyPr wrap="square" rtlCol="0" anchor="t"/>
          <a:lstStyle/>
          <a:p>
            <a:pPr indent="0" marL="0">
              <a:buNone/>
            </a:pPr>
            <a:r>
              <a:rPr lang="en-US" sz="1000" i="1" dirty="0">
                <a:solidFill>
                  <a:srgbClr val="757575"/>
                </a:solidFill>
                <a:latin typeface="Arial" pitchFamily="34" charset="0"/>
                <a:ea typeface="Arial" pitchFamily="34" charset="-122"/>
                <a:cs typeface="Arial" pitchFamily="34" charset="-120"/>
              </a:rPr>
              <a:t>pocas, lentas, caras ↑</a:t>
            </a:r>
            <a:endParaRPr lang="en-US" sz="1000" dirty="0"/>
          </a:p>
        </p:txBody>
      </p:sp>
      <p:sp>
        <p:nvSpPr>
          <p:cNvPr id="15" name="Text 13"/>
          <p:cNvSpPr/>
          <p:nvPr/>
        </p:nvSpPr>
        <p:spPr>
          <a:xfrm>
            <a:off x="8893637" y="3392424"/>
            <a:ext cx="1463040" cy="457200"/>
          </a:xfrm>
          <a:prstGeom prst="rect">
            <a:avLst/>
          </a:prstGeom>
          <a:noFill/>
          <a:ln/>
        </p:spPr>
        <p:txBody>
          <a:bodyPr wrap="square" rtlCol="0" anchor="t"/>
          <a:lstStyle/>
          <a:p>
            <a:pPr indent="0" marL="0">
              <a:buNone/>
            </a:pPr>
            <a:r>
              <a:rPr lang="en-US" sz="1000" i="1" dirty="0">
                <a:solidFill>
                  <a:srgbClr val="757575"/>
                </a:solidFill>
                <a:latin typeface="Arial" pitchFamily="34" charset="0"/>
                <a:ea typeface="Arial" pitchFamily="34" charset="-122"/>
                <a:cs typeface="Arial" pitchFamily="34" charset="-120"/>
              </a:rPr>
              <a:t>muchas, rápidas, baratas ↓</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142232"/>
          <a:ext cx="11091672" cy="914400"/>
        </p:xfrm>
        <a:graphic>
          <a:graphicData uri="http://schemas.openxmlformats.org/drawingml/2006/table">
            <a:tbl>
              <a:tblPr/>
              <a:tblGrid>
                <a:gridCol w="2218334"/>
                <a:gridCol w="8873338"/>
              </a:tblGrid>
              <a:tr h="420624">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Nivel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comprueba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20624">
                <a:tc>
                  <a:txBody>
                    <a:bodyPr/>
                    <a:lstStyle/>
                    <a:p>
                      <a:pPr indent="0" marL="0">
                        <a:buNone/>
                      </a:pPr>
                      <a:r>
                        <a:rPr lang="en-US" sz="1300" b="1" dirty="0">
                          <a:solidFill>
                            <a:srgbClr val="212121"/>
                          </a:solidFill>
                          <a:latin typeface="Arial" pitchFamily="34" charset="0"/>
                          <a:ea typeface="Arial" pitchFamily="34" charset="-122"/>
                          <a:cs typeface="Arial" pitchFamily="34" charset="-120"/>
                        </a:rPr>
                        <a:t>Unidad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Que un método o clase funciona de forma aislada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212121"/>
                          </a:solidFill>
                          <a:latin typeface="Arial" pitchFamily="34" charset="0"/>
                          <a:ea typeface="Arial" pitchFamily="34" charset="-122"/>
                          <a:cs typeface="Arial" pitchFamily="34" charset="-120"/>
                        </a:rPr>
                        <a:t>Integración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Que los componentes combinados respetan el diseño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20624">
                <a:tc>
                  <a:txBody>
                    <a:bodyPr/>
                    <a:lstStyle/>
                    <a:p>
                      <a:pPr indent="0" marL="0">
                        <a:buNone/>
                      </a:pPr>
                      <a:r>
                        <a:rPr lang="en-US" sz="1300" b="1" dirty="0">
                          <a:solidFill>
                            <a:srgbClr val="212121"/>
                          </a:solidFill>
                          <a:latin typeface="Arial" pitchFamily="34" charset="0"/>
                          <a:ea typeface="Arial" pitchFamily="34" charset="-122"/>
                          <a:cs typeface="Arial" pitchFamily="34" charset="-120"/>
                        </a:rPr>
                        <a:t>Validación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Que el sistema completo cumple los requisitos definidos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212121"/>
                          </a:solidFill>
                          <a:latin typeface="Arial" pitchFamily="34" charset="0"/>
                          <a:ea typeface="Arial" pitchFamily="34" charset="-122"/>
                          <a:cs typeface="Arial" pitchFamily="34" charset="-120"/>
                        </a:rPr>
                        <a:t>Sistema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El funcionamiento global, incluyendo red, otros sistemas, etc.</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Tipos de pruebas: caja negra y caja blanca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Text 3"/>
          <p:cNvSpPr/>
          <p:nvPr/>
        </p:nvSpPr>
        <p:spPr>
          <a:xfrm>
            <a:off x="548640" y="868680"/>
            <a:ext cx="11091672" cy="45720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La clasificación más fundamental distingue si el probador tiene acceso o no al código interno del programa:</a:t>
            </a:r>
            <a:endParaRPr lang="en-US" sz="1400" dirty="0"/>
          </a:p>
        </p:txBody>
      </p:sp>
      <p:sp>
        <p:nvSpPr>
          <p:cNvPr id="6" name="Shape 4"/>
          <p:cNvSpPr/>
          <p:nvPr/>
        </p:nvSpPr>
        <p:spPr>
          <a:xfrm>
            <a:off x="548640" y="1508760"/>
            <a:ext cx="5454396" cy="411480"/>
          </a:xfrm>
          <a:prstGeom prst="rect">
            <a:avLst/>
          </a:prstGeom>
          <a:solidFill>
            <a:srgbClr val="3F51B5"/>
          </a:solidFill>
          <a:ln w="12700">
            <a:solidFill>
              <a:srgbClr val="3F51B5"/>
            </a:solidFill>
            <a:prstDash val="solid"/>
          </a:ln>
        </p:spPr>
      </p:sp>
      <p:sp>
        <p:nvSpPr>
          <p:cNvPr id="7" name="Text 5"/>
          <p:cNvSpPr/>
          <p:nvPr/>
        </p:nvSpPr>
        <p:spPr>
          <a:xfrm>
            <a:off x="685800" y="1508760"/>
            <a:ext cx="5180076" cy="4114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Caja blanca (estructural)</a:t>
            </a:r>
            <a:endParaRPr lang="en-US" sz="1400" dirty="0"/>
          </a:p>
        </p:txBody>
      </p:sp>
      <p:sp>
        <p:nvSpPr>
          <p:cNvPr id="8" name="Shape 6"/>
          <p:cNvSpPr/>
          <p:nvPr/>
        </p:nvSpPr>
        <p:spPr>
          <a:xfrm>
            <a:off x="6185916" y="1508760"/>
            <a:ext cx="5454396" cy="411480"/>
          </a:xfrm>
          <a:prstGeom prst="rect">
            <a:avLst/>
          </a:prstGeom>
          <a:solidFill>
            <a:srgbClr val="37474F"/>
          </a:solidFill>
          <a:ln w="12700">
            <a:solidFill>
              <a:srgbClr val="37474F"/>
            </a:solidFill>
            <a:prstDash val="solid"/>
          </a:ln>
        </p:spPr>
      </p:sp>
      <p:sp>
        <p:nvSpPr>
          <p:cNvPr id="9" name="Text 7"/>
          <p:cNvSpPr/>
          <p:nvPr/>
        </p:nvSpPr>
        <p:spPr>
          <a:xfrm>
            <a:off x="6323076" y="1508760"/>
            <a:ext cx="5180076" cy="41148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  Caja negra (funcional)</a:t>
            </a:r>
            <a:endParaRPr lang="en-US" sz="1400" dirty="0"/>
          </a:p>
        </p:txBody>
      </p:sp>
      <p:sp>
        <p:nvSpPr>
          <p:cNvPr id="10" name="Shape 8"/>
          <p:cNvSpPr/>
          <p:nvPr/>
        </p:nvSpPr>
        <p:spPr>
          <a:xfrm>
            <a:off x="548640" y="2084832"/>
            <a:ext cx="5454396" cy="2286000"/>
          </a:xfrm>
          <a:prstGeom prst="roundRect">
            <a:avLst/>
          </a:prstGeom>
          <a:solidFill>
            <a:srgbClr val="E8EAF6"/>
          </a:solidFill>
          <a:ln w="15875">
            <a:solidFill>
              <a:srgbClr val="3F51B5"/>
            </a:solidFill>
            <a:prstDash val="solid"/>
          </a:ln>
        </p:spPr>
      </p:sp>
      <p:sp>
        <p:nvSpPr>
          <p:cNvPr id="11" name="Text 9"/>
          <p:cNvSpPr/>
          <p:nvPr/>
        </p:nvSpPr>
        <p:spPr>
          <a:xfrm>
            <a:off x="731520" y="2221992"/>
            <a:ext cx="5088636" cy="20116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El probador tiene acceso al código fuente.</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Evalúa la estructura interna: rutas de ejecución, condiciones, bucles.</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Técnicas: camino básico, cobertura de sentencias y de rutas.</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Ver: Técnicas de diseño de casos de prueba</a:t>
            </a:r>
            <a:endParaRPr lang="en-US" sz="1300" dirty="0"/>
          </a:p>
        </p:txBody>
      </p:sp>
      <p:sp>
        <p:nvSpPr>
          <p:cNvPr id="12" name="Shape 10"/>
          <p:cNvSpPr/>
          <p:nvPr/>
        </p:nvSpPr>
        <p:spPr>
          <a:xfrm>
            <a:off x="6185916" y="2084832"/>
            <a:ext cx="5454396" cy="2286000"/>
          </a:xfrm>
          <a:prstGeom prst="roundRect">
            <a:avLst/>
          </a:prstGeom>
          <a:solidFill>
            <a:srgbClr val="ECEFF1"/>
          </a:solidFill>
          <a:ln w="15875">
            <a:solidFill>
              <a:srgbClr val="546E7A"/>
            </a:solidFill>
            <a:prstDash val="solid"/>
          </a:ln>
        </p:spPr>
      </p:sp>
      <p:sp>
        <p:nvSpPr>
          <p:cNvPr id="13" name="Text 11"/>
          <p:cNvSpPr/>
          <p:nvPr/>
        </p:nvSpPr>
        <p:spPr>
          <a:xfrm>
            <a:off x="6368796" y="2221992"/>
            <a:ext cx="5088636" cy="2011680"/>
          </a:xfrm>
          <a:prstGeom prst="rect">
            <a:avLst/>
          </a:prstGeom>
          <a:noFill/>
          <a:ln/>
        </p:spPr>
        <p:txBody>
          <a:bodyPr wrap="square" rtlCol="0" anchor="t"/>
          <a:lstStyle/>
          <a:p>
            <a:pPr indent="0" marL="0">
              <a:buNone/>
            </a:pPr>
            <a:r>
              <a:rPr lang="en-US" sz="1300" dirty="0">
                <a:solidFill>
                  <a:srgbClr val="212121"/>
                </a:solidFill>
                <a:latin typeface="Arial" pitchFamily="34" charset="0"/>
                <a:ea typeface="Arial" pitchFamily="34" charset="-122"/>
                <a:cs typeface="Arial" pitchFamily="34" charset="-120"/>
              </a:rPr>
              <a:t>El probador solo ve entradas y salidas.</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Evalúa el comportamiento según la especificación, sin mirar el código.</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Técnicas: partición equivalente, análisis de valores límite, aleatorias.</a:t>
            </a:r>
            <a:endParaRPr lang="en-US" sz="1300" dirty="0"/>
          </a:p>
          <a:p>
            <a:pPr indent="0" marL="0">
              <a:buNone/>
            </a:pPr>
            <a:endParaRPr lang="en-US" sz="1300" dirty="0"/>
          </a:p>
          <a:p>
            <a:pPr indent="0" marL="0">
              <a:buNone/>
            </a:pPr>
            <a:r>
              <a:rPr lang="en-US" sz="1300" dirty="0">
                <a:solidFill>
                  <a:srgbClr val="212121"/>
                </a:solidFill>
                <a:latin typeface="Arial" pitchFamily="34" charset="0"/>
                <a:ea typeface="Arial" pitchFamily="34" charset="-122"/>
                <a:cs typeface="Arial" pitchFamily="34" charset="-120"/>
              </a:rPr>
              <a:t>→ Ver: Técnicas de diseño de casos de prueba</a:t>
            </a:r>
            <a:endParaRPr lang="en-US" sz="1300" dirty="0"/>
          </a:p>
        </p:txBody>
      </p:sp>
      <p:sp>
        <p:nvSpPr>
          <p:cNvPr id="14" name="Shape 12"/>
          <p:cNvSpPr/>
          <p:nvPr/>
        </p:nvSpPr>
        <p:spPr>
          <a:xfrm>
            <a:off x="548640" y="4645152"/>
            <a:ext cx="11091672" cy="621792"/>
          </a:xfrm>
          <a:prstGeom prst="roundRect">
            <a:avLst/>
          </a:prstGeom>
          <a:solidFill>
            <a:srgbClr val="E0F2F1"/>
          </a:solidFill>
          <a:ln w="19050">
            <a:solidFill>
              <a:srgbClr val="009688"/>
            </a:solidFill>
            <a:prstDash val="solid"/>
          </a:ln>
        </p:spPr>
      </p:sp>
      <p:sp>
        <p:nvSpPr>
          <p:cNvPr id="15" name="Text 13"/>
          <p:cNvSpPr/>
          <p:nvPr/>
        </p:nvSpPr>
        <p:spPr>
          <a:xfrm>
            <a:off x="777240" y="4718304"/>
            <a:ext cx="10634472" cy="475488"/>
          </a:xfrm>
          <a:prstGeom prst="rect">
            <a:avLst/>
          </a:prstGeom>
          <a:noFill/>
          <a:ln/>
        </p:spPr>
        <p:txBody>
          <a:bodyPr wrap="square" rtlCol="0" anchor="ctr"/>
          <a:lstStyle/>
          <a:p>
            <a:pPr indent="0" marL="0">
              <a:buNone/>
            </a:pPr>
            <a:r>
              <a:rPr lang="en-US" sz="1300" dirty="0">
                <a:solidFill>
                  <a:srgbClr val="212121"/>
                </a:solidFill>
                <a:latin typeface="Arial" pitchFamily="34" charset="0"/>
                <a:ea typeface="Arial" pitchFamily="34" charset="-122"/>
                <a:cs typeface="Arial" pitchFamily="34" charset="-120"/>
              </a:rPr>
              <a:t>Caja blanca y caja negra son enfoques complementarios, no excluyentes. Se usan juntos para cubrir distintos tipos de errores.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Tipos de pruebas: rendimiento y regresión</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Shape 3"/>
          <p:cNvSpPr/>
          <p:nvPr/>
        </p:nvSpPr>
        <p:spPr>
          <a:xfrm>
            <a:off x="548640" y="868680"/>
            <a:ext cx="11091672" cy="438912"/>
          </a:xfrm>
          <a:prstGeom prst="rect">
            <a:avLst/>
          </a:prstGeom>
          <a:solidFill>
            <a:srgbClr val="3F51B5"/>
          </a:solidFill>
          <a:ln w="12700">
            <a:solidFill>
              <a:srgbClr val="3F51B5"/>
            </a:solidFill>
            <a:prstDash val="solid"/>
          </a:ln>
        </p:spPr>
      </p:sp>
      <p:sp>
        <p:nvSpPr>
          <p:cNvPr id="6" name="Text 4"/>
          <p:cNvSpPr/>
          <p:nvPr/>
        </p:nvSpPr>
        <p:spPr>
          <a:xfrm>
            <a:off x="731520" y="868680"/>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Pruebas de rendimiento</a:t>
            </a:r>
            <a:endParaRPr lang="en-US" sz="1700" dirty="0"/>
          </a:p>
        </p:txBody>
      </p:sp>
      <p:sp>
        <p:nvSpPr>
          <p:cNvPr id="7" name="Text 5"/>
          <p:cNvSpPr/>
          <p:nvPr/>
        </p:nvSpPr>
        <p:spPr>
          <a:xfrm>
            <a:off x="548640" y="1472184"/>
            <a:ext cx="11091672" cy="41148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Evalúan cómo se comporta el sistema cuando la carga aumenta, no si hace lo correcto:</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20824"/>
          <a:ext cx="11091672" cy="914400"/>
        </p:xfrm>
        <a:graphic>
          <a:graphicData uri="http://schemas.openxmlformats.org/drawingml/2006/table">
            <a:tbl>
              <a:tblPr/>
              <a:tblGrid>
                <a:gridCol w="2218334"/>
                <a:gridCol w="8873338"/>
              </a:tblGrid>
              <a:tr h="47548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evalúa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 carga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Comportamiento con el volumen esperado: usuarios concurrentes, transacciones por segundo.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 estrés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Resistencia en condiciones extremas, aumentando la carga hasta que el sistema falla.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 estabilidad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Si la aplicación soporta carga continuada sin fugas de memoria ni pérdida de rendimiento.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 picos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Cómo reacciona ante cambios bruscos en el número de usuarios.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9" name="Shape 6"/>
          <p:cNvSpPr/>
          <p:nvPr/>
        </p:nvSpPr>
        <p:spPr>
          <a:xfrm>
            <a:off x="548640" y="4672584"/>
            <a:ext cx="11091672" cy="438912"/>
          </a:xfrm>
          <a:prstGeom prst="rect">
            <a:avLst/>
          </a:prstGeom>
          <a:solidFill>
            <a:srgbClr val="3F51B5"/>
          </a:solidFill>
          <a:ln w="12700">
            <a:solidFill>
              <a:srgbClr val="3F51B5"/>
            </a:solidFill>
            <a:prstDash val="solid"/>
          </a:ln>
        </p:spPr>
      </p:sp>
      <p:sp>
        <p:nvSpPr>
          <p:cNvPr id="10" name="Text 7"/>
          <p:cNvSpPr/>
          <p:nvPr/>
        </p:nvSpPr>
        <p:spPr>
          <a:xfrm>
            <a:off x="731520" y="4672584"/>
            <a:ext cx="10725912" cy="438912"/>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Otras</a:t>
            </a:r>
            <a:endParaRPr lang="en-US" sz="17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 y="5276088"/>
          <a:ext cx="11091672" cy="914400"/>
        </p:xfrm>
        <a:graphic>
          <a:graphicData uri="http://schemas.openxmlformats.org/drawingml/2006/table">
            <a:tbl>
              <a:tblPr/>
              <a:tblGrid>
                <a:gridCol w="2218334"/>
                <a:gridCol w="8873338"/>
              </a:tblGrid>
              <a:tr h="47548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evalúa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Aleatorias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Genera casos a partir de modelos estadísticos para descubrir fallos en escenarios imprevisibles.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 regresión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Que los cambios recientes no han roto funcionalidades que antes funcionaban correctamente.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12" name="Shape 8"/>
          <p:cNvSpPr/>
          <p:nvPr/>
        </p:nvSpPr>
        <p:spPr>
          <a:xfrm>
            <a:off x="548640" y="6931152"/>
            <a:ext cx="11091672" cy="777240"/>
          </a:xfrm>
          <a:prstGeom prst="roundRect">
            <a:avLst/>
          </a:prstGeom>
          <a:solidFill>
            <a:srgbClr val="FFF8E1"/>
          </a:solidFill>
          <a:ln w="19050">
            <a:solidFill>
              <a:srgbClr val="F9A825"/>
            </a:solidFill>
            <a:prstDash val="solid"/>
          </a:ln>
        </p:spPr>
      </p:sp>
      <p:sp>
        <p:nvSpPr>
          <p:cNvPr id="13" name="Text 9"/>
          <p:cNvSpPr/>
          <p:nvPr/>
        </p:nvSpPr>
        <p:spPr>
          <a:xfrm>
            <a:off x="777240" y="7004304"/>
            <a:ext cx="10634472" cy="630936"/>
          </a:xfrm>
          <a:prstGeom prst="rect">
            <a:avLst/>
          </a:prstGeom>
          <a:noFill/>
          <a:ln/>
        </p:spPr>
        <p:txBody>
          <a:bodyPr wrap="square" rtlCol="0" anchor="ctr"/>
          <a:lstStyle/>
          <a:p>
            <a:pPr indent="0" marL="0">
              <a:buNone/>
            </a:pPr>
            <a:r>
              <a:rPr lang="en-US" sz="1300" dirty="0">
                <a:solidFill>
                  <a:srgbClr val="5D4037"/>
                </a:solidFill>
                <a:latin typeface="Arial" pitchFamily="34" charset="0"/>
                <a:ea typeface="Arial" pitchFamily="34" charset="-122"/>
                <a:cs typeface="Arial" pitchFamily="34" charset="-120"/>
              </a:rPr>
              <a:t>⚠  Pruebas de regresión: cada vez que cambias código para añadir una función o corregir un error, corres el riesgo de romper algo que antes funcionaba. Automatizarlas y ejecutarlas con cada cambio es la única forma de detectarlo a tiempo.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Documentación de incidencias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sp>
      <p:sp>
        <p:nvSpPr>
          <p:cNvPr id="6" name="Text 4"/>
          <p:cNvSpPr/>
          <p:nvPr/>
        </p:nvSpPr>
        <p:spPr>
          <a:xfrm>
            <a:off x="777240" y="941832"/>
            <a:ext cx="10634472" cy="676656"/>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Encontrar un defecto no es el final del proceso. Hay que documentarlo para que alguien pueda reproducirlo, entenderlo y solucionarlo sin investigarlo desde cero. A esto se le llama incidencia (bug report o issue).</a:t>
            </a:r>
            <a:endParaRPr lang="en-US" sz="1400" dirty="0"/>
          </a:p>
        </p:txBody>
      </p:sp>
      <p:sp>
        <p:nvSpPr>
          <p:cNvPr id="7" name="Text 5"/>
          <p:cNvSpPr/>
          <p:nvPr/>
        </p:nvSpPr>
        <p:spPr>
          <a:xfrm>
            <a:off x="548640" y="1920240"/>
            <a:ext cx="11091672" cy="41148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Un informe de incidencia útil incluye, como mínimo:</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3327502"/>
                <a:gridCol w="7764170"/>
              </a:tblGrid>
              <a:tr h="512064">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Campo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debe recoger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r>
              <a:tr h="512064">
                <a:tc>
                  <a:txBody>
                    <a:bodyPr/>
                    <a:lstStyle/>
                    <a:p>
                      <a:pPr indent="0" marL="0">
                        <a:buNone/>
                      </a:pPr>
                      <a:r>
                        <a:rPr lang="en-US" sz="1300" b="1" dirty="0">
                          <a:solidFill>
                            <a:srgbClr val="212121"/>
                          </a:solidFill>
                          <a:latin typeface="Arial" pitchFamily="34" charset="0"/>
                          <a:ea typeface="Arial" pitchFamily="34" charset="-122"/>
                          <a:cs typeface="Arial" pitchFamily="34" charset="-120"/>
                        </a:rPr>
                        <a:t>Descripción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Qué ocurre, en una frase clara.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212121"/>
                          </a:solidFill>
                          <a:latin typeface="Arial" pitchFamily="34" charset="0"/>
                          <a:ea typeface="Arial" pitchFamily="34" charset="-122"/>
                          <a:cs typeface="Arial" pitchFamily="34" charset="-120"/>
                        </a:rPr>
                        <a:t>Pasos para reproducir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La secuencia exacta de acciones que provocan el fallo.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12064">
                <a:tc>
                  <a:txBody>
                    <a:bodyPr/>
                    <a:lstStyle/>
                    <a:p>
                      <a:pPr indent="0" marL="0">
                        <a:buNone/>
                      </a:pPr>
                      <a:r>
                        <a:rPr lang="en-US" sz="1300" b="1" dirty="0">
                          <a:solidFill>
                            <a:srgbClr val="212121"/>
                          </a:solidFill>
                          <a:latin typeface="Arial" pitchFamily="34" charset="0"/>
                          <a:ea typeface="Arial" pitchFamily="34" charset="-122"/>
                          <a:cs typeface="Arial" pitchFamily="34" charset="-120"/>
                        </a:rPr>
                        <a:t>Resultado esperado vs. obtenido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Qué debería pasar y qué pasa realmente.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212121"/>
                          </a:solidFill>
                          <a:latin typeface="Arial" pitchFamily="34" charset="0"/>
                          <a:ea typeface="Arial" pitchFamily="34" charset="-122"/>
                          <a:cs typeface="Arial" pitchFamily="34" charset="-120"/>
                        </a:rPr>
                        <a:t>Entorno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Sistema operativo, versión del programa, datos de entrada relevantes.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12064">
                <a:tc>
                  <a:txBody>
                    <a:bodyPr/>
                    <a:lstStyle/>
                    <a:p>
                      <a:pPr indent="0" marL="0">
                        <a:buNone/>
                      </a:pPr>
                      <a:r>
                        <a:rPr lang="en-US" sz="1300" b="1" dirty="0">
                          <a:solidFill>
                            <a:srgbClr val="212121"/>
                          </a:solidFill>
                          <a:latin typeface="Arial" pitchFamily="34" charset="0"/>
                          <a:ea typeface="Arial" pitchFamily="34" charset="-122"/>
                          <a:cs typeface="Arial" pitchFamily="34" charset="-120"/>
                        </a:rPr>
                        <a:t>Severidad / prioridad</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todos los errores son igual de urgentes.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5815584"/>
            <a:ext cx="11091672" cy="502920"/>
          </a:xfrm>
          <a:prstGeom prst="rect">
            <a:avLst/>
          </a:prstGeom>
          <a:noFill/>
          <a:ln/>
        </p:spPr>
        <p:txBody>
          <a:bodyPr wrap="square" rtlCol="0" anchor="t"/>
          <a:lstStyle/>
          <a:p>
            <a:pPr indent="0" marL="0">
              <a:buNone/>
            </a:pPr>
            <a:r>
              <a:rPr lang="en-US" sz="1300" dirty="0">
                <a:solidFill>
                  <a:srgbClr val="757575"/>
                </a:solidFill>
                <a:latin typeface="Arial" pitchFamily="34" charset="0"/>
                <a:ea typeface="Arial" pitchFamily="34" charset="-122"/>
                <a:cs typeface="Arial" pitchFamily="34" charset="-120"/>
              </a:rPr>
              <a:t>En la práctica esto se registra en herramientas como Jira o GitHub Issues, donde cada incidencia queda asignada con su estado visible para todo el equipo.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Incidencias: informe vago vs. informe útil</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Tema 3 — Verificación y Pruebas  |  Pruebas de software</a:t>
            </a:r>
            <a:endParaRPr lang="en-US" sz="1100" dirty="0"/>
          </a:p>
        </p:txBody>
      </p:sp>
      <p:sp>
        <p:nvSpPr>
          <p:cNvPr id="5" name="Text 3"/>
          <p:cNvSpPr/>
          <p:nvPr/>
        </p:nvSpPr>
        <p:spPr>
          <a:xfrm>
            <a:off x="548640" y="868680"/>
            <a:ext cx="11091672" cy="457200"/>
          </a:xfrm>
          <a:prstGeom prst="rect">
            <a:avLst/>
          </a:prstGeom>
          <a:noFill/>
          <a:ln/>
        </p:spPr>
        <p:txBody>
          <a:bodyPr wrap="square" rtlCol="0" anchor="t"/>
          <a:lstStyle/>
          <a:p>
            <a:pPr indent="0" marL="0">
              <a:buNone/>
            </a:pPr>
            <a:r>
              <a:rPr lang="en-US" sz="1400" dirty="0">
                <a:solidFill>
                  <a:srgbClr val="212121"/>
                </a:solidFill>
                <a:latin typeface="Arial" pitchFamily="34" charset="0"/>
                <a:ea typeface="Arial" pitchFamily="34" charset="-122"/>
                <a:cs typeface="Arial" pitchFamily="34" charset="-120"/>
              </a:rPr>
              <a:t>La diferencia entre un informe que alguien puede usar y uno que obliga a investigar desde cero:</a:t>
            </a:r>
            <a:endParaRPr lang="en-US" sz="1400" dirty="0"/>
          </a:p>
        </p:txBody>
      </p:sp>
      <p:sp>
        <p:nvSpPr>
          <p:cNvPr id="6" name="Shape 4"/>
          <p:cNvSpPr/>
          <p:nvPr/>
        </p:nvSpPr>
        <p:spPr>
          <a:xfrm>
            <a:off x="548640" y="1490472"/>
            <a:ext cx="5454396" cy="384048"/>
          </a:xfrm>
          <a:prstGeom prst="rect">
            <a:avLst/>
          </a:prstGeom>
          <a:solidFill>
            <a:srgbClr val="B71C1C"/>
          </a:solidFill>
          <a:ln w="12700">
            <a:solidFill>
              <a:srgbClr val="B71C1C"/>
            </a:solidFill>
            <a:prstDash val="solid"/>
          </a:ln>
        </p:spPr>
      </p:sp>
      <p:sp>
        <p:nvSpPr>
          <p:cNvPr id="7" name="Text 5"/>
          <p:cNvSpPr/>
          <p:nvPr/>
        </p:nvSpPr>
        <p:spPr>
          <a:xfrm>
            <a:off x="685800" y="1490472"/>
            <a:ext cx="5180076" cy="38404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Informe vago — no sirve</a:t>
            </a:r>
            <a:endParaRPr lang="en-US" sz="1300" dirty="0"/>
          </a:p>
        </p:txBody>
      </p:sp>
      <p:sp>
        <p:nvSpPr>
          <p:cNvPr id="8" name="Shape 6"/>
          <p:cNvSpPr/>
          <p:nvPr/>
        </p:nvSpPr>
        <p:spPr>
          <a:xfrm>
            <a:off x="6185916" y="1490472"/>
            <a:ext cx="5454396" cy="384048"/>
          </a:xfrm>
          <a:prstGeom prst="rect">
            <a:avLst/>
          </a:prstGeom>
          <a:solidFill>
            <a:srgbClr val="1B5E20"/>
          </a:solidFill>
          <a:ln w="12700">
            <a:solidFill>
              <a:srgbClr val="1B5E20"/>
            </a:solidFill>
            <a:prstDash val="solid"/>
          </a:ln>
        </p:spPr>
      </p:sp>
      <p:sp>
        <p:nvSpPr>
          <p:cNvPr id="9" name="Text 7"/>
          <p:cNvSpPr/>
          <p:nvPr/>
        </p:nvSpPr>
        <p:spPr>
          <a:xfrm>
            <a:off x="6323076" y="1490472"/>
            <a:ext cx="5180076" cy="38404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Informe útil — reproducible</a:t>
            </a:r>
            <a:endParaRPr lang="en-US" sz="1300" dirty="0"/>
          </a:p>
        </p:txBody>
      </p:sp>
      <p:sp>
        <p:nvSpPr>
          <p:cNvPr id="10" name="Shape 8"/>
          <p:cNvSpPr/>
          <p:nvPr/>
        </p:nvSpPr>
        <p:spPr>
          <a:xfrm>
            <a:off x="548640" y="1965960"/>
            <a:ext cx="5454396" cy="2926080"/>
          </a:xfrm>
          <a:prstGeom prst="roundRect">
            <a:avLst/>
          </a:prstGeom>
          <a:solidFill>
            <a:srgbClr val="FFEBEE"/>
          </a:solidFill>
          <a:ln w="19050">
            <a:solidFill>
              <a:srgbClr val="EF9A9A"/>
            </a:solidFill>
            <a:prstDash val="solid"/>
          </a:ln>
        </p:spPr>
      </p:sp>
      <p:sp>
        <p:nvSpPr>
          <p:cNvPr id="11" name="Text 9"/>
          <p:cNvSpPr/>
          <p:nvPr/>
        </p:nvSpPr>
        <p:spPr>
          <a:xfrm>
            <a:off x="731520" y="2148840"/>
            <a:ext cx="5088636" cy="2651760"/>
          </a:xfrm>
          <a:prstGeom prst="rect">
            <a:avLst/>
          </a:prstGeom>
          <a:noFill/>
          <a:ln/>
        </p:spPr>
        <p:txBody>
          <a:bodyPr wrap="square" rtlCol="0" anchor="t"/>
          <a:lstStyle/>
          <a:p>
            <a:pPr indent="0" marL="0">
              <a:buNone/>
            </a:pPr>
            <a:r>
              <a:rPr lang="en-US" sz="1200" b="1" dirty="0">
                <a:solidFill>
                  <a:srgbClr val="B71C1C"/>
                </a:solidFill>
                <a:latin typeface="Arial" pitchFamily="34" charset="0"/>
                <a:ea typeface="Arial" pitchFamily="34" charset="-122"/>
                <a:cs typeface="Arial" pitchFamily="34" charset="-120"/>
              </a:rPr>
              <a:t>Descripción: </a:t>
            </a:r>
            <a:pPr indent="0" marL="0">
              <a:buNone/>
            </a:pPr>
            <a:r>
              <a:rPr lang="en-US" sz="1200" dirty="0">
                <a:solidFill>
                  <a:srgbClr val="212121"/>
                </a:solidFill>
                <a:latin typeface="Arial" pitchFamily="34" charset="0"/>
                <a:ea typeface="Arial" pitchFamily="34" charset="-122"/>
                <a:cs typeface="Arial" pitchFamily="34" charset="-120"/>
              </a:rPr>
              <a:t>El login a veces no funciona.
</a:t>
            </a:r>
            <a:pPr indent="0" marL="0">
              <a:buNone/>
            </a:pPr>
            <a:r>
              <a:rPr lang="en-US" sz="1200" b="1" dirty="0">
                <a:solidFill>
                  <a:srgbClr val="B71C1C"/>
                </a:solidFill>
                <a:latin typeface="Arial" pitchFamily="34" charset="0"/>
                <a:ea typeface="Arial" pitchFamily="34" charset="-122"/>
                <a:cs typeface="Arial" pitchFamily="34" charset="-120"/>
              </a:rPr>
              <a:t>Pasos: </a:t>
            </a:r>
            <a:pPr indent="0" marL="0">
              <a:buNone/>
            </a:pPr>
            <a:r>
              <a:rPr lang="en-US" sz="1200" dirty="0">
                <a:solidFill>
                  <a:srgbClr val="212121"/>
                </a:solidFill>
                <a:latin typeface="Arial" pitchFamily="34" charset="0"/>
                <a:ea typeface="Arial" pitchFamily="34" charset="-122"/>
                <a:cs typeface="Arial" pitchFamily="34" charset="-120"/>
              </a:rPr>
              <a:t>Entrar y logarse.
</a:t>
            </a:r>
            <a:pPr indent="0" marL="0">
              <a:buNone/>
            </a:pPr>
            <a:r>
              <a:rPr lang="en-US" sz="1200" b="1" dirty="0">
                <a:solidFill>
                  <a:srgbClr val="B71C1C"/>
                </a:solidFill>
                <a:latin typeface="Arial" pitchFamily="34" charset="0"/>
                <a:ea typeface="Arial" pitchFamily="34" charset="-122"/>
                <a:cs typeface="Arial" pitchFamily="34" charset="-120"/>
              </a:rPr>
              <a:t>Resultado: </a:t>
            </a:r>
            <a:pPr indent="0" marL="0">
              <a:buNone/>
            </a:pPr>
            <a:r>
              <a:rPr lang="en-US" sz="1200" dirty="0">
                <a:solidFill>
                  <a:srgbClr val="212121"/>
                </a:solidFill>
                <a:latin typeface="Arial" pitchFamily="34" charset="0"/>
                <a:ea typeface="Arial" pitchFamily="34" charset="-122"/>
                <a:cs typeface="Arial" pitchFamily="34" charset="-120"/>
              </a:rPr>
              <a:t>No entra.
</a:t>
            </a:r>
            <a:pPr indent="0" marL="0">
              <a:buNone/>
            </a:pPr>
            <a:r>
              <a:rPr lang="en-US" sz="1100" i="1" dirty="0">
                <a:solidFill>
                  <a:srgbClr val="B71C1C"/>
                </a:solidFill>
                <a:latin typeface="Arial" pitchFamily="34" charset="0"/>
                <a:ea typeface="Arial" pitchFamily="34" charset="-122"/>
                <a:cs typeface="Arial" pitchFamily="34" charset="-120"/>
              </a:rPr>
              <a:t>¿Qué falla aquí? "A veces" no es reproducible. "No entra" no dice si hay mensaje de error, si redirige o si no ocurre nada. Quien recibe esto tiene que empezar a investigar desde cero.</a:t>
            </a:r>
            <a:endParaRPr lang="en-US" sz="1200" dirty="0"/>
          </a:p>
        </p:txBody>
      </p:sp>
      <p:sp>
        <p:nvSpPr>
          <p:cNvPr id="12" name="Shape 10"/>
          <p:cNvSpPr/>
          <p:nvPr/>
        </p:nvSpPr>
        <p:spPr>
          <a:xfrm>
            <a:off x="6185916" y="1965960"/>
            <a:ext cx="5454396" cy="2926080"/>
          </a:xfrm>
          <a:prstGeom prst="roundRect">
            <a:avLst/>
          </a:prstGeom>
          <a:solidFill>
            <a:srgbClr val="E8F5E9"/>
          </a:solidFill>
          <a:ln w="19050">
            <a:solidFill>
              <a:srgbClr val="A5D6A7"/>
            </a:solidFill>
            <a:prstDash val="solid"/>
          </a:ln>
        </p:spPr>
      </p:sp>
      <p:sp>
        <p:nvSpPr>
          <p:cNvPr id="13" name="Text 11"/>
          <p:cNvSpPr/>
          <p:nvPr/>
        </p:nvSpPr>
        <p:spPr>
          <a:xfrm>
            <a:off x="6368796" y="2148840"/>
            <a:ext cx="5088636" cy="2651760"/>
          </a:xfrm>
          <a:prstGeom prst="rect">
            <a:avLst/>
          </a:prstGeom>
          <a:noFill/>
          <a:ln/>
        </p:spPr>
        <p:txBody>
          <a:bodyPr wrap="square" rtlCol="0" anchor="t"/>
          <a:lstStyle/>
          <a:p>
            <a:pPr indent="0" marL="0">
              <a:buNone/>
            </a:pPr>
            <a:r>
              <a:rPr lang="en-US" sz="1200" b="1" dirty="0">
                <a:solidFill>
                  <a:srgbClr val="1B5E20"/>
                </a:solidFill>
                <a:latin typeface="Arial" pitchFamily="34" charset="0"/>
                <a:ea typeface="Arial" pitchFamily="34" charset="-122"/>
                <a:cs typeface="Arial" pitchFamily="34" charset="-120"/>
              </a:rPr>
              <a:t>Descripción: </a:t>
            </a:r>
            <a:pPr indent="0" marL="0">
              <a:buNone/>
            </a:pPr>
            <a:r>
              <a:rPr lang="en-US" sz="1200" dirty="0">
                <a:solidFill>
                  <a:srgbClr val="212121"/>
                </a:solidFill>
                <a:latin typeface="Arial" pitchFamily="34" charset="0"/>
                <a:ea typeface="Arial" pitchFamily="34" charset="-122"/>
                <a:cs typeface="Arial" pitchFamily="34" charset="-120"/>
              </a:rPr>
              <a:t>El login acepta contraseña incorrecta con espacio al final.
</a:t>
            </a:r>
            <a:pPr indent="0" marL="0">
              <a:buNone/>
            </a:pPr>
            <a:r>
              <a:rPr lang="en-US" sz="1200" b="1" dirty="0">
                <a:solidFill>
                  <a:srgbClr val="1B5E20"/>
                </a:solidFill>
                <a:latin typeface="Arial" pitchFamily="34" charset="0"/>
                <a:ea typeface="Arial" pitchFamily="34" charset="-122"/>
                <a:cs typeface="Arial" pitchFamily="34" charset="-120"/>
              </a:rPr>
              <a:t>Pasos: </a:t>
            </a:r>
            <a:pPr indent="0" marL="0">
              <a:buNone/>
            </a:pPr>
            <a:r>
              <a:rPr lang="en-US" sz="1200" dirty="0">
                <a:solidFill>
                  <a:srgbClr val="212121"/>
                </a:solidFill>
                <a:latin typeface="Arial" pitchFamily="34" charset="0"/>
                <a:ea typeface="Arial" pitchFamily="34" charset="-122"/>
                <a:cs typeface="Arial" pitchFamily="34" charset="-120"/>
              </a:rPr>
              <a:t>1. Ir a http://localhost:8080/login
2. Usuario: admin
3. Contraseña: "1234 " (espacio al final)
4. Pulsar Entrar
</a:t>
            </a:r>
            <a:pPr indent="0" marL="0">
              <a:buNone/>
            </a:pPr>
            <a:r>
              <a:rPr lang="en-US" sz="1200" b="1" dirty="0">
                <a:solidFill>
                  <a:srgbClr val="1B5E20"/>
                </a:solidFill>
                <a:latin typeface="Arial" pitchFamily="34" charset="0"/>
                <a:ea typeface="Arial" pitchFamily="34" charset="-122"/>
                <a:cs typeface="Arial" pitchFamily="34" charset="-120"/>
              </a:rPr>
              <a:t>Esperado: </a:t>
            </a:r>
            <a:pPr indent="0" marL="0">
              <a:buNone/>
            </a:pPr>
            <a:r>
              <a:rPr lang="en-US" sz="1200" dirty="0">
                <a:solidFill>
                  <a:srgbClr val="212121"/>
                </a:solidFill>
                <a:latin typeface="Arial" pitchFamily="34" charset="0"/>
                <a:ea typeface="Arial" pitchFamily="34" charset="-122"/>
                <a:cs typeface="Arial" pitchFamily="34" charset="-120"/>
              </a:rPr>
              <a:t>mensaje de error "Credenciales incorrectas".
</a:t>
            </a:r>
            <a:pPr indent="0" marL="0">
              <a:buNone/>
            </a:pPr>
            <a:r>
              <a:rPr lang="en-US" sz="1200" b="1" dirty="0">
                <a:solidFill>
                  <a:srgbClr val="1B5E20"/>
                </a:solidFill>
                <a:latin typeface="Arial" pitchFamily="34" charset="0"/>
                <a:ea typeface="Arial" pitchFamily="34" charset="-122"/>
                <a:cs typeface="Arial" pitchFamily="34" charset="-120"/>
              </a:rPr>
              <a:t>Obtenido: </a:t>
            </a:r>
            <a:pPr indent="0" marL="0">
              <a:buNone/>
            </a:pPr>
            <a:r>
              <a:rPr lang="en-US" sz="1200" dirty="0">
                <a:solidFill>
                  <a:srgbClr val="212121"/>
                </a:solidFill>
                <a:latin typeface="Arial" pitchFamily="34" charset="0"/>
                <a:ea typeface="Arial" pitchFamily="34" charset="-122"/>
                <a:cs typeface="Arial" pitchFamily="34" charset="-120"/>
              </a:rPr>
              <a:t>acceso concedido al panel de admin.
</a:t>
            </a:r>
            <a:pPr indent="0" marL="0">
              <a:buNone/>
            </a:pPr>
            <a:r>
              <a:rPr lang="en-US" sz="1200" b="1" dirty="0">
                <a:solidFill>
                  <a:srgbClr val="1B5E20"/>
                </a:solidFill>
                <a:latin typeface="Arial" pitchFamily="34" charset="0"/>
                <a:ea typeface="Arial" pitchFamily="34" charset="-122"/>
                <a:cs typeface="Arial" pitchFamily="34" charset="-120"/>
              </a:rPr>
              <a:t>Entorno: </a:t>
            </a:r>
            <a:pPr indent="0" marL="0">
              <a:buNone/>
            </a:pPr>
            <a:r>
              <a:rPr lang="en-US" sz="1200" dirty="0">
                <a:solidFill>
                  <a:srgbClr val="212121"/>
                </a:solidFill>
                <a:latin typeface="Arial" pitchFamily="34" charset="0"/>
                <a:ea typeface="Arial" pitchFamily="34" charset="-122"/>
                <a:cs typeface="Arial" pitchFamily="34" charset="-120"/>
              </a:rPr>
              <a:t>Windows 11, Chrome 124, v2.3.1.
</a:t>
            </a:r>
            <a:pPr indent="0" marL="0">
              <a:buNone/>
            </a:pPr>
            <a:r>
              <a:rPr lang="en-US" sz="1200" b="1" dirty="0">
                <a:solidFill>
                  <a:srgbClr val="1B5E20"/>
                </a:solidFill>
                <a:latin typeface="Arial" pitchFamily="34" charset="0"/>
                <a:ea typeface="Arial" pitchFamily="34" charset="-122"/>
                <a:cs typeface="Arial" pitchFamily="34" charset="-120"/>
              </a:rPr>
              <a:t>Severidad: </a:t>
            </a:r>
            <a:pPr indent="0" marL="0">
              <a:buNone/>
            </a:pPr>
            <a:r>
              <a:rPr lang="en-US" sz="1200" dirty="0">
                <a:solidFill>
                  <a:srgbClr val="212121"/>
                </a:solidFill>
                <a:latin typeface="Arial" pitchFamily="34" charset="0"/>
                <a:ea typeface="Arial" pitchFamily="34" charset="-122"/>
                <a:cs typeface="Arial" pitchFamily="34" charset="-120"/>
              </a:rPr>
              <a:t>Alta — permite acceso no autorizado.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Entornos de Desarrollo</cp:lastModifiedBy>
  <cp:revision>1</cp:revision>
  <dcterms:created xsi:type="dcterms:W3CDTF">2026-06-23T22:41:59Z</dcterms:created>
  <dcterms:modified xsi:type="dcterms:W3CDTF">2026-06-23T22:41:59Z</dcterms:modified>
</cp:coreProperties>
</file>
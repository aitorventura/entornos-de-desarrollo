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9137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1: DESARROLLO DE SOFTWARE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Herramientas y procesos de construcción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Editores e IDEs · Git · Construcción y dependencias · Calidad · Depuración · Entornos · Docker · Automatización y CI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Editores e IDEs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editor de código es donde escribes el código. Un IDE (Integrated Development Environment) es un editor con todo lo demás integrado: ejecutar, depurar, refactorizar, gestionar dependencias. La diferencia práctica: con un editor cambias de herramienta para compilar o depurar; con un IDE todo está en el mismo sitio.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175027"/>
              </p:ext>
            </p:extLst>
          </p:nvPr>
        </p:nvGraphicFramePr>
        <p:xfrm>
          <a:off x="548640" y="1965960"/>
          <a:ext cx="11091672" cy="2618117"/>
        </p:xfrm>
        <a:graphic>
          <a:graphicData uri="http://schemas.openxmlformats.org/drawingml/2006/table">
            <a:tbl>
              <a:tblPr/>
              <a:tblGrid>
                <a:gridCol w="199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3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2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5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Editor de código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Peso y velocidad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Ligero, arranca rápido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Más pesado, carga el proyecto al abrir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Funciones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Edición, autocompletado, extensiones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Build, debug, pruebas, refactorizaciones integradas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Conviene cuando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Varios lenguajes, proyectos pequeños o scripts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Proyectos medianos/grandes con un lenguaje principal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Code, Sublime Text, Vim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IntelliJ IDEA (Java/Kotlin), Eclipse (Java), PyCharm (Python)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73795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77240" y="4719515"/>
            <a:ext cx="10634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típica: empiezas con Java. Podrías usar VS Code con extensiones, pero IntelliJ te avisa de errores mientras escribes, genera getters/setters y permite depurar sin salir del editor. Para Java de cierto tamaño, el IDE ahorra mucho tiempo.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5633915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777240" y="5679635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prácticas: abre siempre la CARPETA RAÍZ del proyecto (no un archivo suelto) · activa el formato al guardar · define tareas del proyecto (build, test, lint) para que todos las usen igual.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Herramientas y procesos de construcción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Control de versiones (Git) — conceptos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91672" cy="914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4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problema resuelve? Sin Git, dos personas que tocan el mismo archivo se sobreescriben, y si rompes algo no hay vuelta atrás. Git guarda el HISTORIAL COMPLETO y permite RAMAS PARALELAS. Como el historial de guardados de un videojuego: vuelves a un punto anterior o exploras un camino alternativo sin perder el original.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998350"/>
              </p:ext>
            </p:extLst>
          </p:nvPr>
        </p:nvGraphicFramePr>
        <p:xfrm>
          <a:off x="548640" y="1953885"/>
          <a:ext cx="11091672" cy="3017520"/>
        </p:xfrm>
        <a:graphic>
          <a:graphicData uri="http://schemas.openxmlformats.org/drawingml/2006/table">
            <a:tbl>
              <a:tblPr/>
              <a:tblGrid>
                <a:gridCol w="199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5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Repositorio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carpeta del proyecto con todo su historial. Local (tu ordenador) o remoto (GitHub, GitLab…)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"foto" del proyecto en un momento concreto, con un mensaje que explica qué cambió y por qué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 (rama)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línea de trabajo paralela: desarrollas una feature sin tocar main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Unir una rama de vuelta a main una vez revisada y aprobada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Pull Request (PR)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Solicitud de revisión antes del merge: el equipo revisa los cambios y da el visto bueno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068014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731520" y="5068014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habitual (GitHub Flow)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616654"/>
            <a:ext cx="1889150" cy="8686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594360" y="5662374"/>
            <a:ext cx="179771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(estable)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392070" y="5616654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849270" y="5616654"/>
            <a:ext cx="1889150" cy="8686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2894990" y="5662374"/>
            <a:ext cx="179771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feature/mi-cambio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92701" y="5616654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149901" y="5616654"/>
            <a:ext cx="1889150" cy="8686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5195621" y="5662374"/>
            <a:ext cx="179771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pequeños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993331" y="5616654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7450531" y="5616654"/>
            <a:ext cx="1889150" cy="8686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7496251" y="5662374"/>
            <a:ext cx="179771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revisión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293962" y="5616654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9751162" y="5616654"/>
            <a:ext cx="1889150" cy="8686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9796882" y="5662374"/>
            <a:ext cx="179771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Herramientas y procesos de construcción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Git — .gitignore, errores habituales y mensajes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.gitignore: si Git puede regenerarlo, ignóralo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766560" cy="13258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73152" cy="132588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6355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target/         # compilación de Java (se regenera con mvn package)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   # dependencias de Node (npm install)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           # contraseñas locales — ¡nunca al repo!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.idea/  *.iml   # configuración personal del 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0" y="1554480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.gitignore es fácil subir por accidente contraseñas, carpetas enormes generadas automáticamente o configuración personal del editor.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91672" cy="2286000"/>
        </p:xfrm>
        <a:graphic>
          <a:graphicData uri="http://schemas.openxmlformats.org/drawingml/2006/table">
            <a:tbl>
              <a:tblPr/>
              <a:tblGrid>
                <a:gridCol w="4991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habitual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Consecuencia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Trabajar directamente en main sin ramas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algo falla, contaminas el código estable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Commits gigantes con mensaje "cambios"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Imposible entender qué pasó después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hacer pull antes de empezar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Conflictos evitables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Subir el .env con contraseñas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Problema GRAVE de seguridad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530391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77240" y="5576111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Mensajes de commit: describe QUÉ cambió y POR QUÉ, no el cómo (eso lo dice el código).  Bien: "Añadir validación de email en el formulario de registro" — Mal: "cambios", "fix", "wip".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Herramientas y procesos de construcción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Sistemas de construcción y gestores de dependencias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el proyecto crece, compilar a mano (javac Fichero.java) no escala. El sistema de construcción automatiza todo con un comando: compila, pasa los tests, empaqueta. El gestor de dependencias descarga las librerías externas en la versión exacta que necesitas — sin él, descargarías cada JAR a mano.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59"/>
            <a:ext cx="5151121" cy="3002855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3152" cy="196596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467465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pom.xml: declaras qué necesitas y Maven lo descarga --&gt;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&lt;groupId&gt;org.junit.jupiter&lt;/groupId&gt;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&lt;artifactId&gt;junit-jupiter&lt;/artifactId&gt;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&lt;version&gt;5.10.0&lt;/version&gt;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test      → compila y pasa los tests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package   → genera el JAR final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113822"/>
              </p:ext>
            </p:extLst>
          </p:nvPr>
        </p:nvGraphicFramePr>
        <p:xfrm>
          <a:off x="5934974" y="1965960"/>
          <a:ext cx="5677906" cy="2542364"/>
        </p:xfrm>
        <a:graphic>
          <a:graphicData uri="http://schemas.openxmlformats.org/drawingml/2006/table">
            <a:tbl>
              <a:tblPr/>
              <a:tblGrid>
                <a:gridCol w="1022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9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7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0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68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Lenguaje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Construcción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Dependencias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1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Maven / Gradle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Maven Central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pom.xml / build.gradle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1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 / Node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scripts / Vite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npm / pnpm / yarn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package.json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 / poetry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requirements.txt / pyproject.toml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/ C++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 / CMake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vcpkg / Conan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Makefile / CMakeLists.txt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102518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77240" y="5148238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 las tareas: define comandos estándar (build, test, lint) en la configuración del proyecto, para que todo el equipo ejecute exactamente lo mismo. Evita el clásico "en mi PC funciona".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Herramientas y procesos de construcción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 Calidad de código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código puede funcionar y aun así ser difícil de leer, mantener o cambiar. Si nadie controla la calidad, el proyecto acaba siendo algo que nadie quiere tocar. Estas herramientas detectan los problemas automáticamente, antes de producción: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4572000"/>
        </p:xfrm>
        <a:graphic>
          <a:graphicData uri="http://schemas.openxmlformats.org/drawingml/2006/table">
            <a:tbl>
              <a:tblPr/>
              <a:tblGrid>
                <a:gridCol w="1441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7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5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6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Herramienta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 de detección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Herramientas por lenguaje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Analiza el código en busca de errores comunes y malas prácticas SIN ejecutarlo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Variables declaradas y nunca usadas; comparaciones siempre falsas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Checkstyle, PMD (Java) · ESLint (JS) · flake8, pylint (Python)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Formateador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 un estilo uniforme automáticamente (indentación, espacios, llaves)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 el equipo produce código con el mismo aspecto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Spotless (Java) · Prettier (JS) · Black (Python)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Análisis estático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 más allá del linter: vulnerabilidades, dependencias obsoletas, bugs sutiles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Concatenar datos del usuario en una consulta SQL (inyección SQL)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SonarQube, Semgrep, Snyk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Cobertura de pruebas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Mide qué % del código se ejecuta al correr las pruebas automáticas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 de cobertura = el 20% del código nunca se prueba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JaCoCo (Java) · Istanbul/nyc (JS) · coverage.py (Python)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4"/>
          <p:cNvSpPr/>
          <p:nvPr/>
        </p:nvSpPr>
        <p:spPr>
          <a:xfrm>
            <a:off x="777240" y="576072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 recomendado: formato → linter → pruebas. El formato y el linter tardan segundos; las pruebas pueden tardar más. Si el linter falla, no esperes a que acaben todas las pruebas.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Herramientas y procesos de construcción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 Depuración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instinto es llenar el código de System.out.println. Funciona para casos simples, pero el depurador (debugger) permite PAUSAR la ejecución en cualquier punto, inspeccionar cada variable en ese momento exacto y avanzar línea a línea hasta ver dónde se tuerce la lógica.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618757"/>
              </p:ext>
            </p:extLst>
          </p:nvPr>
        </p:nvGraphicFramePr>
        <p:xfrm>
          <a:off x="548640" y="1874520"/>
          <a:ext cx="11091672" cy="1789176"/>
        </p:xfrm>
        <a:graphic>
          <a:graphicData uri="http://schemas.openxmlformats.org/drawingml/2006/table">
            <a:tbl>
              <a:tblPr/>
              <a:tblGrid>
                <a:gridCol w="1552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4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64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Atajo (IntelliJ)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over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Ejecuta la línea actual y para en la siguiente; las llamadas a función se ejecutan completas sin entrar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into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la línea llama a una función, entra dentro para verla paso a paso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Continúa hasta el siguiente breakpoint (o hasta el final)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49896"/>
            <a:ext cx="11091672" cy="283806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31520" y="3749896"/>
            <a:ext cx="10725912" cy="28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a paso en IntelliJ</a:t>
            </a:r>
            <a:endParaRPr lang="en-US" sz="1700" dirty="0"/>
          </a:p>
        </p:txBody>
      </p:sp>
      <p:sp>
        <p:nvSpPr>
          <p:cNvPr id="5" name="Text 5"/>
          <p:cNvSpPr/>
          <p:nvPr/>
        </p:nvSpPr>
        <p:spPr>
          <a:xfrm>
            <a:off x="548640" y="4114800"/>
            <a:ext cx="110916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40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</a:t>
            </a: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breakpoint con clic en el margen izquierdo (punto rojo). 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400" dirty="0" err="1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Arranca</a:t>
            </a: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modo debug (icono del insecto o Shift+F9): el programa se detiene en el breakpoint.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 el panel inferior verás las variables locales con sus valores: comprueba si son los que esperas. 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Step over línea a línea; si una función parece sospechosa, Step into.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Encuentra el error, corrígelo, quita el breakpoint y vuelve a ejecutar.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5633046"/>
            <a:ext cx="11091672" cy="914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77240" y="5652887"/>
            <a:ext cx="10634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prácticas: breakpoint JUSTO ANTES del punto sospechoso · escribe antes en papel el valor que esperas en cada variable (si no coincide, ahí está el error) · un println en producción es un olvido esperando ocurrir. Y si el programa funciona pero va lento: PERFILADO (profiling) — medir cuánto tarda cada parte (avanzado, no en primero).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Herramientas y procesos de construcción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 Entornos y configuración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595596"/>
              </p:ext>
            </p:extLst>
          </p:nvPr>
        </p:nvGraphicFramePr>
        <p:xfrm>
          <a:off x="365760" y="856605"/>
          <a:ext cx="11091672" cy="1920240"/>
        </p:xfrm>
        <a:graphic>
          <a:graphicData uri="http://schemas.openxmlformats.org/drawingml/2006/table">
            <a:tbl>
              <a:tblPr/>
              <a:tblGrid>
                <a:gridCol w="2440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5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Entorno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Dónde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qué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Desarrollo (dev)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 ordenador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Programar y probar localmente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Pruebas (staging)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servidor de pruebas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Validar antes de publicar; puede contener datos ficticios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Producción (prod)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servidor real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que usan los usuarios reales; no se toca sin control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2793234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es el MISMO en los tres entornos; lo que cambia son los valores de configuración: URL de la base de datos, contraseñas, servidor de correo…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383280"/>
            <a:ext cx="11091672" cy="438912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de entorno y el archivo .env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931920"/>
            <a:ext cx="6766560" cy="16916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6"/>
          <p:cNvSpPr/>
          <p:nvPr/>
        </p:nvSpPr>
        <p:spPr>
          <a:xfrm>
            <a:off x="548640" y="3931920"/>
            <a:ext cx="73152" cy="16916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77240" y="4023360"/>
            <a:ext cx="63550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— solo en tu ordenador, nunca al repositorio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DB_HOST=localhost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DB_PORT=5432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DB_PASSWORD=contraseña_local_solo_desarrollo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código lee la variable, no el valor: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host = System.getenv("DB_HOST");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0" y="397764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variable de entorno es un par clave-valor que la app lee al arrancar, sin que el valor esté en el código. Cambias el comportamiento sin tocar el código ni recompilar.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producción, las mismas variables tienen otros valores configurados en el servidor.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580644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777240" y="585216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Reglas: NUNCA contraseñas hardcodeadas en el código · .env siempre en .gitignore · si falta una variable al arrancar, el programa debe fallar con mensaje claro, no continuar con un valor vacío.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Herramientas y procesos de construcción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 Contenedores y virtualización (Docker)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problema resuelven? El clásico "en mi ordenador funciona". Un contenedor lleva la app JUNTO CON TODO lo que necesita (sistema base, librerías, runtime) para ejecutarse igual en cualquier máquina.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1944624"/>
        </p:xfrm>
        <a:graphic>
          <a:graphicData uri="http://schemas.openxmlformats.org/drawingml/2006/table">
            <a:tbl>
              <a:tblPr/>
              <a:tblGrid>
                <a:gridCol w="1552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38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Plantilla de solo lectura con la app y sus dependencias. Una receta versionada (miapp:1.0)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Contenedor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Instancia en ejecución de una imagen. Como un táper creado a partir de la receta: lo usas y lo borras sin afectar a la imagen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Almacén donde publicas y descargas imágenes (Docker Hub, GHCR…)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571081"/>
              </p:ext>
            </p:extLst>
          </p:nvPr>
        </p:nvGraphicFramePr>
        <p:xfrm>
          <a:off x="548640" y="3899142"/>
          <a:ext cx="11091672" cy="205740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6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6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Característica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Contenedor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Máquina virtual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Arranque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Segundos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Decenas de segundos / minutos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Tamaño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Ligero (MB – cientos de MB)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Pesado (GB)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Aislamiento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nivel de proceso (kernel compartido)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 propio (aislamiento más fuerte)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típico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Empaquetar apps y servicios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Emular sistemas completos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Herramientas y procesos de construcción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 Automatización de tareas y CI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que los pasos importantes (formato, análisis, pruebas, build) se hagan SIEMPRE IGUAL y AUTOMÁTICAMENTE. Tres piezas que se complementan: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766644"/>
              </p:ext>
            </p:extLst>
          </p:nvPr>
        </p:nvGraphicFramePr>
        <p:xfrm>
          <a:off x="548640" y="1548444"/>
          <a:ext cx="11091672" cy="219456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3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Pieza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Comandos con nombre dentro del proyecto: build, test, lint, format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Hooks de Git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Reglas que se ejecutan antes/después de ciertas acciones. Un hook pre-commit puede pasar el linter y las pruebas rápidas ANTES de confirmar el commit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 (Integración Continua)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Servicio en la nube que, en cada push o PR, clona el repositorio y ejecuta automáticamente todos los checks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813739"/>
            <a:ext cx="1889150" cy="478596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94360" y="3859459"/>
            <a:ext cx="1797710" cy="422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/ PR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392070" y="3813739"/>
            <a:ext cx="502920" cy="478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849270" y="3813739"/>
            <a:ext cx="1889150" cy="478596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2894990" y="3859459"/>
            <a:ext cx="1797710" cy="422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 &amp; formato</a:t>
            </a:r>
            <a:endParaRPr lang="en-US" sz="1200" dirty="0"/>
          </a:p>
        </p:txBody>
      </p:sp>
      <p:sp>
        <p:nvSpPr>
          <p:cNvPr id="5" name="Text 8"/>
          <p:cNvSpPr/>
          <p:nvPr/>
        </p:nvSpPr>
        <p:spPr>
          <a:xfrm>
            <a:off x="4692701" y="3813739"/>
            <a:ext cx="502920" cy="478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149901" y="3813739"/>
            <a:ext cx="1889150" cy="478596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5195621" y="3859459"/>
            <a:ext cx="1797710" cy="422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93331" y="3813739"/>
            <a:ext cx="502920" cy="478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450531" y="3813739"/>
            <a:ext cx="1889150" cy="478596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7496251" y="3859459"/>
            <a:ext cx="1797710" cy="422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293962" y="3813739"/>
            <a:ext cx="502920" cy="478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751162" y="3813739"/>
            <a:ext cx="1889150" cy="478596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9796882" y="3859459"/>
            <a:ext cx="1797710" cy="422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verdes ✓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feedback en la PR ✗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6253" y="4480560"/>
            <a:ext cx="8257030" cy="2142804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347645" y="4480560"/>
            <a:ext cx="73152" cy="173736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65760" y="4572000"/>
            <a:ext cx="8217522" cy="21428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.github/workflows/ci.yml — GitHub Actions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[push, pull_request]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         # descarga el código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actions/setup-java@v4       # configura Java 17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mvn test                     # el mismo comando que en local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656090" y="4526280"/>
            <a:ext cx="295679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mvn test falla, la PR queda en rojo y no se puede fusionar.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Consejos: scripts cortos y autoexplicativos · primero lo rápido (lint), luego lo costoso (pruebas) · secretos en el almacén del proveedor, no en el repo · cachea dependencias.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Herramientas y procesos de construcción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resumen del apartado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1672" cy="5349240"/>
        </p:xfrm>
        <a:graphic>
          <a:graphicData uri="http://schemas.openxmlformats.org/drawingml/2006/table">
            <a:tbl>
              <a:tblPr/>
              <a:tblGrid>
                <a:gridCol w="266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3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6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es?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¿Para qué sirve?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Editores / IDEs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Herramientas para escribir y gestionar código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Producir y comprender código con ayudas integradas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de versiones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Historial, ramas y fusiones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Trabajar en equipo sin perder cambios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Construcción / Dependencias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Proceso y bibliotecas del proyecto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Obtener ejecutables y traer librerías externas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Calidad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Linter, formateador, análisis, cobertura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Mantener estilo, detectar fallos, medir pruebas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Depuración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Pausar y explorar la ejecución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Encontrar errores sin tocar el código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Entornos / Config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Valores por entorno y secretos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Cambiar comportamiento sin tocar el código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Contenedores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Imágenes y contenedores aislados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Ejecutar igual en cualquier máquina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Automatización / CI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Scripts, hooks y verificación en servidor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Estandarizar pasos y detectar problemas pronto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Herramientas y procesos de construcción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2245</Words>
  <Application>Microsoft Office PowerPoint</Application>
  <PresentationFormat>Panorámica</PresentationFormat>
  <Paragraphs>277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VENTURA EDO, AITOR</cp:lastModifiedBy>
  <cp:revision>2</cp:revision>
  <dcterms:created xsi:type="dcterms:W3CDTF">2026-06-13T00:03:29Z</dcterms:created>
  <dcterms:modified xsi:type="dcterms:W3CDTF">2026-06-13T07:56:50Z</dcterms:modified>
</cp:coreProperties>
</file>
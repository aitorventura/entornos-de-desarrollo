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767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3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6: DIAGRAMAS DE COMPORTAMIENTO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actividades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Flujos, decisiones y concurrencia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¿Para qué sirve?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9144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77240" y="112471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clave: es el diagrama de flujo de toda la vida, con uniforme UML — un proceso de principio a fin, con sus decisiones, sus bucles y sus tareas en paralelo.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109167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ya has hecho diagramas de flujo en Programación, este te resultará familiar: cambia la notación, no la idea. Se usa para modelar: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Procesos de negocio: el flujo de una compra, una reserva, una tramitación.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Lógica de algoritmos: los pasos de un método complejo.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Flujos de casos de uso: cómo se desarrolla un caso de uso en detalle.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Comportamiento de métodos, cuando la lógica cuesta de entender solo con código.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actividades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 pequeño para empezar: el cajero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358384" y="1060704"/>
            <a:ext cx="256032" cy="256032"/>
          </a:xfrm>
          <a:prstGeom prst="ellipse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486400" y="1325880"/>
            <a:ext cx="0" cy="36576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480560" y="1691640"/>
            <a:ext cx="2011680" cy="50292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48056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Introducir PIN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0" y="2194560"/>
            <a:ext cx="0" cy="41148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800600" y="2606040"/>
            <a:ext cx="1371600" cy="8686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434840" y="26060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¿PIN correcto?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3035808"/>
            <a:ext cx="150876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469380" y="2724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[sí]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2788920"/>
            <a:ext cx="1920240" cy="50292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680960" y="2788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importe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0" y="3035808"/>
            <a:ext cx="45720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10058400" y="2788920"/>
            <a:ext cx="1828800" cy="50292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0058400" y="2788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Entregar dinero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972800" y="3291840"/>
            <a:ext cx="0" cy="68580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10817352" y="400507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10887304" y="4075024"/>
            <a:ext cx="170993" cy="170993"/>
          </a:xfrm>
          <a:prstGeom prst="ellipse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 flipH="1">
            <a:off x="2103120" y="3035808"/>
            <a:ext cx="269748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2354580" y="27249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[no, quedan intentos]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flipV="1">
            <a:off x="2103120" y="1938528"/>
            <a:ext cx="0" cy="109728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2103120" y="1938528"/>
            <a:ext cx="237744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5486400" y="3474720"/>
            <a:ext cx="0" cy="64008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623560" y="3611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[no, 3 fallos]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80560" y="4114800"/>
            <a:ext cx="2011680" cy="50292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480560" y="4114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Retener tarjeta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0" y="4617720"/>
            <a:ext cx="0" cy="59436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5330952" y="52395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5400904" y="5309464"/>
            <a:ext cx="170993" cy="170993"/>
          </a:xfrm>
          <a:prstGeom prst="ellipse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548640" y="5852160"/>
            <a:ext cx="11091672" cy="5486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777240" y="5925312"/>
            <a:ext cx="10634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condiciones van entre corchetes en las flechas del rombo; un camino puede volver atrás (el bucle del PIN) o terminar en un final propio.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actividades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Elementos (1/2): inicio, actividad y decisión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42416" y="1453896"/>
            <a:ext cx="292608" cy="292608"/>
          </a:xfrm>
          <a:prstGeom prst="ellipse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828800" y="137160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 — círculo negro sólido. Comienzo del flujo; solo puede haber uno.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1554480" cy="45720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stock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22402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— rectángulo redondeado. Una tarea o acción concreta; el nombre suele ser un verbo en infinitivo ("Verificar stock", "Enviar notificación").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5840" y="3291840"/>
            <a:ext cx="914400" cy="6858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468880" y="3200400"/>
            <a:ext cx="9144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— rombo: el flujo toma un camino u otro según una condición.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condición va entre corchetes en su flecha de salida —[sí], [no], [stock &gt; 0]— y se llama CONDICIÓN DE GUARDA: "guarda" el camino y solo deja pasar si es verdadera. Volverás a verla en el diagrama de estados.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120640"/>
            <a:ext cx="11091672" cy="8686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77240" y="5193792"/>
            <a:ext cx="1063447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rombos no llevan la pregunta dentro en UML estricto, pero escribirla al lado (¿PIN correcto?) ayuda a leer el diagrama y es lo que haremos en clase.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actividades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DIA — iconos de la paleta UML (I)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0079" y="1463039"/>
            <a:ext cx="3746181" cy="3202325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C:/Users/Aitor/Documents/apuntes-profe/entornos-de-desarrollo/docs/tema6/img/actividad-inicio-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1463039"/>
            <a:ext cx="4298841" cy="32023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392" y="4756519"/>
            <a:ext cx="4397691" cy="4361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Icono de nodo inicial (círculo negro) en DIA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343399" y="1463039"/>
            <a:ext cx="3474719" cy="3189865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1" descr="C:/Users/Aitor/Documents/apuntes-profe/entornos-de-desarrollo/docs/tema6/img/actividad-nodo-icon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0704" y="1568863"/>
            <a:ext cx="3987331" cy="31898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39897" y="4812223"/>
            <a:ext cx="3237022" cy="4361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Icono de actividad (rectángulo redondeado) en DIA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909559" y="1463040"/>
            <a:ext cx="3474719" cy="3164944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2" descr="C:/Users/Aitor/Documents/apuntes-profe/entornos-de-desarrollo/docs/tema6/img/actividad-decision-icon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1297" y="1412883"/>
            <a:ext cx="3987331" cy="31649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88797" y="4812223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Icono de decisión (rombo hueco) en DIA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actividades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Elementos (2/2): flujo, concurrencia y fin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128016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2468880" y="1417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— flechas que conectan los elementos e indican la dirección del proceso.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1463040" cy="82296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468880" y="228600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Concurrencia — barras gruesas de sincronización:</a:t>
            </a:r>
            <a:endParaRPr lang="en-US" sz="1500" dirty="0"/>
          </a:p>
          <a:p>
            <a:pPr marL="0" lvl="1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La barra de APERTURA (fork) divide el flujo en ramas que se ejecutan a la vez.</a:t>
            </a:r>
            <a:endParaRPr lang="en-US" sz="1500" dirty="0"/>
          </a:p>
          <a:p>
            <a:pPr marL="0" lvl="1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La de CIERRE (join) espera a que TODAS las ramas terminen para continuar.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24128" y="404164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98194" y="4115714"/>
            <a:ext cx="181051" cy="181051"/>
          </a:xfrm>
          <a:prstGeom prst="ellipse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468880" y="39776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— círculo con borde grueso. Puede haber varios nodos de fin en un mismo diagrama (un final feliz y otro de cancelación, por ejemplo).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029200"/>
            <a:ext cx="11091672" cy="10058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77240" y="5102352"/>
            <a:ext cx="106344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Rombo y barra se parecen pero no se mezclan: el rombo ELIGE un camino (con guardas); la barra los ejecuta TODOS a la vez (sin guardas). Si pones condiciones en una barra, en realidad querías un rombo.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actividades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DIA — iconos de la paleta UML (II)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371600" y="1554480"/>
            <a:ext cx="3566160" cy="3520440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C:/Users/Aitor/Documents/apuntes-profe/entornos-de-desarrollo/docs/tema6/img/actividad-transicion-ic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54480"/>
            <a:ext cx="3566160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51023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 de transición (flecha) para conectar elementos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126480" y="1737360"/>
            <a:ext cx="4023360" cy="2999232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Image 1" descr="C:/Users/Aitor/Documents/apuntes-profe/entornos-de-desarrollo/docs/tema6/img/actividad-barra-sincronizac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737360"/>
            <a:ext cx="4023360" cy="29992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52160" y="476402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 de sincronización (fork/join) en DIA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actividades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DIA — nodo final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El nodo de fin se crea con el mismo icono que el de inicio.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Para convertirlo en final: doble clic sobre él → campo "Es final" → Sí.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92240" y="1188720"/>
            <a:ext cx="4572000" cy="3127248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C:/Users/Aitor/Documents/apuntes-profe/entornos-de-desarrollo/docs/tema6/img/actividad-fin-propieda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188720"/>
            <a:ext cx="45720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0" y="4343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Propiedades del nodo de estado final en DIA: activar "Es final: Sí"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actividades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visual</a:t>
            </a:r>
            <a:endParaRPr lang="en-US" sz="2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4608576"/>
        </p:xfrm>
        <a:graphic>
          <a:graphicData uri="http://schemas.openxmlformats.org/drawingml/2006/table">
            <a:tbl>
              <a:tblPr/>
              <a:tblGrid>
                <a:gridCol w="3882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9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Inicio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(círculo negro)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Actividad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Rectángulo redondeado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Decisión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◇ (rombo)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Flujo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(flecha)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Concurrencia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═══ (barra gruesa horizontal)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⊙ (círculo con borde)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actividades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leído paso a paso: máquina de café</a:t>
            </a:r>
            <a:endParaRPr lang="en-US" sz="2300" dirty="0"/>
          </a:p>
        </p:txBody>
      </p:sp>
      <p:pic>
        <p:nvPicPr>
          <p:cNvPr id="4" name="Image 0" descr="C:/Users/Aitor/Documents/apuntes-profe/entornos-de-desarrollo/docs/tema6/img/actividad-cafe-compl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6035040" cy="4434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6560" y="109728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1. Elegir bebida e Introducir monedas: secuencia normal.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2. La primera barra abre TRES ramas a la vez: mensaje "Sirviendo café", preparar la bebida y devolver el cambio.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3. La rama central pasa por un rombo con guardas excluyentes: [café], [capuchino] o [cortado] deciden qué se sirve.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4. Un segundo rombo reagrupa los tres caminos.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5. El join espera a que las tres ramas acaben; solo entonces "Recoja su café" y nodo final.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actividades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874</Words>
  <Application>Microsoft Office PowerPoint</Application>
  <PresentationFormat>Panorámica</PresentationFormat>
  <Paragraphs>85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Entornos de Desarrollo</dc:creator>
  <cp:lastModifiedBy>VENTURA EDO, AITOR</cp:lastModifiedBy>
  <cp:revision>2</cp:revision>
  <dcterms:created xsi:type="dcterms:W3CDTF">2026-07-04T10:31:18Z</dcterms:created>
  <dcterms:modified xsi:type="dcterms:W3CDTF">2026-07-04T10:35:54Z</dcterms:modified>
</cp:coreProperties>
</file>
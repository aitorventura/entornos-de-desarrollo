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7566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03F9F"/>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B0BEC5"/>
                </a:solidFill>
                <a:latin typeface="Arial" pitchFamily="34" charset="0"/>
                <a:ea typeface="Arial" pitchFamily="34" charset="-122"/>
                <a:cs typeface="Arial" pitchFamily="34" charset="-120"/>
              </a:rPr>
              <a:t>ENTORNOS DE DESARROLLO  —  TEMA 2: ENTORNOS INTEGRADOS DE DESARROLLO</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1. ¿Qué es un IDE?</a:t>
            </a:r>
            <a:endParaRPr lang="en-US" sz="4400" dirty="0"/>
          </a:p>
        </p:txBody>
      </p:sp>
      <p:sp>
        <p:nvSpPr>
          <p:cNvPr id="4" name="Shape 2"/>
          <p:cNvSpPr/>
          <p:nvPr/>
        </p:nvSpPr>
        <p:spPr>
          <a:xfrm>
            <a:off x="0" y="5120640"/>
            <a:ext cx="12188952" cy="914400"/>
          </a:xfrm>
          <a:prstGeom prst="rect">
            <a:avLst/>
          </a:prstGeom>
          <a:solidFill>
            <a:srgbClr val="009688"/>
          </a:solidFill>
          <a:ln w="12700">
            <a:solidFill>
              <a:srgbClr val="009688"/>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Definición  ·  Componentes  ·  Editor vs IDE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1.1 Definición</a:t>
            </a:r>
            <a:endParaRPr lang="en-US" sz="2600" dirty="0"/>
          </a:p>
        </p:txBody>
      </p:sp>
      <p:sp>
        <p:nvSpPr>
          <p:cNvPr id="4" name="Shape 2"/>
          <p:cNvSpPr/>
          <p:nvPr/>
        </p:nvSpPr>
        <p:spPr>
          <a:xfrm>
            <a:off x="548640" y="914400"/>
            <a:ext cx="11091672" cy="822960"/>
          </a:xfrm>
          <a:prstGeom prst="roundRect">
            <a:avLst/>
          </a:prstGeom>
          <a:solidFill>
            <a:srgbClr val="E0F2F1"/>
          </a:solidFill>
          <a:ln w="19050">
            <a:solidFill>
              <a:srgbClr val="009688"/>
            </a:solidFill>
            <a:prstDash val="solid"/>
          </a:ln>
        </p:spPr>
        <p:txBody>
          <a:bodyPr/>
          <a:lstStyle/>
          <a:p>
            <a:endParaRPr lang="es-ES"/>
          </a:p>
        </p:txBody>
      </p:sp>
      <p:sp>
        <p:nvSpPr>
          <p:cNvPr id="5" name="Text 3"/>
          <p:cNvSpPr/>
          <p:nvPr/>
        </p:nvSpPr>
        <p:spPr>
          <a:xfrm>
            <a:off x="777240" y="960120"/>
            <a:ext cx="10634472" cy="731520"/>
          </a:xfrm>
          <a:prstGeom prst="rect">
            <a:avLst/>
          </a:prstGeom>
          <a:noFill/>
          <a:ln/>
        </p:spPr>
        <p:txBody>
          <a:bodyPr wrap="square" rtlCol="0" anchor="ctr"/>
          <a:lstStyle/>
          <a:p>
            <a:pPr marL="0" indent="0">
              <a:buNone/>
            </a:pPr>
            <a:r>
              <a:rPr lang="en-US" sz="1700" dirty="0">
                <a:solidFill>
                  <a:srgbClr val="212121"/>
                </a:solidFill>
                <a:latin typeface="Arial" pitchFamily="34" charset="0"/>
                <a:ea typeface="Arial" pitchFamily="34" charset="-122"/>
                <a:cs typeface="Arial" pitchFamily="34" charset="-120"/>
              </a:rPr>
              <a:t>Un IDE (Integrated Development Environment, entorno integrado de desarrollo) reúne en una sola aplicación el editor de código, el compilador, el depurador y otras herramientas de apoyo al desarrollo.</a:t>
            </a:r>
            <a:endParaRPr lang="en-US" sz="1700" dirty="0"/>
          </a:p>
        </p:txBody>
      </p:sp>
      <p:sp>
        <p:nvSpPr>
          <p:cNvPr id="6" name="Shape 4"/>
          <p:cNvSpPr/>
          <p:nvPr/>
        </p:nvSpPr>
        <p:spPr>
          <a:xfrm>
            <a:off x="548640" y="1920240"/>
            <a:ext cx="11091672" cy="438912"/>
          </a:xfrm>
          <a:prstGeom prst="rect">
            <a:avLst/>
          </a:prstGeom>
          <a:solidFill>
            <a:srgbClr val="3F51B5"/>
          </a:solidFill>
          <a:ln w="12700">
            <a:solidFill>
              <a:srgbClr val="3F51B5"/>
            </a:solidFill>
            <a:prstDash val="solid"/>
          </a:ln>
        </p:spPr>
        <p:txBody>
          <a:bodyPr/>
          <a:lstStyle/>
          <a:p>
            <a:endParaRPr lang="es-ES"/>
          </a:p>
        </p:txBody>
      </p:sp>
      <p:sp>
        <p:nvSpPr>
          <p:cNvPr id="7" name="Text 5"/>
          <p:cNvSpPr/>
          <p:nvPr/>
        </p:nvSpPr>
        <p:spPr>
          <a:xfrm>
            <a:off x="731520" y="192024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¿Para qué sirve tenerlo todo integrado?</a:t>
            </a:r>
            <a:endParaRPr lang="en-US" sz="1700" dirty="0"/>
          </a:p>
        </p:txBody>
      </p:sp>
      <p:sp>
        <p:nvSpPr>
          <p:cNvPr id="8" name="Text 6"/>
          <p:cNvSpPr/>
          <p:nvPr/>
        </p:nvSpPr>
        <p:spPr>
          <a:xfrm>
            <a:off x="548640" y="2496312"/>
            <a:ext cx="11091672" cy="2286000"/>
          </a:xfrm>
          <a:prstGeom prst="rect">
            <a:avLst/>
          </a:prstGeom>
          <a:noFill/>
          <a:ln/>
        </p:spPr>
        <p:txBody>
          <a:bodyPr wrap="square" rtlCol="0" anchor="t"/>
          <a:lstStyle/>
          <a:p>
            <a:pPr marL="342900" indent="-342900">
              <a:spcAft>
                <a:spcPts val="600"/>
              </a:spcAft>
              <a:buSzPct val="100000"/>
              <a:buChar char="•"/>
            </a:pPr>
            <a:r>
              <a:rPr lang="en-US" sz="1600" dirty="0">
                <a:solidFill>
                  <a:srgbClr val="212121"/>
                </a:solidFill>
                <a:latin typeface="Arial" pitchFamily="34" charset="0"/>
                <a:ea typeface="Arial" pitchFamily="34" charset="-122"/>
                <a:cs typeface="Arial" pitchFamily="34" charset="-120"/>
              </a:rPr>
              <a:t>Sin IDE: escribes en el editor  →  compilas en el terminal  →  depuras con otra herramienta  →  cambias constantemente de ventana.</a:t>
            </a:r>
            <a:endParaRPr lang="en-US" sz="1600" dirty="0"/>
          </a:p>
          <a:p>
            <a:pPr marL="342900" indent="-342900">
              <a:spcAft>
                <a:spcPts val="600"/>
              </a:spcAft>
              <a:buSzPct val="100000"/>
              <a:buChar char="•"/>
            </a:pPr>
            <a:r>
              <a:rPr lang="en-US" sz="1600" dirty="0">
                <a:solidFill>
                  <a:srgbClr val="212121"/>
                </a:solidFill>
                <a:latin typeface="Arial" pitchFamily="34" charset="0"/>
                <a:ea typeface="Arial" pitchFamily="34" charset="-122"/>
                <a:cs typeface="Arial" pitchFamily="34" charset="-120"/>
              </a:rPr>
              <a:t>Con IDE: todo ocurre en la misma aplicación. El IDE detecta errores mientras escribes, antes de compilar.</a:t>
            </a:r>
            <a:endParaRPr lang="en-US" sz="1600" dirty="0"/>
          </a:p>
          <a:p>
            <a:pPr marL="762000" lvl="1" indent="-3810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Ejemplo: escribir System.out.prtinln en IntelliJ → el IDE lo subraya en rojo al instante. En el Bloc de notas no lo sabrías hasta ejecutar y ver el fallo.</a:t>
            </a:r>
            <a:endParaRPr lang="en-US" sz="1600" dirty="0"/>
          </a:p>
        </p:txBody>
      </p:sp>
      <p:sp>
        <p:nvSpPr>
          <p:cNvPr id="9" name="Shape 7"/>
          <p:cNvSpPr/>
          <p:nvPr/>
        </p:nvSpPr>
        <p:spPr>
          <a:xfrm>
            <a:off x="548640" y="4919472"/>
            <a:ext cx="11091672" cy="685800"/>
          </a:xfrm>
          <a:prstGeom prst="roundRect">
            <a:avLst/>
          </a:prstGeom>
          <a:solidFill>
            <a:srgbClr val="E0F2F1"/>
          </a:solidFill>
          <a:ln w="19050">
            <a:solidFill>
              <a:srgbClr val="009688"/>
            </a:solidFill>
            <a:prstDash val="solid"/>
          </a:ln>
        </p:spPr>
        <p:txBody>
          <a:bodyPr/>
          <a:lstStyle/>
          <a:p>
            <a:endParaRPr lang="es-ES"/>
          </a:p>
        </p:txBody>
      </p:sp>
      <p:sp>
        <p:nvSpPr>
          <p:cNvPr id="10" name="Text 8"/>
          <p:cNvSpPr/>
          <p:nvPr/>
        </p:nvSpPr>
        <p:spPr>
          <a:xfrm>
            <a:off x="777240" y="4965192"/>
            <a:ext cx="10634472" cy="59436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La diferencia real no es de funciones: es de velocidad de trabajo. Un programador con un buen IDE detecta y corrige errores en segundos en lugar de minutos.</a:t>
            </a:r>
            <a:endParaRPr lang="en-US" sz="1500" dirty="0"/>
          </a:p>
        </p:txBody>
      </p:sp>
      <p:sp>
        <p:nvSpPr>
          <p:cNvPr id="11" name="Text 9"/>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1.2 Componentes de un IDE</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914400"/>
          <a:ext cx="11091672" cy="4169664"/>
        </p:xfrm>
        <a:graphic>
          <a:graphicData uri="http://schemas.openxmlformats.org/drawingml/2006/table">
            <a:tbl>
              <a:tblPr/>
              <a:tblGrid>
                <a:gridCol w="3105668">
                  <a:extLst>
                    <a:ext uri="{9D8B030D-6E8A-4147-A177-3AD203B41FA5}">
                      <a16:colId xmlns:a16="http://schemas.microsoft.com/office/drawing/2014/main" val="20000"/>
                    </a:ext>
                  </a:extLst>
                </a:gridCol>
                <a:gridCol w="7986004">
                  <a:extLst>
                    <a:ext uri="{9D8B030D-6E8A-4147-A177-3AD203B41FA5}">
                      <a16:colId xmlns:a16="http://schemas.microsoft.com/office/drawing/2014/main" val="20001"/>
                    </a:ext>
                  </a:extLst>
                </a:gridCol>
              </a:tblGrid>
              <a:tr h="521208">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Componente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Función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521208">
                <a:tc>
                  <a:txBody>
                    <a:bodyPr/>
                    <a:lstStyle/>
                    <a:p>
                      <a:pPr marL="0" indent="0">
                        <a:buNone/>
                      </a:pPr>
                      <a:r>
                        <a:rPr lang="en-US" sz="1300" dirty="0">
                          <a:solidFill>
                            <a:srgbClr val="212121"/>
                          </a:solidFill>
                          <a:latin typeface="Arial" pitchFamily="34" charset="0"/>
                          <a:ea typeface="Arial" pitchFamily="34" charset="-122"/>
                          <a:cs typeface="Arial" pitchFamily="34" charset="-120"/>
                        </a:rPr>
                        <a:t>Editor de código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Resaltado de sintaxis, autocompletado y detección de errores mientras escribes.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00" dirty="0">
                          <a:solidFill>
                            <a:srgbClr val="212121"/>
                          </a:solidFill>
                          <a:latin typeface="Arial" pitchFamily="34" charset="0"/>
                          <a:ea typeface="Arial" pitchFamily="34" charset="-122"/>
                          <a:cs typeface="Arial" pitchFamily="34" charset="-120"/>
                        </a:rPr>
                        <a:t>Compilador / Intérprete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Traduce el código fuente al formato que puede ejecutar la máquina o la JVM. En Java: javac.</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21208">
                <a:tc>
                  <a:txBody>
                    <a:bodyPr/>
                    <a:lstStyle/>
                    <a:p>
                      <a:pPr marL="0" indent="0">
                        <a:buNone/>
                      </a:pPr>
                      <a:r>
                        <a:rPr lang="en-US" sz="1300" dirty="0">
                          <a:solidFill>
                            <a:srgbClr val="212121"/>
                          </a:solidFill>
                          <a:latin typeface="Arial" pitchFamily="34" charset="0"/>
                          <a:ea typeface="Arial" pitchFamily="34" charset="-122"/>
                          <a:cs typeface="Arial" pitchFamily="34" charset="-120"/>
                        </a:rPr>
                        <a:t>Depurador</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Pausa la ejecución en cualquier punto, muestra el valor de las variables y permite avanzar línea a línea.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00" dirty="0">
                          <a:solidFill>
                            <a:srgbClr val="212121"/>
                          </a:solidFill>
                          <a:latin typeface="Arial" pitchFamily="34" charset="0"/>
                          <a:ea typeface="Arial" pitchFamily="34" charset="-122"/>
                          <a:cs typeface="Arial" pitchFamily="34" charset="-120"/>
                        </a:rPr>
                        <a:t>Terminal integrado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Una consola dentro del propio IDE para ejecutar comandos sin salir de la aplicación.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21208">
                <a:tc>
                  <a:txBody>
                    <a:bodyPr/>
                    <a:lstStyle/>
                    <a:p>
                      <a:pPr marL="0" indent="0">
                        <a:buNone/>
                      </a:pPr>
                      <a:r>
                        <a:rPr lang="en-US" sz="1300" dirty="0">
                          <a:solidFill>
                            <a:srgbClr val="212121"/>
                          </a:solidFill>
                          <a:latin typeface="Arial" pitchFamily="34" charset="0"/>
                          <a:ea typeface="Arial" pitchFamily="34" charset="-122"/>
                          <a:cs typeface="Arial" pitchFamily="34" charset="-120"/>
                        </a:rPr>
                        <a:t>Gestión de proyectos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Organiza los archivos del proyecto, gestiona dependencias externas y configura el proceso de construcción.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300" dirty="0">
                          <a:solidFill>
                            <a:srgbClr val="212121"/>
                          </a:solidFill>
                          <a:latin typeface="Arial" pitchFamily="34" charset="0"/>
                          <a:ea typeface="Arial" pitchFamily="34" charset="-122"/>
                          <a:cs typeface="Arial" pitchFamily="34" charset="-120"/>
                        </a:rPr>
                        <a:t>Control de versiones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Integración con Git: commits, historial de cambios y gestión de ramas sin salir del IDE.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r h="521208">
                <a:tc>
                  <a:txBody>
                    <a:bodyPr/>
                    <a:lstStyle/>
                    <a:p>
                      <a:pPr marL="0" indent="0">
                        <a:buNone/>
                      </a:pPr>
                      <a:r>
                        <a:rPr lang="en-US" sz="1300" dirty="0">
                          <a:solidFill>
                            <a:srgbClr val="212121"/>
                          </a:solidFill>
                          <a:latin typeface="Arial" pitchFamily="34" charset="0"/>
                          <a:ea typeface="Arial" pitchFamily="34" charset="-122"/>
                          <a:cs typeface="Arial" pitchFamily="34" charset="-120"/>
                        </a:rPr>
                        <a:t>Diseñador gráfico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En algunos IDEs, permite diseñar interfaces visuales arrastrando y soltando componentes.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1.3 Editor de código vs. IDE</a:t>
            </a:r>
            <a:endParaRPr lang="en-US" sz="2600" dirty="0"/>
          </a:p>
        </p:txBody>
      </p:sp>
      <p:sp>
        <p:nvSpPr>
          <p:cNvPr id="4" name="Text 2"/>
          <p:cNvSpPr/>
          <p:nvPr/>
        </p:nvSpPr>
        <p:spPr>
          <a:xfrm>
            <a:off x="548640" y="914400"/>
            <a:ext cx="11091672" cy="45720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No todo el mundo usa un IDE. Hay programadores que prefieren un editor ligero como VS Code o Vim. La diferencia es de grado, no de tipo:</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3566160"/>
        </p:xfrm>
        <a:graphic>
          <a:graphicData uri="http://schemas.openxmlformats.org/drawingml/2006/table">
            <a:tbl>
              <a:tblPr/>
              <a:tblGrid>
                <a:gridCol w="3105668">
                  <a:extLst>
                    <a:ext uri="{9D8B030D-6E8A-4147-A177-3AD203B41FA5}">
                      <a16:colId xmlns:a16="http://schemas.microsoft.com/office/drawing/2014/main" val="20000"/>
                    </a:ext>
                  </a:extLst>
                </a:gridCol>
                <a:gridCol w="3993002">
                  <a:extLst>
                    <a:ext uri="{9D8B030D-6E8A-4147-A177-3AD203B41FA5}">
                      <a16:colId xmlns:a16="http://schemas.microsoft.com/office/drawing/2014/main" val="20001"/>
                    </a:ext>
                  </a:extLst>
                </a:gridCol>
                <a:gridCol w="3993002">
                  <a:extLst>
                    <a:ext uri="{9D8B030D-6E8A-4147-A177-3AD203B41FA5}">
                      <a16:colId xmlns:a16="http://schemas.microsoft.com/office/drawing/2014/main" val="20002"/>
                    </a:ext>
                  </a:extLst>
                </a:gridCol>
              </a:tblGrid>
              <a:tr h="59436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Aspecto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Editor de código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IDE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594360">
                <a:tc>
                  <a:txBody>
                    <a:bodyPr/>
                    <a:lstStyle/>
                    <a:p>
                      <a:pPr marL="0" indent="0">
                        <a:buNone/>
                      </a:pPr>
                      <a:r>
                        <a:rPr lang="en-US" sz="1400" dirty="0">
                          <a:solidFill>
                            <a:srgbClr val="212121"/>
                          </a:solidFill>
                          <a:latin typeface="Arial" pitchFamily="34" charset="0"/>
                          <a:ea typeface="Arial" pitchFamily="34" charset="-122"/>
                          <a:cs typeface="Arial" pitchFamily="34" charset="-120"/>
                        </a:rPr>
                        <a:t>Velocidad de arranque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Rápido (segundos)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Más lento (carga el proyecto)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buNone/>
                      </a:pPr>
                      <a:r>
                        <a:rPr lang="en-US" sz="1400" dirty="0">
                          <a:solidFill>
                            <a:srgbClr val="212121"/>
                          </a:solidFill>
                          <a:latin typeface="Arial" pitchFamily="34" charset="0"/>
                          <a:ea typeface="Arial" pitchFamily="34" charset="-122"/>
                          <a:cs typeface="Arial" pitchFamily="34" charset="-120"/>
                        </a:rPr>
                        <a:t>Consumo de memoria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Bajo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Medio-alto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94360">
                <a:tc>
                  <a:txBody>
                    <a:bodyPr/>
                    <a:lstStyle/>
                    <a:p>
                      <a:pPr marL="0" indent="0">
                        <a:buNone/>
                      </a:pPr>
                      <a:r>
                        <a:rPr lang="en-US" sz="1400" dirty="0">
                          <a:solidFill>
                            <a:srgbClr val="212121"/>
                          </a:solidFill>
                          <a:latin typeface="Arial" pitchFamily="34" charset="0"/>
                          <a:ea typeface="Arial" pitchFamily="34" charset="-122"/>
                          <a:cs typeface="Arial" pitchFamily="34" charset="-120"/>
                        </a:rPr>
                        <a:t>Funciones integradas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Básicas + extensiones a medida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Completas de serie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buNone/>
                      </a:pPr>
                      <a:r>
                        <a:rPr lang="en-US" sz="1400" dirty="0">
                          <a:solidFill>
                            <a:srgbClr val="212121"/>
                          </a:solidFill>
                          <a:latin typeface="Arial" pitchFamily="34" charset="0"/>
                          <a:ea typeface="Arial" pitchFamily="34" charset="-122"/>
                          <a:cs typeface="Arial" pitchFamily="34" charset="-120"/>
                        </a:rPr>
                        <a:t>Curva de aprendizaje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Baja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Media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94360">
                <a:tc>
                  <a:txBody>
                    <a:bodyPr/>
                    <a:lstStyle/>
                    <a:p>
                      <a:pPr marL="0" indent="0">
                        <a:buNone/>
                      </a:pPr>
                      <a:r>
                        <a:rPr lang="en-US" sz="1400" dirty="0">
                          <a:solidFill>
                            <a:srgbClr val="212121"/>
                          </a:solidFill>
                          <a:latin typeface="Arial" pitchFamily="34" charset="0"/>
                          <a:ea typeface="Arial" pitchFamily="34" charset="-122"/>
                          <a:cs typeface="Arial" pitchFamily="34" charset="-120"/>
                        </a:rPr>
                        <a:t>Cuándo conviene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Scripts, varios lenguajes, proyectos pequeños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Proyectos medianos/grandes con un lenguaje principal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548640" y="5257800"/>
            <a:ext cx="11091672" cy="731520"/>
          </a:xfrm>
          <a:prstGeom prst="roundRect">
            <a:avLst/>
          </a:prstGeom>
          <a:solidFill>
            <a:srgbClr val="E0F2F1"/>
          </a:solidFill>
          <a:ln w="19050">
            <a:solidFill>
              <a:srgbClr val="009688"/>
            </a:solidFill>
            <a:prstDash val="solid"/>
          </a:ln>
        </p:spPr>
        <p:txBody>
          <a:bodyPr/>
          <a:lstStyle/>
          <a:p>
            <a:endParaRPr lang="es-ES"/>
          </a:p>
        </p:txBody>
      </p:sp>
      <p:sp>
        <p:nvSpPr>
          <p:cNvPr id="7" name="Text 4"/>
          <p:cNvSpPr/>
          <p:nvPr/>
        </p:nvSpPr>
        <p:spPr>
          <a:xfrm>
            <a:off x="777240" y="5303520"/>
            <a:ext cx="10634472" cy="64008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Para aprender un lenguaje nuevo, un editor ligero reduce la fricción inicial. Para trabajar de forma profesional con un lenguaje durante meses, un IDE ahorra horas cada semana.</a:t>
            </a:r>
            <a:endParaRPr lang="en-US" sz="1500" dirty="0"/>
          </a:p>
        </p:txBody>
      </p:sp>
      <p:sp>
        <p:nvSpPr>
          <p:cNvPr id="8"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03F9F"/>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B0BEC5"/>
                </a:solidFill>
                <a:latin typeface="Arial" pitchFamily="34" charset="0"/>
                <a:ea typeface="Arial" pitchFamily="34" charset="-122"/>
                <a:cs typeface="Arial" pitchFamily="34" charset="-120"/>
              </a:rPr>
              <a:t>ENTORNOS DE DESARROLLO  —  TEMA 2: ENTORNOS INTEGRADOS DE DESARROLLO</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2. Tipos de entornos</a:t>
            </a:r>
            <a:endParaRPr lang="en-US" sz="4400" dirty="0"/>
          </a:p>
        </p:txBody>
      </p:sp>
      <p:sp>
        <p:nvSpPr>
          <p:cNvPr id="4" name="Shape 2"/>
          <p:cNvSpPr/>
          <p:nvPr/>
        </p:nvSpPr>
        <p:spPr>
          <a:xfrm>
            <a:off x="0" y="5120640"/>
            <a:ext cx="12188952" cy="914400"/>
          </a:xfrm>
          <a:prstGeom prst="rect">
            <a:avLst/>
          </a:prstGeom>
          <a:solidFill>
            <a:srgbClr val="009688"/>
          </a:solidFill>
          <a:ln w="12700">
            <a:solidFill>
              <a:srgbClr val="009688"/>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Propietarios  ·  Libres  ·  Licencias educativas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2.1 IDEs propietarios</a:t>
            </a:r>
            <a:endParaRPr lang="en-US" sz="2600" dirty="0"/>
          </a:p>
        </p:txBody>
      </p:sp>
      <p:sp>
        <p:nvSpPr>
          <p:cNvPr id="4" name="Shape 2"/>
          <p:cNvSpPr/>
          <p:nvPr/>
        </p:nvSpPr>
        <p:spPr>
          <a:xfrm>
            <a:off x="548640" y="914400"/>
            <a:ext cx="11091672" cy="777240"/>
          </a:xfrm>
          <a:prstGeom prst="roundRect">
            <a:avLst/>
          </a:prstGeom>
          <a:solidFill>
            <a:srgbClr val="E0F2F1"/>
          </a:solidFill>
          <a:ln w="19050">
            <a:solidFill>
              <a:srgbClr val="009688"/>
            </a:solidFill>
            <a:prstDash val="solid"/>
          </a:ln>
        </p:spPr>
        <p:txBody>
          <a:bodyPr/>
          <a:lstStyle/>
          <a:p>
            <a:endParaRPr lang="es-ES"/>
          </a:p>
        </p:txBody>
      </p:sp>
      <p:sp>
        <p:nvSpPr>
          <p:cNvPr id="5" name="Text 3"/>
          <p:cNvSpPr/>
          <p:nvPr/>
        </p:nvSpPr>
        <p:spPr>
          <a:xfrm>
            <a:off x="777240" y="960120"/>
            <a:ext cx="10634472" cy="68580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Un IDE propietario es desarrollado por una empresa que mantiene el control sobre el código fuente. El usuario no puede modificarlo ni redistribuirlo, y en entornos profesionales suele requerir pagar una licencia.</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2971800"/>
        </p:xfrm>
        <a:graphic>
          <a:graphicData uri="http://schemas.openxmlformats.org/drawingml/2006/table">
            <a:tbl>
              <a:tblPr/>
              <a:tblGrid>
                <a:gridCol w="3327502">
                  <a:extLst>
                    <a:ext uri="{9D8B030D-6E8A-4147-A177-3AD203B41FA5}">
                      <a16:colId xmlns:a16="http://schemas.microsoft.com/office/drawing/2014/main" val="20000"/>
                    </a:ext>
                  </a:extLst>
                </a:gridCol>
                <a:gridCol w="2218334">
                  <a:extLst>
                    <a:ext uri="{9D8B030D-6E8A-4147-A177-3AD203B41FA5}">
                      <a16:colId xmlns:a16="http://schemas.microsoft.com/office/drawing/2014/main" val="20001"/>
                    </a:ext>
                  </a:extLst>
                </a:gridCol>
                <a:gridCol w="5545836">
                  <a:extLst>
                    <a:ext uri="{9D8B030D-6E8A-4147-A177-3AD203B41FA5}">
                      <a16:colId xmlns:a16="http://schemas.microsoft.com/office/drawing/2014/main" val="20002"/>
                    </a:ext>
                  </a:extLst>
                </a:gridCol>
              </a:tblGrid>
              <a:tr h="59436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IDE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Empresa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Usos principales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IntelliJ IDEA Ultimate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JetBrains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Java, Kotlin, frameworks web empresariales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Visual Studio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Microsoft</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 .NET, C++, desarrollo Windows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Xcode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Apple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Swift, Objective-C, apps iOS/macOS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WebStorm</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JetBrains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JavaScript, TypeScript, Node.js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6" name="Text 4"/>
          <p:cNvSpPr/>
          <p:nvPr/>
        </p:nvSpPr>
        <p:spPr>
          <a:xfrm>
            <a:off x="548640" y="5029200"/>
            <a:ext cx="11091672" cy="82296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Suelen ofrecer la mejor integración con sus plataformas, soporte técnico oficial y funciones avanzadas. El coste puede ser un obstáculo, aunque muchos tienen licencias educativas gratuitas.</a:t>
            </a:r>
            <a:endParaRPr lang="en-US" sz="1500" dirty="0"/>
          </a:p>
        </p:txBody>
      </p:sp>
      <p:sp>
        <p:nvSpPr>
          <p:cNvPr id="8"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2.2 IDEs libres (código abierto)</a:t>
            </a:r>
            <a:endParaRPr lang="en-US" sz="2600" dirty="0"/>
          </a:p>
        </p:txBody>
      </p:sp>
      <p:sp>
        <p:nvSpPr>
          <p:cNvPr id="4" name="Shape 2"/>
          <p:cNvSpPr/>
          <p:nvPr/>
        </p:nvSpPr>
        <p:spPr>
          <a:xfrm>
            <a:off x="548640" y="914400"/>
            <a:ext cx="11091672" cy="777240"/>
          </a:xfrm>
          <a:prstGeom prst="roundRect">
            <a:avLst/>
          </a:prstGeom>
          <a:solidFill>
            <a:srgbClr val="E0F2F1"/>
          </a:solidFill>
          <a:ln w="19050">
            <a:solidFill>
              <a:srgbClr val="009688"/>
            </a:solidFill>
            <a:prstDash val="solid"/>
          </a:ln>
        </p:spPr>
        <p:txBody>
          <a:bodyPr/>
          <a:lstStyle/>
          <a:p>
            <a:endParaRPr lang="es-ES"/>
          </a:p>
        </p:txBody>
      </p:sp>
      <p:sp>
        <p:nvSpPr>
          <p:cNvPr id="5" name="Text 3"/>
          <p:cNvSpPr/>
          <p:nvPr/>
        </p:nvSpPr>
        <p:spPr>
          <a:xfrm>
            <a:off x="777240" y="960120"/>
            <a:ext cx="10634472" cy="68580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Un IDE libre distribuye su código fuente bajo una licencia que permite estudiarlo, modificarlo y redistribuirlo. Generalmente es gratuito, aunque puede haber versiones de pago con funciones adicionales.</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3" cy="3566160"/>
        </p:xfrm>
        <a:graphic>
          <a:graphicData uri="http://schemas.openxmlformats.org/drawingml/2006/table">
            <a:tbl>
              <a:tblPr/>
              <a:tblGrid>
                <a:gridCol w="2883835">
                  <a:extLst>
                    <a:ext uri="{9D8B030D-6E8A-4147-A177-3AD203B41FA5}">
                      <a16:colId xmlns:a16="http://schemas.microsoft.com/office/drawing/2014/main" val="20000"/>
                    </a:ext>
                  </a:extLst>
                </a:gridCol>
                <a:gridCol w="3327502">
                  <a:extLst>
                    <a:ext uri="{9D8B030D-6E8A-4147-A177-3AD203B41FA5}">
                      <a16:colId xmlns:a16="http://schemas.microsoft.com/office/drawing/2014/main" val="20001"/>
                    </a:ext>
                  </a:extLst>
                </a:gridCol>
                <a:gridCol w="4880336">
                  <a:extLst>
                    <a:ext uri="{9D8B030D-6E8A-4147-A177-3AD203B41FA5}">
                      <a16:colId xmlns:a16="http://schemas.microsoft.com/office/drawing/2014/main" val="20002"/>
                    </a:ext>
                  </a:extLst>
                </a:gridCol>
              </a:tblGrid>
              <a:tr h="59436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IDE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Licencia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Usos principales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Eclipse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EPL (Eclipse Public License)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Java, C/C++, PHP, muy extensible con plugins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NetBeans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Apache License 2.0</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Java SE/EE, PHP, HTML5</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IntelliJ IDEA Community</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Apache License 2.0</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Java, Kotlin (sin funciones empresariales)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VS Code / VSCodium</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MIT (binarios: Microsoft)</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Multiplataforma, requiere extensiones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PyCharm Community</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Apache License 2.0</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Python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548640" y="5623560"/>
            <a:ext cx="11091672" cy="777240"/>
          </a:xfrm>
          <a:prstGeom prst="roundRect">
            <a:avLst/>
          </a:prstGeom>
          <a:solidFill>
            <a:srgbClr val="E0F2F1"/>
          </a:solidFill>
          <a:ln w="19050">
            <a:solidFill>
              <a:srgbClr val="009688"/>
            </a:solidFill>
            <a:prstDash val="solid"/>
          </a:ln>
        </p:spPr>
        <p:txBody>
          <a:bodyPr/>
          <a:lstStyle/>
          <a:p>
            <a:endParaRPr lang="es-ES"/>
          </a:p>
        </p:txBody>
      </p:sp>
      <p:sp>
        <p:nvSpPr>
          <p:cNvPr id="6" name="Text 5"/>
          <p:cNvSpPr/>
          <p:nvPr/>
        </p:nvSpPr>
        <p:spPr>
          <a:xfrm>
            <a:off x="777240" y="5669280"/>
            <a:ext cx="10634472" cy="68580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JetBrains ofrece licencias gratuitas de todos sus IDEs profesionales (IntelliJ Ultimate, PyCharm, WebStorm...) para estudiantes y docentes mientras dure su vinculación con un centro educativo.</a:t>
            </a:r>
            <a:endParaRPr lang="en-US" sz="1500" dirty="0"/>
          </a:p>
        </p:txBody>
      </p:sp>
      <p:sp>
        <p:nvSpPr>
          <p:cNvPr id="9" name="Text 6"/>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03F9F"/>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B0BEC5"/>
                </a:solidFill>
                <a:latin typeface="Arial" pitchFamily="34" charset="0"/>
                <a:ea typeface="Arial" pitchFamily="34" charset="-122"/>
                <a:cs typeface="Arial" pitchFamily="34" charset="-120"/>
              </a:rPr>
              <a:t>ENTORNOS DE DESARROLLO  —  TEMA 2: ENTORNOS INTEGRADOS DE DESARROLLO</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3. Instalación de un entorno</a:t>
            </a:r>
            <a:endParaRPr lang="en-US" sz="4400" dirty="0"/>
          </a:p>
        </p:txBody>
      </p:sp>
      <p:sp>
        <p:nvSpPr>
          <p:cNvPr id="4" name="Shape 2"/>
          <p:cNvSpPr/>
          <p:nvPr/>
        </p:nvSpPr>
        <p:spPr>
          <a:xfrm>
            <a:off x="0" y="5120640"/>
            <a:ext cx="12188952" cy="914400"/>
          </a:xfrm>
          <a:prstGeom prst="rect">
            <a:avLst/>
          </a:prstGeom>
          <a:solidFill>
            <a:srgbClr val="009688"/>
          </a:solidFill>
          <a:ln w="12700">
            <a:solidFill>
              <a:srgbClr val="009688"/>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Requisitos previos  ·  Proceso de instalación  ·  Gestores de paquetes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3.1 Requisitos previos: el JDK</a:t>
            </a:r>
            <a:endParaRPr lang="en-US" sz="2600" dirty="0"/>
          </a:p>
        </p:txBody>
      </p:sp>
      <p:sp>
        <p:nvSpPr>
          <p:cNvPr id="4" name="Shape 2"/>
          <p:cNvSpPr/>
          <p:nvPr/>
        </p:nvSpPr>
        <p:spPr>
          <a:xfrm>
            <a:off x="548640" y="914400"/>
            <a:ext cx="11091672" cy="822960"/>
          </a:xfrm>
          <a:prstGeom prst="roundRect">
            <a:avLst/>
          </a:prstGeom>
          <a:solidFill>
            <a:srgbClr val="E0F2F1"/>
          </a:solidFill>
          <a:ln w="19050">
            <a:solidFill>
              <a:srgbClr val="009688"/>
            </a:solidFill>
            <a:prstDash val="solid"/>
          </a:ln>
        </p:spPr>
        <p:txBody>
          <a:bodyPr/>
          <a:lstStyle/>
          <a:p>
            <a:endParaRPr lang="es-ES"/>
          </a:p>
        </p:txBody>
      </p:sp>
      <p:sp>
        <p:nvSpPr>
          <p:cNvPr id="5" name="Text 3"/>
          <p:cNvSpPr/>
          <p:nvPr/>
        </p:nvSpPr>
        <p:spPr>
          <a:xfrm>
            <a:off x="777240" y="960120"/>
            <a:ext cx="10634472" cy="73152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Antes de instalar el IDE, puede ser necesario instalar el runtime o SDK del lenguaje. Un runtime es el entorno que necesita el programa para ejecutarse. Un SDK (Software Development Kit) es el runtime más el compilador y el empaquetador.</a:t>
            </a:r>
            <a:endParaRPr lang="en-US" sz="1500" dirty="0"/>
          </a:p>
        </p:txBody>
      </p:sp>
      <p:sp>
        <p:nvSpPr>
          <p:cNvPr id="6" name="Shape 4"/>
          <p:cNvSpPr/>
          <p:nvPr/>
        </p:nvSpPr>
        <p:spPr>
          <a:xfrm>
            <a:off x="548640" y="1920240"/>
            <a:ext cx="11091672" cy="438912"/>
          </a:xfrm>
          <a:prstGeom prst="rect">
            <a:avLst/>
          </a:prstGeom>
          <a:solidFill>
            <a:srgbClr val="3F51B5"/>
          </a:solidFill>
          <a:ln w="12700">
            <a:solidFill>
              <a:srgbClr val="3F51B5"/>
            </a:solidFill>
            <a:prstDash val="solid"/>
          </a:ln>
        </p:spPr>
        <p:txBody>
          <a:bodyPr/>
          <a:lstStyle/>
          <a:p>
            <a:endParaRPr lang="es-ES"/>
          </a:p>
        </p:txBody>
      </p:sp>
      <p:sp>
        <p:nvSpPr>
          <p:cNvPr id="7" name="Text 5"/>
          <p:cNvSpPr/>
          <p:nvPr/>
        </p:nvSpPr>
        <p:spPr>
          <a:xfrm>
            <a:off x="731520" y="192024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Para Java: primero el JDK, luego el IDE</a:t>
            </a:r>
            <a:endParaRPr lang="en-US" sz="1700" dirty="0"/>
          </a:p>
        </p:txBody>
      </p:sp>
      <p:sp>
        <p:nvSpPr>
          <p:cNvPr id="8" name="Shape 6"/>
          <p:cNvSpPr/>
          <p:nvPr/>
        </p:nvSpPr>
        <p:spPr>
          <a:xfrm>
            <a:off x="548640" y="2542032"/>
            <a:ext cx="2464308" cy="914400"/>
          </a:xfrm>
          <a:prstGeom prst="roundRect">
            <a:avLst/>
          </a:prstGeom>
          <a:solidFill>
            <a:srgbClr val="E8EAF6"/>
          </a:solidFill>
          <a:ln w="15875">
            <a:solidFill>
              <a:srgbClr val="3F51B5"/>
            </a:solidFill>
            <a:prstDash val="solid"/>
          </a:ln>
        </p:spPr>
        <p:txBody>
          <a:bodyPr/>
          <a:lstStyle/>
          <a:p>
            <a:endParaRPr lang="es-ES"/>
          </a:p>
        </p:txBody>
      </p:sp>
      <p:sp>
        <p:nvSpPr>
          <p:cNvPr id="9" name="Text 7"/>
          <p:cNvSpPr/>
          <p:nvPr/>
        </p:nvSpPr>
        <p:spPr>
          <a:xfrm>
            <a:off x="594360" y="2587752"/>
            <a:ext cx="2372868" cy="82296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1. Instalar JDK</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(Java Development Kit)</a:t>
            </a:r>
            <a:endParaRPr lang="en-US" sz="1400" dirty="0"/>
          </a:p>
        </p:txBody>
      </p:sp>
      <p:sp>
        <p:nvSpPr>
          <p:cNvPr id="10" name="Text 8"/>
          <p:cNvSpPr/>
          <p:nvPr/>
        </p:nvSpPr>
        <p:spPr>
          <a:xfrm>
            <a:off x="2967228" y="2542032"/>
            <a:ext cx="502920" cy="91440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11" name="Shape 9"/>
          <p:cNvSpPr/>
          <p:nvPr/>
        </p:nvSpPr>
        <p:spPr>
          <a:xfrm>
            <a:off x="3424428" y="2542032"/>
            <a:ext cx="2464308" cy="914400"/>
          </a:xfrm>
          <a:prstGeom prst="roundRect">
            <a:avLst/>
          </a:prstGeom>
          <a:solidFill>
            <a:srgbClr val="E8EAF6"/>
          </a:solidFill>
          <a:ln w="15875">
            <a:solidFill>
              <a:srgbClr val="3F51B5"/>
            </a:solidFill>
            <a:prstDash val="solid"/>
          </a:ln>
        </p:spPr>
        <p:txBody>
          <a:bodyPr/>
          <a:lstStyle/>
          <a:p>
            <a:endParaRPr lang="es-ES"/>
          </a:p>
        </p:txBody>
      </p:sp>
      <p:sp>
        <p:nvSpPr>
          <p:cNvPr id="12" name="Text 10"/>
          <p:cNvSpPr/>
          <p:nvPr/>
        </p:nvSpPr>
        <p:spPr>
          <a:xfrm>
            <a:off x="3470148" y="2587752"/>
            <a:ext cx="2372868" cy="82296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2. Instalar el IDE</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(IntelliJ, Eclipse…)</a:t>
            </a:r>
            <a:endParaRPr lang="en-US" sz="1400" dirty="0"/>
          </a:p>
        </p:txBody>
      </p:sp>
      <p:sp>
        <p:nvSpPr>
          <p:cNvPr id="13" name="Text 11"/>
          <p:cNvSpPr/>
          <p:nvPr/>
        </p:nvSpPr>
        <p:spPr>
          <a:xfrm>
            <a:off x="5843016" y="2542032"/>
            <a:ext cx="502920" cy="91440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6300216" y="2542032"/>
            <a:ext cx="2464308" cy="914400"/>
          </a:xfrm>
          <a:prstGeom prst="roundRect">
            <a:avLst/>
          </a:prstGeom>
          <a:solidFill>
            <a:srgbClr val="E8EAF6"/>
          </a:solidFill>
          <a:ln w="15875">
            <a:solidFill>
              <a:srgbClr val="3F51B5"/>
            </a:solidFill>
            <a:prstDash val="solid"/>
          </a:ln>
        </p:spPr>
        <p:txBody>
          <a:bodyPr/>
          <a:lstStyle/>
          <a:p>
            <a:endParaRPr lang="es-ES"/>
          </a:p>
        </p:txBody>
      </p:sp>
      <p:sp>
        <p:nvSpPr>
          <p:cNvPr id="15" name="Text 13"/>
          <p:cNvSpPr/>
          <p:nvPr/>
        </p:nvSpPr>
        <p:spPr>
          <a:xfrm>
            <a:off x="6345936" y="2587752"/>
            <a:ext cx="2372868" cy="82296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3. Configurar el JDK</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dentro del IDE</a:t>
            </a:r>
            <a:endParaRPr lang="en-US" sz="1400" dirty="0"/>
          </a:p>
        </p:txBody>
      </p:sp>
      <p:sp>
        <p:nvSpPr>
          <p:cNvPr id="16" name="Text 14"/>
          <p:cNvSpPr/>
          <p:nvPr/>
        </p:nvSpPr>
        <p:spPr>
          <a:xfrm>
            <a:off x="8718804" y="2542032"/>
            <a:ext cx="502920" cy="91440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17" name="Shape 15"/>
          <p:cNvSpPr/>
          <p:nvPr/>
        </p:nvSpPr>
        <p:spPr>
          <a:xfrm>
            <a:off x="9176004" y="2542032"/>
            <a:ext cx="2464308" cy="914400"/>
          </a:xfrm>
          <a:prstGeom prst="roundRect">
            <a:avLst/>
          </a:prstGeom>
          <a:solidFill>
            <a:srgbClr val="E8EAF6"/>
          </a:solidFill>
          <a:ln w="15875">
            <a:solidFill>
              <a:srgbClr val="3F51B5"/>
            </a:solidFill>
            <a:prstDash val="solid"/>
          </a:ln>
        </p:spPr>
        <p:txBody>
          <a:bodyPr/>
          <a:lstStyle/>
          <a:p>
            <a:endParaRPr lang="es-ES"/>
          </a:p>
        </p:txBody>
      </p:sp>
      <p:sp>
        <p:nvSpPr>
          <p:cNvPr id="18" name="Text 16"/>
          <p:cNvSpPr/>
          <p:nvPr/>
        </p:nvSpPr>
        <p:spPr>
          <a:xfrm>
            <a:off x="9221724" y="2587752"/>
            <a:ext cx="2372868" cy="82296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4. Crear proyecto</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de prueba y compilar</a:t>
            </a:r>
            <a:endParaRPr lang="en-US" sz="1400" dirty="0"/>
          </a:p>
        </p:txBody>
      </p:sp>
      <p:sp>
        <p:nvSpPr>
          <p:cNvPr id="19" name="Text 17"/>
          <p:cNvSpPr/>
          <p:nvPr/>
        </p:nvSpPr>
        <p:spPr>
          <a:xfrm>
            <a:off x="548640" y="3730752"/>
            <a:ext cx="11091672" cy="365760"/>
          </a:xfrm>
          <a:prstGeom prst="rect">
            <a:avLst/>
          </a:prstGeom>
          <a:noFill/>
          <a:ln/>
        </p:spPr>
        <p:txBody>
          <a:bodyPr wrap="square" rtlCol="0" anchor="t"/>
          <a:lstStyle/>
          <a:p>
            <a:pPr marL="0" indent="0">
              <a:buNone/>
            </a:pPr>
            <a:r>
              <a:rPr lang="en-US" sz="1500" dirty="0">
                <a:solidFill>
                  <a:srgbClr val="757575"/>
                </a:solidFill>
                <a:latin typeface="Arial" pitchFamily="34" charset="0"/>
                <a:ea typeface="Arial" pitchFamily="34" charset="-122"/>
                <a:cs typeface="Arial" pitchFamily="34" charset="-120"/>
              </a:rPr>
              <a:t>Sin el JDK instalado, el IDE no puede compilar ni ejecutar código Java.</a:t>
            </a:r>
            <a:endParaRPr lang="en-US" sz="1500" dirty="0"/>
          </a:p>
        </p:txBody>
      </p:sp>
      <p:sp>
        <p:nvSpPr>
          <p:cNvPr id="20" name="Shape 18"/>
          <p:cNvSpPr/>
          <p:nvPr/>
        </p:nvSpPr>
        <p:spPr>
          <a:xfrm>
            <a:off x="548640" y="4279392"/>
            <a:ext cx="11091672" cy="731520"/>
          </a:xfrm>
          <a:prstGeom prst="roundRect">
            <a:avLst/>
          </a:prstGeom>
          <a:solidFill>
            <a:srgbClr val="E0F2F1"/>
          </a:solidFill>
          <a:ln w="19050">
            <a:solidFill>
              <a:srgbClr val="009688"/>
            </a:solidFill>
            <a:prstDash val="solid"/>
          </a:ln>
        </p:spPr>
        <p:txBody>
          <a:bodyPr/>
          <a:lstStyle/>
          <a:p>
            <a:endParaRPr lang="es-ES"/>
          </a:p>
        </p:txBody>
      </p:sp>
      <p:sp>
        <p:nvSpPr>
          <p:cNvPr id="21" name="Text 19"/>
          <p:cNvSpPr/>
          <p:nvPr/>
        </p:nvSpPr>
        <p:spPr>
          <a:xfrm>
            <a:off x="777240" y="4325112"/>
            <a:ext cx="10634472" cy="64008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Usa Eclipse Temurin (adoptium.net) en lugar de Oracle JDK. Es la distribución libre de OpenJDK más usada y recomendada. Para este módulo: Java 21 LTS.</a:t>
            </a:r>
            <a:endParaRPr lang="en-US" sz="1500" dirty="0"/>
          </a:p>
        </p:txBody>
      </p:sp>
      <p:sp>
        <p:nvSpPr>
          <p:cNvPr id="22" name="Text 20"/>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3.2 Proceso de instalación genérico</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914400"/>
          <a:ext cx="11091672" cy="4572000"/>
        </p:xfrm>
        <a:graphic>
          <a:graphicData uri="http://schemas.openxmlformats.org/drawingml/2006/table">
            <a:tbl>
              <a:tblPr/>
              <a:tblGrid>
                <a:gridCol w="3105668">
                  <a:extLst>
                    <a:ext uri="{9D8B030D-6E8A-4147-A177-3AD203B41FA5}">
                      <a16:colId xmlns:a16="http://schemas.microsoft.com/office/drawing/2014/main" val="20000"/>
                    </a:ext>
                  </a:extLst>
                </a:gridCol>
                <a:gridCol w="7986004">
                  <a:extLst>
                    <a:ext uri="{9D8B030D-6E8A-4147-A177-3AD203B41FA5}">
                      <a16:colId xmlns:a16="http://schemas.microsoft.com/office/drawing/2014/main" val="20001"/>
                    </a:ext>
                  </a:extLst>
                </a:gridCol>
              </a:tblGrid>
              <a:tr h="91440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Paso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Qué hacer</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914400">
                <a:tc>
                  <a:txBody>
                    <a:bodyPr/>
                    <a:lstStyle/>
                    <a:p>
                      <a:pPr marL="0" indent="0">
                        <a:buNone/>
                      </a:pPr>
                      <a:r>
                        <a:rPr lang="en-US" sz="1400" b="1" dirty="0">
                          <a:solidFill>
                            <a:srgbClr val="212121"/>
                          </a:solidFill>
                          <a:latin typeface="Arial" pitchFamily="34" charset="0"/>
                          <a:ea typeface="Arial" pitchFamily="34" charset="-122"/>
                          <a:cs typeface="Arial" pitchFamily="34" charset="-120"/>
                        </a:rPr>
                        <a:t>1. Descarga el instalador</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Desde el sitio oficial del IDE. Elige la versión correcta para tu sistema operativo (Windows, macOS, Linux) y arquitectura (x86_64 o ARM).</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buNone/>
                      </a:pPr>
                      <a:r>
                        <a:rPr lang="en-US" sz="1400" b="1" dirty="0">
                          <a:solidFill>
                            <a:srgbClr val="212121"/>
                          </a:solidFill>
                          <a:latin typeface="Arial" pitchFamily="34" charset="0"/>
                          <a:ea typeface="Arial" pitchFamily="34" charset="-122"/>
                          <a:cs typeface="Arial" pitchFamily="34" charset="-120"/>
                        </a:rPr>
                        <a:t>2. Ejecuta el asistente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Sigue los pasos del instalador. Presta atención a la carpeta de instalación y a las opciones adicionales (asociar extensiones de archivo, añadir al PATH…).</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914400">
                <a:tc>
                  <a:txBody>
                    <a:bodyPr/>
                    <a:lstStyle/>
                    <a:p>
                      <a:pPr marL="0" indent="0">
                        <a:buNone/>
                      </a:pPr>
                      <a:r>
                        <a:rPr lang="en-US" sz="1400" b="1" dirty="0">
                          <a:solidFill>
                            <a:srgbClr val="212121"/>
                          </a:solidFill>
                          <a:latin typeface="Arial" pitchFamily="34" charset="0"/>
                          <a:ea typeface="Arial" pitchFamily="34" charset="-122"/>
                          <a:cs typeface="Arial" pitchFamily="34" charset="-120"/>
                        </a:rPr>
                        <a:t>3. Configura el SDK</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En IntelliJ, al crear un proyecto nuevo te pide la ruta del JDK. Si no lo has instalado antes, el IDE puede descargarlo él mismo.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marL="0" indent="0">
                        <a:buNone/>
                      </a:pPr>
                      <a:r>
                        <a:rPr lang="en-US" sz="1400" b="1" dirty="0">
                          <a:solidFill>
                            <a:srgbClr val="212121"/>
                          </a:solidFill>
                          <a:latin typeface="Arial" pitchFamily="34" charset="0"/>
                          <a:ea typeface="Arial" pitchFamily="34" charset="-122"/>
                          <a:cs typeface="Arial" pitchFamily="34" charset="-120"/>
                        </a:rPr>
                        <a:t>4. Crea un proyecto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Haz un "Hola mundo" y compílalo. Si funciona, la instalación es correcta.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5" name="Shape 2"/>
          <p:cNvSpPr/>
          <p:nvPr/>
        </p:nvSpPr>
        <p:spPr>
          <a:xfrm>
            <a:off x="548640" y="5669280"/>
            <a:ext cx="11091672" cy="640080"/>
          </a:xfrm>
          <a:prstGeom prst="roundRect">
            <a:avLst/>
          </a:prstGeom>
          <a:solidFill>
            <a:srgbClr val="E0F2F1"/>
          </a:solidFill>
          <a:ln w="19050">
            <a:solidFill>
              <a:srgbClr val="009688"/>
            </a:solidFill>
            <a:prstDash val="solid"/>
          </a:ln>
        </p:spPr>
        <p:txBody>
          <a:bodyPr/>
          <a:lstStyle/>
          <a:p>
            <a:endParaRPr lang="es-ES"/>
          </a:p>
        </p:txBody>
      </p:sp>
      <p:sp>
        <p:nvSpPr>
          <p:cNvPr id="6" name="Text 3"/>
          <p:cNvSpPr/>
          <p:nvPr/>
        </p:nvSpPr>
        <p:spPr>
          <a:xfrm>
            <a:off x="777240" y="5715000"/>
            <a:ext cx="10634472" cy="54864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La prueba final siempre es la misma: si puedes compilar y ejecutar un programa sencillo, el entorno está bien instalado.</a:t>
            </a:r>
            <a:endParaRPr lang="en-US" sz="1500" dirty="0"/>
          </a:p>
        </p:txBody>
      </p:sp>
      <p:sp>
        <p:nvSpPr>
          <p:cNvPr id="7" name="Text 4"/>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3.3 Gestores de paquetes</a:t>
            </a:r>
            <a:endParaRPr lang="en-US" sz="2600" dirty="0"/>
          </a:p>
        </p:txBody>
      </p:sp>
      <p:sp>
        <p:nvSpPr>
          <p:cNvPr id="4" name="Text 2"/>
          <p:cNvSpPr/>
          <p:nvPr/>
        </p:nvSpPr>
        <p:spPr>
          <a:xfrm>
            <a:off x="548640" y="914400"/>
            <a:ext cx="11091672" cy="64008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En Linux y macOS es habitual instalar IDEs y runtimes a través de un gestor de paquetes: un programa que descarga, instala y actualiza software desde repositorios centralizados.</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3566160"/>
        </p:xfrm>
        <a:graphic>
          <a:graphicData uri="http://schemas.openxmlformats.org/drawingml/2006/table">
            <a:tbl>
              <a:tblPr/>
              <a:tblGrid>
                <a:gridCol w="2440168">
                  <a:extLst>
                    <a:ext uri="{9D8B030D-6E8A-4147-A177-3AD203B41FA5}">
                      <a16:colId xmlns:a16="http://schemas.microsoft.com/office/drawing/2014/main" val="20000"/>
                    </a:ext>
                  </a:extLst>
                </a:gridCol>
                <a:gridCol w="2218334">
                  <a:extLst>
                    <a:ext uri="{9D8B030D-6E8A-4147-A177-3AD203B41FA5}">
                      <a16:colId xmlns:a16="http://schemas.microsoft.com/office/drawing/2014/main" val="20001"/>
                    </a:ext>
                  </a:extLst>
                </a:gridCol>
                <a:gridCol w="6433170">
                  <a:extLst>
                    <a:ext uri="{9D8B030D-6E8A-4147-A177-3AD203B41FA5}">
                      <a16:colId xmlns:a16="http://schemas.microsoft.com/office/drawing/2014/main" val="20002"/>
                    </a:ext>
                  </a:extLst>
                </a:gridCol>
              </a:tblGrid>
              <a:tr h="59436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Sistema operativo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Gestor de paquetes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Ejemplo de uso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594360">
                <a:tc>
                  <a:txBody>
                    <a:bodyPr/>
                    <a:lstStyle/>
                    <a:p>
                      <a:pPr marL="0" indent="0">
                        <a:buNone/>
                      </a:pPr>
                      <a:r>
                        <a:rPr lang="en-US" sz="1300" b="1" dirty="0">
                          <a:solidFill>
                            <a:srgbClr val="212121"/>
                          </a:solidFill>
                          <a:latin typeface="Arial" pitchFamily="34" charset="0"/>
                          <a:ea typeface="Arial" pitchFamily="34" charset="-122"/>
                          <a:cs typeface="Arial" pitchFamily="34" charset="-120"/>
                        </a:rPr>
                        <a:t>Ubuntu / Debian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apt</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sudo apt install openjdk-21-jdk</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buNone/>
                      </a:pPr>
                      <a:r>
                        <a:rPr lang="en-US" sz="1300" b="1" dirty="0">
                          <a:solidFill>
                            <a:srgbClr val="212121"/>
                          </a:solidFill>
                          <a:latin typeface="Arial" pitchFamily="34" charset="0"/>
                          <a:ea typeface="Arial" pitchFamily="34" charset="-122"/>
                          <a:cs typeface="Arial" pitchFamily="34" charset="-120"/>
                        </a:rPr>
                        <a:t>Ubuntu (snap)</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snap</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sudo snap install intellij-idea-community --classic</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94360">
                <a:tc>
                  <a:txBody>
                    <a:bodyPr/>
                    <a:lstStyle/>
                    <a:p>
                      <a:pPr marL="0" indent="0">
                        <a:buNone/>
                      </a:pPr>
                      <a:r>
                        <a:rPr lang="en-US" sz="1300" b="1" dirty="0">
                          <a:solidFill>
                            <a:srgbClr val="212121"/>
                          </a:solidFill>
                          <a:latin typeface="Arial" pitchFamily="34" charset="0"/>
                          <a:ea typeface="Arial" pitchFamily="34" charset="-122"/>
                          <a:cs typeface="Arial" pitchFamily="34" charset="-120"/>
                        </a:rPr>
                        <a:t>macOS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Homebrew</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brew install --cask intellij-idea-ce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buNone/>
                      </a:pPr>
                      <a:r>
                        <a:rPr lang="en-US" sz="1300" b="1" dirty="0">
                          <a:solidFill>
                            <a:srgbClr val="212121"/>
                          </a:solidFill>
                          <a:latin typeface="Arial" pitchFamily="34" charset="0"/>
                          <a:ea typeface="Arial" pitchFamily="34" charset="-122"/>
                          <a:cs typeface="Arial" pitchFamily="34" charset="-120"/>
                        </a:rPr>
                        <a:t>Windows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Winget</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winget install JetBrains.IntelliJIDEA.Community</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94360">
                <a:tc>
                  <a:txBody>
                    <a:bodyPr/>
                    <a:lstStyle/>
                    <a:p>
                      <a:pPr marL="0" indent="0">
                        <a:buNone/>
                      </a:pPr>
                      <a:r>
                        <a:rPr lang="en-US" sz="1300" b="1" dirty="0">
                          <a:solidFill>
                            <a:srgbClr val="212121"/>
                          </a:solidFill>
                          <a:latin typeface="Arial" pitchFamily="34" charset="0"/>
                          <a:ea typeface="Arial" pitchFamily="34" charset="-122"/>
                          <a:cs typeface="Arial" pitchFamily="34" charset="-120"/>
                        </a:rPr>
                        <a:t>Windows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Chocolatey</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choco install intellijidea-community</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548640" y="5486400"/>
            <a:ext cx="11091672" cy="685800"/>
          </a:xfrm>
          <a:prstGeom prst="roundRect">
            <a:avLst/>
          </a:prstGeom>
          <a:solidFill>
            <a:srgbClr val="E0F2F1"/>
          </a:solidFill>
          <a:ln w="19050">
            <a:solidFill>
              <a:srgbClr val="009688"/>
            </a:solidFill>
            <a:prstDash val="solid"/>
          </a:ln>
        </p:spPr>
        <p:txBody>
          <a:bodyPr/>
          <a:lstStyle/>
          <a:p>
            <a:endParaRPr lang="es-ES"/>
          </a:p>
        </p:txBody>
      </p:sp>
      <p:sp>
        <p:nvSpPr>
          <p:cNvPr id="7" name="Text 4"/>
          <p:cNvSpPr/>
          <p:nvPr/>
        </p:nvSpPr>
        <p:spPr>
          <a:xfrm>
            <a:off x="777240" y="5532120"/>
            <a:ext cx="10634472" cy="59436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En el instituto usaremos el instalador descargado directamente. Los gestores de paquetes son más habituales en entornos profesionales o en instalaciones masivas.</a:t>
            </a:r>
            <a:endParaRPr lang="en-US" sz="1500" dirty="0"/>
          </a:p>
        </p:txBody>
      </p:sp>
      <p:sp>
        <p:nvSpPr>
          <p:cNvPr id="8"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03F9F"/>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B0BEC5"/>
                </a:solidFill>
                <a:latin typeface="Arial" pitchFamily="34" charset="0"/>
                <a:ea typeface="Arial" pitchFamily="34" charset="-122"/>
                <a:cs typeface="Arial" pitchFamily="34" charset="-120"/>
              </a:rPr>
              <a:t>ENTORNOS DE DESARROLLO  —  TEMA 2: ENTORNOS INTEGRADOS DE DESARROLLO</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4. Módulos, plugins y extensiones</a:t>
            </a:r>
            <a:endParaRPr lang="en-US" sz="4400" dirty="0"/>
          </a:p>
        </p:txBody>
      </p:sp>
      <p:sp>
        <p:nvSpPr>
          <p:cNvPr id="4" name="Shape 2"/>
          <p:cNvSpPr/>
          <p:nvPr/>
        </p:nvSpPr>
        <p:spPr>
          <a:xfrm>
            <a:off x="0" y="5120640"/>
            <a:ext cx="12188952" cy="914400"/>
          </a:xfrm>
          <a:prstGeom prst="rect">
            <a:avLst/>
          </a:prstGeom>
          <a:solidFill>
            <a:srgbClr val="009688"/>
          </a:solidFill>
          <a:ln w="12700">
            <a:solidFill>
              <a:srgbClr val="009688"/>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Qué son  ·  Gestión en IntelliJ  ·  Gestión en Eclipse</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4.1 ¿Qué son los plugins?</a:t>
            </a:r>
            <a:endParaRPr lang="en-US" sz="2600" dirty="0"/>
          </a:p>
        </p:txBody>
      </p:sp>
      <p:sp>
        <p:nvSpPr>
          <p:cNvPr id="4" name="Shape 2"/>
          <p:cNvSpPr/>
          <p:nvPr/>
        </p:nvSpPr>
        <p:spPr>
          <a:xfrm>
            <a:off x="548640" y="914400"/>
            <a:ext cx="11091672" cy="777240"/>
          </a:xfrm>
          <a:prstGeom prst="roundRect">
            <a:avLst/>
          </a:prstGeom>
          <a:solidFill>
            <a:srgbClr val="E0F2F1"/>
          </a:solidFill>
          <a:ln w="19050">
            <a:solidFill>
              <a:srgbClr val="009688"/>
            </a:solidFill>
            <a:prstDash val="solid"/>
          </a:ln>
        </p:spPr>
        <p:txBody>
          <a:bodyPr/>
          <a:lstStyle/>
          <a:p>
            <a:endParaRPr lang="es-ES"/>
          </a:p>
        </p:txBody>
      </p:sp>
      <p:sp>
        <p:nvSpPr>
          <p:cNvPr id="5" name="Text 3"/>
          <p:cNvSpPr/>
          <p:nvPr/>
        </p:nvSpPr>
        <p:spPr>
          <a:xfrm>
            <a:off x="777240" y="960120"/>
            <a:ext cx="10634472" cy="68580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La mayor parte de los IDEs no vienen con todo instalado de serie. Tienen un sistema de plugins (también llamados módulos, extensiones o complementos) que permite añadir funcionalidades adicionales cuando se necesitan.</a:t>
            </a:r>
            <a:endParaRPr lang="en-US" sz="1500" dirty="0"/>
          </a:p>
        </p:txBody>
      </p:sp>
      <p:sp>
        <p:nvSpPr>
          <p:cNvPr id="6" name="Shape 4"/>
          <p:cNvSpPr/>
          <p:nvPr/>
        </p:nvSpPr>
        <p:spPr>
          <a:xfrm>
            <a:off x="548640" y="1874520"/>
            <a:ext cx="11091672" cy="438912"/>
          </a:xfrm>
          <a:prstGeom prst="rect">
            <a:avLst/>
          </a:prstGeom>
          <a:solidFill>
            <a:srgbClr val="3F51B5"/>
          </a:solidFill>
          <a:ln w="12700">
            <a:solidFill>
              <a:srgbClr val="3F51B5"/>
            </a:solidFill>
            <a:prstDash val="solid"/>
          </a:ln>
        </p:spPr>
        <p:txBody>
          <a:bodyPr/>
          <a:lstStyle/>
          <a:p>
            <a:endParaRPr lang="es-ES"/>
          </a:p>
        </p:txBody>
      </p:sp>
      <p:sp>
        <p:nvSpPr>
          <p:cNvPr id="7" name="Text 5"/>
          <p:cNvSpPr/>
          <p:nvPr/>
        </p:nvSpPr>
        <p:spPr>
          <a:xfrm>
            <a:off x="731520" y="187452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¿Por qué no viene todo instalado?</a:t>
            </a:r>
            <a:endParaRPr lang="en-US" sz="1700" dirty="0"/>
          </a:p>
        </p:txBody>
      </p:sp>
      <p:sp>
        <p:nvSpPr>
          <p:cNvPr id="8" name="Text 6"/>
          <p:cNvSpPr/>
          <p:nvPr/>
        </p:nvSpPr>
        <p:spPr>
          <a:xfrm>
            <a:off x="548640" y="2450592"/>
            <a:ext cx="11091672" cy="82296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Un IDE que incluyera soporte para todos los lenguajes, frameworks y herramientas existentes pesaría gigas y estaría lleno de funciones que nunca usarías. Los plugins permiten que el IDE sea ligero por defecto y que cada desarrollador lo adapte a su flujo de trabajo.</a:t>
            </a:r>
            <a:endParaRPr lang="en-US" sz="1500" dirty="0"/>
          </a:p>
        </p:txBody>
      </p:sp>
      <p:sp>
        <p:nvSpPr>
          <p:cNvPr id="9" name="Shape 7"/>
          <p:cNvSpPr/>
          <p:nvPr/>
        </p:nvSpPr>
        <p:spPr>
          <a:xfrm>
            <a:off x="548640" y="3456432"/>
            <a:ext cx="11091672" cy="438912"/>
          </a:xfrm>
          <a:prstGeom prst="rect">
            <a:avLst/>
          </a:prstGeom>
          <a:solidFill>
            <a:srgbClr val="3F51B5"/>
          </a:solidFill>
          <a:ln w="12700">
            <a:solidFill>
              <a:srgbClr val="3F51B5"/>
            </a:solidFill>
            <a:prstDash val="solid"/>
          </a:ln>
        </p:spPr>
        <p:txBody>
          <a:bodyPr/>
          <a:lstStyle/>
          <a:p>
            <a:endParaRPr lang="es-ES"/>
          </a:p>
        </p:txBody>
      </p:sp>
      <p:sp>
        <p:nvSpPr>
          <p:cNvPr id="10" name="Text 8"/>
          <p:cNvSpPr/>
          <p:nvPr/>
        </p:nvSpPr>
        <p:spPr>
          <a:xfrm>
            <a:off x="731520" y="3456432"/>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Qué puede añadir un plugin</a:t>
            </a:r>
            <a:endParaRPr lang="en-US" sz="1700" dirty="0"/>
          </a:p>
        </p:txBody>
      </p:sp>
      <p:sp>
        <p:nvSpPr>
          <p:cNvPr id="11" name="Text 9"/>
          <p:cNvSpPr/>
          <p:nvPr/>
        </p:nvSpPr>
        <p:spPr>
          <a:xfrm>
            <a:off x="548640" y="4032504"/>
            <a:ext cx="11091672" cy="1828800"/>
          </a:xfrm>
          <a:prstGeom prst="rect">
            <a:avLst/>
          </a:prstGeom>
          <a:noFill/>
          <a:ln/>
        </p:spPr>
        <p:txBody>
          <a:bodyPr wrap="square" rtlCol="0" anchor="t"/>
          <a:lstStyle/>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Soporte para un lenguaje que el IDE no incluye de serie (Python, Ruby, Rust…).</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Integración con un framework concreto (Spring, Django, Angular…).</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Herramientas de calidad de código: linters, formateadores automáticos.</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Temas visuales y fuentes de programación.</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Conectores con servicios externos: Jira, Docker, bases de datos…</a:t>
            </a:r>
            <a:endParaRPr lang="en-US" sz="1500" dirty="0"/>
          </a:p>
        </p:txBody>
      </p:sp>
      <p:sp>
        <p:nvSpPr>
          <p:cNvPr id="12" name="Text 10"/>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4.2 Gestión de plugins en IntelliJ IDEA</a:t>
            </a:r>
            <a:endParaRPr lang="en-US" sz="2600" dirty="0"/>
          </a:p>
        </p:txBody>
      </p:sp>
      <p:sp>
        <p:nvSpPr>
          <p:cNvPr id="4" name="Text 2"/>
          <p:cNvSpPr/>
          <p:nvPr/>
        </p:nvSpPr>
        <p:spPr>
          <a:xfrm>
            <a:off x="548640" y="914400"/>
            <a:ext cx="11091672" cy="45720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Los plugins se gestionan desde  File → Settings → Plugins  (en macOS: IntelliJ IDEA → Settings).</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3566160"/>
        </p:xfrm>
        <a:graphic>
          <a:graphicData uri="http://schemas.openxmlformats.org/drawingml/2006/table">
            <a:tbl>
              <a:tblPr/>
              <a:tblGrid>
                <a:gridCol w="2772918">
                  <a:extLst>
                    <a:ext uri="{9D8B030D-6E8A-4147-A177-3AD203B41FA5}">
                      <a16:colId xmlns:a16="http://schemas.microsoft.com/office/drawing/2014/main" val="20000"/>
                    </a:ext>
                  </a:extLst>
                </a:gridCol>
                <a:gridCol w="8318754">
                  <a:extLst>
                    <a:ext uri="{9D8B030D-6E8A-4147-A177-3AD203B41FA5}">
                      <a16:colId xmlns:a16="http://schemas.microsoft.com/office/drawing/2014/main" val="20001"/>
                    </a:ext>
                  </a:extLst>
                </a:gridCol>
              </a:tblGrid>
              <a:tr h="713232">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Acción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Cómo hacerlo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713232">
                <a:tc>
                  <a:txBody>
                    <a:bodyPr/>
                    <a:lstStyle/>
                    <a:p>
                      <a:pPr marL="0" indent="0">
                        <a:buNone/>
                      </a:pPr>
                      <a:r>
                        <a:rPr lang="en-US" sz="1400" b="1" dirty="0">
                          <a:solidFill>
                            <a:srgbClr val="212121"/>
                          </a:solidFill>
                          <a:latin typeface="Arial" pitchFamily="34" charset="0"/>
                          <a:ea typeface="Arial" pitchFamily="34" charset="-122"/>
                          <a:cs typeface="Arial" pitchFamily="34" charset="-120"/>
                        </a:rPr>
                        <a:t>Buscar e instalar</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Pestaña Marketplace → busca el plugin → Install. Reinicia si lo pide.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400" b="1" dirty="0">
                          <a:solidFill>
                            <a:srgbClr val="212121"/>
                          </a:solidFill>
                          <a:latin typeface="Arial" pitchFamily="34" charset="0"/>
                          <a:ea typeface="Arial" pitchFamily="34" charset="-122"/>
                          <a:cs typeface="Arial" pitchFamily="34" charset="-120"/>
                        </a:rPr>
                        <a:t>Desactivar</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Pestaña Installed → desactiva el toggle. El plugin queda instalado pero no consume recursos.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713232">
                <a:tc>
                  <a:txBody>
                    <a:bodyPr/>
                    <a:lstStyle/>
                    <a:p>
                      <a:pPr marL="0" indent="0">
                        <a:buNone/>
                      </a:pPr>
                      <a:r>
                        <a:rPr lang="en-US" sz="1400" b="1" dirty="0">
                          <a:solidFill>
                            <a:srgbClr val="212121"/>
                          </a:solidFill>
                          <a:latin typeface="Arial" pitchFamily="34" charset="0"/>
                          <a:ea typeface="Arial" pitchFamily="34" charset="-122"/>
                          <a:cs typeface="Arial" pitchFamily="34" charset="-120"/>
                        </a:rPr>
                        <a:t>Desinstalar</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Pestaña Installed → menú del plugin → Uninstall.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400" b="1" dirty="0">
                          <a:solidFill>
                            <a:srgbClr val="212121"/>
                          </a:solidFill>
                          <a:latin typeface="Arial" pitchFamily="34" charset="0"/>
                          <a:ea typeface="Arial" pitchFamily="34" charset="-122"/>
                          <a:cs typeface="Arial" pitchFamily="34" charset="-120"/>
                        </a:rPr>
                        <a:t>Actualizar</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Pestaña Installed → Update disponible aparece destacado. Acepta la actualización.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6" name="Shape 3"/>
          <p:cNvSpPr/>
          <p:nvPr/>
        </p:nvSpPr>
        <p:spPr>
          <a:xfrm>
            <a:off x="548640" y="5303520"/>
            <a:ext cx="11091672" cy="731520"/>
          </a:xfrm>
          <a:prstGeom prst="roundRect">
            <a:avLst/>
          </a:prstGeom>
          <a:solidFill>
            <a:srgbClr val="E0F2F1"/>
          </a:solidFill>
          <a:ln w="19050">
            <a:solidFill>
              <a:srgbClr val="009688"/>
            </a:solidFill>
            <a:prstDash val="solid"/>
          </a:ln>
        </p:spPr>
        <p:txBody>
          <a:bodyPr/>
          <a:lstStyle/>
          <a:p>
            <a:endParaRPr lang="es-ES"/>
          </a:p>
        </p:txBody>
      </p:sp>
      <p:sp>
        <p:nvSpPr>
          <p:cNvPr id="7" name="Text 4"/>
          <p:cNvSpPr/>
          <p:nvPr/>
        </p:nvSpPr>
        <p:spPr>
          <a:xfrm>
            <a:off x="777240" y="5349240"/>
            <a:ext cx="10634472" cy="64008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No instales todo lo que encuentres. Cada plugin añadido consume memoria. Instala solo lo que vayas a usar activamente. Si algo lo pruebas puntualmente, desactívalo al terminar.</a:t>
            </a:r>
            <a:endParaRPr lang="en-US" sz="1500" dirty="0"/>
          </a:p>
        </p:txBody>
      </p:sp>
      <p:sp>
        <p:nvSpPr>
          <p:cNvPr id="8"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4.3 Gestión de plugins en Eclipse</a:t>
            </a:r>
            <a:endParaRPr lang="en-US" sz="2600" dirty="0"/>
          </a:p>
        </p:txBody>
      </p:sp>
      <p:sp>
        <p:nvSpPr>
          <p:cNvPr id="4" name="Shape 2"/>
          <p:cNvSpPr/>
          <p:nvPr/>
        </p:nvSpPr>
        <p:spPr>
          <a:xfrm>
            <a:off x="548640" y="914400"/>
            <a:ext cx="11091672" cy="914400"/>
          </a:xfrm>
          <a:prstGeom prst="roundRect">
            <a:avLst/>
          </a:prstGeom>
          <a:solidFill>
            <a:srgbClr val="E0F2F1"/>
          </a:solidFill>
          <a:ln w="19050">
            <a:solidFill>
              <a:srgbClr val="009688"/>
            </a:solidFill>
            <a:prstDash val="solid"/>
          </a:ln>
        </p:spPr>
        <p:txBody>
          <a:bodyPr/>
          <a:lstStyle/>
          <a:p>
            <a:endParaRPr lang="es-ES"/>
          </a:p>
        </p:txBody>
      </p:sp>
      <p:sp>
        <p:nvSpPr>
          <p:cNvPr id="5" name="Text 3"/>
          <p:cNvSpPr/>
          <p:nvPr/>
        </p:nvSpPr>
        <p:spPr>
          <a:xfrm>
            <a:off x="777240" y="960120"/>
            <a:ext cx="10634472" cy="82296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En Eclipse, los plugins se instalan a través de  Help → Eclipse Marketplace  o  Help → Install New Software (indicando la URL del repositorio del plugin). La filosofía es la misma: el IDE base es ligero y cada usuario añade lo que necesita.</a:t>
            </a:r>
            <a:endParaRPr lang="en-US" sz="1500" dirty="0"/>
          </a:p>
        </p:txBody>
      </p:sp>
      <p:sp>
        <p:nvSpPr>
          <p:cNvPr id="6" name="Shape 4"/>
          <p:cNvSpPr/>
          <p:nvPr/>
        </p:nvSpPr>
        <p:spPr>
          <a:xfrm>
            <a:off x="548640" y="2057400"/>
            <a:ext cx="11091672" cy="438912"/>
          </a:xfrm>
          <a:prstGeom prst="rect">
            <a:avLst/>
          </a:prstGeom>
          <a:solidFill>
            <a:srgbClr val="3F51B5"/>
          </a:solidFill>
          <a:ln w="12700">
            <a:solidFill>
              <a:srgbClr val="3F51B5"/>
            </a:solidFill>
            <a:prstDash val="solid"/>
          </a:ln>
        </p:spPr>
        <p:txBody>
          <a:bodyPr/>
          <a:lstStyle/>
          <a:p>
            <a:endParaRPr lang="es-ES"/>
          </a:p>
        </p:txBody>
      </p:sp>
      <p:sp>
        <p:nvSpPr>
          <p:cNvPr id="7" name="Text 5"/>
          <p:cNvSpPr/>
          <p:nvPr/>
        </p:nvSpPr>
        <p:spPr>
          <a:xfrm>
            <a:off x="731520" y="205740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Eclipse Marketplace</a:t>
            </a:r>
            <a:endParaRPr lang="en-US" sz="1700" dirty="0"/>
          </a:p>
        </p:txBody>
      </p:sp>
      <p:sp>
        <p:nvSpPr>
          <p:cNvPr id="8" name="Text 6"/>
          <p:cNvSpPr/>
          <p:nvPr/>
        </p:nvSpPr>
        <p:spPr>
          <a:xfrm>
            <a:off x="548640" y="2633472"/>
            <a:ext cx="5431536" cy="2011680"/>
          </a:xfrm>
          <a:prstGeom prst="rect">
            <a:avLst/>
          </a:prstGeom>
          <a:noFill/>
          <a:ln/>
        </p:spPr>
        <p:txBody>
          <a:bodyPr wrap="square" rtlCol="0" anchor="t"/>
          <a:lstStyle/>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Interfaz gráfica similar a una tienda de aplicaciones.</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Busca por nombre o categoría.</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Instala con un clic e indica qué dependencias se necesitan.</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Permite valorar y revisar plugins antes de instalar.</a:t>
            </a:r>
            <a:endParaRPr lang="en-US" sz="1400" dirty="0"/>
          </a:p>
        </p:txBody>
      </p:sp>
      <p:sp>
        <p:nvSpPr>
          <p:cNvPr id="9" name="Text 7"/>
          <p:cNvSpPr/>
          <p:nvPr/>
        </p:nvSpPr>
        <p:spPr>
          <a:xfrm>
            <a:off x="6208776" y="2633472"/>
            <a:ext cx="5431536" cy="2011680"/>
          </a:xfrm>
          <a:prstGeom prst="rect">
            <a:avLst/>
          </a:prstGeom>
          <a:noFill/>
          <a:ln/>
        </p:spPr>
        <p:txBody>
          <a:bodyPr wrap="square" rtlCol="0" anchor="t"/>
          <a:lstStyle/>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Install New Software permite instalar desde una URL de repositorio directa.</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Útil para plugins no indexados en el Marketplace.</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Ejemplo: soporte para Kotlin en Eclipse se instala indicando la URL del repositorio de JetBrains.</a:t>
            </a:r>
            <a:endParaRPr lang="en-US" sz="1400" dirty="0"/>
          </a:p>
        </p:txBody>
      </p:sp>
      <p:sp>
        <p:nvSpPr>
          <p:cNvPr id="10" name="Shape 8"/>
          <p:cNvSpPr/>
          <p:nvPr/>
        </p:nvSpPr>
        <p:spPr>
          <a:xfrm>
            <a:off x="548640" y="4828032"/>
            <a:ext cx="11091672" cy="731520"/>
          </a:xfrm>
          <a:prstGeom prst="roundRect">
            <a:avLst/>
          </a:prstGeom>
          <a:solidFill>
            <a:srgbClr val="E0F2F1"/>
          </a:solidFill>
          <a:ln w="19050">
            <a:solidFill>
              <a:srgbClr val="009688"/>
            </a:solidFill>
            <a:prstDash val="solid"/>
          </a:ln>
        </p:spPr>
        <p:txBody>
          <a:bodyPr/>
          <a:lstStyle/>
          <a:p>
            <a:endParaRPr lang="es-ES"/>
          </a:p>
        </p:txBody>
      </p:sp>
      <p:sp>
        <p:nvSpPr>
          <p:cNvPr id="11" name="Text 9"/>
          <p:cNvSpPr/>
          <p:nvPr/>
        </p:nvSpPr>
        <p:spPr>
          <a:xfrm>
            <a:off x="777240" y="4873752"/>
            <a:ext cx="10634472" cy="64008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Eclipse tiene una arquitectura muy modular: incluso las funciones más básicas son plugins que se pueden reemplazar o ampliar. Esto lo hace muy flexible pero también más complejo de configurar.</a:t>
            </a:r>
            <a:endParaRPr lang="en-US" sz="1500" dirty="0"/>
          </a:p>
        </p:txBody>
      </p:sp>
      <p:sp>
        <p:nvSpPr>
          <p:cNvPr id="12" name="Text 10"/>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03F9F"/>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B0BEC5"/>
                </a:solidFill>
                <a:latin typeface="Arial" pitchFamily="34" charset="0"/>
                <a:ea typeface="Arial" pitchFamily="34" charset="-122"/>
                <a:cs typeface="Arial" pitchFamily="34" charset="-120"/>
              </a:rPr>
              <a:t>ENTORNOS DE DESARROLLO  —  TEMA 2: ENTORNOS INTEGRADOS DE DESARROLLO</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5. Personalización del entorno</a:t>
            </a:r>
            <a:endParaRPr lang="en-US" sz="4400" dirty="0"/>
          </a:p>
        </p:txBody>
      </p:sp>
      <p:sp>
        <p:nvSpPr>
          <p:cNvPr id="4" name="Shape 2"/>
          <p:cNvSpPr/>
          <p:nvPr/>
        </p:nvSpPr>
        <p:spPr>
          <a:xfrm>
            <a:off x="0" y="5120640"/>
            <a:ext cx="12188952" cy="914400"/>
          </a:xfrm>
          <a:prstGeom prst="rect">
            <a:avLst/>
          </a:prstGeom>
          <a:solidFill>
            <a:srgbClr val="009688"/>
          </a:solidFill>
          <a:ln w="12700">
            <a:solidFill>
              <a:srgbClr val="009688"/>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Tema visual  ·  Atajos  ·  Estilo de código  ·  Plantillas</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5.1 Tema visual y fuente</a:t>
            </a:r>
            <a:endParaRPr lang="en-US" sz="2600" dirty="0"/>
          </a:p>
        </p:txBody>
      </p:sp>
      <p:sp>
        <p:nvSpPr>
          <p:cNvPr id="4" name="Shape 2"/>
          <p:cNvSpPr/>
          <p:nvPr/>
        </p:nvSpPr>
        <p:spPr>
          <a:xfrm>
            <a:off x="548640" y="914400"/>
            <a:ext cx="11091672" cy="438912"/>
          </a:xfrm>
          <a:prstGeom prst="rect">
            <a:avLst/>
          </a:prstGeom>
          <a:solidFill>
            <a:srgbClr val="3F51B5"/>
          </a:solidFill>
          <a:ln w="12700">
            <a:solidFill>
              <a:srgbClr val="3F51B5"/>
            </a:solidFill>
            <a:prstDash val="solid"/>
          </a:ln>
        </p:spPr>
        <p:txBody>
          <a:bodyPr/>
          <a:lstStyle/>
          <a:p>
            <a:endParaRPr lang="es-ES"/>
          </a:p>
        </p:txBody>
      </p:sp>
      <p:sp>
        <p:nvSpPr>
          <p:cNvPr id="5" name="Text 3"/>
          <p:cNvSpPr/>
          <p:nvPr/>
        </p:nvSpPr>
        <p:spPr>
          <a:xfrm>
            <a:off x="731520" y="91440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Tema de color</a:t>
            </a:r>
            <a:endParaRPr lang="en-US" sz="1700" dirty="0"/>
          </a:p>
        </p:txBody>
      </p:sp>
      <p:sp>
        <p:nvSpPr>
          <p:cNvPr id="6" name="Text 4"/>
          <p:cNvSpPr/>
          <p:nvPr/>
        </p:nvSpPr>
        <p:spPr>
          <a:xfrm>
            <a:off x="548640" y="1490472"/>
            <a:ext cx="5209703" cy="2194560"/>
          </a:xfrm>
          <a:prstGeom prst="rect">
            <a:avLst/>
          </a:prstGeom>
          <a:noFill/>
          <a:ln/>
        </p:spPr>
        <p:txBody>
          <a:bodyPr wrap="square" rtlCol="0" anchor="t"/>
          <a:lstStyle/>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Los IDEs incluyen tema claro y oscuro de serie.</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Se pueden instalar temas adicionales como plugins (Dracula, One Dark, Nord...).</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Tema oscuro: reduce fatiga visual con poca luz ambiental.</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Tema claro: funciona mejor con mucha luz ambiental.</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Prueba ambos y quédate con el que te canse menos después de dos horas.</a:t>
            </a:r>
            <a:endParaRPr lang="en-US" sz="1400" dirty="0"/>
          </a:p>
        </p:txBody>
      </p:sp>
      <p:sp>
        <p:nvSpPr>
          <p:cNvPr id="7" name="Text 5"/>
          <p:cNvSpPr/>
          <p:nvPr/>
        </p:nvSpPr>
        <p:spPr>
          <a:xfrm>
            <a:off x="5986943" y="1490472"/>
            <a:ext cx="5653369" cy="2194560"/>
          </a:xfrm>
          <a:prstGeom prst="rect">
            <a:avLst/>
          </a:prstGeom>
          <a:noFill/>
          <a:ln/>
        </p:spPr>
        <p:txBody>
          <a:bodyPr wrap="square" rtlCol="0" anchor="t"/>
          <a:lstStyle/>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Usa siempre una fuente monoespaciada: todos los caracteres tienen el mismo ancho, el código se alinea correctamente.</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Más usadas: JetBrains Mono, Fira Code, IBM Plex Mono.</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Fira Code tiene ligaduras: combina -&gt; o != en un solo símbolo visual.</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Tamaño recomendado: 14-16 pt según pantalla.</a:t>
            </a:r>
            <a:endParaRPr lang="en-US" sz="1400" dirty="0"/>
          </a:p>
        </p:txBody>
      </p:sp>
      <p:sp>
        <p:nvSpPr>
          <p:cNvPr id="8" name="Shape 6"/>
          <p:cNvSpPr/>
          <p:nvPr/>
        </p:nvSpPr>
        <p:spPr>
          <a:xfrm>
            <a:off x="548640" y="3867912"/>
            <a:ext cx="11091672" cy="685800"/>
          </a:xfrm>
          <a:prstGeom prst="roundRect">
            <a:avLst/>
          </a:prstGeom>
          <a:solidFill>
            <a:srgbClr val="E0F2F1"/>
          </a:solidFill>
          <a:ln w="19050">
            <a:solidFill>
              <a:srgbClr val="009688"/>
            </a:solidFill>
            <a:prstDash val="solid"/>
          </a:ln>
        </p:spPr>
        <p:txBody>
          <a:bodyPr/>
          <a:lstStyle/>
          <a:p>
            <a:endParaRPr lang="es-ES"/>
          </a:p>
        </p:txBody>
      </p:sp>
      <p:sp>
        <p:nvSpPr>
          <p:cNvPr id="9" name="Text 7"/>
          <p:cNvSpPr/>
          <p:nvPr/>
        </p:nvSpPr>
        <p:spPr>
          <a:xfrm>
            <a:off x="777240" y="3913632"/>
            <a:ext cx="10634472" cy="59436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El tema y la fuente no son caprichos estéticos: reducen la fatiga visual y facilitan reconocer la estructura del código a golpe de vista.</a:t>
            </a:r>
            <a:endParaRPr lang="en-US" sz="1500" dirty="0"/>
          </a:p>
        </p:txBody>
      </p:sp>
      <p:sp>
        <p:nvSpPr>
          <p:cNvPr id="10" name="Text 8"/>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5.2 Atajos de teclado</a:t>
            </a:r>
            <a:endParaRPr lang="en-US" sz="2600" dirty="0"/>
          </a:p>
        </p:txBody>
      </p:sp>
      <p:sp>
        <p:nvSpPr>
          <p:cNvPr id="4" name="Text 2"/>
          <p:cNvSpPr/>
          <p:nvPr/>
        </p:nvSpPr>
        <p:spPr>
          <a:xfrm>
            <a:off x="548640" y="914400"/>
            <a:ext cx="11091672" cy="50292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Los atajos de teclado son la diferencia entre un programador fluido y uno que busca opciones en menús. Los IDEs permiten cambiar cualquier atajo y crear los propios.</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4443984"/>
        </p:xfrm>
        <a:graphic>
          <a:graphicData uri="http://schemas.openxmlformats.org/drawingml/2006/table">
            <a:tbl>
              <a:tblPr/>
              <a:tblGrid>
                <a:gridCol w="3549335">
                  <a:extLst>
                    <a:ext uri="{9D8B030D-6E8A-4147-A177-3AD203B41FA5}">
                      <a16:colId xmlns:a16="http://schemas.microsoft.com/office/drawing/2014/main" val="20000"/>
                    </a:ext>
                  </a:extLst>
                </a:gridCol>
                <a:gridCol w="7542337">
                  <a:extLst>
                    <a:ext uri="{9D8B030D-6E8A-4147-A177-3AD203B41FA5}">
                      <a16:colId xmlns:a16="http://schemas.microsoft.com/office/drawing/2014/main" val="20001"/>
                    </a:ext>
                  </a:extLst>
                </a:gridCol>
              </a:tblGrid>
              <a:tr h="493776">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Atajo (IntelliJ)</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Acción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493776">
                <a:tc>
                  <a:txBody>
                    <a:bodyPr/>
                    <a:lstStyle/>
                    <a:p>
                      <a:pPr marL="0" indent="0">
                        <a:buNone/>
                      </a:pPr>
                      <a:r>
                        <a:rPr lang="en-US" sz="1300" b="1" dirty="0">
                          <a:solidFill>
                            <a:srgbClr val="212121"/>
                          </a:solidFill>
                          <a:latin typeface="Arial" pitchFamily="34" charset="0"/>
                          <a:ea typeface="Arial" pitchFamily="34" charset="-122"/>
                          <a:cs typeface="Arial" pitchFamily="34" charset="-120"/>
                        </a:rPr>
                        <a:t>Ctrl + Space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Autocompletado básico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marL="0" indent="0">
                        <a:buNone/>
                      </a:pPr>
                      <a:r>
                        <a:rPr lang="en-US" sz="1300" b="1" dirty="0">
                          <a:solidFill>
                            <a:srgbClr val="212121"/>
                          </a:solidFill>
                          <a:latin typeface="Arial" pitchFamily="34" charset="0"/>
                          <a:ea typeface="Arial" pitchFamily="34" charset="-122"/>
                          <a:cs typeface="Arial" pitchFamily="34" charset="-120"/>
                        </a:rPr>
                        <a:t>Ctrl + Shift + Space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Autocompletado inteligente (filtra por tipo esperado)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493776">
                <a:tc>
                  <a:txBody>
                    <a:bodyPr/>
                    <a:lstStyle/>
                    <a:p>
                      <a:pPr marL="0" indent="0">
                        <a:buNone/>
                      </a:pPr>
                      <a:r>
                        <a:rPr lang="en-US" sz="1300" b="1" dirty="0">
                          <a:solidFill>
                            <a:srgbClr val="212121"/>
                          </a:solidFill>
                          <a:latin typeface="Arial" pitchFamily="34" charset="0"/>
                          <a:ea typeface="Arial" pitchFamily="34" charset="-122"/>
                          <a:cs typeface="Arial" pitchFamily="34" charset="-120"/>
                        </a:rPr>
                        <a:t>Ctrl + Alt + L</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Reformatear el código según el estilo configurado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marL="0" indent="0">
                        <a:buNone/>
                      </a:pPr>
                      <a:r>
                        <a:rPr lang="en-US" sz="1300" b="1" dirty="0">
                          <a:solidFill>
                            <a:srgbClr val="212121"/>
                          </a:solidFill>
                          <a:latin typeface="Arial" pitchFamily="34" charset="0"/>
                          <a:ea typeface="Arial" pitchFamily="34" charset="-122"/>
                          <a:cs typeface="Arial" pitchFamily="34" charset="-120"/>
                        </a:rPr>
                        <a:t>Shift + F10</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Ejecutar el programa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493776">
                <a:tc>
                  <a:txBody>
                    <a:bodyPr/>
                    <a:lstStyle/>
                    <a:p>
                      <a:pPr marL="0" indent="0">
                        <a:buNone/>
                      </a:pPr>
                      <a:r>
                        <a:rPr lang="en-US" sz="1300" b="1" dirty="0">
                          <a:solidFill>
                            <a:srgbClr val="212121"/>
                          </a:solidFill>
                          <a:latin typeface="Arial" pitchFamily="34" charset="0"/>
                          <a:ea typeface="Arial" pitchFamily="34" charset="-122"/>
                          <a:cs typeface="Arial" pitchFamily="34" charset="-120"/>
                        </a:rPr>
                        <a:t>Shift + F9</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Depurar (iniciar el depurador)</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marL="0" indent="0">
                        <a:buNone/>
                      </a:pPr>
                      <a:r>
                        <a:rPr lang="en-US" sz="1300" b="1" dirty="0">
                          <a:solidFill>
                            <a:srgbClr val="212121"/>
                          </a:solidFill>
                          <a:latin typeface="Arial" pitchFamily="34" charset="0"/>
                          <a:ea typeface="Arial" pitchFamily="34" charset="-122"/>
                          <a:cs typeface="Arial" pitchFamily="34" charset="-120"/>
                        </a:rPr>
                        <a:t>Alt + Enter</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Ver y aplicar correcciones rápidas sugeridas por el IDE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r h="493776">
                <a:tc>
                  <a:txBody>
                    <a:bodyPr/>
                    <a:lstStyle/>
                    <a:p>
                      <a:pPr marL="0" indent="0">
                        <a:buNone/>
                      </a:pPr>
                      <a:r>
                        <a:rPr lang="en-US" sz="1300" b="1" dirty="0">
                          <a:solidFill>
                            <a:srgbClr val="212121"/>
                          </a:solidFill>
                          <a:latin typeface="Arial" pitchFamily="34" charset="0"/>
                          <a:ea typeface="Arial" pitchFamily="34" charset="-122"/>
                          <a:cs typeface="Arial" pitchFamily="34" charset="-120"/>
                        </a:rPr>
                        <a:t>Ctrl + Click</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Ir a la definición de una clase o método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93776">
                <a:tc>
                  <a:txBody>
                    <a:bodyPr/>
                    <a:lstStyle/>
                    <a:p>
                      <a:pPr marL="0" indent="0">
                        <a:buNone/>
                      </a:pPr>
                      <a:r>
                        <a:rPr lang="en-US" sz="1300" b="1" dirty="0">
                          <a:solidFill>
                            <a:srgbClr val="212121"/>
                          </a:solidFill>
                          <a:latin typeface="Arial" pitchFamily="34" charset="0"/>
                          <a:ea typeface="Arial" pitchFamily="34" charset="-122"/>
                          <a:cs typeface="Arial" pitchFamily="34" charset="-120"/>
                        </a:rPr>
                        <a:t>Ctrl + Shift + F</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Buscar un texto en todo el proyecto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8"/>
                  </a:ext>
                </a:extLst>
              </a:tr>
            </a:tbl>
          </a:graphicData>
        </a:graphic>
      </p:graphicFrame>
      <p:sp>
        <p:nvSpPr>
          <p:cNvPr id="6" name="Shape 3"/>
          <p:cNvSpPr/>
          <p:nvPr/>
        </p:nvSpPr>
        <p:spPr>
          <a:xfrm>
            <a:off x="548640" y="6135624"/>
            <a:ext cx="11091672" cy="685800"/>
          </a:xfrm>
          <a:prstGeom prst="roundRect">
            <a:avLst/>
          </a:prstGeom>
          <a:solidFill>
            <a:srgbClr val="E0F2F1"/>
          </a:solidFill>
          <a:ln w="19050">
            <a:solidFill>
              <a:srgbClr val="009688"/>
            </a:solidFill>
            <a:prstDash val="solid"/>
          </a:ln>
        </p:spPr>
        <p:txBody>
          <a:bodyPr/>
          <a:lstStyle/>
          <a:p>
            <a:endParaRPr lang="es-ES"/>
          </a:p>
        </p:txBody>
      </p:sp>
      <p:sp>
        <p:nvSpPr>
          <p:cNvPr id="7" name="Text 4"/>
          <p:cNvSpPr/>
          <p:nvPr/>
        </p:nvSpPr>
        <p:spPr>
          <a:xfrm>
            <a:off x="777240" y="6181344"/>
            <a:ext cx="10634472" cy="59436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No intentes memorizar 50 atajos a la vez. Elige los 5 que más tiempo te harían ahorrar y úsalos conscientemente durante una semana. Luego añade 5 más.</a:t>
            </a:r>
            <a:endParaRPr lang="en-US" sz="1500" dirty="0"/>
          </a:p>
        </p:txBody>
      </p:sp>
      <p:sp>
        <p:nvSpPr>
          <p:cNvPr id="8"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5.3 Estilo de codificación</a:t>
            </a:r>
            <a:endParaRPr lang="en-US" sz="2600" dirty="0"/>
          </a:p>
        </p:txBody>
      </p:sp>
      <p:sp>
        <p:nvSpPr>
          <p:cNvPr id="4" name="Shape 2"/>
          <p:cNvSpPr/>
          <p:nvPr/>
        </p:nvSpPr>
        <p:spPr>
          <a:xfrm>
            <a:off x="548640" y="914400"/>
            <a:ext cx="11091672" cy="914400"/>
          </a:xfrm>
          <a:prstGeom prst="roundRect">
            <a:avLst/>
          </a:prstGeom>
          <a:solidFill>
            <a:srgbClr val="E0F2F1"/>
          </a:solidFill>
          <a:ln w="19050">
            <a:solidFill>
              <a:srgbClr val="009688"/>
            </a:solidFill>
            <a:prstDash val="solid"/>
          </a:ln>
        </p:spPr>
        <p:txBody>
          <a:bodyPr/>
          <a:lstStyle/>
          <a:p>
            <a:endParaRPr lang="es-ES"/>
          </a:p>
        </p:txBody>
      </p:sp>
      <p:sp>
        <p:nvSpPr>
          <p:cNvPr id="5" name="Text 3"/>
          <p:cNvSpPr/>
          <p:nvPr/>
        </p:nvSpPr>
        <p:spPr>
          <a:xfrm>
            <a:off x="777240" y="960120"/>
            <a:ext cx="10634472" cy="82296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El estilo de codificación define cómo se formatea el código automáticamente: espacios de indentación, dónde van las llaves, máximo de caracteres por línea… Los IDEs aplican estas reglas automáticamente al guardar o al reformatear.</a:t>
            </a:r>
            <a:endParaRPr lang="en-US" sz="1500" dirty="0"/>
          </a:p>
        </p:txBody>
      </p:sp>
      <p:sp>
        <p:nvSpPr>
          <p:cNvPr id="6" name="Shape 4"/>
          <p:cNvSpPr/>
          <p:nvPr/>
        </p:nvSpPr>
        <p:spPr>
          <a:xfrm>
            <a:off x="548640" y="2011680"/>
            <a:ext cx="11091672" cy="438912"/>
          </a:xfrm>
          <a:prstGeom prst="rect">
            <a:avLst/>
          </a:prstGeom>
          <a:solidFill>
            <a:srgbClr val="3F51B5"/>
          </a:solidFill>
          <a:ln w="12700">
            <a:solidFill>
              <a:srgbClr val="3F51B5"/>
            </a:solidFill>
            <a:prstDash val="solid"/>
          </a:ln>
        </p:spPr>
        <p:txBody>
          <a:bodyPr/>
          <a:lstStyle/>
          <a:p>
            <a:endParaRPr lang="es-ES"/>
          </a:p>
        </p:txBody>
      </p:sp>
      <p:sp>
        <p:nvSpPr>
          <p:cNvPr id="7" name="Text 5"/>
          <p:cNvSpPr/>
          <p:nvPr/>
        </p:nvSpPr>
        <p:spPr>
          <a:xfrm>
            <a:off x="731520" y="201168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¿Por qué importa en equipo?</a:t>
            </a:r>
            <a:endParaRPr lang="en-US" sz="1700" dirty="0"/>
          </a:p>
        </p:txBody>
      </p:sp>
      <p:sp>
        <p:nvSpPr>
          <p:cNvPr id="8" name="Text 6"/>
          <p:cNvSpPr/>
          <p:nvPr/>
        </p:nvSpPr>
        <p:spPr>
          <a:xfrm>
            <a:off x="548640" y="2587752"/>
            <a:ext cx="11091672" cy="2103120"/>
          </a:xfrm>
          <a:prstGeom prst="rect">
            <a:avLst/>
          </a:prstGeom>
          <a:noFill/>
          <a:ln/>
        </p:spPr>
        <p:txBody>
          <a:bodyPr wrap="square" rtlCol="0" anchor="t"/>
          <a:lstStyle/>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Si cada miembro del equipo usa un estilo diferente, los commits de Git mezclan cambios de lógica con cambios de formato.</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El historial se vuelve difícil de leer: ¿este commit cambia algo importante o solo mueve llaves?</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Con un estilo compartido configurado en el proyecto, el código tiene el mismo aspecto sin importar quién lo haya escrito.</a:t>
            </a:r>
            <a:endParaRPr lang="en-US" sz="1500" dirty="0"/>
          </a:p>
          <a:p>
            <a:pPr marL="762000" lvl="1" indent="-3810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Google Java Style y Oracle/Sun Style son las dos guías más extendidas en Java. IntelliJ permite importarlas como un archivo XML.</a:t>
            </a:r>
            <a:endParaRPr lang="en-US" sz="1500" dirty="0"/>
          </a:p>
        </p:txBody>
      </p:sp>
      <p:sp>
        <p:nvSpPr>
          <p:cNvPr id="9" name="Text 7"/>
          <p:cNvSpPr/>
          <p:nvPr/>
        </p:nvSpPr>
        <p:spPr>
          <a:xfrm>
            <a:off x="548640" y="4873752"/>
            <a:ext cx="11091672" cy="457200"/>
          </a:xfrm>
          <a:prstGeom prst="rect">
            <a:avLst/>
          </a:prstGeom>
          <a:noFill/>
          <a:ln/>
        </p:spPr>
        <p:txBody>
          <a:bodyPr wrap="square" rtlCol="0" anchor="t"/>
          <a:lstStyle/>
          <a:p>
            <a:pPr marL="0" indent="0">
              <a:buNone/>
            </a:pPr>
            <a:r>
              <a:rPr lang="en-US" sz="1400" dirty="0">
                <a:solidFill>
                  <a:srgbClr val="757575"/>
                </a:solidFill>
                <a:latin typeface="Arial" pitchFamily="34" charset="0"/>
                <a:ea typeface="Arial" pitchFamily="34" charset="-122"/>
                <a:cs typeface="Arial" pitchFamily="34" charset="-120"/>
              </a:rPr>
              <a:t>En IntelliJ: File → Settings → Editor → Code Style → Java  →  importar esquema XML del equipo.</a:t>
            </a:r>
            <a:endParaRPr lang="en-US" sz="1400" dirty="0"/>
          </a:p>
        </p:txBody>
      </p:sp>
      <p:sp>
        <p:nvSpPr>
          <p:cNvPr id="10" name="Text 8"/>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5.4 Plantillas de código (Live Templates)</a:t>
            </a:r>
            <a:endParaRPr lang="en-US" sz="2600" dirty="0"/>
          </a:p>
        </p:txBody>
      </p:sp>
      <p:sp>
        <p:nvSpPr>
          <p:cNvPr id="4" name="Shape 2"/>
          <p:cNvSpPr/>
          <p:nvPr/>
        </p:nvSpPr>
        <p:spPr>
          <a:xfrm>
            <a:off x="548640" y="914400"/>
            <a:ext cx="11091672" cy="777240"/>
          </a:xfrm>
          <a:prstGeom prst="roundRect">
            <a:avLst/>
          </a:prstGeom>
          <a:solidFill>
            <a:srgbClr val="E0F2F1"/>
          </a:solidFill>
          <a:ln w="19050">
            <a:solidFill>
              <a:srgbClr val="009688"/>
            </a:solidFill>
            <a:prstDash val="solid"/>
          </a:ln>
        </p:spPr>
        <p:txBody>
          <a:bodyPr/>
          <a:lstStyle/>
          <a:p>
            <a:endParaRPr lang="es-ES"/>
          </a:p>
        </p:txBody>
      </p:sp>
      <p:sp>
        <p:nvSpPr>
          <p:cNvPr id="5" name="Text 3"/>
          <p:cNvSpPr/>
          <p:nvPr/>
        </p:nvSpPr>
        <p:spPr>
          <a:xfrm>
            <a:off x="777240" y="960120"/>
            <a:ext cx="10634472" cy="685800"/>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Las plantillas de código son fragmentos predefinidos que se expanden al escribir una abreviatura y pulsar Tab. Puedes crear las tuyas para cualquier bloque que repitas frecuentemente.</a:t>
            </a:r>
            <a:endParaRPr lang="en-US" sz="1600" dirty="0"/>
          </a:p>
        </p:txBody>
      </p:sp>
      <p:sp>
        <p:nvSpPr>
          <p:cNvPr id="6" name="Shape 4"/>
          <p:cNvSpPr/>
          <p:nvPr/>
        </p:nvSpPr>
        <p:spPr>
          <a:xfrm>
            <a:off x="548640" y="1874520"/>
            <a:ext cx="11091672" cy="438912"/>
          </a:xfrm>
          <a:prstGeom prst="rect">
            <a:avLst/>
          </a:prstGeom>
          <a:solidFill>
            <a:srgbClr val="3F51B5"/>
          </a:solidFill>
          <a:ln w="12700">
            <a:solidFill>
              <a:srgbClr val="3F51B5"/>
            </a:solidFill>
            <a:prstDash val="solid"/>
          </a:ln>
        </p:spPr>
        <p:txBody>
          <a:bodyPr/>
          <a:lstStyle/>
          <a:p>
            <a:endParaRPr lang="es-ES"/>
          </a:p>
        </p:txBody>
      </p:sp>
      <p:sp>
        <p:nvSpPr>
          <p:cNvPr id="7" name="Text 5"/>
          <p:cNvSpPr/>
          <p:nvPr/>
        </p:nvSpPr>
        <p:spPr>
          <a:xfrm>
            <a:off x="731520" y="187452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Ejemplos de plantillas de serie en IntelliJ</a:t>
            </a:r>
            <a:endParaRPr lang="en-US" sz="17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450592"/>
          <a:ext cx="11091672" cy="3401568"/>
        </p:xfrm>
        <a:graphic>
          <a:graphicData uri="http://schemas.openxmlformats.org/drawingml/2006/table">
            <a:tbl>
              <a:tblPr/>
              <a:tblGrid>
                <a:gridCol w="2440168">
                  <a:extLst>
                    <a:ext uri="{9D8B030D-6E8A-4147-A177-3AD203B41FA5}">
                      <a16:colId xmlns:a16="http://schemas.microsoft.com/office/drawing/2014/main" val="20000"/>
                    </a:ext>
                  </a:extLst>
                </a:gridCol>
                <a:gridCol w="8651504">
                  <a:extLst>
                    <a:ext uri="{9D8B030D-6E8A-4147-A177-3AD203B41FA5}">
                      <a16:colId xmlns:a16="http://schemas.microsoft.com/office/drawing/2014/main" val="20001"/>
                    </a:ext>
                  </a:extLst>
                </a:gridCol>
              </a:tblGrid>
              <a:tr h="566928">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Abreviatura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Se expande en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rgbClr val="212121"/>
                          </a:solidFill>
                          <a:latin typeface="Arial" pitchFamily="34" charset="0"/>
                          <a:ea typeface="Arial" pitchFamily="34" charset="-122"/>
                          <a:cs typeface="Arial" pitchFamily="34" charset="-120"/>
                        </a:rPr>
                        <a:t>sout</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System.out.println();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rgbClr val="212121"/>
                          </a:solidFill>
                          <a:latin typeface="Arial" pitchFamily="34" charset="0"/>
                          <a:ea typeface="Arial" pitchFamily="34" charset="-122"/>
                          <a:cs typeface="Arial" pitchFamily="34" charset="-120"/>
                        </a:rPr>
                        <a:t>soutv</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System.out.println("variable = " + variable);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rgbClr val="212121"/>
                          </a:solidFill>
                          <a:latin typeface="Arial" pitchFamily="34" charset="0"/>
                          <a:ea typeface="Arial" pitchFamily="34" charset="-122"/>
                          <a:cs typeface="Arial" pitchFamily="34" charset="-120"/>
                        </a:rPr>
                        <a:t>fori</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for (int i = 0; i &lt; array.length; i++) { ... }</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rgbClr val="212121"/>
                          </a:solidFill>
                          <a:latin typeface="Arial" pitchFamily="34" charset="0"/>
                          <a:ea typeface="Arial" pitchFamily="34" charset="-122"/>
                          <a:cs typeface="Arial" pitchFamily="34" charset="-120"/>
                        </a:rPr>
                        <a:t>iter</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for (Tipo elemento : coleccion) { ... }</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66928">
                <a:tc>
                  <a:txBody>
                    <a:bodyPr/>
                    <a:lstStyle/>
                    <a:p>
                      <a:pPr marL="0" indent="0">
                        <a:buNone/>
                      </a:pPr>
                      <a:r>
                        <a:rPr lang="en-US" sz="1400" b="1" dirty="0">
                          <a:solidFill>
                            <a:srgbClr val="212121"/>
                          </a:solidFill>
                          <a:latin typeface="Arial" pitchFamily="34" charset="0"/>
                          <a:ea typeface="Arial" pitchFamily="34" charset="-122"/>
                          <a:cs typeface="Arial" pitchFamily="34" charset="-120"/>
                        </a:rPr>
                        <a:t>psvm</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public static void main(String[] args) { ... }</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hape 6"/>
          <p:cNvSpPr/>
          <p:nvPr/>
        </p:nvSpPr>
        <p:spPr>
          <a:xfrm>
            <a:off x="548640" y="6035040"/>
            <a:ext cx="11091672" cy="731520"/>
          </a:xfrm>
          <a:prstGeom prst="roundRect">
            <a:avLst/>
          </a:prstGeom>
          <a:solidFill>
            <a:srgbClr val="E0F2F1"/>
          </a:solidFill>
          <a:ln w="19050">
            <a:solidFill>
              <a:srgbClr val="009688"/>
            </a:solidFill>
            <a:prstDash val="solid"/>
          </a:ln>
        </p:spPr>
        <p:txBody>
          <a:bodyPr/>
          <a:lstStyle/>
          <a:p>
            <a:endParaRPr lang="es-ES"/>
          </a:p>
        </p:txBody>
      </p:sp>
      <p:sp>
        <p:nvSpPr>
          <p:cNvPr id="10" name="Text 7"/>
          <p:cNvSpPr/>
          <p:nvPr/>
        </p:nvSpPr>
        <p:spPr>
          <a:xfrm>
            <a:off x="777240" y="6080760"/>
            <a:ext cx="10634472" cy="64008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Puedes crear tus propias plantillas en  Settings → Editor → Live Templates. Útil para estructuras que escribes varias veces al día: bloques de logging, excepciones, tests, etc.</a:t>
            </a:r>
            <a:endParaRPr lang="en-US" sz="1500" dirty="0"/>
          </a:p>
        </p:txBody>
      </p:sp>
      <p:sp>
        <p:nvSpPr>
          <p:cNvPr id="11" name="Text 8"/>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03F9F"/>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B0BEC5"/>
                </a:solidFill>
                <a:latin typeface="Arial" pitchFamily="34" charset="0"/>
                <a:ea typeface="Arial" pitchFamily="34" charset="-122"/>
                <a:cs typeface="Arial" pitchFamily="34" charset="-120"/>
              </a:rPr>
              <a:t>ENTORNOS DE DESARROLLO  —  TEMA 2: ENTORNOS INTEGRADOS DE DESARROLLO</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6. Actualización del entorno</a:t>
            </a:r>
            <a:endParaRPr lang="en-US" sz="4400" dirty="0"/>
          </a:p>
        </p:txBody>
      </p:sp>
      <p:sp>
        <p:nvSpPr>
          <p:cNvPr id="4" name="Shape 2"/>
          <p:cNvSpPr/>
          <p:nvPr/>
        </p:nvSpPr>
        <p:spPr>
          <a:xfrm>
            <a:off x="0" y="5120640"/>
            <a:ext cx="12188952" cy="914400"/>
          </a:xfrm>
          <a:prstGeom prst="rect">
            <a:avLst/>
          </a:prstGeom>
          <a:solidFill>
            <a:srgbClr val="009688"/>
          </a:solidFill>
          <a:ln w="12700">
            <a:solidFill>
              <a:srgbClr val="009688"/>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Canales de actualización  ·  Cómo actualizar en IntelliJ  ·  Plugins</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6.1 Canales de actualización</a:t>
            </a:r>
            <a:endParaRPr lang="en-US" sz="2600" dirty="0"/>
          </a:p>
        </p:txBody>
      </p:sp>
      <p:sp>
        <p:nvSpPr>
          <p:cNvPr id="4" name="Text 2"/>
          <p:cNvSpPr/>
          <p:nvPr/>
        </p:nvSpPr>
        <p:spPr>
          <a:xfrm>
            <a:off x="548640" y="914400"/>
            <a:ext cx="11091672" cy="54864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Los IDEs se actualizan con regularidad: nuevas funciones, mejoras de rendimiento, soporte para nuevas versiones de lenguajes y correcciones de errores. Gestionarlas bien evita sorpresas.</a:t>
            </a:r>
            <a:endParaRPr 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3657600"/>
        </p:xfrm>
        <a:graphic>
          <a:graphicData uri="http://schemas.openxmlformats.org/drawingml/2006/table">
            <a:tbl>
              <a:tblPr/>
              <a:tblGrid>
                <a:gridCol w="2440168">
                  <a:extLst>
                    <a:ext uri="{9D8B030D-6E8A-4147-A177-3AD203B41FA5}">
                      <a16:colId xmlns:a16="http://schemas.microsoft.com/office/drawing/2014/main" val="20000"/>
                    </a:ext>
                  </a:extLst>
                </a:gridCol>
                <a:gridCol w="3993002">
                  <a:extLst>
                    <a:ext uri="{9D8B030D-6E8A-4147-A177-3AD203B41FA5}">
                      <a16:colId xmlns:a16="http://schemas.microsoft.com/office/drawing/2014/main" val="20001"/>
                    </a:ext>
                  </a:extLst>
                </a:gridCol>
                <a:gridCol w="4658502">
                  <a:extLst>
                    <a:ext uri="{9D8B030D-6E8A-4147-A177-3AD203B41FA5}">
                      <a16:colId xmlns:a16="http://schemas.microsoft.com/office/drawing/2014/main" val="20002"/>
                    </a:ext>
                  </a:extLst>
                </a:gridCol>
              </a:tblGrid>
              <a:tr h="91440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Canal</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Estabilidad</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Para quién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914400">
                <a:tc>
                  <a:txBody>
                    <a:bodyPr/>
                    <a:lstStyle/>
                    <a:p>
                      <a:pPr marL="0" indent="0">
                        <a:buNone/>
                      </a:pPr>
                      <a:r>
                        <a:rPr lang="en-US" sz="1400" b="1" dirty="0">
                          <a:solidFill>
                            <a:srgbClr val="212121"/>
                          </a:solidFill>
                          <a:latin typeface="Arial" pitchFamily="34" charset="0"/>
                          <a:ea typeface="Arial" pitchFamily="34" charset="-122"/>
                          <a:cs typeface="Arial" pitchFamily="34" charset="-120"/>
                        </a:rPr>
                        <a:t>Stable / Release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Alta — pasa por todas las fases de prueba antes de publicarse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Uso diario, proyectos en producción. Siempre el canal de trabajo.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buNone/>
                      </a:pPr>
                      <a:r>
                        <a:rPr lang="en-US" sz="1400" b="1" dirty="0">
                          <a:solidFill>
                            <a:srgbClr val="212121"/>
                          </a:solidFill>
                          <a:latin typeface="Arial" pitchFamily="34" charset="0"/>
                          <a:ea typeface="Arial" pitchFamily="34" charset="-122"/>
                          <a:cs typeface="Arial" pitchFamily="34" charset="-120"/>
                        </a:rPr>
                        <a:t>EAP (Early Access Program)</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Media — versiones previas a la release con funciones nuevas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Usuarios que quieren explorar novedades antes que nadie.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914400">
                <a:tc>
                  <a:txBody>
                    <a:bodyPr/>
                    <a:lstStyle/>
                    <a:p>
                      <a:pPr marL="0" indent="0">
                        <a:buNone/>
                      </a:pPr>
                      <a:r>
                        <a:rPr lang="en-US" sz="1400" b="1" dirty="0">
                          <a:solidFill>
                            <a:srgbClr val="212121"/>
                          </a:solidFill>
                          <a:latin typeface="Arial" pitchFamily="34" charset="0"/>
                          <a:ea typeface="Arial" pitchFamily="34" charset="-122"/>
                          <a:cs typeface="Arial" pitchFamily="34" charset="-120"/>
                        </a:rPr>
                        <a:t>Nightly</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Baja — compilaciones automáticas del código en desarrollo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Contribuidores al IDE que necesitan probar cambios del día.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548640" y="5486400"/>
            <a:ext cx="11091672" cy="777240"/>
          </a:xfrm>
          <a:prstGeom prst="roundRect">
            <a:avLst/>
          </a:prstGeom>
          <a:solidFill>
            <a:srgbClr val="E0F2F1"/>
          </a:solidFill>
          <a:ln w="19050">
            <a:solidFill>
              <a:srgbClr val="009688"/>
            </a:solidFill>
            <a:prstDash val="solid"/>
          </a:ln>
        </p:spPr>
        <p:txBody>
          <a:bodyPr/>
          <a:lstStyle/>
          <a:p>
            <a:endParaRPr lang="es-ES"/>
          </a:p>
        </p:txBody>
      </p:sp>
      <p:sp>
        <p:nvSpPr>
          <p:cNvPr id="7" name="Text 4"/>
          <p:cNvSpPr/>
          <p:nvPr/>
        </p:nvSpPr>
        <p:spPr>
          <a:xfrm>
            <a:off x="777240" y="5532120"/>
            <a:ext cx="10634472" cy="68580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Para el trabajo habitual: usa siempre el canal Stable. Los canales EAP o Nightly son para explorar, no para trabajar. Una versión inestable en mitad de un proyecto importante puede costarte horas.</a:t>
            </a:r>
            <a:endParaRPr lang="en-US" sz="1500" dirty="0"/>
          </a:p>
        </p:txBody>
      </p:sp>
      <p:sp>
        <p:nvSpPr>
          <p:cNvPr id="8"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6.2 Actualización en IntelliJ IDEA</a:t>
            </a:r>
            <a:endParaRPr lang="en-US" sz="2600" dirty="0"/>
          </a:p>
        </p:txBody>
      </p:sp>
      <p:sp>
        <p:nvSpPr>
          <p:cNvPr id="4" name="Shape 2"/>
          <p:cNvSpPr/>
          <p:nvPr/>
        </p:nvSpPr>
        <p:spPr>
          <a:xfrm>
            <a:off x="548640" y="914400"/>
            <a:ext cx="11091672" cy="438912"/>
          </a:xfrm>
          <a:prstGeom prst="rect">
            <a:avLst/>
          </a:prstGeom>
          <a:solidFill>
            <a:srgbClr val="3F51B5"/>
          </a:solidFill>
          <a:ln w="12700">
            <a:solidFill>
              <a:srgbClr val="3F51B5"/>
            </a:solidFill>
            <a:prstDash val="solid"/>
          </a:ln>
        </p:spPr>
        <p:txBody>
          <a:bodyPr/>
          <a:lstStyle/>
          <a:p>
            <a:endParaRPr lang="es-ES"/>
          </a:p>
        </p:txBody>
      </p:sp>
      <p:sp>
        <p:nvSpPr>
          <p:cNvPr id="5" name="Text 3"/>
          <p:cNvSpPr/>
          <p:nvPr/>
        </p:nvSpPr>
        <p:spPr>
          <a:xfrm>
            <a:off x="731520" y="91440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Actualización automática del IDE</a:t>
            </a:r>
            <a:endParaRPr lang="en-US" sz="1700" dirty="0"/>
          </a:p>
        </p:txBody>
      </p:sp>
      <p:sp>
        <p:nvSpPr>
          <p:cNvPr id="6" name="Text 4"/>
          <p:cNvSpPr/>
          <p:nvPr/>
        </p:nvSpPr>
        <p:spPr>
          <a:xfrm>
            <a:off x="548640" y="1490472"/>
            <a:ext cx="11091672" cy="1645920"/>
          </a:xfrm>
          <a:prstGeom prst="rect">
            <a:avLst/>
          </a:prstGeom>
          <a:noFill/>
          <a:ln/>
        </p:spPr>
        <p:txBody>
          <a:bodyPr wrap="square" rtlCol="0" anchor="t"/>
          <a:lstStyle/>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IntelliJ comprueba actualizaciones al arrancar y muestra una notificación cuando hay una nueva versión.</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Para ver y configurar el canal:  File → Settings → Appearance &amp; Behavior → System Settings → Updates.</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Acepta la actualización cuando aparezca. El IDE descarga e instala en segundo plano.</a:t>
            </a:r>
            <a:endParaRPr lang="en-US" sz="1500" dirty="0"/>
          </a:p>
        </p:txBody>
      </p:sp>
      <p:sp>
        <p:nvSpPr>
          <p:cNvPr id="7" name="Shape 5"/>
          <p:cNvSpPr/>
          <p:nvPr/>
        </p:nvSpPr>
        <p:spPr>
          <a:xfrm>
            <a:off x="548640" y="3319272"/>
            <a:ext cx="11091672" cy="438912"/>
          </a:xfrm>
          <a:prstGeom prst="rect">
            <a:avLst/>
          </a:prstGeom>
          <a:solidFill>
            <a:srgbClr val="3F51B5"/>
          </a:solidFill>
          <a:ln w="12700">
            <a:solidFill>
              <a:srgbClr val="3F51B5"/>
            </a:solidFill>
            <a:prstDash val="solid"/>
          </a:ln>
        </p:spPr>
        <p:txBody>
          <a:bodyPr/>
          <a:lstStyle/>
          <a:p>
            <a:endParaRPr lang="es-ES"/>
          </a:p>
        </p:txBody>
      </p:sp>
      <p:sp>
        <p:nvSpPr>
          <p:cNvPr id="8" name="Text 6"/>
          <p:cNvSpPr/>
          <p:nvPr/>
        </p:nvSpPr>
        <p:spPr>
          <a:xfrm>
            <a:off x="731520" y="3319272"/>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Actualización de plugins</a:t>
            </a:r>
            <a:endParaRPr lang="en-US" sz="1700" dirty="0"/>
          </a:p>
        </p:txBody>
      </p:sp>
      <p:sp>
        <p:nvSpPr>
          <p:cNvPr id="9" name="Text 7"/>
          <p:cNvSpPr/>
          <p:nvPr/>
        </p:nvSpPr>
        <p:spPr>
          <a:xfrm>
            <a:off x="548640" y="3895344"/>
            <a:ext cx="11091672" cy="1645920"/>
          </a:xfrm>
          <a:prstGeom prst="rect">
            <a:avLst/>
          </a:prstGeom>
          <a:noFill/>
          <a:ln/>
        </p:spPr>
        <p:txBody>
          <a:bodyPr wrap="square" rtlCol="0" anchor="t"/>
          <a:lstStyle/>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Los plugins se actualizan de forma independiente al IDE.</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Cuando hay actualizaciones pendientes, IntelliJ lo notifica en  File → Settings → Plugins.</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Actualizar los plugins regularmente corrige errores y mantiene la compatibilidad con las versiones nuevas del IDE.</a:t>
            </a:r>
            <a:endParaRPr lang="en-US" sz="1500" dirty="0"/>
          </a:p>
        </p:txBody>
      </p:sp>
      <p:sp>
        <p:nvSpPr>
          <p:cNvPr id="10" name="Shape 8"/>
          <p:cNvSpPr/>
          <p:nvPr/>
        </p:nvSpPr>
        <p:spPr>
          <a:xfrm>
            <a:off x="548640" y="5678424"/>
            <a:ext cx="11091672" cy="822960"/>
          </a:xfrm>
          <a:prstGeom prst="roundRect">
            <a:avLst/>
          </a:prstGeom>
          <a:solidFill>
            <a:srgbClr val="E0F2F1"/>
          </a:solidFill>
          <a:ln w="19050">
            <a:solidFill>
              <a:srgbClr val="009688"/>
            </a:solidFill>
            <a:prstDash val="solid"/>
          </a:ln>
        </p:spPr>
        <p:txBody>
          <a:bodyPr/>
          <a:lstStyle/>
          <a:p>
            <a:endParaRPr lang="es-ES"/>
          </a:p>
        </p:txBody>
      </p:sp>
      <p:sp>
        <p:nvSpPr>
          <p:cNvPr id="11" name="Text 9"/>
          <p:cNvSpPr/>
          <p:nvPr/>
        </p:nvSpPr>
        <p:spPr>
          <a:xfrm>
            <a:off x="777240" y="5724144"/>
            <a:ext cx="10634472" cy="73152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Antes de actualizar en mitad de un proyecto importante, comprueba que los plugins críticos que usas son compatibles con la nueva versión. En el JetBrains Marketplace puedes ver qué versiones soporta cada plugin.</a:t>
            </a:r>
            <a:endParaRPr lang="en-US" sz="1500" dirty="0"/>
          </a:p>
        </p:txBody>
      </p:sp>
      <p:sp>
        <p:nvSpPr>
          <p:cNvPr id="12" name="Text 10"/>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303F9F"/>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B0BEC5"/>
                </a:solidFill>
                <a:latin typeface="Arial" pitchFamily="34" charset="0"/>
                <a:ea typeface="Arial" pitchFamily="34" charset="-122"/>
                <a:cs typeface="Arial" pitchFamily="34" charset="-120"/>
              </a:rPr>
              <a:t>ENTORNOS DE DESARROLLO  —  TEMA 2: ENTORNOS INTEGRADOS DE DESARROLLO</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7. Edición de programas</a:t>
            </a:r>
            <a:endParaRPr lang="en-US" sz="4400" dirty="0"/>
          </a:p>
        </p:txBody>
      </p:sp>
      <p:sp>
        <p:nvSpPr>
          <p:cNvPr id="4" name="Shape 2"/>
          <p:cNvSpPr/>
          <p:nvPr/>
        </p:nvSpPr>
        <p:spPr>
          <a:xfrm>
            <a:off x="0" y="5120640"/>
            <a:ext cx="12188952" cy="914400"/>
          </a:xfrm>
          <a:prstGeom prst="rect">
            <a:avLst/>
          </a:prstGeom>
          <a:solidFill>
            <a:srgbClr val="009688"/>
          </a:solidFill>
          <a:ln w="12700">
            <a:solidFill>
              <a:srgbClr val="009688"/>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Autocompletado  ·  Detección de errores  ·  Refactorización</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7.1 Autocompletado inteligente</a:t>
            </a:r>
            <a:endParaRPr lang="en-US" sz="2600" dirty="0"/>
          </a:p>
        </p:txBody>
      </p:sp>
      <p:sp>
        <p:nvSpPr>
          <p:cNvPr id="4" name="Shape 2"/>
          <p:cNvSpPr/>
          <p:nvPr/>
        </p:nvSpPr>
        <p:spPr>
          <a:xfrm>
            <a:off x="548640" y="914400"/>
            <a:ext cx="11091672" cy="822960"/>
          </a:xfrm>
          <a:prstGeom prst="roundRect">
            <a:avLst/>
          </a:prstGeom>
          <a:solidFill>
            <a:srgbClr val="E0F2F1"/>
          </a:solidFill>
          <a:ln w="19050">
            <a:solidFill>
              <a:srgbClr val="009688"/>
            </a:solidFill>
            <a:prstDash val="solid"/>
          </a:ln>
        </p:spPr>
        <p:txBody>
          <a:bodyPr/>
          <a:lstStyle/>
          <a:p>
            <a:endParaRPr lang="es-ES"/>
          </a:p>
        </p:txBody>
      </p:sp>
      <p:sp>
        <p:nvSpPr>
          <p:cNvPr id="5" name="Text 3"/>
          <p:cNvSpPr/>
          <p:nvPr/>
        </p:nvSpPr>
        <p:spPr>
          <a:xfrm>
            <a:off x="777240" y="960120"/>
            <a:ext cx="10634472" cy="73152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El autocompletado sugiere completaciones basándose en el contexto: no solo palabras que empiezan por lo que has escrito, sino las que tienen sentido en ese punto según los tipos de variables y los métodos disponibles.</a:t>
            </a:r>
            <a:endParaRPr lang="en-US" sz="15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3" cy="3291840"/>
        </p:xfrm>
        <a:graphic>
          <a:graphicData uri="http://schemas.openxmlformats.org/drawingml/2006/table">
            <a:tbl>
              <a:tblPr/>
              <a:tblGrid>
                <a:gridCol w="2883835">
                  <a:extLst>
                    <a:ext uri="{9D8B030D-6E8A-4147-A177-3AD203B41FA5}">
                      <a16:colId xmlns:a16="http://schemas.microsoft.com/office/drawing/2014/main" val="20000"/>
                    </a:ext>
                  </a:extLst>
                </a:gridCol>
                <a:gridCol w="2883835">
                  <a:extLst>
                    <a:ext uri="{9D8B030D-6E8A-4147-A177-3AD203B41FA5}">
                      <a16:colId xmlns:a16="http://schemas.microsoft.com/office/drawing/2014/main" val="20001"/>
                    </a:ext>
                  </a:extLst>
                </a:gridCol>
                <a:gridCol w="5324003">
                  <a:extLst>
                    <a:ext uri="{9D8B030D-6E8A-4147-A177-3AD203B41FA5}">
                      <a16:colId xmlns:a16="http://schemas.microsoft.com/office/drawing/2014/main" val="20002"/>
                    </a:ext>
                  </a:extLst>
                </a:gridCol>
              </a:tblGrid>
              <a:tr h="658368">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Atajo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Tipo de autocompletado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Qué filtra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658368">
                <a:tc>
                  <a:txBody>
                    <a:bodyPr/>
                    <a:lstStyle/>
                    <a:p>
                      <a:pPr marL="0" indent="0">
                        <a:buNone/>
                      </a:pPr>
                      <a:r>
                        <a:rPr lang="en-US" sz="1400" b="1" dirty="0">
                          <a:solidFill>
                            <a:srgbClr val="212121"/>
                          </a:solidFill>
                          <a:latin typeface="Arial" pitchFamily="34" charset="0"/>
                          <a:ea typeface="Arial" pitchFamily="34" charset="-122"/>
                          <a:cs typeface="Arial" pitchFamily="34" charset="-120"/>
                        </a:rPr>
                        <a:t>Ctrl + Space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Básico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Todas las opciones disponibles que coinciden con lo escrito.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400" b="1" dirty="0">
                          <a:solidFill>
                            <a:srgbClr val="212121"/>
                          </a:solidFill>
                          <a:latin typeface="Arial" pitchFamily="34" charset="0"/>
                          <a:ea typeface="Arial" pitchFamily="34" charset="-122"/>
                          <a:cs typeface="Arial" pitchFamily="34" charset="-120"/>
                        </a:rPr>
                        <a:t>Ctrl + Shift + Space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Inteligente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Solo las opciones del tipo correcto para ese punto del código.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58368">
                <a:tc>
                  <a:txBody>
                    <a:bodyPr/>
                    <a:lstStyle/>
                    <a:p>
                      <a:pPr marL="0" indent="0">
                        <a:buNone/>
                      </a:pPr>
                      <a:r>
                        <a:rPr lang="en-US" sz="1400" b="1" dirty="0">
                          <a:solidFill>
                            <a:srgbClr val="212121"/>
                          </a:solidFill>
                          <a:latin typeface="Arial" pitchFamily="34" charset="0"/>
                          <a:ea typeface="Arial" pitchFamily="34" charset="-122"/>
                          <a:cs typeface="Arial" pitchFamily="34" charset="-120"/>
                        </a:rPr>
                        <a:t>Ctrl + P</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Parámetros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Muestra los parámetros que espera el método en el que estás.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400" b="1" dirty="0">
                          <a:solidFill>
                            <a:srgbClr val="212121"/>
                          </a:solidFill>
                          <a:latin typeface="Arial" pitchFamily="34" charset="0"/>
                          <a:ea typeface="Arial" pitchFamily="34" charset="-122"/>
                          <a:cs typeface="Arial" pitchFamily="34" charset="-120"/>
                        </a:rPr>
                        <a:t>Alt + Enter</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Corrección rápida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Sugiere arreglos para el error o advertencia en esa línea.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7" name="Shape 4"/>
          <p:cNvSpPr/>
          <p:nvPr/>
        </p:nvSpPr>
        <p:spPr>
          <a:xfrm>
            <a:off x="548640" y="5394960"/>
            <a:ext cx="11091672" cy="731520"/>
          </a:xfrm>
          <a:prstGeom prst="roundRect">
            <a:avLst/>
          </a:prstGeom>
          <a:solidFill>
            <a:srgbClr val="E0F2F1"/>
          </a:solidFill>
          <a:ln w="19050">
            <a:solidFill>
              <a:srgbClr val="009688"/>
            </a:solidFill>
            <a:prstDash val="solid"/>
          </a:ln>
        </p:spPr>
        <p:txBody>
          <a:bodyPr/>
          <a:lstStyle/>
          <a:p>
            <a:endParaRPr lang="es-ES"/>
          </a:p>
        </p:txBody>
      </p:sp>
      <p:sp>
        <p:nvSpPr>
          <p:cNvPr id="8" name="Text 5"/>
          <p:cNvSpPr/>
          <p:nvPr/>
        </p:nvSpPr>
        <p:spPr>
          <a:xfrm>
            <a:off x="777240" y="5440680"/>
            <a:ext cx="10634472" cy="64008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El autocompletado reduce los errores tipográficos y ayuda a descubrir métodos de clases que no conocías. Acostúmbrate a usarlo siempre en lugar de escribir el nombre completo a mano.</a:t>
            </a:r>
            <a:endParaRPr lang="en-US" sz="1500" dirty="0"/>
          </a:p>
        </p:txBody>
      </p:sp>
      <p:sp>
        <p:nvSpPr>
          <p:cNvPr id="9" name="Text 6"/>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7.2 Detección de errores en tiempo real</a:t>
            </a:r>
            <a:endParaRPr lang="en-US" sz="2600" dirty="0"/>
          </a:p>
        </p:txBody>
      </p:sp>
      <p:sp>
        <p:nvSpPr>
          <p:cNvPr id="4" name="Text 2"/>
          <p:cNvSpPr/>
          <p:nvPr/>
        </p:nvSpPr>
        <p:spPr>
          <a:xfrm>
            <a:off x="548640" y="914400"/>
            <a:ext cx="11091672" cy="45720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El IDE analiza el código mientras escribes y marca los problemas antes de compilar. Hay dos niveles:</a:t>
            </a:r>
            <a:endParaRPr lang="en-US" sz="1500" dirty="0"/>
          </a:p>
        </p:txBody>
      </p:sp>
      <p:sp>
        <p:nvSpPr>
          <p:cNvPr id="5" name="Shape 3"/>
          <p:cNvSpPr/>
          <p:nvPr/>
        </p:nvSpPr>
        <p:spPr>
          <a:xfrm>
            <a:off x="548640" y="1554480"/>
            <a:ext cx="5431536" cy="384048"/>
          </a:xfrm>
          <a:prstGeom prst="rect">
            <a:avLst/>
          </a:prstGeom>
          <a:solidFill>
            <a:srgbClr val="FFEBEE"/>
          </a:solidFill>
          <a:ln w="19050">
            <a:solidFill>
              <a:srgbClr val="EF5350"/>
            </a:solidFill>
            <a:prstDash val="solid"/>
          </a:ln>
        </p:spPr>
        <p:txBody>
          <a:bodyPr/>
          <a:lstStyle/>
          <a:p>
            <a:endParaRPr lang="es-ES"/>
          </a:p>
        </p:txBody>
      </p:sp>
      <p:sp>
        <p:nvSpPr>
          <p:cNvPr id="6" name="Text 4"/>
          <p:cNvSpPr/>
          <p:nvPr/>
        </p:nvSpPr>
        <p:spPr>
          <a:xfrm>
            <a:off x="685800" y="1554480"/>
            <a:ext cx="5157216" cy="384048"/>
          </a:xfrm>
          <a:prstGeom prst="rect">
            <a:avLst/>
          </a:prstGeom>
          <a:noFill/>
          <a:ln/>
        </p:spPr>
        <p:txBody>
          <a:bodyPr wrap="square" rtlCol="0" anchor="ctr"/>
          <a:lstStyle/>
          <a:p>
            <a:pPr marL="0" indent="0">
              <a:buNone/>
            </a:pPr>
            <a:r>
              <a:rPr lang="en-US" sz="1500" b="1" dirty="0">
                <a:solidFill>
                  <a:srgbClr val="C62828"/>
                </a:solidFill>
                <a:latin typeface="Arial" pitchFamily="34" charset="0"/>
                <a:ea typeface="Arial" pitchFamily="34" charset="-122"/>
                <a:cs typeface="Arial" pitchFamily="34" charset="-120"/>
              </a:rPr>
              <a:t>Errores de compilación (rojo)</a:t>
            </a:r>
            <a:endParaRPr lang="en-US" sz="1500" dirty="0"/>
          </a:p>
        </p:txBody>
      </p:sp>
      <p:sp>
        <p:nvSpPr>
          <p:cNvPr id="7" name="Shape 5"/>
          <p:cNvSpPr/>
          <p:nvPr/>
        </p:nvSpPr>
        <p:spPr>
          <a:xfrm>
            <a:off x="6208776" y="1554480"/>
            <a:ext cx="5431536" cy="384048"/>
          </a:xfrm>
          <a:prstGeom prst="rect">
            <a:avLst/>
          </a:prstGeom>
          <a:solidFill>
            <a:srgbClr val="FFF8E1"/>
          </a:solidFill>
          <a:ln w="19050">
            <a:solidFill>
              <a:srgbClr val="FFA726"/>
            </a:solidFill>
            <a:prstDash val="solid"/>
          </a:ln>
        </p:spPr>
        <p:txBody>
          <a:bodyPr/>
          <a:lstStyle/>
          <a:p>
            <a:endParaRPr lang="es-ES"/>
          </a:p>
        </p:txBody>
      </p:sp>
      <p:sp>
        <p:nvSpPr>
          <p:cNvPr id="8" name="Text 6"/>
          <p:cNvSpPr/>
          <p:nvPr/>
        </p:nvSpPr>
        <p:spPr>
          <a:xfrm>
            <a:off x="6345936" y="1554480"/>
            <a:ext cx="5157216" cy="384048"/>
          </a:xfrm>
          <a:prstGeom prst="rect">
            <a:avLst/>
          </a:prstGeom>
          <a:noFill/>
          <a:ln/>
        </p:spPr>
        <p:txBody>
          <a:bodyPr wrap="square" rtlCol="0" anchor="ctr"/>
          <a:lstStyle/>
          <a:p>
            <a:pPr marL="0" indent="0">
              <a:buNone/>
            </a:pPr>
            <a:r>
              <a:rPr lang="en-US" sz="1500" b="1" dirty="0">
                <a:solidFill>
                  <a:srgbClr val="E65100"/>
                </a:solidFill>
                <a:latin typeface="Arial" pitchFamily="34" charset="0"/>
                <a:ea typeface="Arial" pitchFamily="34" charset="-122"/>
                <a:cs typeface="Arial" pitchFamily="34" charset="-120"/>
              </a:rPr>
              <a:t>Advertencias (amarillo)</a:t>
            </a:r>
            <a:endParaRPr lang="en-US" sz="1500" dirty="0"/>
          </a:p>
        </p:txBody>
      </p:sp>
      <p:sp>
        <p:nvSpPr>
          <p:cNvPr id="9" name="Text 7"/>
          <p:cNvSpPr/>
          <p:nvPr/>
        </p:nvSpPr>
        <p:spPr>
          <a:xfrm>
            <a:off x="548640" y="2029968"/>
            <a:ext cx="5431536" cy="1371600"/>
          </a:xfrm>
          <a:prstGeom prst="rect">
            <a:avLst/>
          </a:prstGeom>
          <a:noFill/>
          <a:ln/>
        </p:spPr>
        <p:txBody>
          <a:bodyPr wrap="square" rtlCol="0" anchor="t"/>
          <a:lstStyle/>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El código es sintácticamente incorrecto.</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Falta un paréntesis, un tipo no coincide, un método no existe.</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El programa NO puede compilarse hasta corregirlos.</a:t>
            </a:r>
            <a:endParaRPr lang="en-US" sz="1400" dirty="0"/>
          </a:p>
        </p:txBody>
      </p:sp>
      <p:sp>
        <p:nvSpPr>
          <p:cNvPr id="10" name="Text 8"/>
          <p:cNvSpPr/>
          <p:nvPr/>
        </p:nvSpPr>
        <p:spPr>
          <a:xfrm>
            <a:off x="6208776" y="2029968"/>
            <a:ext cx="5431536" cy="1371600"/>
          </a:xfrm>
          <a:prstGeom prst="rect">
            <a:avLst/>
          </a:prstGeom>
          <a:noFill/>
          <a:ln/>
        </p:spPr>
        <p:txBody>
          <a:bodyPr wrap="square" rtlCol="0" anchor="t"/>
          <a:lstStyle/>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El código es válido pero hay algo sospechoso.</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Variable no usada, posible NullPointerException, import innecesario…</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El programa compila pero puede fallar en ejecución.</a:t>
            </a:r>
            <a:endParaRPr lang="en-US" sz="1400" dirty="0"/>
          </a:p>
        </p:txBody>
      </p:sp>
      <p:sp>
        <p:nvSpPr>
          <p:cNvPr id="11" name="Shape 9"/>
          <p:cNvSpPr/>
          <p:nvPr/>
        </p:nvSpPr>
        <p:spPr>
          <a:xfrm>
            <a:off x="548640" y="3584448"/>
            <a:ext cx="11091672" cy="731520"/>
          </a:xfrm>
          <a:prstGeom prst="roundRect">
            <a:avLst/>
          </a:prstGeom>
          <a:solidFill>
            <a:srgbClr val="E0F2F1"/>
          </a:solidFill>
          <a:ln w="19050">
            <a:solidFill>
              <a:srgbClr val="009688"/>
            </a:solidFill>
            <a:prstDash val="solid"/>
          </a:ln>
        </p:spPr>
        <p:txBody>
          <a:bodyPr/>
          <a:lstStyle/>
          <a:p>
            <a:endParaRPr lang="es-ES"/>
          </a:p>
        </p:txBody>
      </p:sp>
      <p:sp>
        <p:nvSpPr>
          <p:cNvPr id="12" name="Text 10"/>
          <p:cNvSpPr/>
          <p:nvPr/>
        </p:nvSpPr>
        <p:spPr>
          <a:xfrm>
            <a:off x="777240" y="3630168"/>
            <a:ext cx="10634472" cy="64008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Pulsa Alt + Enter sobre cualquier error o advertencia para ver las correcciones rápidas que propone el IDE. En muchos casos, aplica el arreglo automáticamente con un solo clic.</a:t>
            </a:r>
            <a:endParaRPr lang="en-US" sz="1500" dirty="0"/>
          </a:p>
        </p:txBody>
      </p:sp>
      <p:sp>
        <p:nvSpPr>
          <p:cNvPr id="13" name="Text 11"/>
          <p:cNvSpPr/>
          <p:nvPr/>
        </p:nvSpPr>
        <p:spPr>
          <a:xfrm>
            <a:off x="548640" y="4453128"/>
            <a:ext cx="11091672" cy="548640"/>
          </a:xfrm>
          <a:prstGeom prst="rect">
            <a:avLst/>
          </a:prstGeom>
          <a:noFill/>
          <a:ln/>
        </p:spPr>
        <p:txBody>
          <a:bodyPr wrap="square" rtlCol="0" anchor="t"/>
          <a:lstStyle/>
          <a:p>
            <a:pPr marL="0" indent="0">
              <a:buNone/>
            </a:pPr>
            <a:r>
              <a:rPr lang="en-US" sz="1400" dirty="0">
                <a:solidFill>
                  <a:srgbClr val="757575"/>
                </a:solidFill>
                <a:latin typeface="Arial" pitchFamily="34" charset="0"/>
                <a:ea typeface="Arial" pitchFamily="34" charset="-122"/>
                <a:cs typeface="Arial" pitchFamily="34" charset="-120"/>
              </a:rPr>
              <a:t>La barra lateral derecha del editor muestra un resumen del estado de todo el archivo: verde = sin problemas, amarillo = advertencias, rojo = errores.</a:t>
            </a:r>
            <a:endParaRPr lang="en-US" sz="1400" dirty="0"/>
          </a:p>
        </p:txBody>
      </p:sp>
      <p:sp>
        <p:nvSpPr>
          <p:cNvPr id="14" name="Text 1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7.3 Refactorización automática</a:t>
            </a:r>
            <a:endParaRPr lang="en-US" sz="2600" dirty="0"/>
          </a:p>
        </p:txBody>
      </p:sp>
      <p:sp>
        <p:nvSpPr>
          <p:cNvPr id="4" name="Shape 2"/>
          <p:cNvSpPr/>
          <p:nvPr/>
        </p:nvSpPr>
        <p:spPr>
          <a:xfrm>
            <a:off x="548640" y="914400"/>
            <a:ext cx="11091672" cy="822960"/>
          </a:xfrm>
          <a:prstGeom prst="roundRect">
            <a:avLst/>
          </a:prstGeom>
          <a:solidFill>
            <a:srgbClr val="E0F2F1"/>
          </a:solidFill>
          <a:ln w="19050">
            <a:solidFill>
              <a:srgbClr val="009688"/>
            </a:solidFill>
            <a:prstDash val="solid"/>
          </a:ln>
        </p:spPr>
        <p:txBody>
          <a:bodyPr/>
          <a:lstStyle/>
          <a:p>
            <a:endParaRPr lang="es-ES"/>
          </a:p>
        </p:txBody>
      </p:sp>
      <p:sp>
        <p:nvSpPr>
          <p:cNvPr id="5" name="Text 3"/>
          <p:cNvSpPr/>
          <p:nvPr/>
        </p:nvSpPr>
        <p:spPr>
          <a:xfrm>
            <a:off x="777240" y="960120"/>
            <a:ext cx="10634472" cy="73152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Refactorizar es reestructurar el código para mejorar su calidad interna sin cambiar lo que hace externamente. Los IDEs hacen los cambios en todos los archivos afectados a la vez, evitando errores de copiar-pegar.</a:t>
            </a:r>
            <a:endParaRPr lang="en-US" sz="15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3" cy="3950208"/>
        </p:xfrm>
        <a:graphic>
          <a:graphicData uri="http://schemas.openxmlformats.org/drawingml/2006/table">
            <a:tbl>
              <a:tblPr/>
              <a:tblGrid>
                <a:gridCol w="2440168">
                  <a:extLst>
                    <a:ext uri="{9D8B030D-6E8A-4147-A177-3AD203B41FA5}">
                      <a16:colId xmlns:a16="http://schemas.microsoft.com/office/drawing/2014/main" val="20000"/>
                    </a:ext>
                  </a:extLst>
                </a:gridCol>
                <a:gridCol w="6100420">
                  <a:extLst>
                    <a:ext uri="{9D8B030D-6E8A-4147-A177-3AD203B41FA5}">
                      <a16:colId xmlns:a16="http://schemas.microsoft.com/office/drawing/2014/main" val="20001"/>
                    </a:ext>
                  </a:extLst>
                </a:gridCol>
                <a:gridCol w="2551085">
                  <a:extLst>
                    <a:ext uri="{9D8B030D-6E8A-4147-A177-3AD203B41FA5}">
                      <a16:colId xmlns:a16="http://schemas.microsoft.com/office/drawing/2014/main" val="20002"/>
                    </a:ext>
                  </a:extLst>
                </a:gridCol>
              </a:tblGrid>
              <a:tr h="658368">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Refactorización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Qué hace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Atajo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658368">
                <a:tc>
                  <a:txBody>
                    <a:bodyPr/>
                    <a:lstStyle/>
                    <a:p>
                      <a:pPr marL="0" indent="0">
                        <a:buNone/>
                      </a:pPr>
                      <a:r>
                        <a:rPr lang="en-US" sz="1300" b="1" dirty="0">
                          <a:solidFill>
                            <a:srgbClr val="212121"/>
                          </a:solidFill>
                          <a:latin typeface="Arial" pitchFamily="34" charset="0"/>
                          <a:ea typeface="Arial" pitchFamily="34" charset="-122"/>
                          <a:cs typeface="Arial" pitchFamily="34" charset="-120"/>
                        </a:rPr>
                        <a:t>Rename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Cambia el nombre de una variable, clase o método en todos los sitios donde se usa.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Shift + F6</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300" b="1" dirty="0">
                          <a:solidFill>
                            <a:srgbClr val="212121"/>
                          </a:solidFill>
                          <a:latin typeface="Arial" pitchFamily="34" charset="0"/>
                          <a:ea typeface="Arial" pitchFamily="34" charset="-122"/>
                          <a:cs typeface="Arial" pitchFamily="34" charset="-120"/>
                        </a:rPr>
                        <a:t>Extract Method</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Saca un bloque de código a un método nuevo con el nombre que indiques.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Ctrl + Alt + M</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58368">
                <a:tc>
                  <a:txBody>
                    <a:bodyPr/>
                    <a:lstStyle/>
                    <a:p>
                      <a:pPr marL="0" indent="0">
                        <a:buNone/>
                      </a:pPr>
                      <a:r>
                        <a:rPr lang="en-US" sz="1300" b="1" dirty="0">
                          <a:solidFill>
                            <a:srgbClr val="212121"/>
                          </a:solidFill>
                          <a:latin typeface="Arial" pitchFamily="34" charset="0"/>
                          <a:ea typeface="Arial" pitchFamily="34" charset="-122"/>
                          <a:cs typeface="Arial" pitchFamily="34" charset="-120"/>
                        </a:rPr>
                        <a:t>Extract Variable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Convierte una expresión en una variable con nombre.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Ctrl + Alt + V</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300" b="1" dirty="0">
                          <a:solidFill>
                            <a:srgbClr val="212121"/>
                          </a:solidFill>
                          <a:latin typeface="Arial" pitchFamily="34" charset="0"/>
                          <a:ea typeface="Arial" pitchFamily="34" charset="-122"/>
                          <a:cs typeface="Arial" pitchFamily="34" charset="-120"/>
                        </a:rPr>
                        <a:t>Move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Mueve una clase a otro paquete actualizando todos los imports automáticamente.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F6</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658368">
                <a:tc>
                  <a:txBody>
                    <a:bodyPr/>
                    <a:lstStyle/>
                    <a:p>
                      <a:pPr marL="0" indent="0">
                        <a:buNone/>
                      </a:pPr>
                      <a:r>
                        <a:rPr lang="en-US" sz="1300" b="1" dirty="0">
                          <a:solidFill>
                            <a:srgbClr val="212121"/>
                          </a:solidFill>
                          <a:latin typeface="Arial" pitchFamily="34" charset="0"/>
                          <a:ea typeface="Arial" pitchFamily="34" charset="-122"/>
                          <a:cs typeface="Arial" pitchFamily="34" charset="-120"/>
                        </a:rPr>
                        <a:t>Inline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Lo contrario de Extract: sustituye el uso de una variable o método por su contenido directo.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Ctrl + Alt + 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548640" y="6007608"/>
            <a:ext cx="11091672" cy="731520"/>
          </a:xfrm>
          <a:prstGeom prst="roundRect">
            <a:avLst/>
          </a:prstGeom>
          <a:solidFill>
            <a:srgbClr val="E0F2F1"/>
          </a:solidFill>
          <a:ln w="19050">
            <a:solidFill>
              <a:srgbClr val="009688"/>
            </a:solidFill>
            <a:prstDash val="solid"/>
          </a:ln>
        </p:spPr>
        <p:txBody>
          <a:bodyPr/>
          <a:lstStyle/>
          <a:p>
            <a:endParaRPr lang="es-ES"/>
          </a:p>
        </p:txBody>
      </p:sp>
      <p:sp>
        <p:nvSpPr>
          <p:cNvPr id="8" name="Text 5"/>
          <p:cNvSpPr/>
          <p:nvPr/>
        </p:nvSpPr>
        <p:spPr>
          <a:xfrm>
            <a:off x="777240" y="6053328"/>
            <a:ext cx="10634472" cy="64008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Renombrar una clase a mano (buscar-reemplazar en todos los archivos) es propenso a errores. El IDE hace los cambios de forma segura porque entiende la estructura del código, no solo el texto.</a:t>
            </a:r>
            <a:endParaRPr lang="en-US" sz="1500" dirty="0"/>
          </a:p>
        </p:txBody>
      </p:sp>
      <p:sp>
        <p:nvSpPr>
          <p:cNvPr id="9" name="Text 6"/>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303F9F"/>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B0BEC5"/>
                </a:solidFill>
                <a:latin typeface="Arial" pitchFamily="34" charset="0"/>
                <a:ea typeface="Arial" pitchFamily="34" charset="-122"/>
                <a:cs typeface="Arial" pitchFamily="34" charset="-120"/>
              </a:rPr>
              <a:t>ENTORNOS DE DESARROLLO  —  TEMA 2: ENTORNOS INTEGRADOS DE DESARROLLO</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8. Generación de ejecutables</a:t>
            </a:r>
            <a:endParaRPr lang="en-US" sz="4400" dirty="0"/>
          </a:p>
        </p:txBody>
      </p:sp>
      <p:sp>
        <p:nvSpPr>
          <p:cNvPr id="4" name="Shape 2"/>
          <p:cNvSpPr/>
          <p:nvPr/>
        </p:nvSpPr>
        <p:spPr>
          <a:xfrm>
            <a:off x="0" y="5120640"/>
            <a:ext cx="12188952" cy="914400"/>
          </a:xfrm>
          <a:prstGeom prst="rect">
            <a:avLst/>
          </a:prstGeom>
          <a:solidFill>
            <a:srgbClr val="009688"/>
          </a:solidFill>
          <a:ln w="12700">
            <a:solidFill>
              <a:srgbClr val="009688"/>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Distintos lenguajes en el mismo IDE  ·  Mismo código en distintos IDEs</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8.1 Distintos lenguajes en el mismo IDE</a:t>
            </a:r>
            <a:endParaRPr lang="en-US" sz="2600" dirty="0"/>
          </a:p>
        </p:txBody>
      </p:sp>
      <p:sp>
        <p:nvSpPr>
          <p:cNvPr id="4" name="Shape 2"/>
          <p:cNvSpPr/>
          <p:nvPr/>
        </p:nvSpPr>
        <p:spPr>
          <a:xfrm>
            <a:off x="548640" y="914400"/>
            <a:ext cx="11091672" cy="777240"/>
          </a:xfrm>
          <a:prstGeom prst="roundRect">
            <a:avLst/>
          </a:prstGeom>
          <a:solidFill>
            <a:srgbClr val="E0F2F1"/>
          </a:solidFill>
          <a:ln w="19050">
            <a:solidFill>
              <a:srgbClr val="009688"/>
            </a:solidFill>
            <a:prstDash val="solid"/>
          </a:ln>
        </p:spPr>
        <p:txBody>
          <a:bodyPr/>
          <a:lstStyle/>
          <a:p>
            <a:endParaRPr lang="es-ES"/>
          </a:p>
        </p:txBody>
      </p:sp>
      <p:sp>
        <p:nvSpPr>
          <p:cNvPr id="5" name="Text 3"/>
          <p:cNvSpPr/>
          <p:nvPr/>
        </p:nvSpPr>
        <p:spPr>
          <a:xfrm>
            <a:off x="777240" y="960120"/>
            <a:ext cx="10634472" cy="68580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Un IDE como IntelliJ IDEA, con los plugins adecuados, puede compilar y ejecutar proyectos en varios lenguajes desde la misma aplicación. No hace falta tener un IDE diferente para cada lenguaje.</a:t>
            </a:r>
            <a:endParaRPr lang="en-US" sz="15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3950208"/>
        </p:xfrm>
        <a:graphic>
          <a:graphicData uri="http://schemas.openxmlformats.org/drawingml/2006/table">
            <a:tbl>
              <a:tblPr/>
              <a:tblGrid>
                <a:gridCol w="2440168">
                  <a:extLst>
                    <a:ext uri="{9D8B030D-6E8A-4147-A177-3AD203B41FA5}">
                      <a16:colId xmlns:a16="http://schemas.microsoft.com/office/drawing/2014/main" val="20000"/>
                    </a:ext>
                  </a:extLst>
                </a:gridCol>
                <a:gridCol w="5767669">
                  <a:extLst>
                    <a:ext uri="{9D8B030D-6E8A-4147-A177-3AD203B41FA5}">
                      <a16:colId xmlns:a16="http://schemas.microsoft.com/office/drawing/2014/main" val="20001"/>
                    </a:ext>
                  </a:extLst>
                </a:gridCol>
                <a:gridCol w="2883835">
                  <a:extLst>
                    <a:ext uri="{9D8B030D-6E8A-4147-A177-3AD203B41FA5}">
                      <a16:colId xmlns:a16="http://schemas.microsoft.com/office/drawing/2014/main" val="20002"/>
                    </a:ext>
                  </a:extLst>
                </a:gridCol>
              </a:tblGrid>
              <a:tr h="658368">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Lenguaje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En IntelliJ Community</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Estado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658368">
                <a:tc>
                  <a:txBody>
                    <a:bodyPr/>
                    <a:lstStyle/>
                    <a:p>
                      <a:pPr marL="0" indent="0">
                        <a:buNone/>
                      </a:pPr>
                      <a:r>
                        <a:rPr lang="en-US" sz="1300" b="1" dirty="0">
                          <a:solidFill>
                            <a:srgbClr val="212121"/>
                          </a:solidFill>
                          <a:latin typeface="Arial" pitchFamily="34" charset="0"/>
                          <a:ea typeface="Arial" pitchFamily="34" charset="-122"/>
                          <a:cs typeface="Arial" pitchFamily="34" charset="-120"/>
                        </a:rPr>
                        <a:t>Java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Incluido de serie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Sin instalar nada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300" b="1" dirty="0">
                          <a:solidFill>
                            <a:srgbClr val="212121"/>
                          </a:solidFill>
                          <a:latin typeface="Arial" pitchFamily="34" charset="0"/>
                          <a:ea typeface="Arial" pitchFamily="34" charset="-122"/>
                          <a:cs typeface="Arial" pitchFamily="34" charset="-120"/>
                        </a:rPr>
                        <a:t>Kotlin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Incluido de serie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Sin instalar nada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58368">
                <a:tc>
                  <a:txBody>
                    <a:bodyPr/>
                    <a:lstStyle/>
                    <a:p>
                      <a:pPr marL="0" indent="0">
                        <a:buNone/>
                      </a:pPr>
                      <a:r>
                        <a:rPr lang="en-US" sz="1300" b="1" dirty="0">
                          <a:solidFill>
                            <a:srgbClr val="212121"/>
                          </a:solidFill>
                          <a:latin typeface="Arial" pitchFamily="34" charset="0"/>
                          <a:ea typeface="Arial" pitchFamily="34" charset="-122"/>
                          <a:cs typeface="Arial" pitchFamily="34" charset="-120"/>
                        </a:rPr>
                        <a:t>Python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Plugin: Python Community Edition (oficial de JetBrains)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Instalar desde Marketplace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300" b="1" dirty="0">
                          <a:solidFill>
                            <a:srgbClr val="212121"/>
                          </a:solidFill>
                          <a:latin typeface="Arial" pitchFamily="34" charset="0"/>
                          <a:ea typeface="Arial" pitchFamily="34" charset="-122"/>
                          <a:cs typeface="Arial" pitchFamily="34" charset="-120"/>
                        </a:rPr>
                        <a:t>JavaScript/TypeScript</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Plugin: JavaScript and TypeScript</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Instalar desde Marketplace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658368">
                <a:tc>
                  <a:txBody>
                    <a:bodyPr/>
                    <a:lstStyle/>
                    <a:p>
                      <a:pPr marL="0" indent="0">
                        <a:buNone/>
                      </a:pPr>
                      <a:r>
                        <a:rPr lang="en-US" sz="1300" b="1" dirty="0">
                          <a:solidFill>
                            <a:srgbClr val="212121"/>
                          </a:solidFill>
                          <a:latin typeface="Arial" pitchFamily="34" charset="0"/>
                          <a:ea typeface="Arial" pitchFamily="34" charset="-122"/>
                          <a:cs typeface="Arial" pitchFamily="34" charset="-120"/>
                        </a:rPr>
                        <a:t>SQL</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Plugin: Database Tools (completo en Ultimate)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Funcionalidad limitada en Community</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p:nvPr/>
        </p:nvSpPr>
        <p:spPr>
          <a:xfrm>
            <a:off x="548640" y="6007608"/>
            <a:ext cx="11091672" cy="50292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Para cada lenguaje el proceso es el mismo: instalar el plugin, configurar el intérprete o SDK en el proyecto y después compilar/ejecutar normalmente.</a:t>
            </a:r>
            <a:endParaRPr lang="en-US" sz="1500" dirty="0"/>
          </a:p>
        </p:txBody>
      </p:sp>
      <p:sp>
        <p:nvSpPr>
          <p:cNvPr id="8"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8.2 El mismo código fuente en distintos IDEs</a:t>
            </a:r>
            <a:endParaRPr lang="en-US" sz="2600" dirty="0"/>
          </a:p>
        </p:txBody>
      </p:sp>
      <p:sp>
        <p:nvSpPr>
          <p:cNvPr id="4" name="Text 2"/>
          <p:cNvSpPr/>
          <p:nvPr/>
        </p:nvSpPr>
        <p:spPr>
          <a:xfrm>
            <a:off x="548640" y="914400"/>
            <a:ext cx="11091672" cy="59436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El mismo archivo .java se puede compilar y ejecutar desde Eclipse, NetBeans o IntelliJ sin modificarlo. Los IDEs no guardan el código en un formato propietario: son archivos de texto plano estándar.</a:t>
            </a:r>
            <a:endParaRPr lang="en-US" sz="1500" dirty="0"/>
          </a:p>
        </p:txBody>
      </p:sp>
      <p:sp>
        <p:nvSpPr>
          <p:cNvPr id="5" name="Shape 3"/>
          <p:cNvSpPr/>
          <p:nvPr/>
        </p:nvSpPr>
        <p:spPr>
          <a:xfrm>
            <a:off x="548640" y="1645920"/>
            <a:ext cx="2464308" cy="914400"/>
          </a:xfrm>
          <a:prstGeom prst="roundRect">
            <a:avLst/>
          </a:prstGeom>
          <a:solidFill>
            <a:srgbClr val="E8EAF6"/>
          </a:solidFill>
          <a:ln w="15875">
            <a:solidFill>
              <a:srgbClr val="3F51B5"/>
            </a:solidFill>
            <a:prstDash val="solid"/>
          </a:ln>
        </p:spPr>
        <p:txBody>
          <a:bodyPr/>
          <a:lstStyle/>
          <a:p>
            <a:endParaRPr lang="es-ES"/>
          </a:p>
        </p:txBody>
      </p:sp>
      <p:sp>
        <p:nvSpPr>
          <p:cNvPr id="6" name="Text 4"/>
          <p:cNvSpPr/>
          <p:nvPr/>
        </p:nvSpPr>
        <p:spPr>
          <a:xfrm>
            <a:off x="594360" y="1691640"/>
            <a:ext cx="2372868" cy="82296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Mismo</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archivo .java</a:t>
            </a:r>
            <a:endParaRPr lang="en-US" sz="1400" dirty="0"/>
          </a:p>
        </p:txBody>
      </p:sp>
      <p:sp>
        <p:nvSpPr>
          <p:cNvPr id="7" name="Text 5"/>
          <p:cNvSpPr/>
          <p:nvPr/>
        </p:nvSpPr>
        <p:spPr>
          <a:xfrm>
            <a:off x="2967228" y="1645920"/>
            <a:ext cx="502920" cy="91440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8" name="Shape 6"/>
          <p:cNvSpPr/>
          <p:nvPr/>
        </p:nvSpPr>
        <p:spPr>
          <a:xfrm>
            <a:off x="3424428" y="1645920"/>
            <a:ext cx="2464308" cy="914400"/>
          </a:xfrm>
          <a:prstGeom prst="roundRect">
            <a:avLst/>
          </a:prstGeom>
          <a:solidFill>
            <a:srgbClr val="E8EAF6"/>
          </a:solidFill>
          <a:ln w="15875">
            <a:solidFill>
              <a:srgbClr val="3F51B5"/>
            </a:solidFill>
            <a:prstDash val="solid"/>
          </a:ln>
        </p:spPr>
        <p:txBody>
          <a:bodyPr/>
          <a:lstStyle/>
          <a:p>
            <a:endParaRPr lang="es-ES"/>
          </a:p>
        </p:txBody>
      </p:sp>
      <p:sp>
        <p:nvSpPr>
          <p:cNvPr id="9" name="Text 7"/>
          <p:cNvSpPr/>
          <p:nvPr/>
        </p:nvSpPr>
        <p:spPr>
          <a:xfrm>
            <a:off x="3470148" y="1691640"/>
            <a:ext cx="2372868" cy="82296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IntelliJ IDEA</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javac → .class</a:t>
            </a:r>
            <a:endParaRPr lang="en-US" sz="1400" dirty="0"/>
          </a:p>
        </p:txBody>
      </p:sp>
      <p:sp>
        <p:nvSpPr>
          <p:cNvPr id="10" name="Text 8"/>
          <p:cNvSpPr/>
          <p:nvPr/>
        </p:nvSpPr>
        <p:spPr>
          <a:xfrm>
            <a:off x="5843016" y="1645920"/>
            <a:ext cx="502920" cy="91440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11" name="Shape 9"/>
          <p:cNvSpPr/>
          <p:nvPr/>
        </p:nvSpPr>
        <p:spPr>
          <a:xfrm>
            <a:off x="6300216" y="1645920"/>
            <a:ext cx="2464308" cy="914400"/>
          </a:xfrm>
          <a:prstGeom prst="roundRect">
            <a:avLst/>
          </a:prstGeom>
          <a:solidFill>
            <a:srgbClr val="E8EAF6"/>
          </a:solidFill>
          <a:ln w="15875">
            <a:solidFill>
              <a:srgbClr val="3F51B5"/>
            </a:solidFill>
            <a:prstDash val="solid"/>
          </a:ln>
        </p:spPr>
        <p:txBody>
          <a:bodyPr/>
          <a:lstStyle/>
          <a:p>
            <a:endParaRPr lang="es-ES"/>
          </a:p>
        </p:txBody>
      </p:sp>
      <p:sp>
        <p:nvSpPr>
          <p:cNvPr id="12" name="Text 10"/>
          <p:cNvSpPr/>
          <p:nvPr/>
        </p:nvSpPr>
        <p:spPr>
          <a:xfrm>
            <a:off x="6345936" y="1691640"/>
            <a:ext cx="2372868" cy="82296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Eclipse</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javac → .class</a:t>
            </a:r>
            <a:endParaRPr lang="en-US" sz="1400" dirty="0"/>
          </a:p>
        </p:txBody>
      </p:sp>
      <p:sp>
        <p:nvSpPr>
          <p:cNvPr id="13" name="Text 11"/>
          <p:cNvSpPr/>
          <p:nvPr/>
        </p:nvSpPr>
        <p:spPr>
          <a:xfrm>
            <a:off x="8718804" y="1645920"/>
            <a:ext cx="502920" cy="91440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9176004" y="1645920"/>
            <a:ext cx="2464308" cy="914400"/>
          </a:xfrm>
          <a:prstGeom prst="roundRect">
            <a:avLst/>
          </a:prstGeom>
          <a:solidFill>
            <a:srgbClr val="E8EAF6"/>
          </a:solidFill>
          <a:ln w="15875">
            <a:solidFill>
              <a:srgbClr val="3F51B5"/>
            </a:solidFill>
            <a:prstDash val="solid"/>
          </a:ln>
        </p:spPr>
        <p:txBody>
          <a:bodyPr/>
          <a:lstStyle/>
          <a:p>
            <a:endParaRPr lang="es-ES"/>
          </a:p>
        </p:txBody>
      </p:sp>
      <p:sp>
        <p:nvSpPr>
          <p:cNvPr id="15" name="Text 13"/>
          <p:cNvSpPr/>
          <p:nvPr/>
        </p:nvSpPr>
        <p:spPr>
          <a:xfrm>
            <a:off x="9221724" y="1691640"/>
            <a:ext cx="2372868" cy="82296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NetBeans</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javac → .class</a:t>
            </a:r>
            <a:endParaRPr lang="en-US" sz="1400" dirty="0"/>
          </a:p>
        </p:txBody>
      </p:sp>
      <p:sp>
        <p:nvSpPr>
          <p:cNvPr id="16" name="Shape 14"/>
          <p:cNvSpPr/>
          <p:nvPr/>
        </p:nvSpPr>
        <p:spPr>
          <a:xfrm>
            <a:off x="548640" y="2697480"/>
            <a:ext cx="11091672" cy="685800"/>
          </a:xfrm>
          <a:prstGeom prst="roundRect">
            <a:avLst/>
          </a:prstGeom>
          <a:solidFill>
            <a:srgbClr val="E0F2F1"/>
          </a:solidFill>
          <a:ln w="19050">
            <a:solidFill>
              <a:srgbClr val="009688"/>
            </a:solidFill>
            <a:prstDash val="solid"/>
          </a:ln>
        </p:spPr>
        <p:txBody>
          <a:bodyPr/>
          <a:lstStyle/>
          <a:p>
            <a:endParaRPr lang="es-ES"/>
          </a:p>
        </p:txBody>
      </p:sp>
      <p:sp>
        <p:nvSpPr>
          <p:cNvPr id="17" name="Text 15"/>
          <p:cNvSpPr/>
          <p:nvPr/>
        </p:nvSpPr>
        <p:spPr>
          <a:xfrm>
            <a:off x="777240" y="2743200"/>
            <a:ext cx="10634472" cy="59436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El resultado es el mismo .class o .jar porque los tres IDEs llaman al mismo compilador de Java (javac) con los mismos archivos fuente.</a:t>
            </a:r>
            <a:endParaRPr lang="en-US" sz="1500" dirty="0"/>
          </a:p>
        </p:txBody>
      </p:sp>
      <p:sp>
        <p:nvSpPr>
          <p:cNvPr id="18" name="Shape 16"/>
          <p:cNvSpPr/>
          <p:nvPr/>
        </p:nvSpPr>
        <p:spPr>
          <a:xfrm>
            <a:off x="548640" y="3566160"/>
            <a:ext cx="11091672" cy="438912"/>
          </a:xfrm>
          <a:prstGeom prst="rect">
            <a:avLst/>
          </a:prstGeom>
          <a:solidFill>
            <a:srgbClr val="3F51B5"/>
          </a:solidFill>
          <a:ln w="12700">
            <a:solidFill>
              <a:srgbClr val="3F51B5"/>
            </a:solidFill>
            <a:prstDash val="solid"/>
          </a:ln>
        </p:spPr>
        <p:txBody>
          <a:bodyPr/>
          <a:lstStyle/>
          <a:p>
            <a:endParaRPr lang="es-ES"/>
          </a:p>
        </p:txBody>
      </p:sp>
      <p:sp>
        <p:nvSpPr>
          <p:cNvPr id="19" name="Text 17"/>
          <p:cNvSpPr/>
          <p:nvPr/>
        </p:nvSpPr>
        <p:spPr>
          <a:xfrm>
            <a:off x="731520" y="356616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Lo que SÍ cambia entre IDEs</a:t>
            </a:r>
            <a:endParaRPr lang="en-US" sz="1700" dirty="0"/>
          </a:p>
        </p:txBody>
      </p:sp>
      <p:sp>
        <p:nvSpPr>
          <p:cNvPr id="20" name="Text 18"/>
          <p:cNvSpPr/>
          <p:nvPr/>
        </p:nvSpPr>
        <p:spPr>
          <a:xfrm>
            <a:off x="548640" y="4142232"/>
            <a:ext cx="11091672" cy="1645920"/>
          </a:xfrm>
          <a:prstGeom prst="rect">
            <a:avLst/>
          </a:prstGeom>
          <a:noFill/>
          <a:ln/>
        </p:spPr>
        <p:txBody>
          <a:bodyPr wrap="square" rtlCol="0" anchor="t"/>
          <a:lstStyle/>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Los archivos de proyecto internos: .idea/  en IntelliJ,  .project y .classpath  en Eclipse,  nbproject/  en NetBeans.</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Esos archivos NO forman parte del código fuente y NO deben subirse al repositorio si el equipo usa IDEs distintos.</a:t>
            </a:r>
            <a:endParaRPr lang="en-US" sz="1500" dirty="0"/>
          </a:p>
          <a:p>
            <a:pPr marL="762000" lvl="1" indent="-381000">
              <a:spcAft>
                <a:spcPts val="600"/>
              </a:spcAft>
              <a:buSzPct val="100000"/>
              <a:buChar char="•"/>
            </a:pPr>
            <a:r>
              <a:rPr lang="en-US" sz="1300" dirty="0">
                <a:solidFill>
                  <a:srgbClr val="212121"/>
                </a:solidFill>
                <a:latin typeface="Arial" pitchFamily="34" charset="0"/>
                <a:ea typeface="Arial" pitchFamily="34" charset="-122"/>
                <a:cs typeface="Arial" pitchFamily="34" charset="-120"/>
              </a:rPr>
              <a:t>Añade al .gitignore:  .idea/    .classpath    .project    nbproject/    *.iml</a:t>
            </a:r>
            <a:endParaRPr lang="en-US" sz="1500" dirty="0"/>
          </a:p>
        </p:txBody>
      </p:sp>
      <p:sp>
        <p:nvSpPr>
          <p:cNvPr id="21" name="Text 19"/>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303F9F"/>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B0BEC5"/>
                </a:solidFill>
                <a:latin typeface="Arial" pitchFamily="34" charset="0"/>
                <a:ea typeface="Arial" pitchFamily="34" charset="-122"/>
                <a:cs typeface="Arial" pitchFamily="34" charset="-120"/>
              </a:rPr>
              <a:t>ENTORNOS DE DESARROLLO  —  TEMA 2: ENTORNOS INTEGRADOS DE DESARROLLO</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9. Herramientas y automatización</a:t>
            </a:r>
            <a:endParaRPr lang="en-US" sz="4400" dirty="0"/>
          </a:p>
        </p:txBody>
      </p:sp>
      <p:sp>
        <p:nvSpPr>
          <p:cNvPr id="4" name="Shape 2"/>
          <p:cNvSpPr/>
          <p:nvPr/>
        </p:nvSpPr>
        <p:spPr>
          <a:xfrm>
            <a:off x="0" y="5120640"/>
            <a:ext cx="12188952" cy="914400"/>
          </a:xfrm>
          <a:prstGeom prst="rect">
            <a:avLst/>
          </a:prstGeom>
          <a:solidFill>
            <a:srgbClr val="009688"/>
          </a:solidFill>
          <a:ln w="12700">
            <a:solidFill>
              <a:srgbClr val="009688"/>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Maven  ·  Gradle  ·  Ant  ·  Run Configurations</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9.1 Herramientas de construcción (build tools)</a:t>
            </a:r>
            <a:endParaRPr lang="en-US" sz="2600" dirty="0"/>
          </a:p>
        </p:txBody>
      </p:sp>
      <p:sp>
        <p:nvSpPr>
          <p:cNvPr id="4" name="Text 2"/>
          <p:cNvSpPr/>
          <p:nvPr/>
        </p:nvSpPr>
        <p:spPr>
          <a:xfrm>
            <a:off x="548640" y="914400"/>
            <a:ext cx="11091672" cy="50292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Compilar a mano un proyecto con decenas de archivos y librerías externas sería lento y propenso a errores. Las build tools automatizan todo el proceso.</a:t>
            </a:r>
            <a:endParaRPr lang="en-US" sz="15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4023360"/>
        </p:xfrm>
        <a:graphic>
          <a:graphicData uri="http://schemas.openxmlformats.org/drawingml/2006/table">
            <a:tbl>
              <a:tblPr/>
              <a:tblGrid>
                <a:gridCol w="1663751">
                  <a:extLst>
                    <a:ext uri="{9D8B030D-6E8A-4147-A177-3AD203B41FA5}">
                      <a16:colId xmlns:a16="http://schemas.microsoft.com/office/drawing/2014/main" val="20000"/>
                    </a:ext>
                  </a:extLst>
                </a:gridCol>
                <a:gridCol w="7986004">
                  <a:extLst>
                    <a:ext uri="{9D8B030D-6E8A-4147-A177-3AD203B41FA5}">
                      <a16:colId xmlns:a16="http://schemas.microsoft.com/office/drawing/2014/main" val="20001"/>
                    </a:ext>
                  </a:extLst>
                </a:gridCol>
                <a:gridCol w="1441917">
                  <a:extLst>
                    <a:ext uri="{9D8B030D-6E8A-4147-A177-3AD203B41FA5}">
                      <a16:colId xmlns:a16="http://schemas.microsoft.com/office/drawing/2014/main" val="20002"/>
                    </a:ext>
                  </a:extLst>
                </a:gridCol>
              </a:tblGrid>
              <a:tr h="100584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Herramienta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Descripción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Archivo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1005840">
                <a:tc>
                  <a:txBody>
                    <a:bodyPr/>
                    <a:lstStyle/>
                    <a:p>
                      <a:pPr marL="0" indent="0">
                        <a:buNone/>
                      </a:pPr>
                      <a:r>
                        <a:rPr lang="en-US" sz="1300" b="1" dirty="0">
                          <a:solidFill>
                            <a:srgbClr val="212121"/>
                          </a:solidFill>
                          <a:latin typeface="Arial" pitchFamily="34" charset="0"/>
                          <a:ea typeface="Arial" pitchFamily="34" charset="-122"/>
                          <a:cs typeface="Arial" pitchFamily="34" charset="-120"/>
                        </a:rPr>
                        <a:t>Maven</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Gestiona dependencias y define el proceso de compilación en XML. Tiene una estructura de carpetas fija que todos los proyectos Maven comparten (src/main/java, src/test/java…).</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pom.xml</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5840">
                <a:tc>
                  <a:txBody>
                    <a:bodyPr/>
                    <a:lstStyle/>
                    <a:p>
                      <a:pPr marL="0" indent="0">
                        <a:buNone/>
                      </a:pPr>
                      <a:r>
                        <a:rPr lang="en-US" sz="1300" b="1" dirty="0">
                          <a:solidFill>
                            <a:srgbClr val="212121"/>
                          </a:solidFill>
                          <a:latin typeface="Arial" pitchFamily="34" charset="0"/>
                          <a:ea typeface="Arial" pitchFamily="34" charset="-122"/>
                          <a:cs typeface="Arial" pitchFamily="34" charset="-120"/>
                        </a:rPr>
                        <a:t>Gradle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Parecido a Maven pero más flexible. Usa un lenguaje de scripting (Groovy o Kotlin) en lugar de XML puro. Suele ser más rápido en proyectos grandes.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build.gradle</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1005840">
                <a:tc>
                  <a:txBody>
                    <a:bodyPr/>
                    <a:lstStyle/>
                    <a:p>
                      <a:pPr marL="0" indent="0">
                        <a:buNone/>
                      </a:pPr>
                      <a:r>
                        <a:rPr lang="en-US" sz="1300" b="1" dirty="0">
                          <a:solidFill>
                            <a:srgbClr val="212121"/>
                          </a:solidFill>
                          <a:latin typeface="Arial" pitchFamily="34" charset="0"/>
                          <a:ea typeface="Arial" pitchFamily="34" charset="-122"/>
                          <a:cs typeface="Arial" pitchFamily="34" charset="-120"/>
                        </a:rPr>
                        <a:t>Ant</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El más antiguo de los tres. Basado en XML pero sin gestión de dependencias propia. Ya casi no se usa en proyectos nuevos, pero puede aparecer en proyectos heredados.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00" dirty="0">
                          <a:solidFill>
                            <a:srgbClr val="212121"/>
                          </a:solidFill>
                          <a:latin typeface="Arial" pitchFamily="34" charset="0"/>
                          <a:ea typeface="Arial" pitchFamily="34" charset="-122"/>
                          <a:cs typeface="Arial" pitchFamily="34" charset="-120"/>
                        </a:rPr>
                        <a:t>build.xml</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548640" y="5806440"/>
            <a:ext cx="11091672" cy="685800"/>
          </a:xfrm>
          <a:prstGeom prst="roundRect">
            <a:avLst/>
          </a:prstGeom>
          <a:solidFill>
            <a:srgbClr val="E0F2F1"/>
          </a:solidFill>
          <a:ln w="19050">
            <a:solidFill>
              <a:srgbClr val="009688"/>
            </a:solidFill>
            <a:prstDash val="solid"/>
          </a:ln>
        </p:spPr>
        <p:txBody>
          <a:bodyPr/>
          <a:lstStyle/>
          <a:p>
            <a:endParaRPr lang="es-ES"/>
          </a:p>
        </p:txBody>
      </p:sp>
      <p:sp>
        <p:nvSpPr>
          <p:cNvPr id="7" name="Text 4"/>
          <p:cNvSpPr/>
          <p:nvPr/>
        </p:nvSpPr>
        <p:spPr>
          <a:xfrm>
            <a:off x="777240" y="5852160"/>
            <a:ext cx="10634472" cy="59436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IntelliJ y NetBeans detectan automáticamente el pom.xml o build.gradle al abrir el proyecto y descargan las dependencias sin que tengas que hacer nada.</a:t>
            </a:r>
            <a:endParaRPr lang="en-US" sz="1500" dirty="0"/>
          </a:p>
        </p:txBody>
      </p:sp>
      <p:sp>
        <p:nvSpPr>
          <p:cNvPr id="8"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9.2 ¿Qué hace mvn package?</a:t>
            </a:r>
            <a:endParaRPr lang="en-US" sz="2600" dirty="0"/>
          </a:p>
        </p:txBody>
      </p:sp>
      <p:sp>
        <p:nvSpPr>
          <p:cNvPr id="4" name="Shape 2"/>
          <p:cNvSpPr/>
          <p:nvPr/>
        </p:nvSpPr>
        <p:spPr>
          <a:xfrm>
            <a:off x="548640" y="914400"/>
            <a:ext cx="11091672" cy="777240"/>
          </a:xfrm>
          <a:prstGeom prst="roundRect">
            <a:avLst/>
          </a:prstGeom>
          <a:solidFill>
            <a:srgbClr val="E0F2F1"/>
          </a:solidFill>
          <a:ln w="19050">
            <a:solidFill>
              <a:srgbClr val="009688"/>
            </a:solidFill>
            <a:prstDash val="solid"/>
          </a:ln>
        </p:spPr>
        <p:txBody>
          <a:bodyPr/>
          <a:lstStyle/>
          <a:p>
            <a:endParaRPr lang="es-ES"/>
          </a:p>
        </p:txBody>
      </p:sp>
      <p:sp>
        <p:nvSpPr>
          <p:cNvPr id="5" name="Text 3"/>
          <p:cNvSpPr/>
          <p:nvPr/>
        </p:nvSpPr>
        <p:spPr>
          <a:xfrm>
            <a:off x="777240" y="960120"/>
            <a:ext cx="10634472" cy="68580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Con un solo comando (mvn package o gradle build), el proyecto se compila, se prueba y se empaqueta. Esto es especialmente útil para reproducir el proceso en otro ordenador o en un servidor.</a:t>
            </a:r>
            <a:endParaRPr lang="en-US" sz="1500" dirty="0"/>
          </a:p>
        </p:txBody>
      </p:sp>
      <p:sp>
        <p:nvSpPr>
          <p:cNvPr id="6" name="Shape 4"/>
          <p:cNvSpPr/>
          <p:nvPr/>
        </p:nvSpPr>
        <p:spPr>
          <a:xfrm>
            <a:off x="548640" y="1965960"/>
            <a:ext cx="1505712" cy="1051560"/>
          </a:xfrm>
          <a:prstGeom prst="roundRect">
            <a:avLst/>
          </a:prstGeom>
          <a:solidFill>
            <a:srgbClr val="E8EAF6"/>
          </a:solidFill>
          <a:ln w="15875">
            <a:solidFill>
              <a:srgbClr val="3F51B5"/>
            </a:solidFill>
            <a:prstDash val="solid"/>
          </a:ln>
        </p:spPr>
        <p:txBody>
          <a:bodyPr/>
          <a:lstStyle/>
          <a:p>
            <a:endParaRPr lang="es-ES"/>
          </a:p>
        </p:txBody>
      </p:sp>
      <p:sp>
        <p:nvSpPr>
          <p:cNvPr id="7" name="Text 5"/>
          <p:cNvSpPr/>
          <p:nvPr/>
        </p:nvSpPr>
        <p:spPr>
          <a:xfrm>
            <a:off x="594360" y="2011680"/>
            <a:ext cx="1414272" cy="96012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mvn package</a:t>
            </a:r>
            <a:endParaRPr lang="en-US" sz="1300" dirty="0"/>
          </a:p>
        </p:txBody>
      </p:sp>
      <p:sp>
        <p:nvSpPr>
          <p:cNvPr id="8" name="Text 6"/>
          <p:cNvSpPr/>
          <p:nvPr/>
        </p:nvSpPr>
        <p:spPr>
          <a:xfrm>
            <a:off x="2008632" y="1965960"/>
            <a:ext cx="502920" cy="105156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2465832" y="1965960"/>
            <a:ext cx="1505712" cy="1051560"/>
          </a:xfrm>
          <a:prstGeom prst="roundRect">
            <a:avLst/>
          </a:prstGeom>
          <a:solidFill>
            <a:srgbClr val="E8EAF6"/>
          </a:solidFill>
          <a:ln w="15875">
            <a:solidFill>
              <a:srgbClr val="3F51B5"/>
            </a:solidFill>
            <a:prstDash val="solid"/>
          </a:ln>
        </p:spPr>
        <p:txBody>
          <a:bodyPr/>
          <a:lstStyle/>
          <a:p>
            <a:endParaRPr lang="es-ES"/>
          </a:p>
        </p:txBody>
      </p:sp>
      <p:sp>
        <p:nvSpPr>
          <p:cNvPr id="10" name="Text 8"/>
          <p:cNvSpPr/>
          <p:nvPr/>
        </p:nvSpPr>
        <p:spPr>
          <a:xfrm>
            <a:off x="2511552" y="2011680"/>
            <a:ext cx="1414272" cy="96012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Descarga</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dependencias</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(si faltan)</a:t>
            </a:r>
            <a:endParaRPr lang="en-US" sz="1300" dirty="0"/>
          </a:p>
        </p:txBody>
      </p:sp>
      <p:sp>
        <p:nvSpPr>
          <p:cNvPr id="11" name="Text 9"/>
          <p:cNvSpPr/>
          <p:nvPr/>
        </p:nvSpPr>
        <p:spPr>
          <a:xfrm>
            <a:off x="3925824" y="1965960"/>
            <a:ext cx="502920" cy="105156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4383024" y="1965960"/>
            <a:ext cx="1505712" cy="1051560"/>
          </a:xfrm>
          <a:prstGeom prst="roundRect">
            <a:avLst/>
          </a:prstGeom>
          <a:solidFill>
            <a:srgbClr val="E8EAF6"/>
          </a:solidFill>
          <a:ln w="15875">
            <a:solidFill>
              <a:srgbClr val="3F51B5"/>
            </a:solidFill>
            <a:prstDash val="solid"/>
          </a:ln>
        </p:spPr>
        <p:txBody>
          <a:bodyPr/>
          <a:lstStyle/>
          <a:p>
            <a:endParaRPr lang="es-ES"/>
          </a:p>
        </p:txBody>
      </p:sp>
      <p:sp>
        <p:nvSpPr>
          <p:cNvPr id="13" name="Text 11"/>
          <p:cNvSpPr/>
          <p:nvPr/>
        </p:nvSpPr>
        <p:spPr>
          <a:xfrm>
            <a:off x="4428744" y="2011680"/>
            <a:ext cx="1414272" cy="96012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Compila</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el código</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fuente</a:t>
            </a:r>
            <a:endParaRPr lang="en-US" sz="1300" dirty="0"/>
          </a:p>
        </p:txBody>
      </p:sp>
      <p:sp>
        <p:nvSpPr>
          <p:cNvPr id="14" name="Text 12"/>
          <p:cNvSpPr/>
          <p:nvPr/>
        </p:nvSpPr>
        <p:spPr>
          <a:xfrm>
            <a:off x="5843016" y="1965960"/>
            <a:ext cx="502920" cy="105156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6300216" y="1965960"/>
            <a:ext cx="1505712" cy="1051560"/>
          </a:xfrm>
          <a:prstGeom prst="roundRect">
            <a:avLst/>
          </a:prstGeom>
          <a:solidFill>
            <a:srgbClr val="E8EAF6"/>
          </a:solidFill>
          <a:ln w="15875">
            <a:solidFill>
              <a:srgbClr val="3F51B5"/>
            </a:solidFill>
            <a:prstDash val="solid"/>
          </a:ln>
        </p:spPr>
        <p:txBody>
          <a:bodyPr/>
          <a:lstStyle/>
          <a:p>
            <a:endParaRPr lang="es-ES"/>
          </a:p>
        </p:txBody>
      </p:sp>
      <p:sp>
        <p:nvSpPr>
          <p:cNvPr id="16" name="Text 14"/>
          <p:cNvSpPr/>
          <p:nvPr/>
        </p:nvSpPr>
        <p:spPr>
          <a:xfrm>
            <a:off x="6345936" y="2011680"/>
            <a:ext cx="1414272" cy="96012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Ejecuta</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los tests</a:t>
            </a:r>
            <a:endParaRPr lang="en-US" sz="1300" dirty="0"/>
          </a:p>
        </p:txBody>
      </p:sp>
      <p:sp>
        <p:nvSpPr>
          <p:cNvPr id="17" name="Text 15"/>
          <p:cNvSpPr/>
          <p:nvPr/>
        </p:nvSpPr>
        <p:spPr>
          <a:xfrm>
            <a:off x="7760208" y="1965960"/>
            <a:ext cx="502920" cy="105156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18" name="Shape 16"/>
          <p:cNvSpPr/>
          <p:nvPr/>
        </p:nvSpPr>
        <p:spPr>
          <a:xfrm>
            <a:off x="8217408" y="1965960"/>
            <a:ext cx="1505712" cy="1051560"/>
          </a:xfrm>
          <a:prstGeom prst="roundRect">
            <a:avLst/>
          </a:prstGeom>
          <a:solidFill>
            <a:srgbClr val="E8EAF6"/>
          </a:solidFill>
          <a:ln w="15875">
            <a:solidFill>
              <a:srgbClr val="3F51B5"/>
            </a:solidFill>
            <a:prstDash val="solid"/>
          </a:ln>
        </p:spPr>
        <p:txBody>
          <a:bodyPr/>
          <a:lstStyle/>
          <a:p>
            <a:endParaRPr lang="es-ES"/>
          </a:p>
        </p:txBody>
      </p:sp>
      <p:sp>
        <p:nvSpPr>
          <p:cNvPr id="19" name="Text 17"/>
          <p:cNvSpPr/>
          <p:nvPr/>
        </p:nvSpPr>
        <p:spPr>
          <a:xfrm>
            <a:off x="8263128" y="2011680"/>
            <a:ext cx="1414272" cy="96012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Empaqueta</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el JAR</a:t>
            </a:r>
            <a:endParaRPr lang="en-US" sz="1300" dirty="0"/>
          </a:p>
        </p:txBody>
      </p:sp>
      <p:sp>
        <p:nvSpPr>
          <p:cNvPr id="20" name="Text 18"/>
          <p:cNvSpPr/>
          <p:nvPr/>
        </p:nvSpPr>
        <p:spPr>
          <a:xfrm>
            <a:off x="9677400" y="1965960"/>
            <a:ext cx="502920" cy="1051560"/>
          </a:xfrm>
          <a:prstGeom prst="rect">
            <a:avLst/>
          </a:prstGeom>
          <a:noFill/>
          <a:ln/>
        </p:spPr>
        <p:txBody>
          <a:bodyPr wrap="square" rtlCol="0" anchor="ctr"/>
          <a:lstStyle/>
          <a:p>
            <a:pPr marL="0" indent="0" algn="ctr">
              <a:buNone/>
            </a:pPr>
            <a:r>
              <a:rPr lang="en-US" sz="2000" b="1" dirty="0">
                <a:solidFill>
                  <a:srgbClr val="3F51B5"/>
                </a:solidFill>
                <a:latin typeface="Arial" pitchFamily="34" charset="0"/>
                <a:ea typeface="Arial" pitchFamily="34" charset="-122"/>
                <a:cs typeface="Arial" pitchFamily="34" charset="-120"/>
              </a:rPr>
              <a:t>→</a:t>
            </a:r>
            <a:endParaRPr lang="en-US" sz="2000" dirty="0"/>
          </a:p>
        </p:txBody>
      </p:sp>
      <p:sp>
        <p:nvSpPr>
          <p:cNvPr id="21" name="Shape 19"/>
          <p:cNvSpPr/>
          <p:nvPr/>
        </p:nvSpPr>
        <p:spPr>
          <a:xfrm>
            <a:off x="10134600" y="1965960"/>
            <a:ext cx="1505712" cy="1051560"/>
          </a:xfrm>
          <a:prstGeom prst="roundRect">
            <a:avLst/>
          </a:prstGeom>
          <a:solidFill>
            <a:srgbClr val="E8EAF6"/>
          </a:solidFill>
          <a:ln w="15875">
            <a:solidFill>
              <a:srgbClr val="3F51B5"/>
            </a:solidFill>
            <a:prstDash val="solid"/>
          </a:ln>
        </p:spPr>
        <p:txBody>
          <a:bodyPr/>
          <a:lstStyle/>
          <a:p>
            <a:endParaRPr lang="es-ES"/>
          </a:p>
        </p:txBody>
      </p:sp>
      <p:sp>
        <p:nvSpPr>
          <p:cNvPr id="22" name="Text 20"/>
          <p:cNvSpPr/>
          <p:nvPr/>
        </p:nvSpPr>
        <p:spPr>
          <a:xfrm>
            <a:off x="10180320" y="2011680"/>
            <a:ext cx="1414272" cy="960120"/>
          </a:xfrm>
          <a:prstGeom prst="rect">
            <a:avLst/>
          </a:prstGeom>
          <a:noFill/>
          <a:ln/>
        </p:spPr>
        <p:txBody>
          <a:bodyPr wrap="square" rtlCol="0" anchor="ctr"/>
          <a:lstStyle/>
          <a:p>
            <a:pPr marL="0" indent="0" algn="ctr">
              <a:buNone/>
            </a:pPr>
            <a:r>
              <a:rPr lang="en-US" sz="1300" dirty="0">
                <a:solidFill>
                  <a:srgbClr val="212121"/>
                </a:solidFill>
                <a:latin typeface="Arial" pitchFamily="34" charset="0"/>
                <a:ea typeface="Arial" pitchFamily="34" charset="-122"/>
                <a:cs typeface="Arial" pitchFamily="34" charset="-120"/>
              </a:rPr>
              <a:t>target/</a:t>
            </a:r>
            <a:endParaRPr lang="en-US" sz="1300" dirty="0"/>
          </a:p>
          <a:p>
            <a:pPr marL="0" indent="0" algn="ctr">
              <a:buNone/>
            </a:pPr>
            <a:r>
              <a:rPr lang="en-US" sz="1300" dirty="0">
                <a:solidFill>
                  <a:srgbClr val="212121"/>
                </a:solidFill>
                <a:latin typeface="Arial" pitchFamily="34" charset="0"/>
                <a:ea typeface="Arial" pitchFamily="34" charset="-122"/>
                <a:cs typeface="Arial" pitchFamily="34" charset="-120"/>
              </a:rPr>
              <a:t>miapp.jar</a:t>
            </a:r>
            <a:endParaRPr lang="en-US" sz="1300" dirty="0"/>
          </a:p>
        </p:txBody>
      </p:sp>
      <p:sp>
        <p:nvSpPr>
          <p:cNvPr id="23" name="Shape 21"/>
          <p:cNvSpPr/>
          <p:nvPr/>
        </p:nvSpPr>
        <p:spPr>
          <a:xfrm>
            <a:off x="548640" y="3337560"/>
            <a:ext cx="11091672" cy="438912"/>
          </a:xfrm>
          <a:prstGeom prst="rect">
            <a:avLst/>
          </a:prstGeom>
          <a:solidFill>
            <a:srgbClr val="3F51B5"/>
          </a:solidFill>
          <a:ln w="12700">
            <a:solidFill>
              <a:srgbClr val="3F51B5"/>
            </a:solidFill>
            <a:prstDash val="solid"/>
          </a:ln>
        </p:spPr>
        <p:txBody>
          <a:bodyPr/>
          <a:lstStyle/>
          <a:p>
            <a:endParaRPr lang="es-ES"/>
          </a:p>
        </p:txBody>
      </p:sp>
      <p:sp>
        <p:nvSpPr>
          <p:cNvPr id="24" name="Text 22"/>
          <p:cNvSpPr/>
          <p:nvPr/>
        </p:nvSpPr>
        <p:spPr>
          <a:xfrm>
            <a:off x="731520" y="333756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Ciclo de vida de Maven (fases en orden)</a:t>
            </a:r>
            <a:endParaRPr lang="en-US" sz="1700" dirty="0"/>
          </a:p>
        </p:txBody>
      </p:sp>
      <p:graphicFrame>
        <p:nvGraphicFramePr>
          <p:cNvPr id="34" name="Table 0"/>
          <p:cNvGraphicFramePr>
            <a:graphicFrameLocks noGrp="1"/>
          </p:cNvGraphicFramePr>
          <p:nvPr>
            <p:extLst>
              <p:ext uri="{D42A27DB-BD31-4B8C-83A1-F6EECF244321}">
                <p14:modId xmlns:p14="http://schemas.microsoft.com/office/powerpoint/2010/main" val="511564028"/>
              </p:ext>
            </p:extLst>
          </p:nvPr>
        </p:nvGraphicFramePr>
        <p:xfrm>
          <a:off x="548640" y="3913632"/>
          <a:ext cx="11091672" cy="2771838"/>
        </p:xfrm>
        <a:graphic>
          <a:graphicData uri="http://schemas.openxmlformats.org/drawingml/2006/table">
            <a:tbl>
              <a:tblPr/>
              <a:tblGrid>
                <a:gridCol w="2218334">
                  <a:extLst>
                    <a:ext uri="{9D8B030D-6E8A-4147-A177-3AD203B41FA5}">
                      <a16:colId xmlns:a16="http://schemas.microsoft.com/office/drawing/2014/main" val="20000"/>
                    </a:ext>
                  </a:extLst>
                </a:gridCol>
                <a:gridCol w="8873338">
                  <a:extLst>
                    <a:ext uri="{9D8B030D-6E8A-4147-A177-3AD203B41FA5}">
                      <a16:colId xmlns:a16="http://schemas.microsoft.com/office/drawing/2014/main" val="20001"/>
                    </a:ext>
                  </a:extLst>
                </a:gridCol>
              </a:tblGrid>
              <a:tr h="461973">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Fase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Qué hace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461973">
                <a:tc>
                  <a:txBody>
                    <a:bodyPr/>
                    <a:lstStyle/>
                    <a:p>
                      <a:pPr marL="0" indent="0">
                        <a:buNone/>
                      </a:pPr>
                      <a:r>
                        <a:rPr lang="en-US" sz="1400" b="1" dirty="0">
                          <a:solidFill>
                            <a:srgbClr val="212121"/>
                          </a:solidFill>
                          <a:latin typeface="Arial" pitchFamily="34" charset="0"/>
                          <a:ea typeface="Arial" pitchFamily="34" charset="-122"/>
                          <a:cs typeface="Arial" pitchFamily="34" charset="-120"/>
                        </a:rPr>
                        <a:t>compile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Compila el código fuente.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1973">
                <a:tc>
                  <a:txBody>
                    <a:bodyPr/>
                    <a:lstStyle/>
                    <a:p>
                      <a:pPr marL="0" indent="0">
                        <a:buNone/>
                      </a:pPr>
                      <a:r>
                        <a:rPr lang="en-US" sz="1400" b="1" dirty="0">
                          <a:solidFill>
                            <a:srgbClr val="212121"/>
                          </a:solidFill>
                          <a:latin typeface="Arial" pitchFamily="34" charset="0"/>
                          <a:ea typeface="Arial" pitchFamily="34" charset="-122"/>
                          <a:cs typeface="Arial" pitchFamily="34" charset="-120"/>
                        </a:rPr>
                        <a:t>test</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Ejecuta los tests unitarios (no detiene si fallan en modo exploratorio).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461973">
                <a:tc>
                  <a:txBody>
                    <a:bodyPr/>
                    <a:lstStyle/>
                    <a:p>
                      <a:pPr marL="0" indent="0">
                        <a:buNone/>
                      </a:pPr>
                      <a:r>
                        <a:rPr lang="en-US" sz="1400" b="1" dirty="0">
                          <a:solidFill>
                            <a:srgbClr val="212121"/>
                          </a:solidFill>
                          <a:latin typeface="Arial" pitchFamily="34" charset="0"/>
                          <a:ea typeface="Arial" pitchFamily="34" charset="-122"/>
                          <a:cs typeface="Arial" pitchFamily="34" charset="-120"/>
                        </a:rPr>
                        <a:t>package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Empaqueta el compilado en .jar o .war.</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1973">
                <a:tc>
                  <a:txBody>
                    <a:bodyPr/>
                    <a:lstStyle/>
                    <a:p>
                      <a:pPr marL="0" indent="0">
                        <a:buNone/>
                      </a:pPr>
                      <a:r>
                        <a:rPr lang="en-US" sz="1400" b="1" dirty="0">
                          <a:solidFill>
                            <a:srgbClr val="212121"/>
                          </a:solidFill>
                          <a:latin typeface="Arial" pitchFamily="34" charset="0"/>
                          <a:ea typeface="Arial" pitchFamily="34" charset="-122"/>
                          <a:cs typeface="Arial" pitchFamily="34" charset="-120"/>
                        </a:rPr>
                        <a:t>install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Instala el paquete en el repositorio local (~/.m2).</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461973">
                <a:tc>
                  <a:txBody>
                    <a:bodyPr/>
                    <a:lstStyle/>
                    <a:p>
                      <a:pPr marL="0" indent="0">
                        <a:buNone/>
                      </a:pPr>
                      <a:r>
                        <a:rPr lang="en-US" sz="1400" b="1" dirty="0">
                          <a:solidFill>
                            <a:srgbClr val="212121"/>
                          </a:solidFill>
                          <a:latin typeface="Arial" pitchFamily="34" charset="0"/>
                          <a:ea typeface="Arial" pitchFamily="34" charset="-122"/>
                          <a:cs typeface="Arial" pitchFamily="34" charset="-120"/>
                        </a:rPr>
                        <a:t>deploy</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Sube el paquete a un repositorio remoto compartido.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6" name="Text 23"/>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9.3 Configuraciones de ejecución</a:t>
            </a:r>
            <a:endParaRPr lang="en-US" sz="2600" dirty="0"/>
          </a:p>
        </p:txBody>
      </p:sp>
      <p:sp>
        <p:nvSpPr>
          <p:cNvPr id="4" name="Shape 2"/>
          <p:cNvSpPr/>
          <p:nvPr/>
        </p:nvSpPr>
        <p:spPr>
          <a:xfrm>
            <a:off x="548640" y="914400"/>
            <a:ext cx="11091672" cy="914400"/>
          </a:xfrm>
          <a:prstGeom prst="roundRect">
            <a:avLst/>
          </a:prstGeom>
          <a:solidFill>
            <a:srgbClr val="E0F2F1"/>
          </a:solidFill>
          <a:ln w="19050">
            <a:solidFill>
              <a:srgbClr val="009688"/>
            </a:solidFill>
            <a:prstDash val="solid"/>
          </a:ln>
        </p:spPr>
        <p:txBody>
          <a:bodyPr/>
          <a:lstStyle/>
          <a:p>
            <a:endParaRPr lang="es-ES"/>
          </a:p>
        </p:txBody>
      </p:sp>
      <p:sp>
        <p:nvSpPr>
          <p:cNvPr id="5" name="Text 3"/>
          <p:cNvSpPr/>
          <p:nvPr/>
        </p:nvSpPr>
        <p:spPr>
          <a:xfrm>
            <a:off x="777240" y="960120"/>
            <a:ext cx="10634472" cy="82296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Los IDEs permiten definir Run Configurations: configuraciones guardadas que especifican qué clase ejecutar, con qué argumentos, qué variables de entorno usar… Puedes tener varias y cambiar entre ellas con un clic.</a:t>
            </a:r>
            <a:endParaRPr lang="en-US" sz="1500" dirty="0"/>
          </a:p>
        </p:txBody>
      </p:sp>
      <p:sp>
        <p:nvSpPr>
          <p:cNvPr id="6" name="Shape 4"/>
          <p:cNvSpPr/>
          <p:nvPr/>
        </p:nvSpPr>
        <p:spPr>
          <a:xfrm>
            <a:off x="548640" y="2057400"/>
            <a:ext cx="11091672" cy="438912"/>
          </a:xfrm>
          <a:prstGeom prst="rect">
            <a:avLst/>
          </a:prstGeom>
          <a:solidFill>
            <a:srgbClr val="3F51B5"/>
          </a:solidFill>
          <a:ln w="12700">
            <a:solidFill>
              <a:srgbClr val="3F51B5"/>
            </a:solidFill>
            <a:prstDash val="solid"/>
          </a:ln>
        </p:spPr>
        <p:txBody>
          <a:bodyPr/>
          <a:lstStyle/>
          <a:p>
            <a:endParaRPr lang="es-ES"/>
          </a:p>
        </p:txBody>
      </p:sp>
      <p:sp>
        <p:nvSpPr>
          <p:cNvPr id="7" name="Text 5"/>
          <p:cNvSpPr/>
          <p:nvPr/>
        </p:nvSpPr>
        <p:spPr>
          <a:xfrm>
            <a:off x="731520" y="205740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Casos de uso habituales</a:t>
            </a:r>
            <a:endParaRPr lang="en-US" sz="1700" dirty="0"/>
          </a:p>
        </p:txBody>
      </p:sp>
      <p:sp>
        <p:nvSpPr>
          <p:cNvPr id="8" name="Text 6"/>
          <p:cNvSpPr/>
          <p:nvPr/>
        </p:nvSpPr>
        <p:spPr>
          <a:xfrm>
            <a:off x="548640" y="2633472"/>
            <a:ext cx="11091672" cy="2103120"/>
          </a:xfrm>
          <a:prstGeom prst="rect">
            <a:avLst/>
          </a:prstGeom>
          <a:noFill/>
          <a:ln/>
        </p:spPr>
        <p:txBody>
          <a:bodyPr wrap="square" rtlCol="0" anchor="t"/>
          <a:lstStyle/>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Ejecutar en modo desarrollo: con la base de datos local y logs detallados.</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Ejecutar los tests: lanza solo la suite de tests, sin arrancar toda la aplicación.</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Ejecutar un servidor local: arranca un servidor embebido (Tomcat, Spring Boot…) apuntando a una carpeta concreta.</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Depurar: la misma configuración pero con el depurador activado, sin tener que cambiar nada más.</a:t>
            </a:r>
            <a:endParaRPr lang="en-US" sz="1500" dirty="0"/>
          </a:p>
        </p:txBody>
      </p:sp>
      <p:sp>
        <p:nvSpPr>
          <p:cNvPr id="9" name="Text 7"/>
          <p:cNvSpPr/>
          <p:nvPr/>
        </p:nvSpPr>
        <p:spPr>
          <a:xfrm>
            <a:off x="548640" y="4919472"/>
            <a:ext cx="11091672" cy="502920"/>
          </a:xfrm>
          <a:prstGeom prst="rect">
            <a:avLst/>
          </a:prstGeom>
          <a:noFill/>
          <a:ln/>
        </p:spPr>
        <p:txBody>
          <a:bodyPr wrap="square" rtlCol="0" anchor="t"/>
          <a:lstStyle/>
          <a:p>
            <a:pPr marL="0" indent="0">
              <a:buNone/>
            </a:pPr>
            <a:r>
              <a:rPr lang="en-US" sz="1400" dirty="0">
                <a:solidFill>
                  <a:srgbClr val="757575"/>
                </a:solidFill>
                <a:latin typeface="Arial" pitchFamily="34" charset="0"/>
                <a:ea typeface="Arial" pitchFamily="34" charset="-122"/>
                <a:cs typeface="Arial" pitchFamily="34" charset="-120"/>
              </a:rPr>
              <a:t>En IntelliJ: barra de herramientas superior → selector de configuración → Edit Configurations  para crear o modificar.</a:t>
            </a:r>
            <a:endParaRPr lang="en-US" sz="1400" dirty="0"/>
          </a:p>
        </p:txBody>
      </p:sp>
      <p:sp>
        <p:nvSpPr>
          <p:cNvPr id="10" name="Text 8"/>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303F9F"/>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B0BEC5"/>
                </a:solidFill>
                <a:latin typeface="Arial" pitchFamily="34" charset="0"/>
                <a:ea typeface="Arial" pitchFamily="34" charset="-122"/>
                <a:cs typeface="Arial" pitchFamily="34" charset="-120"/>
              </a:rPr>
              <a:t>ENTORNOS DE DESARROLLO  —  TEMA 2: ENTORNOS INTEGRADOS DE DESARROLLO</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10. Comparativa de entornos</a:t>
            </a:r>
            <a:endParaRPr lang="en-US" sz="4400" dirty="0"/>
          </a:p>
        </p:txBody>
      </p:sp>
      <p:sp>
        <p:nvSpPr>
          <p:cNvPr id="4" name="Shape 2"/>
          <p:cNvSpPr/>
          <p:nvPr/>
        </p:nvSpPr>
        <p:spPr>
          <a:xfrm>
            <a:off x="0" y="5120640"/>
            <a:ext cx="12188952" cy="914400"/>
          </a:xfrm>
          <a:prstGeom prst="rect">
            <a:avLst/>
          </a:prstGeom>
          <a:solidFill>
            <a:srgbClr val="009688"/>
          </a:solidFill>
          <a:ln w="12700">
            <a:solidFill>
              <a:srgbClr val="009688"/>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Eclipse  ·  NetBeans  ·  IntelliJ IDEA Community  ·  VSCodium</a:t>
            </a: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10.1 Tabla comparativa</a:t>
            </a:r>
            <a:endParaRPr lang="en-US" sz="2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914400"/>
          <a:ext cx="11091671" cy="4773168"/>
        </p:xfrm>
        <a:graphic>
          <a:graphicData uri="http://schemas.openxmlformats.org/drawingml/2006/table">
            <a:tbl>
              <a:tblPr/>
              <a:tblGrid>
                <a:gridCol w="2329251">
                  <a:extLst>
                    <a:ext uri="{9D8B030D-6E8A-4147-A177-3AD203B41FA5}">
                      <a16:colId xmlns:a16="http://schemas.microsoft.com/office/drawing/2014/main" val="20000"/>
                    </a:ext>
                  </a:extLst>
                </a:gridCol>
                <a:gridCol w="2772918">
                  <a:extLst>
                    <a:ext uri="{9D8B030D-6E8A-4147-A177-3AD203B41FA5}">
                      <a16:colId xmlns:a16="http://schemas.microsoft.com/office/drawing/2014/main" val="20001"/>
                    </a:ext>
                  </a:extLst>
                </a:gridCol>
                <a:gridCol w="2994751">
                  <a:extLst>
                    <a:ext uri="{9D8B030D-6E8A-4147-A177-3AD203B41FA5}">
                      <a16:colId xmlns:a16="http://schemas.microsoft.com/office/drawing/2014/main" val="20002"/>
                    </a:ext>
                  </a:extLst>
                </a:gridCol>
                <a:gridCol w="2994751">
                  <a:extLst>
                    <a:ext uri="{9D8B030D-6E8A-4147-A177-3AD203B41FA5}">
                      <a16:colId xmlns:a16="http://schemas.microsoft.com/office/drawing/2014/main" val="20003"/>
                    </a:ext>
                  </a:extLst>
                </a:gridCol>
              </a:tblGrid>
              <a:tr h="530352">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Criterio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Eclipse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NetBeans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IntelliJ Community</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530352">
                <a:tc>
                  <a:txBody>
                    <a:bodyPr/>
                    <a:lstStyle/>
                    <a:p>
                      <a:pPr marL="0" indent="0">
                        <a:buNone/>
                      </a:pPr>
                      <a:r>
                        <a:rPr lang="en-US" sz="1200" b="1" dirty="0">
                          <a:solidFill>
                            <a:srgbClr val="212121"/>
                          </a:solidFill>
                          <a:latin typeface="Arial" pitchFamily="34" charset="0"/>
                          <a:ea typeface="Arial" pitchFamily="34" charset="-122"/>
                          <a:cs typeface="Arial" pitchFamily="34" charset="-120"/>
                        </a:rPr>
                        <a:t>Desarrollador</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Fundación Eclipse</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Apache</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JetBrains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200" b="1" dirty="0">
                          <a:solidFill>
                            <a:srgbClr val="212121"/>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EPL (libre)</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Apache 2.0 (libre)</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Apache 2.0 (libre)</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30352">
                <a:tc>
                  <a:txBody>
                    <a:bodyPr/>
                    <a:lstStyle/>
                    <a:p>
                      <a:pPr marL="0" indent="0">
                        <a:buNone/>
                      </a:pPr>
                      <a:r>
                        <a:rPr lang="en-US" sz="1200" b="1" dirty="0">
                          <a:solidFill>
                            <a:srgbClr val="212121"/>
                          </a:solidFill>
                          <a:latin typeface="Arial" pitchFamily="34" charset="0"/>
                          <a:ea typeface="Arial" pitchFamily="34" charset="-122"/>
                          <a:cs typeface="Arial" pitchFamily="34" charset="-120"/>
                        </a:rPr>
                        <a:t>Lenguajes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Java, C/C++, PHP + plugins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Java SE/EE, PHP, HTML5</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Java, Kotlin</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200" b="1" dirty="0">
                          <a:solidFill>
                            <a:srgbClr val="212121"/>
                          </a:solidFill>
                          <a:latin typeface="Arial" pitchFamily="34" charset="0"/>
                          <a:ea typeface="Arial" pitchFamily="34" charset="-122"/>
                          <a:cs typeface="Arial" pitchFamily="34" charset="-120"/>
                        </a:rPr>
                        <a:t>Gestión de plugins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Marketplace + Update Sites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Plugin Manager</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JetBrains Marketplace</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30352">
                <a:tc>
                  <a:txBody>
                    <a:bodyPr/>
                    <a:lstStyle/>
                    <a:p>
                      <a:pPr marL="0" indent="0">
                        <a:buNone/>
                      </a:pPr>
                      <a:r>
                        <a:rPr lang="en-US" sz="1200" b="1" dirty="0">
                          <a:solidFill>
                            <a:srgbClr val="212121"/>
                          </a:solidFill>
                          <a:latin typeface="Arial" pitchFamily="34" charset="0"/>
                          <a:ea typeface="Arial" pitchFamily="34" charset="-122"/>
                          <a:cs typeface="Arial" pitchFamily="34" charset="-120"/>
                        </a:rPr>
                        <a:t>Build tools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Maven, Gradle, Ant</a:t>
                      </a:r>
                      <a:endParaRPr lang="en-US" sz="1200" dirty="0">
                        <a:latin typeface="Arial" charset="0"/>
                        <a:ea typeface="Arial" charset="0"/>
                        <a:cs typeface="Arial" charset="0"/>
                      </a:endParaRPr>
                    </a:p>
                    <a:p>
                      <a:pPr marL="0" indent="0">
                        <a:buNone/>
                      </a:pPr>
                      <a:r>
                        <a:rPr lang="en-US" sz="1200" dirty="0">
                          <a:solidFill>
                            <a:srgbClr val="212121"/>
                          </a:solidFill>
                          <a:latin typeface="Arial" pitchFamily="34" charset="0"/>
                          <a:ea typeface="Arial" pitchFamily="34" charset="-122"/>
                          <a:cs typeface="Arial" pitchFamily="34" charset="-120"/>
                        </a:rPr>
                        <a:t>(con plugins)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Maven, Gradle, Ant</a:t>
                      </a:r>
                      <a:endParaRPr lang="en-US" sz="1200" dirty="0">
                        <a:latin typeface="Arial" charset="0"/>
                        <a:ea typeface="Arial" charset="0"/>
                        <a:cs typeface="Arial" charset="0"/>
                      </a:endParaRPr>
                    </a:p>
                    <a:p>
                      <a:pPr marL="0" indent="0">
                        <a:buNone/>
                      </a:pPr>
                      <a:r>
                        <a:rPr lang="en-US" sz="1200" dirty="0">
                          <a:solidFill>
                            <a:srgbClr val="212121"/>
                          </a:solidFill>
                          <a:latin typeface="Arial" pitchFamily="34" charset="0"/>
                          <a:ea typeface="Arial" pitchFamily="34" charset="-122"/>
                          <a:cs typeface="Arial" pitchFamily="34" charset="-120"/>
                        </a:rPr>
                        <a:t>(integrados)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Maven, Gradle</a:t>
                      </a:r>
                      <a:endParaRPr lang="en-US" sz="1200" dirty="0">
                        <a:latin typeface="Arial" charset="0"/>
                        <a:ea typeface="Arial" charset="0"/>
                        <a:cs typeface="Arial" charset="0"/>
                      </a:endParaRPr>
                    </a:p>
                    <a:p>
                      <a:pPr marL="0" indent="0">
                        <a:buNone/>
                      </a:pPr>
                      <a:r>
                        <a:rPr lang="en-US" sz="1200" dirty="0">
                          <a:solidFill>
                            <a:srgbClr val="212121"/>
                          </a:solidFill>
                          <a:latin typeface="Arial" pitchFamily="34" charset="0"/>
                          <a:ea typeface="Arial" pitchFamily="34" charset="-122"/>
                          <a:cs typeface="Arial" pitchFamily="34" charset="-120"/>
                        </a:rPr>
                        <a:t>(integrados)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0352">
                <a:tc>
                  <a:txBody>
                    <a:bodyPr/>
                    <a:lstStyle/>
                    <a:p>
                      <a:pPr marL="0" indent="0">
                        <a:buNone/>
                      </a:pPr>
                      <a:r>
                        <a:rPr lang="en-US" sz="1200" b="1" dirty="0">
                          <a:solidFill>
                            <a:srgbClr val="212121"/>
                          </a:solidFill>
                          <a:latin typeface="Arial" pitchFamily="34" charset="0"/>
                          <a:ea typeface="Arial" pitchFamily="34" charset="-122"/>
                          <a:cs typeface="Arial" pitchFamily="34" charset="-120"/>
                        </a:rPr>
                        <a:t>Facilidad de uso</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Media — interfaz compleja</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Alta — buena para aprender</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Muy alta — interfaz moderna</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r h="530352">
                <a:tc>
                  <a:txBody>
                    <a:bodyPr/>
                    <a:lstStyle/>
                    <a:p>
                      <a:pPr marL="0" indent="0">
                        <a:buNone/>
                      </a:pPr>
                      <a:r>
                        <a:rPr lang="en-US" sz="1200" b="1" dirty="0">
                          <a:solidFill>
                            <a:srgbClr val="212121"/>
                          </a:solidFill>
                          <a:latin typeface="Arial" pitchFamily="34" charset="0"/>
                          <a:ea typeface="Arial" pitchFamily="34" charset="-122"/>
                          <a:cs typeface="Arial" pitchFamily="34" charset="-120"/>
                        </a:rPr>
                        <a:t>Rendimiento</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Medio</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Medio</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Alto</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30352">
                <a:tc>
                  <a:txBody>
                    <a:bodyPr/>
                    <a:lstStyle/>
                    <a:p>
                      <a:pPr marL="0" indent="0">
                        <a:buNone/>
                      </a:pPr>
                      <a:r>
                        <a:rPr lang="en-US" sz="1200" b="1" dirty="0">
                          <a:solidFill>
                            <a:srgbClr val="212121"/>
                          </a:solidFill>
                          <a:latin typeface="Arial" pitchFamily="34" charset="0"/>
                          <a:ea typeface="Arial" pitchFamily="34" charset="-122"/>
                          <a:cs typeface="Arial" pitchFamily="34" charset="-120"/>
                        </a:rPr>
                        <a:t>Mejor para</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Proyectos empresariales grandes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Aprendizaje, Java EE</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Productividad diaria</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8"/>
                  </a:ext>
                </a:extLst>
              </a:tr>
            </a:tbl>
          </a:graphicData>
        </a:graphic>
      </p:graphicFrame>
      <p:sp>
        <p:nvSpPr>
          <p:cNvPr id="5"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10.2 Características comunes y diferencias clave</a:t>
            </a:r>
            <a:endParaRPr lang="en-US" sz="2600" dirty="0"/>
          </a:p>
        </p:txBody>
      </p:sp>
      <p:sp>
        <p:nvSpPr>
          <p:cNvPr id="4" name="Shape 2"/>
          <p:cNvSpPr/>
          <p:nvPr/>
        </p:nvSpPr>
        <p:spPr>
          <a:xfrm>
            <a:off x="548640" y="914400"/>
            <a:ext cx="11091672" cy="438912"/>
          </a:xfrm>
          <a:prstGeom prst="rect">
            <a:avLst/>
          </a:prstGeom>
          <a:solidFill>
            <a:srgbClr val="3F51B5"/>
          </a:solidFill>
          <a:ln w="12700">
            <a:solidFill>
              <a:srgbClr val="3F51B5"/>
            </a:solidFill>
            <a:prstDash val="solid"/>
          </a:ln>
        </p:spPr>
        <p:txBody>
          <a:bodyPr/>
          <a:lstStyle/>
          <a:p>
            <a:endParaRPr lang="es-ES"/>
          </a:p>
        </p:txBody>
      </p:sp>
      <p:sp>
        <p:nvSpPr>
          <p:cNvPr id="5" name="Text 3"/>
          <p:cNvSpPr/>
          <p:nvPr/>
        </p:nvSpPr>
        <p:spPr>
          <a:xfrm>
            <a:off x="731520" y="91440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Todos los IDEs tienen en común</a:t>
            </a:r>
            <a:endParaRPr lang="en-US" sz="1700" dirty="0"/>
          </a:p>
        </p:txBody>
      </p:sp>
      <p:sp>
        <p:nvSpPr>
          <p:cNvPr id="6" name="Text 4"/>
          <p:cNvSpPr/>
          <p:nvPr/>
        </p:nvSpPr>
        <p:spPr>
          <a:xfrm>
            <a:off x="548640" y="1490472"/>
            <a:ext cx="5431536" cy="2286000"/>
          </a:xfrm>
          <a:prstGeom prst="rect">
            <a:avLst/>
          </a:prstGeom>
          <a:noFill/>
          <a:ln/>
        </p:spPr>
        <p:txBody>
          <a:bodyPr wrap="square" rtlCol="0" anchor="t"/>
          <a:lstStyle/>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Editor con resaltado de sintaxis y autocompletado.</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Compilación y ejecución integradas.</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Depurador con breakpoints y seguimiento de variables.</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Integración con Git.</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Sistema de plugins o extensiones.</a:t>
            </a:r>
            <a:endParaRPr lang="en-US" sz="1400" dirty="0"/>
          </a:p>
          <a:p>
            <a:pPr marL="342900" indent="-342900">
              <a:spcAft>
                <a:spcPts val="600"/>
              </a:spcAft>
              <a:buSzPct val="100000"/>
              <a:buChar char="•"/>
            </a:pPr>
            <a:r>
              <a:rPr lang="en-US" sz="1400" dirty="0">
                <a:solidFill>
                  <a:srgbClr val="212121"/>
                </a:solidFill>
                <a:latin typeface="Arial" pitchFamily="34" charset="0"/>
                <a:ea typeface="Arial" pitchFamily="34" charset="-122"/>
                <a:cs typeface="Arial" pitchFamily="34" charset="-120"/>
              </a:rPr>
              <a:t>Gestión de proyectos y dependencias.</a:t>
            </a:r>
            <a:endParaRPr lang="en-US" sz="1400" dirty="0"/>
          </a:p>
        </p:txBody>
      </p:sp>
      <p:sp>
        <p:nvSpPr>
          <p:cNvPr id="7" name="Text 5"/>
          <p:cNvSpPr/>
          <p:nvPr/>
        </p:nvSpPr>
        <p:spPr>
          <a:xfrm>
            <a:off x="6208776" y="1490472"/>
            <a:ext cx="5431536" cy="2286000"/>
          </a:xfrm>
          <a:prstGeom prst="rect">
            <a:avLst/>
          </a:prstGeom>
          <a:noFill/>
          <a:ln/>
        </p:spPr>
        <p:txBody>
          <a:bodyPr wrap="square" rtlCol="0" anchor="t"/>
          <a:lstStyle/>
          <a:p>
            <a:pPr marL="190500" indent="-190500">
              <a:spcAft>
                <a:spcPts val="600"/>
              </a:spcAft>
              <a:buSzPct val="100000"/>
              <a:buChar char="•"/>
            </a:pPr>
            <a:r>
              <a:rPr lang="en-US" sz="1400" b="1" dirty="0">
                <a:solidFill>
                  <a:srgbClr val="212121"/>
                </a:solidFill>
                <a:latin typeface="Arial" pitchFamily="34" charset="0"/>
                <a:ea typeface="Arial" pitchFamily="34" charset="-122"/>
                <a:cs typeface="Arial" pitchFamily="34" charset="-120"/>
              </a:rPr>
              <a:t>Detección de errores:</a:t>
            </a:r>
            <a:endParaRPr lang="en-US" sz="1400" dirty="0"/>
          </a:p>
          <a:p>
            <a:pPr marL="762000" lvl="1" indent="-381000">
              <a:spcAft>
                <a:spcPts val="600"/>
              </a:spcAft>
              <a:buSzPct val="100000"/>
              <a:buChar char="•"/>
            </a:pPr>
            <a:r>
              <a:rPr lang="en-US" sz="1300" dirty="0">
                <a:solidFill>
                  <a:srgbClr val="212121"/>
                </a:solidFill>
                <a:latin typeface="Arial" pitchFamily="34" charset="0"/>
                <a:ea typeface="Arial" pitchFamily="34" charset="-122"/>
                <a:cs typeface="Arial" pitchFamily="34" charset="-120"/>
              </a:rPr>
              <a:t>IntelliJ destaca con sugerencias más precisas e inteligentes.</a:t>
            </a:r>
            <a:endParaRPr lang="en-US" sz="1400" dirty="0"/>
          </a:p>
          <a:p>
            <a:pPr marL="190500" indent="-190500">
              <a:spcAft>
                <a:spcPts val="600"/>
              </a:spcAft>
              <a:buSzPct val="100000"/>
              <a:buChar char="•"/>
            </a:pPr>
            <a:r>
              <a:rPr lang="en-US" sz="1400" b="1" dirty="0">
                <a:solidFill>
                  <a:srgbClr val="212121"/>
                </a:solidFill>
                <a:latin typeface="Arial" pitchFamily="34" charset="0"/>
                <a:ea typeface="Arial" pitchFamily="34" charset="-122"/>
                <a:cs typeface="Arial" pitchFamily="34" charset="-120"/>
              </a:rPr>
              <a:t>Velocidad:</a:t>
            </a:r>
            <a:endParaRPr lang="en-US" sz="1400" dirty="0"/>
          </a:p>
          <a:p>
            <a:pPr marL="762000" lvl="1" indent="-381000">
              <a:spcAft>
                <a:spcPts val="600"/>
              </a:spcAft>
              <a:buSzPct val="100000"/>
              <a:buChar char="•"/>
            </a:pPr>
            <a:r>
              <a:rPr lang="en-US" sz="1300" dirty="0">
                <a:solidFill>
                  <a:srgbClr val="212121"/>
                </a:solidFill>
                <a:latin typeface="Arial" pitchFamily="34" charset="0"/>
                <a:ea typeface="Arial" pitchFamily="34" charset="-122"/>
                <a:cs typeface="Arial" pitchFamily="34" charset="-120"/>
              </a:rPr>
              <a:t>Eclipse se ralentiza más en proyectos grandes. IntelliJ aguanta mejor.</a:t>
            </a:r>
            <a:endParaRPr lang="en-US" sz="1400" dirty="0"/>
          </a:p>
          <a:p>
            <a:pPr marL="190500" indent="-190500">
              <a:spcAft>
                <a:spcPts val="600"/>
              </a:spcAft>
              <a:buSzPct val="100000"/>
              <a:buChar char="•"/>
            </a:pPr>
            <a:r>
              <a:rPr lang="en-US" sz="1400" b="1" dirty="0">
                <a:solidFill>
                  <a:srgbClr val="212121"/>
                </a:solidFill>
                <a:latin typeface="Arial" pitchFamily="34" charset="0"/>
                <a:ea typeface="Arial" pitchFamily="34" charset="-122"/>
                <a:cs typeface="Arial" pitchFamily="34" charset="-120"/>
              </a:rPr>
              <a:t>Aspecto:</a:t>
            </a:r>
            <a:endParaRPr lang="en-US" sz="1400" dirty="0"/>
          </a:p>
          <a:p>
            <a:pPr marL="762000" lvl="1" indent="-381000">
              <a:spcAft>
                <a:spcPts val="600"/>
              </a:spcAft>
              <a:buSzPct val="100000"/>
              <a:buChar char="•"/>
            </a:pPr>
            <a:r>
              <a:rPr lang="en-US" sz="1300" dirty="0">
                <a:solidFill>
                  <a:srgbClr val="212121"/>
                </a:solidFill>
                <a:latin typeface="Arial" pitchFamily="34" charset="0"/>
                <a:ea typeface="Arial" pitchFamily="34" charset="-122"/>
                <a:cs typeface="Arial" pitchFamily="34" charset="-120"/>
              </a:rPr>
              <a:t>IntelliJ tiene la interfaz más moderna. Eclipse y NetBeans muestran su antigüedad en algunas pantallas.</a:t>
            </a:r>
            <a:endParaRPr lang="en-US" sz="1400" dirty="0"/>
          </a:p>
          <a:p>
            <a:pPr marL="190500" indent="-190500">
              <a:spcAft>
                <a:spcPts val="600"/>
              </a:spcAft>
              <a:buSzPct val="100000"/>
              <a:buChar char="•"/>
            </a:pPr>
            <a:r>
              <a:rPr lang="en-US" sz="1400" b="1" dirty="0">
                <a:solidFill>
                  <a:srgbClr val="212121"/>
                </a:solidFill>
                <a:latin typeface="Arial" pitchFamily="34" charset="0"/>
                <a:ea typeface="Arial" pitchFamily="34" charset="-122"/>
                <a:cs typeface="Arial" pitchFamily="34" charset="-120"/>
              </a:rPr>
              <a:t>Para qué sirve cada uno:</a:t>
            </a:r>
            <a:endParaRPr lang="en-US" sz="1400" dirty="0"/>
          </a:p>
          <a:p>
            <a:pPr marL="762000" lvl="1" indent="-381000">
              <a:spcAft>
                <a:spcPts val="600"/>
              </a:spcAft>
              <a:buSzPct val="100000"/>
              <a:buChar char="•"/>
            </a:pPr>
            <a:r>
              <a:rPr lang="en-US" sz="1300" dirty="0">
                <a:solidFill>
                  <a:srgbClr val="212121"/>
                </a:solidFill>
                <a:latin typeface="Arial" pitchFamily="34" charset="0"/>
                <a:ea typeface="Arial" pitchFamily="34" charset="-122"/>
                <a:cs typeface="Arial" pitchFamily="34" charset="-120"/>
              </a:rPr>
              <a:t>NetBeans: curva más suave para aprender. IntelliJ Community: el mejor libre para trabajar en Java.</a:t>
            </a:r>
            <a:endParaRPr lang="en-US" sz="1400" dirty="0"/>
          </a:p>
        </p:txBody>
      </p:sp>
      <p:sp>
        <p:nvSpPr>
          <p:cNvPr id="8" name="Shape 6"/>
          <p:cNvSpPr/>
          <p:nvPr/>
        </p:nvSpPr>
        <p:spPr>
          <a:xfrm>
            <a:off x="548640" y="3959352"/>
            <a:ext cx="11091672" cy="822960"/>
          </a:xfrm>
          <a:prstGeom prst="roundRect">
            <a:avLst/>
          </a:prstGeom>
          <a:solidFill>
            <a:srgbClr val="E0F2F1"/>
          </a:solidFill>
          <a:ln w="19050">
            <a:solidFill>
              <a:srgbClr val="009688"/>
            </a:solidFill>
            <a:prstDash val="solid"/>
          </a:ln>
        </p:spPr>
        <p:txBody>
          <a:bodyPr/>
          <a:lstStyle/>
          <a:p>
            <a:endParaRPr lang="es-ES"/>
          </a:p>
        </p:txBody>
      </p:sp>
      <p:sp>
        <p:nvSpPr>
          <p:cNvPr id="9" name="Text 7"/>
          <p:cNvSpPr/>
          <p:nvPr/>
        </p:nvSpPr>
        <p:spPr>
          <a:xfrm>
            <a:off x="777240" y="4005072"/>
            <a:ext cx="10634472" cy="731520"/>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El mismo proyecto Java con Maven se puede abrir en los tres IDEs sin cambiar una sola línea de código. Lo único que cambia son los archivos de configuración internos del IDE (.idea/, .project…), que no forman parte del código fuente.</a:t>
            </a:r>
            <a:endParaRPr lang="en-US" sz="1500" dirty="0"/>
          </a:p>
        </p:txBody>
      </p:sp>
      <p:sp>
        <p:nvSpPr>
          <p:cNvPr id="10" name="Text 8"/>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2 — Entornos Integrados de Desarrollo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4397</Words>
  <Application>Microsoft Office PowerPoint</Application>
  <PresentationFormat>Panorámica</PresentationFormat>
  <Paragraphs>546</Paragraphs>
  <Slides>37</Slides>
  <Notes>37</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37</vt:i4>
      </vt:variant>
    </vt:vector>
  </HeadingPairs>
  <TitlesOfParts>
    <vt:vector size="39" baseType="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Entornos de Desarrollo</dc:creator>
  <cp:lastModifiedBy>VENTURA EDO, AITOR</cp:lastModifiedBy>
  <cp:revision>2</cp:revision>
  <dcterms:created xsi:type="dcterms:W3CDTF">2026-06-14T19:34:06Z</dcterms:created>
  <dcterms:modified xsi:type="dcterms:W3CDTF">2026-06-15T00:10:58Z</dcterms:modified>
</cp:coreProperties>
</file>